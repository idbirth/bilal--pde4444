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348" r:id="rId2"/>
    <p:sldId id="501" r:id="rId3"/>
    <p:sldId id="290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499" r:id="rId16"/>
    <p:sldId id="500" r:id="rId17"/>
    <p:sldId id="486" r:id="rId18"/>
    <p:sldId id="487" r:id="rId19"/>
    <p:sldId id="502" r:id="rId20"/>
    <p:sldId id="503" r:id="rId21"/>
    <p:sldId id="504" r:id="rId22"/>
    <p:sldId id="505" r:id="rId23"/>
    <p:sldId id="482" r:id="rId24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101B94-122F-4B3C-923E-3284D2BDB948}" v="4" dt="2026-02-07T08:31:23.88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94" d="100"/>
          <a:sy n="94" d="100"/>
        </p:scale>
        <p:origin x="432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 Saadeh" userId="3cb906ed-5449-4556-905f-2231327ddc1a" providerId="ADAL" clId="{454ED7F6-9BA2-4548-88F5-A2FE5F82DAC2}"/>
    <pc:docChg chg="custSel addSld delSld modSld">
      <pc:chgData name="Maha Saadeh" userId="3cb906ed-5449-4556-905f-2231327ddc1a" providerId="ADAL" clId="{454ED7F6-9BA2-4548-88F5-A2FE5F82DAC2}" dt="2026-02-09T06:25:07.251" v="194" actId="207"/>
      <pc:docMkLst>
        <pc:docMk/>
      </pc:docMkLst>
      <pc:sldChg chg="modSp mod">
        <pc:chgData name="Maha Saadeh" userId="3cb906ed-5449-4556-905f-2231327ddc1a" providerId="ADAL" clId="{454ED7F6-9BA2-4548-88F5-A2FE5F82DAC2}" dt="2026-02-09T06:23:05.067" v="174" actId="207"/>
        <pc:sldMkLst>
          <pc:docMk/>
          <pc:sldMk cId="0" sldId="290"/>
        </pc:sldMkLst>
        <pc:spChg chg="mod">
          <ac:chgData name="Maha Saadeh" userId="3cb906ed-5449-4556-905f-2231327ddc1a" providerId="ADAL" clId="{454ED7F6-9BA2-4548-88F5-A2FE5F82DAC2}" dt="2026-02-09T06:23:05.067" v="174" actId="207"/>
          <ac:spMkLst>
            <pc:docMk/>
            <pc:sldMk cId="0" sldId="290"/>
            <ac:spMk id="6" creationId="{5AEBA933-DC73-46D2-A09F-C4F914C17DDE}"/>
          </ac:spMkLst>
        </pc:spChg>
      </pc:sldChg>
      <pc:sldChg chg="modSp add mod">
        <pc:chgData name="Maha Saadeh" userId="3cb906ed-5449-4556-905f-2231327ddc1a" providerId="ADAL" clId="{454ED7F6-9BA2-4548-88F5-A2FE5F82DAC2}" dt="2026-02-09T06:22:08.206" v="172" actId="20577"/>
        <pc:sldMkLst>
          <pc:docMk/>
          <pc:sldMk cId="741890330" sldId="348"/>
        </pc:sldMkLst>
        <pc:spChg chg="mod">
          <ac:chgData name="Maha Saadeh" userId="3cb906ed-5449-4556-905f-2231327ddc1a" providerId="ADAL" clId="{454ED7F6-9BA2-4548-88F5-A2FE5F82DAC2}" dt="2026-02-09T06:22:08.206" v="172" actId="20577"/>
          <ac:spMkLst>
            <pc:docMk/>
            <pc:sldMk cId="741890330" sldId="348"/>
            <ac:spMk id="10" creationId="{FF2038AF-3454-BA65-9BFB-197720AA5C7F}"/>
          </ac:spMkLst>
        </pc:spChg>
      </pc:sldChg>
      <pc:sldChg chg="modSp mod">
        <pc:chgData name="Maha Saadeh" userId="3cb906ed-5449-4556-905f-2231327ddc1a" providerId="ADAL" clId="{454ED7F6-9BA2-4548-88F5-A2FE5F82DAC2}" dt="2026-02-07T08:22:59.721" v="48" actId="20577"/>
        <pc:sldMkLst>
          <pc:docMk/>
          <pc:sldMk cId="1620865863" sldId="482"/>
        </pc:sldMkLst>
        <pc:spChg chg="mod">
          <ac:chgData name="Maha Saadeh" userId="3cb906ed-5449-4556-905f-2231327ddc1a" providerId="ADAL" clId="{454ED7F6-9BA2-4548-88F5-A2FE5F82DAC2}" dt="2026-02-07T08:22:55.758" v="47" actId="20577"/>
          <ac:spMkLst>
            <pc:docMk/>
            <pc:sldMk cId="1620865863" sldId="482"/>
            <ac:spMk id="2" creationId="{B0F5EC4F-E041-4D19-9BE3-EAC6D4751A26}"/>
          </ac:spMkLst>
        </pc:spChg>
        <pc:spChg chg="mod">
          <ac:chgData name="Maha Saadeh" userId="3cb906ed-5449-4556-905f-2231327ddc1a" providerId="ADAL" clId="{454ED7F6-9BA2-4548-88F5-A2FE5F82DAC2}" dt="2026-02-07T08:22:59.721" v="48" actId="20577"/>
          <ac:spMkLst>
            <pc:docMk/>
            <pc:sldMk cId="1620865863" sldId="482"/>
            <ac:spMk id="3" creationId="{5B72F3C8-5C37-4DD6-8253-116B4BE4AA1C}"/>
          </ac:spMkLst>
        </pc:spChg>
      </pc:sldChg>
      <pc:sldChg chg="modSp mod">
        <pc:chgData name="Maha Saadeh" userId="3cb906ed-5449-4556-905f-2231327ddc1a" providerId="ADAL" clId="{454ED7F6-9BA2-4548-88F5-A2FE5F82DAC2}" dt="2026-02-09T06:24:05.073" v="191" actId="20577"/>
        <pc:sldMkLst>
          <pc:docMk/>
          <pc:sldMk cId="4158963893" sldId="500"/>
        </pc:sldMkLst>
        <pc:spChg chg="mod">
          <ac:chgData name="Maha Saadeh" userId="3cb906ed-5449-4556-905f-2231327ddc1a" providerId="ADAL" clId="{454ED7F6-9BA2-4548-88F5-A2FE5F82DAC2}" dt="2026-02-09T06:24:05.073" v="191" actId="20577"/>
          <ac:spMkLst>
            <pc:docMk/>
            <pc:sldMk cId="4158963893" sldId="500"/>
            <ac:spMk id="6" creationId="{51D88F6D-10ED-4FD6-8873-AD38F2BFF207}"/>
          </ac:spMkLst>
        </pc:spChg>
      </pc:sldChg>
      <pc:sldChg chg="modSp new mod">
        <pc:chgData name="Maha Saadeh" userId="3cb906ed-5449-4556-905f-2231327ddc1a" providerId="ADAL" clId="{454ED7F6-9BA2-4548-88F5-A2FE5F82DAC2}" dt="2026-02-09T06:22:48.719" v="173" actId="20577"/>
        <pc:sldMkLst>
          <pc:docMk/>
          <pc:sldMk cId="2911872250" sldId="501"/>
        </pc:sldMkLst>
        <pc:spChg chg="mod">
          <ac:chgData name="Maha Saadeh" userId="3cb906ed-5449-4556-905f-2231327ddc1a" providerId="ADAL" clId="{454ED7F6-9BA2-4548-88F5-A2FE5F82DAC2}" dt="2026-02-07T08:25:55.312" v="75" actId="20577"/>
          <ac:spMkLst>
            <pc:docMk/>
            <pc:sldMk cId="2911872250" sldId="501"/>
            <ac:spMk id="2" creationId="{81995462-0694-8027-46CD-675141033BB5}"/>
          </ac:spMkLst>
        </pc:spChg>
        <pc:spChg chg="mod">
          <ac:chgData name="Maha Saadeh" userId="3cb906ed-5449-4556-905f-2231327ddc1a" providerId="ADAL" clId="{454ED7F6-9BA2-4548-88F5-A2FE5F82DAC2}" dt="2026-02-09T06:22:48.719" v="173" actId="20577"/>
          <ac:spMkLst>
            <pc:docMk/>
            <pc:sldMk cId="2911872250" sldId="501"/>
            <ac:spMk id="3" creationId="{FFC3CC52-CFE9-EE08-7FB4-10A506F8FEBF}"/>
          </ac:spMkLst>
        </pc:spChg>
      </pc:sldChg>
      <pc:sldChg chg="addSp delSp modSp new mod">
        <pc:chgData name="Maha Saadeh" userId="3cb906ed-5449-4556-905f-2231327ddc1a" providerId="ADAL" clId="{454ED7F6-9BA2-4548-88F5-A2FE5F82DAC2}" dt="2026-02-07T08:29:59.192" v="86" actId="1076"/>
        <pc:sldMkLst>
          <pc:docMk/>
          <pc:sldMk cId="2894825753" sldId="502"/>
        </pc:sldMkLst>
        <pc:spChg chg="mod">
          <ac:chgData name="Maha Saadeh" userId="3cb906ed-5449-4556-905f-2231327ddc1a" providerId="ADAL" clId="{454ED7F6-9BA2-4548-88F5-A2FE5F82DAC2}" dt="2026-02-07T08:29:24.613" v="81" actId="6549"/>
          <ac:spMkLst>
            <pc:docMk/>
            <pc:sldMk cId="2894825753" sldId="502"/>
            <ac:spMk id="2" creationId="{B2CE30A0-8571-DD76-C33F-B3CFCF728FD6}"/>
          </ac:spMkLst>
        </pc:spChg>
        <pc:spChg chg="add mod">
          <ac:chgData name="Maha Saadeh" userId="3cb906ed-5449-4556-905f-2231327ddc1a" providerId="ADAL" clId="{454ED7F6-9BA2-4548-88F5-A2FE5F82DAC2}" dt="2026-02-07T08:29:57.302" v="85" actId="1076"/>
          <ac:spMkLst>
            <pc:docMk/>
            <pc:sldMk cId="2894825753" sldId="502"/>
            <ac:spMk id="7" creationId="{6A78887E-3354-570F-AEF1-697D9F8E151D}"/>
          </ac:spMkLst>
        </pc:spChg>
        <pc:picChg chg="add mod">
          <ac:chgData name="Maha Saadeh" userId="3cb906ed-5449-4556-905f-2231327ddc1a" providerId="ADAL" clId="{454ED7F6-9BA2-4548-88F5-A2FE5F82DAC2}" dt="2026-02-07T08:29:59.192" v="86" actId="1076"/>
          <ac:picMkLst>
            <pc:docMk/>
            <pc:sldMk cId="2894825753" sldId="502"/>
            <ac:picMk id="5" creationId="{22695834-0E44-531E-2DF9-290538C646C5}"/>
          </ac:picMkLst>
        </pc:picChg>
      </pc:sldChg>
      <pc:sldChg chg="addSp delSp modSp new mod">
        <pc:chgData name="Maha Saadeh" userId="3cb906ed-5449-4556-905f-2231327ddc1a" providerId="ADAL" clId="{454ED7F6-9BA2-4548-88F5-A2FE5F82DAC2}" dt="2026-02-09T06:24:53.571" v="193" actId="207"/>
        <pc:sldMkLst>
          <pc:docMk/>
          <pc:sldMk cId="1985087050" sldId="503"/>
        </pc:sldMkLst>
        <pc:spChg chg="mod">
          <ac:chgData name="Maha Saadeh" userId="3cb906ed-5449-4556-905f-2231327ddc1a" providerId="ADAL" clId="{454ED7F6-9BA2-4548-88F5-A2FE5F82DAC2}" dt="2026-02-07T08:31:23.888" v="96"/>
          <ac:spMkLst>
            <pc:docMk/>
            <pc:sldMk cId="1985087050" sldId="503"/>
            <ac:spMk id="2" creationId="{47746998-D7D2-A1B1-014D-66A849AD6A5F}"/>
          </ac:spMkLst>
        </pc:spChg>
        <pc:spChg chg="add mod">
          <ac:chgData name="Maha Saadeh" userId="3cb906ed-5449-4556-905f-2231327ddc1a" providerId="ADAL" clId="{454ED7F6-9BA2-4548-88F5-A2FE5F82DAC2}" dt="2026-02-09T06:24:53.571" v="193" actId="207"/>
          <ac:spMkLst>
            <pc:docMk/>
            <pc:sldMk cId="1985087050" sldId="503"/>
            <ac:spMk id="7" creationId="{F7CB7F80-310B-9CA1-53D2-D0F5201B57FE}"/>
          </ac:spMkLst>
        </pc:spChg>
        <pc:picChg chg="add mod">
          <ac:chgData name="Maha Saadeh" userId="3cb906ed-5449-4556-905f-2231327ddc1a" providerId="ADAL" clId="{454ED7F6-9BA2-4548-88F5-A2FE5F82DAC2}" dt="2026-02-07T08:31:03.156" v="93" actId="1076"/>
          <ac:picMkLst>
            <pc:docMk/>
            <pc:sldMk cId="1985087050" sldId="503"/>
            <ac:picMk id="5" creationId="{B7B953C4-1C57-4C1D-370D-D4713F92977F}"/>
          </ac:picMkLst>
        </pc:picChg>
      </pc:sldChg>
      <pc:sldChg chg="addSp modSp new mod">
        <pc:chgData name="Maha Saadeh" userId="3cb906ed-5449-4556-905f-2231327ddc1a" providerId="ADAL" clId="{454ED7F6-9BA2-4548-88F5-A2FE5F82DAC2}" dt="2026-02-09T06:25:07.251" v="194" actId="207"/>
        <pc:sldMkLst>
          <pc:docMk/>
          <pc:sldMk cId="3787777924" sldId="504"/>
        </pc:sldMkLst>
        <pc:spChg chg="mod">
          <ac:chgData name="Maha Saadeh" userId="3cb906ed-5449-4556-905f-2231327ddc1a" providerId="ADAL" clId="{454ED7F6-9BA2-4548-88F5-A2FE5F82DAC2}" dt="2026-02-07T08:36:44.244" v="170" actId="20577"/>
          <ac:spMkLst>
            <pc:docMk/>
            <pc:sldMk cId="3787777924" sldId="504"/>
            <ac:spMk id="2" creationId="{F41A2B28-4C96-37B7-63E1-3C4353EA7ECE}"/>
          </ac:spMkLst>
        </pc:spChg>
        <pc:spChg chg="add mod">
          <ac:chgData name="Maha Saadeh" userId="3cb906ed-5449-4556-905f-2231327ddc1a" providerId="ADAL" clId="{454ED7F6-9BA2-4548-88F5-A2FE5F82DAC2}" dt="2026-02-09T06:25:07.251" v="194" actId="207"/>
          <ac:spMkLst>
            <pc:docMk/>
            <pc:sldMk cId="3787777924" sldId="504"/>
            <ac:spMk id="4" creationId="{B3789E84-4809-5802-D9CC-423E529BE62A}"/>
          </ac:spMkLst>
        </pc:spChg>
      </pc:sldChg>
      <pc:sldChg chg="addSp modSp new mod">
        <pc:chgData name="Maha Saadeh" userId="3cb906ed-5449-4556-905f-2231327ddc1a" providerId="ADAL" clId="{454ED7F6-9BA2-4548-88F5-A2FE5F82DAC2}" dt="2026-02-07T08:35:27.029" v="131" actId="1076"/>
        <pc:sldMkLst>
          <pc:docMk/>
          <pc:sldMk cId="3959338105" sldId="505"/>
        </pc:sldMkLst>
        <pc:spChg chg="mod">
          <ac:chgData name="Maha Saadeh" userId="3cb906ed-5449-4556-905f-2231327ddc1a" providerId="ADAL" clId="{454ED7F6-9BA2-4548-88F5-A2FE5F82DAC2}" dt="2026-02-07T08:34:44.177" v="124" actId="20577"/>
          <ac:spMkLst>
            <pc:docMk/>
            <pc:sldMk cId="3959338105" sldId="505"/>
            <ac:spMk id="2" creationId="{1A4E8EF7-3831-F604-2DD1-3E54D84A9867}"/>
          </ac:spMkLst>
        </pc:spChg>
        <pc:spChg chg="add mod">
          <ac:chgData name="Maha Saadeh" userId="3cb906ed-5449-4556-905f-2231327ddc1a" providerId="ADAL" clId="{454ED7F6-9BA2-4548-88F5-A2FE5F82DAC2}" dt="2026-02-07T08:34:56.026" v="129" actId="20577"/>
          <ac:spMkLst>
            <pc:docMk/>
            <pc:sldMk cId="3959338105" sldId="505"/>
            <ac:spMk id="4" creationId="{940EF351-BAAD-3859-2CAA-4E12E6ED3E63}"/>
          </ac:spMkLst>
        </pc:spChg>
        <pc:picChg chg="add mod">
          <ac:chgData name="Maha Saadeh" userId="3cb906ed-5449-4556-905f-2231327ddc1a" providerId="ADAL" clId="{454ED7F6-9BA2-4548-88F5-A2FE5F82DAC2}" dt="2026-02-07T08:35:27.029" v="131" actId="1076"/>
          <ac:picMkLst>
            <pc:docMk/>
            <pc:sldMk cId="3959338105" sldId="505"/>
            <ac:picMk id="6" creationId="{48BD3C37-E1D3-8A79-24B9-2F36EBF5E82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7BAC4-41F0-4ADE-8482-0210655DA60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BF6CE5-7E93-4212-8C77-8741B88A9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63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3468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1"/>
                </a:lnTo>
              </a:path>
            </a:pathLst>
          </a:custGeom>
          <a:ln w="50800">
            <a:solidFill>
              <a:srgbClr val="33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604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2904" y="1224788"/>
            <a:ext cx="8418191" cy="2256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8437" y="4862148"/>
            <a:ext cx="2677795" cy="196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9CB5F3-7E1B-3C01-5EDD-ACE15FD56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2038AF-3454-BA65-9BFB-197720AA5C7F}"/>
              </a:ext>
            </a:extLst>
          </p:cNvPr>
          <p:cNvSpPr txBox="1"/>
          <p:nvPr/>
        </p:nvSpPr>
        <p:spPr>
          <a:xfrm>
            <a:off x="1905000" y="2800350"/>
            <a:ext cx="5638800" cy="830997"/>
          </a:xfrm>
          <a:prstGeom prst="rect">
            <a:avLst/>
          </a:prstGeom>
          <a:solidFill>
            <a:srgbClr val="31245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Week 4: Linear Unsupervised Learning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Part 3- K-Means</a:t>
            </a:r>
            <a:endParaRPr lang="en-AE" sz="24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CFF84-8DC6-5772-8AC5-D21CBDD4573D}"/>
              </a:ext>
            </a:extLst>
          </p:cNvPr>
          <p:cNvSpPr txBox="1"/>
          <p:nvPr/>
        </p:nvSpPr>
        <p:spPr>
          <a:xfrm>
            <a:off x="1752600" y="4552950"/>
            <a:ext cx="5638800" cy="369332"/>
          </a:xfrm>
          <a:prstGeom prst="rect">
            <a:avLst/>
          </a:prstGeom>
          <a:solidFill>
            <a:srgbClr val="31245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Dr Maha Saadeh</a:t>
            </a:r>
          </a:p>
        </p:txBody>
      </p:sp>
    </p:spTree>
    <p:extLst>
      <p:ext uri="{BB962C8B-B14F-4D97-AF65-F5344CB8AC3E}">
        <p14:creationId xmlns:p14="http://schemas.microsoft.com/office/powerpoint/2010/main" val="741890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95462-0694-8027-46CD-67514103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Algorithm</a:t>
            </a:r>
            <a:endParaRPr lang="en-A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3CC52-CFE9-EE08-7FB4-10A506F8F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4" y="1224788"/>
            <a:ext cx="8418191" cy="166199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focus of this Section - the </a:t>
            </a:r>
            <a:r>
              <a:rPr lang="en-US" i="1" dirty="0"/>
              <a:t>K-means algorithm </a:t>
            </a:r>
            <a:r>
              <a:rPr lang="en-US" dirty="0"/>
              <a:t>- is an elementary example of another set of unsupervised learning methods called </a:t>
            </a:r>
            <a:r>
              <a:rPr lang="en-US" i="1" dirty="0"/>
              <a:t>clustering algorithms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91187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710469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10" dirty="0"/>
              <a:t> K-means Clustering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BA933-DC73-46D2-A09F-C4F914C17DDE}"/>
              </a:ext>
            </a:extLst>
          </p:cNvPr>
          <p:cNvSpPr txBox="1"/>
          <p:nvPr/>
        </p:nvSpPr>
        <p:spPr>
          <a:xfrm>
            <a:off x="152400" y="1352550"/>
            <a:ext cx="7848600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C000"/>
                </a:solidFill>
              </a:rPr>
              <a:t>Goal: </a:t>
            </a:r>
            <a:r>
              <a:rPr lang="en-US" i="1" dirty="0">
                <a:solidFill>
                  <a:srgbClr val="0070C0"/>
                </a:solidFill>
              </a:rPr>
              <a:t>find the cluster for each observation while </a:t>
            </a:r>
            <a:r>
              <a:rPr lang="en-US" i="1" dirty="0" err="1">
                <a:solidFill>
                  <a:srgbClr val="FF0000"/>
                </a:solidFill>
              </a:rPr>
              <a:t>minimising</a:t>
            </a:r>
            <a:r>
              <a:rPr lang="en-US" i="1" dirty="0">
                <a:solidFill>
                  <a:srgbClr val="FF0000"/>
                </a:solidFill>
              </a:rPr>
              <a:t> the variance between data samples in each cluster</a:t>
            </a:r>
          </a:p>
          <a:p>
            <a:endParaRPr lang="en-US" i="1" dirty="0">
              <a:solidFill>
                <a:srgbClr val="0070C0"/>
              </a:solidFill>
            </a:endParaRPr>
          </a:p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dirty="0">
                <a:cs typeface="Calibri"/>
              </a:rPr>
              <a:t>K-means</a:t>
            </a:r>
            <a:r>
              <a:rPr lang="en-US" sz="2000" spc="-15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algorithm</a:t>
            </a:r>
            <a:endParaRPr lang="en-US" sz="2000" dirty="0"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000" spc="-15" dirty="0">
                <a:cs typeface="Calibri"/>
              </a:rPr>
              <a:t>Each cluster </a:t>
            </a:r>
            <a:r>
              <a:rPr lang="en-US" sz="2000" spc="-10" dirty="0">
                <a:cs typeface="Calibri"/>
              </a:rPr>
              <a:t>is associated </a:t>
            </a:r>
            <a:r>
              <a:rPr lang="en-US" sz="2000" spc="-5" dirty="0">
                <a:cs typeface="Calibri"/>
              </a:rPr>
              <a:t>with a </a:t>
            </a:r>
            <a:r>
              <a:rPr lang="en-US" sz="2000" spc="-15" dirty="0">
                <a:cs typeface="Calibri"/>
              </a:rPr>
              <a:t>centroid </a:t>
            </a:r>
            <a:endParaRPr lang="en-US" sz="2000" dirty="0">
              <a:cs typeface="Calibri"/>
            </a:endParaRPr>
          </a:p>
          <a:p>
            <a:pPr marL="756285" marR="2228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000" spc="-15" dirty="0">
                <a:cs typeface="Calibri"/>
              </a:rPr>
              <a:t>Each point </a:t>
            </a:r>
            <a:r>
              <a:rPr lang="en-US" sz="2000" spc="-10" dirty="0">
                <a:cs typeface="Calibri"/>
              </a:rPr>
              <a:t>is </a:t>
            </a:r>
            <a:r>
              <a:rPr lang="en-US" sz="2000" spc="-5" dirty="0">
                <a:cs typeface="Calibri"/>
              </a:rPr>
              <a:t>assigned </a:t>
            </a:r>
            <a:r>
              <a:rPr lang="en-US" sz="2000" spc="-15" dirty="0">
                <a:cs typeface="Calibri"/>
              </a:rPr>
              <a:t>to </a:t>
            </a:r>
            <a:r>
              <a:rPr lang="en-US" sz="2000" spc="-10" dirty="0">
                <a:cs typeface="Calibri"/>
              </a:rPr>
              <a:t>the </a:t>
            </a:r>
            <a:r>
              <a:rPr lang="en-US" sz="2000" spc="-15" dirty="0">
                <a:cs typeface="Calibri"/>
              </a:rPr>
              <a:t>cluster </a:t>
            </a:r>
            <a:r>
              <a:rPr lang="en-US" sz="2000" spc="-5" dirty="0">
                <a:cs typeface="Calibri"/>
              </a:rPr>
              <a:t>whose  </a:t>
            </a:r>
            <a:r>
              <a:rPr lang="en-US" sz="2000" spc="-15" dirty="0">
                <a:cs typeface="Calibri"/>
              </a:rPr>
              <a:t>centroid </a:t>
            </a:r>
            <a:r>
              <a:rPr lang="en-US" sz="2000" spc="-10" dirty="0">
                <a:cs typeface="Calibri"/>
              </a:rPr>
              <a:t>it is closest</a:t>
            </a:r>
            <a:r>
              <a:rPr lang="en-US" sz="2000" spc="80" dirty="0">
                <a:cs typeface="Calibri"/>
              </a:rPr>
              <a:t> </a:t>
            </a:r>
            <a:r>
              <a:rPr lang="en-US" sz="2000" spc="-15" dirty="0">
                <a:cs typeface="Calibri"/>
              </a:rPr>
              <a:t>to</a:t>
            </a:r>
            <a:endParaRPr lang="en-US" sz="2000" dirty="0">
              <a:cs typeface="Calibri"/>
            </a:endParaRPr>
          </a:p>
          <a:p>
            <a:pPr marL="755650" marR="5080" lvl="1" indent="-28638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000" spc="-5" dirty="0">
                <a:cs typeface="Calibri"/>
              </a:rPr>
              <a:t>The </a:t>
            </a:r>
            <a:r>
              <a:rPr lang="en-US" sz="2000" spc="-10" dirty="0">
                <a:cs typeface="Calibri"/>
              </a:rPr>
              <a:t>number </a:t>
            </a:r>
            <a:r>
              <a:rPr lang="en-US" sz="2000" spc="-5" dirty="0">
                <a:cs typeface="Calibri"/>
              </a:rPr>
              <a:t>of </a:t>
            </a:r>
            <a:r>
              <a:rPr lang="en-US" sz="2000" spc="-20" dirty="0">
                <a:cs typeface="Calibri"/>
              </a:rPr>
              <a:t>clusters, </a:t>
            </a:r>
            <a:r>
              <a:rPr lang="en-US" sz="2000" i="1" spc="-5" dirty="0">
                <a:cs typeface="Calibri"/>
              </a:rPr>
              <a:t>K</a:t>
            </a:r>
            <a:r>
              <a:rPr lang="en-US" sz="2000" spc="-5" dirty="0">
                <a:cs typeface="Calibri"/>
              </a:rPr>
              <a:t>, </a:t>
            </a:r>
            <a:r>
              <a:rPr lang="en-US" sz="2000" spc="-15" dirty="0">
                <a:cs typeface="Calibri"/>
              </a:rPr>
              <a:t>must </a:t>
            </a:r>
            <a:r>
              <a:rPr lang="en-US" sz="2000" spc="-5" dirty="0">
                <a:cs typeface="Calibri"/>
              </a:rPr>
              <a:t>be </a:t>
            </a:r>
            <a:r>
              <a:rPr lang="en-US" sz="2000" spc="-10" dirty="0">
                <a:cs typeface="Calibri"/>
              </a:rPr>
              <a:t>specified  </a:t>
            </a:r>
            <a:r>
              <a:rPr lang="en-US" sz="2000" spc="-20" dirty="0">
                <a:cs typeface="Calibri"/>
              </a:rPr>
              <a:t>beforehand</a:t>
            </a:r>
            <a:endParaRPr lang="en-US" sz="2000" dirty="0">
              <a:cs typeface="Calibri"/>
            </a:endParaRPr>
          </a:p>
          <a:p>
            <a:endParaRPr lang="en-US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96078"/>
            <a:ext cx="4745740" cy="59487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dirty="0"/>
              <a:t>K-means</a:t>
            </a:r>
            <a:r>
              <a:rPr spc="-49" dirty="0"/>
              <a:t> </a:t>
            </a:r>
            <a:r>
              <a:rPr spc="-4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8059" y="1178051"/>
            <a:ext cx="1382554" cy="32124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66700" indent="-257175">
              <a:spcBef>
                <a:spcPts val="75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z="2025" spc="-8" dirty="0">
                <a:latin typeface="Calibri"/>
                <a:cs typeface="Calibri"/>
              </a:rPr>
              <a:t>Algorithm:</a:t>
            </a:r>
            <a:endParaRPr sz="2025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48059" y="4201144"/>
            <a:ext cx="5618321" cy="656108"/>
          </a:xfrm>
          <a:prstGeom prst="rect">
            <a:avLst/>
          </a:prstGeom>
        </p:spPr>
        <p:txBody>
          <a:bodyPr vert="horz" wrap="square" lIns="0" tIns="41433" rIns="0" bIns="0" rtlCol="0">
            <a:spAutoFit/>
          </a:bodyPr>
          <a:lstStyle/>
          <a:p>
            <a:pPr marL="266700" indent="-257175">
              <a:spcBef>
                <a:spcPts val="326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z="2025" spc="-4" dirty="0">
                <a:latin typeface="Calibri"/>
                <a:cs typeface="Calibri"/>
              </a:rPr>
              <a:t>The </a:t>
            </a:r>
            <a:r>
              <a:rPr sz="2025" spc="-8" dirty="0">
                <a:latin typeface="Calibri"/>
                <a:cs typeface="Calibri"/>
              </a:rPr>
              <a:t>simplest </a:t>
            </a:r>
            <a:r>
              <a:rPr sz="2025" spc="-11" dirty="0">
                <a:latin typeface="Calibri"/>
                <a:cs typeface="Calibri"/>
              </a:rPr>
              <a:t>version </a:t>
            </a:r>
            <a:r>
              <a:rPr sz="2025" dirty="0">
                <a:latin typeface="Calibri"/>
                <a:cs typeface="Calibri"/>
              </a:rPr>
              <a:t>is </a:t>
            </a:r>
            <a:r>
              <a:rPr sz="2025" spc="-4" dirty="0">
                <a:latin typeface="Calibri"/>
                <a:cs typeface="Calibri"/>
              </a:rPr>
              <a:t>based </a:t>
            </a:r>
            <a:r>
              <a:rPr sz="2025" dirty="0">
                <a:latin typeface="Calibri"/>
                <a:cs typeface="Calibri"/>
              </a:rPr>
              <a:t>on </a:t>
            </a:r>
            <a:r>
              <a:rPr sz="2025" spc="-4" dirty="0">
                <a:latin typeface="Calibri"/>
                <a:cs typeface="Calibri"/>
              </a:rPr>
              <a:t>Euclidean</a:t>
            </a:r>
            <a:r>
              <a:rPr sz="2025" spc="-68" dirty="0">
                <a:latin typeface="Calibri"/>
                <a:cs typeface="Calibri"/>
              </a:rPr>
              <a:t> </a:t>
            </a:r>
            <a:r>
              <a:rPr sz="2025" spc="-11" dirty="0">
                <a:latin typeface="Calibri"/>
                <a:cs typeface="Calibri"/>
              </a:rPr>
              <a:t>distance</a:t>
            </a:r>
            <a:endParaRPr sz="2025" dirty="0">
              <a:latin typeface="Calibri"/>
              <a:cs typeface="Calibri"/>
            </a:endParaRPr>
          </a:p>
          <a:p>
            <a:pPr marL="352425">
              <a:spcBef>
                <a:spcPts val="225"/>
              </a:spcBef>
            </a:pPr>
            <a:endParaRPr dirty="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236860"/>
              </p:ext>
            </p:extLst>
          </p:nvPr>
        </p:nvGraphicFramePr>
        <p:xfrm>
          <a:off x="1485900" y="1678618"/>
          <a:ext cx="7429500" cy="19656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6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3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477"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Initialise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K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centroids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spc="-35" dirty="0">
                          <a:latin typeface="Calibri"/>
                          <a:cs typeface="Calibri"/>
                        </a:rPr>
                        <a:t>(prototypes)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1"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5" dirty="0">
                          <a:latin typeface="Calibri"/>
                          <a:cs typeface="Calibri"/>
                        </a:rPr>
                        <a:t>repeat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241" marB="0"/>
                </a:tc>
                <a:tc>
                  <a:txBody>
                    <a:bodyPr/>
                    <a:lstStyle/>
                    <a:p>
                      <a:pPr marL="152273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assign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each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data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point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nearest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spc="-15" dirty="0">
                          <a:latin typeface="Calibri"/>
                          <a:cs typeface="Calibri"/>
                        </a:rPr>
                        <a:t>centroid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5241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1"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5227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update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lang="en-US" sz="1800" spc="-10" dirty="0">
                          <a:latin typeface="Calibri"/>
                          <a:cs typeface="Calibri"/>
                        </a:rPr>
                        <a:t>centroids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be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cluster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means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615"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5: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until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lang="en-US" sz="1800" spc="-10" dirty="0">
                          <a:latin typeface="Calibri"/>
                          <a:cs typeface="Calibri"/>
                        </a:rPr>
                        <a:t>centroids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do not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change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1" y="346186"/>
            <a:ext cx="5812464" cy="59487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dirty="0"/>
              <a:t>K-means</a:t>
            </a:r>
            <a:r>
              <a:rPr spc="-49" dirty="0"/>
              <a:t> </a:t>
            </a:r>
            <a:r>
              <a:rPr spc="-4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8059" y="1178051"/>
            <a:ext cx="1382554" cy="32124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66700" indent="-257175">
              <a:spcBef>
                <a:spcPts val="75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z="2025" spc="-8" dirty="0">
                <a:latin typeface="Calibri"/>
                <a:cs typeface="Calibri"/>
              </a:rPr>
              <a:t>Algorithm:</a:t>
            </a:r>
            <a:endParaRPr sz="2025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48059" y="4201144"/>
            <a:ext cx="5618321" cy="656108"/>
          </a:xfrm>
          <a:prstGeom prst="rect">
            <a:avLst/>
          </a:prstGeom>
        </p:spPr>
        <p:txBody>
          <a:bodyPr vert="horz" wrap="square" lIns="0" tIns="41433" rIns="0" bIns="0" rtlCol="0">
            <a:spAutoFit/>
          </a:bodyPr>
          <a:lstStyle/>
          <a:p>
            <a:pPr marL="266700" indent="-257175">
              <a:spcBef>
                <a:spcPts val="326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z="2025" spc="-4" dirty="0">
                <a:latin typeface="Calibri"/>
                <a:cs typeface="Calibri"/>
              </a:rPr>
              <a:t>The </a:t>
            </a:r>
            <a:r>
              <a:rPr sz="2025" spc="-8" dirty="0">
                <a:latin typeface="Calibri"/>
                <a:cs typeface="Calibri"/>
              </a:rPr>
              <a:t>simplest </a:t>
            </a:r>
            <a:r>
              <a:rPr sz="2025" spc="-11" dirty="0">
                <a:latin typeface="Calibri"/>
                <a:cs typeface="Calibri"/>
              </a:rPr>
              <a:t>version </a:t>
            </a:r>
            <a:r>
              <a:rPr sz="2025" dirty="0">
                <a:latin typeface="Calibri"/>
                <a:cs typeface="Calibri"/>
              </a:rPr>
              <a:t>is </a:t>
            </a:r>
            <a:r>
              <a:rPr sz="2025" spc="-4" dirty="0">
                <a:latin typeface="Calibri"/>
                <a:cs typeface="Calibri"/>
              </a:rPr>
              <a:t>based </a:t>
            </a:r>
            <a:r>
              <a:rPr sz="2025" dirty="0">
                <a:latin typeface="Calibri"/>
                <a:cs typeface="Calibri"/>
              </a:rPr>
              <a:t>on </a:t>
            </a:r>
            <a:r>
              <a:rPr sz="2025" spc="-4" dirty="0">
                <a:latin typeface="Calibri"/>
                <a:cs typeface="Calibri"/>
              </a:rPr>
              <a:t>Euclidean</a:t>
            </a:r>
            <a:r>
              <a:rPr sz="2025" spc="-68" dirty="0">
                <a:latin typeface="Calibri"/>
                <a:cs typeface="Calibri"/>
              </a:rPr>
              <a:t> </a:t>
            </a:r>
            <a:r>
              <a:rPr sz="2025" spc="-11" dirty="0">
                <a:latin typeface="Calibri"/>
                <a:cs typeface="Calibri"/>
              </a:rPr>
              <a:t>distance</a:t>
            </a:r>
            <a:endParaRPr sz="2025" dirty="0">
              <a:latin typeface="Calibri"/>
              <a:cs typeface="Calibri"/>
            </a:endParaRPr>
          </a:p>
          <a:p>
            <a:pPr marL="352425">
              <a:spcBef>
                <a:spcPts val="225"/>
              </a:spcBef>
            </a:pPr>
            <a:endParaRPr dirty="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622345"/>
              </p:ext>
            </p:extLst>
          </p:nvPr>
        </p:nvGraphicFramePr>
        <p:xfrm>
          <a:off x="1485900" y="1678618"/>
          <a:ext cx="7200900" cy="19656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9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1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477"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Initialise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K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centroids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(prototypes)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1"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5" dirty="0">
                          <a:latin typeface="Calibri"/>
                          <a:cs typeface="Calibri"/>
                        </a:rPr>
                        <a:t>repeat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241" marB="0"/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345"/>
                        </a:spcBef>
                        <a:tabLst>
                          <a:tab pos="1522730" algn="l"/>
                        </a:tabLst>
                      </a:pPr>
                      <a:r>
                        <a:rPr sz="1800" b="1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E-step:	</a:t>
                      </a:r>
                      <a:r>
                        <a:rPr sz="2700" spc="-7" baseline="2314" dirty="0">
                          <a:latin typeface="Calibri"/>
                          <a:cs typeface="Calibri"/>
                        </a:rPr>
                        <a:t>assign </a:t>
                      </a:r>
                      <a:r>
                        <a:rPr sz="2700" baseline="2314" dirty="0">
                          <a:latin typeface="Calibri"/>
                          <a:cs typeface="Calibri"/>
                        </a:rPr>
                        <a:t>each </a:t>
                      </a:r>
                      <a:r>
                        <a:rPr sz="2700" spc="-22" baseline="2314" dirty="0">
                          <a:latin typeface="Calibri"/>
                          <a:cs typeface="Calibri"/>
                        </a:rPr>
                        <a:t>data </a:t>
                      </a:r>
                      <a:r>
                        <a:rPr sz="2700" spc="-15" baseline="2314" dirty="0">
                          <a:latin typeface="Calibri"/>
                          <a:cs typeface="Calibri"/>
                        </a:rPr>
                        <a:t>point </a:t>
                      </a:r>
                      <a:r>
                        <a:rPr sz="2700" spc="-22" baseline="2314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2700" baseline="2314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700" spc="-15" baseline="2314" dirty="0">
                          <a:latin typeface="Calibri"/>
                          <a:cs typeface="Calibri"/>
                        </a:rPr>
                        <a:t>nearest</a:t>
                      </a:r>
                      <a:r>
                        <a:rPr sz="2700" spc="-52" baseline="23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22" baseline="2314" dirty="0">
                          <a:latin typeface="Calibri"/>
                          <a:cs typeface="Calibri"/>
                        </a:rPr>
                        <a:t>prototype</a:t>
                      </a:r>
                      <a:endParaRPr sz="2700" baseline="2314">
                        <a:latin typeface="Calibri"/>
                        <a:cs typeface="Calibri"/>
                      </a:endParaRPr>
                    </a:p>
                  </a:txBody>
                  <a:tcPr marL="0" marR="0" marT="32861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1"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305"/>
                        </a:spcBef>
                        <a:tabLst>
                          <a:tab pos="1522730" algn="l"/>
                        </a:tabLst>
                      </a:pPr>
                      <a:r>
                        <a:rPr sz="1800" b="1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M-step:	</a:t>
                      </a:r>
                      <a:r>
                        <a:rPr sz="2700" spc="-22" baseline="1157" dirty="0">
                          <a:latin typeface="Calibri"/>
                          <a:cs typeface="Calibri"/>
                        </a:rPr>
                        <a:t>update </a:t>
                      </a:r>
                      <a:r>
                        <a:rPr sz="2700" baseline="1157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700" spc="-15" baseline="1157" dirty="0">
                          <a:latin typeface="Calibri"/>
                          <a:cs typeface="Calibri"/>
                        </a:rPr>
                        <a:t>prototypes </a:t>
                      </a:r>
                      <a:r>
                        <a:rPr sz="2700" spc="-22" baseline="1157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2700" spc="-7" baseline="1157" dirty="0">
                          <a:latin typeface="Calibri"/>
                          <a:cs typeface="Calibri"/>
                        </a:rPr>
                        <a:t>be </a:t>
                      </a:r>
                      <a:r>
                        <a:rPr sz="2700" baseline="1157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700" spc="-15" baseline="1157" dirty="0">
                          <a:latin typeface="Calibri"/>
                          <a:cs typeface="Calibri"/>
                        </a:rPr>
                        <a:t>cluster</a:t>
                      </a:r>
                      <a:r>
                        <a:rPr sz="2700" spc="-30" baseline="1157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7" baseline="1157" dirty="0">
                          <a:latin typeface="Calibri"/>
                          <a:cs typeface="Calibri"/>
                        </a:rPr>
                        <a:t>means</a:t>
                      </a:r>
                      <a:endParaRPr sz="2700" baseline="1157" dirty="0">
                        <a:latin typeface="Calibri"/>
                        <a:cs typeface="Calibri"/>
                      </a:endParaRPr>
                    </a:p>
                  </a:txBody>
                  <a:tcPr marL="0" marR="0" marT="29051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615"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5: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until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prototypes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do not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change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814637" y="1070403"/>
            <a:ext cx="4543425" cy="1435894"/>
            <a:chOff x="2125979" y="1496567"/>
            <a:chExt cx="6057900" cy="1914525"/>
          </a:xfrm>
        </p:grpSpPr>
        <p:sp>
          <p:nvSpPr>
            <p:cNvPr id="7" name="object 7"/>
            <p:cNvSpPr/>
            <p:nvPr/>
          </p:nvSpPr>
          <p:spPr>
            <a:xfrm>
              <a:off x="2125979" y="1496567"/>
              <a:ext cx="6057899" cy="191414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" name="object 8"/>
            <p:cNvSpPr/>
            <p:nvPr/>
          </p:nvSpPr>
          <p:spPr>
            <a:xfrm>
              <a:off x="2173109" y="1520952"/>
              <a:ext cx="5963526" cy="18190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9" name="object 9"/>
            <p:cNvSpPr/>
            <p:nvPr/>
          </p:nvSpPr>
          <p:spPr>
            <a:xfrm>
              <a:off x="2173109" y="1520951"/>
              <a:ext cx="5963920" cy="1819275"/>
            </a:xfrm>
            <a:custGeom>
              <a:avLst/>
              <a:gdLst/>
              <a:ahLst/>
              <a:cxnLst/>
              <a:rect l="l" t="t" r="r" b="b"/>
              <a:pathLst>
                <a:path w="5963920" h="1819275">
                  <a:moveTo>
                    <a:pt x="912990" y="0"/>
                  </a:moveTo>
                  <a:lnTo>
                    <a:pt x="1754746" y="0"/>
                  </a:lnTo>
                  <a:lnTo>
                    <a:pt x="3017380" y="0"/>
                  </a:lnTo>
                  <a:lnTo>
                    <a:pt x="5963526" y="0"/>
                  </a:lnTo>
                  <a:lnTo>
                    <a:pt x="5963526" y="472948"/>
                  </a:lnTo>
                  <a:lnTo>
                    <a:pt x="5963526" y="675640"/>
                  </a:lnTo>
                  <a:lnTo>
                    <a:pt x="5963526" y="810768"/>
                  </a:lnTo>
                  <a:lnTo>
                    <a:pt x="3017380" y="810768"/>
                  </a:lnTo>
                  <a:lnTo>
                    <a:pt x="0" y="1819084"/>
                  </a:lnTo>
                  <a:lnTo>
                    <a:pt x="1754746" y="810768"/>
                  </a:lnTo>
                  <a:lnTo>
                    <a:pt x="912990" y="810768"/>
                  </a:lnTo>
                  <a:lnTo>
                    <a:pt x="912990" y="675640"/>
                  </a:lnTo>
                  <a:lnTo>
                    <a:pt x="912990" y="472948"/>
                  </a:lnTo>
                  <a:lnTo>
                    <a:pt x="912990" y="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275242" y="1176020"/>
            <a:ext cx="2066925" cy="47176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500" spc="-11" dirty="0">
                <a:solidFill>
                  <a:srgbClr val="FFFFFF"/>
                </a:solidFill>
                <a:latin typeface="Calibri"/>
                <a:cs typeface="Calibri"/>
              </a:rPr>
              <a:t>Let’s </a:t>
            </a:r>
            <a:r>
              <a:rPr sz="1500" spc="-4" dirty="0">
                <a:solidFill>
                  <a:srgbClr val="FFFFFF"/>
                </a:solidFill>
                <a:latin typeface="Calibri"/>
                <a:cs typeface="Calibri"/>
              </a:rPr>
              <a:t>call these </a:t>
            </a:r>
            <a:r>
              <a:rPr sz="1500" spc="-8" dirty="0">
                <a:solidFill>
                  <a:srgbClr val="FFFFFF"/>
                </a:solidFill>
                <a:latin typeface="Calibri"/>
                <a:cs typeface="Calibri"/>
              </a:rPr>
              <a:t>two </a:t>
            </a:r>
            <a:r>
              <a:rPr sz="1500" spc="-11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lang="en-US" sz="1500" spc="-11" dirty="0">
                <a:solidFill>
                  <a:srgbClr val="FFFFFF"/>
                </a:solidFill>
                <a:latin typeface="Calibri"/>
                <a:cs typeface="Calibri"/>
              </a:rPr>
              <a:t>s as Estimate and Measure</a:t>
            </a:r>
            <a:endParaRPr sz="1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42197" y="1200150"/>
            <a:ext cx="4437266" cy="3644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00" y="514350"/>
            <a:ext cx="857726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800" spc="-4" dirty="0">
                <a:solidFill>
                  <a:srgbClr val="006FC0"/>
                </a:solidFill>
              </a:rPr>
              <a:t>Initialise: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41422" y="1276350"/>
            <a:ext cx="4533986" cy="36064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514350"/>
            <a:ext cx="667702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800" b="1" spc="4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1800" b="1" spc="-4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1800" b="1" spc="-19" dirty="0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sz="1800" b="1" spc="-23" dirty="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sz="1800" b="1" spc="4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1800" b="1" spc="-4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57617" y="1200150"/>
            <a:ext cx="4355059" cy="36947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361950"/>
            <a:ext cx="75580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M</a:t>
            </a:r>
            <a:r>
              <a:rPr sz="1800" b="1" spc="-4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1800" b="1" spc="-19" dirty="0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sz="1800" b="1" spc="-23" dirty="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sz="1800" b="1" spc="4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1800" b="1" spc="-4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55698" y="1200150"/>
            <a:ext cx="4522546" cy="36432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514350"/>
            <a:ext cx="667702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800" b="1" spc="4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1800" b="1" spc="-4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1800" b="1" spc="-19" dirty="0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sz="1800" b="1" spc="-23" dirty="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sz="1800" b="1" spc="4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1800" b="1" spc="-4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4372" y="1200150"/>
            <a:ext cx="4432837" cy="36874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438150"/>
            <a:ext cx="75580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M</a:t>
            </a:r>
            <a:r>
              <a:rPr sz="1800" b="1" spc="-4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1800" b="1" spc="-19" dirty="0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sz="1800" b="1" spc="-23" dirty="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sz="1800" b="1" spc="4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1800" b="1" spc="-4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07133" y="1047750"/>
            <a:ext cx="4562913" cy="37823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" y="514350"/>
            <a:ext cx="667702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800" b="1" spc="4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1800" b="1" spc="-4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1800" b="1" spc="-19" dirty="0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sz="1800" b="1" spc="-23" dirty="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sz="1800" b="1" spc="4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1800" b="1" spc="-4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57426" y="1123950"/>
            <a:ext cx="4447409" cy="36730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438150"/>
            <a:ext cx="75580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M</a:t>
            </a:r>
            <a:r>
              <a:rPr sz="1800" b="1" spc="-4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1800" b="1" spc="-19" dirty="0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sz="1800" b="1" spc="-23" dirty="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sz="1800" b="1" spc="4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1800" b="1" spc="-4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0286" y="1047749"/>
            <a:ext cx="4428665" cy="37697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514350"/>
            <a:ext cx="667702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800" b="1" spc="4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1800" b="1" spc="-4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1800" b="1" spc="-19" dirty="0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sz="1800" b="1" spc="-23" dirty="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sz="1800" b="1" spc="4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1800" b="1" spc="-4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0379" y="1200150"/>
            <a:ext cx="4388993" cy="35318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469252"/>
            <a:ext cx="75580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M</a:t>
            </a:r>
            <a:r>
              <a:rPr sz="1800" b="1" spc="-4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1800" b="1" spc="-19" dirty="0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sz="1800" b="1" spc="-23" dirty="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sz="1800" b="1" spc="4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1800" b="1" spc="-4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0379" y="1200150"/>
            <a:ext cx="4388993" cy="35318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599" y="469252"/>
            <a:ext cx="632460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en-US" sz="1800" b="1" dirty="0">
                <a:solidFill>
                  <a:srgbClr val="006FC0"/>
                </a:solidFill>
                <a:latin typeface="Calibri"/>
                <a:cs typeface="Calibri"/>
              </a:rPr>
              <a:t>No more modifications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r>
              <a:rPr lang="en-US" sz="1800" b="1" dirty="0">
                <a:solidFill>
                  <a:srgbClr val="006FC0"/>
                </a:solidFill>
                <a:latin typeface="Calibri"/>
                <a:cs typeface="Calibri"/>
              </a:rPr>
              <a:t> Clustering is Done</a:t>
            </a:r>
            <a:endParaRPr sz="1800" dirty="0">
              <a:latin typeface="Calibri"/>
              <a:cs typeface="Calibri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2CA035B-E28C-40EE-BC02-7491CC770EDA}"/>
              </a:ext>
            </a:extLst>
          </p:cNvPr>
          <p:cNvCxnSpPr/>
          <p:nvPr/>
        </p:nvCxnSpPr>
        <p:spPr>
          <a:xfrm flipH="1" flipV="1">
            <a:off x="5791200" y="2495550"/>
            <a:ext cx="19050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E66D84E-A552-48A7-BBA5-C187858F4151}"/>
              </a:ext>
            </a:extLst>
          </p:cNvPr>
          <p:cNvSpPr txBox="1"/>
          <p:nvPr/>
        </p:nvSpPr>
        <p:spPr>
          <a:xfrm>
            <a:off x="7696200" y="302895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Cluster 1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86DA5D-4CF0-44ED-91C5-B400FE53406A}"/>
              </a:ext>
            </a:extLst>
          </p:cNvPr>
          <p:cNvCxnSpPr/>
          <p:nvPr/>
        </p:nvCxnSpPr>
        <p:spPr>
          <a:xfrm flipH="1" flipV="1">
            <a:off x="4116672" y="3562520"/>
            <a:ext cx="19050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8BB0E25-B785-442C-859E-9AF801B26E94}"/>
              </a:ext>
            </a:extLst>
          </p:cNvPr>
          <p:cNvSpPr txBox="1"/>
          <p:nvPr/>
        </p:nvSpPr>
        <p:spPr>
          <a:xfrm>
            <a:off x="6021672" y="409592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Cluster 2</a:t>
            </a:r>
          </a:p>
        </p:txBody>
      </p:sp>
    </p:spTree>
    <p:extLst>
      <p:ext uri="{BB962C8B-B14F-4D97-AF65-F5344CB8AC3E}">
        <p14:creationId xmlns:p14="http://schemas.microsoft.com/office/powerpoint/2010/main" val="79256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4956D-2B3F-4925-AEF7-95E6BEDCF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select 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88C54-8DB7-4B69-8051-E3BB7A77D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4" y="1224788"/>
            <a:ext cx="8418191" cy="276999"/>
          </a:xfrm>
        </p:spPr>
        <p:txBody>
          <a:bodyPr/>
          <a:lstStyle/>
          <a:p>
            <a:r>
              <a:rPr lang="en-US" dirty="0"/>
              <a:t>Using the Elbow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D88F6D-10ED-4FD6-8873-AD38F2BFF207}"/>
              </a:ext>
            </a:extLst>
          </p:cNvPr>
          <p:cNvSpPr txBox="1"/>
          <p:nvPr/>
        </p:nvSpPr>
        <p:spPr>
          <a:xfrm>
            <a:off x="36786" y="1733550"/>
            <a:ext cx="30112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highlight>
                  <a:srgbClr val="FFFF00"/>
                </a:highlight>
              </a:rPr>
              <a:t>Inertia metric:</a:t>
            </a:r>
          </a:p>
          <a:p>
            <a:r>
              <a:rPr lang="en-US" sz="1600" b="0" i="1" dirty="0">
                <a:solidFill>
                  <a:srgbClr val="10162F"/>
                </a:solidFill>
                <a:effectLst/>
                <a:latin typeface="Apercu"/>
              </a:rPr>
              <a:t>Inertia</a:t>
            </a:r>
            <a:r>
              <a:rPr lang="en-US" sz="1600" b="0" i="0" dirty="0">
                <a:solidFill>
                  <a:srgbClr val="10162F"/>
                </a:solidFill>
                <a:effectLst/>
                <a:latin typeface="Apercu"/>
              </a:rPr>
              <a:t> measures how well a dataset was clustered by K-Means. It is calculated by measuring the distance between each data point and its centroid, squaring this distance (the variance), and summing these squares across one cluster</a:t>
            </a:r>
            <a:endParaRPr lang="en-US" sz="1600" dirty="0"/>
          </a:p>
        </p:txBody>
      </p:sp>
      <p:pic>
        <p:nvPicPr>
          <p:cNvPr id="1028" name="Picture 4" descr="Clustering: How to Find Hyperparameters using Inertia | by Patrick Brus |  Towards Data Science">
            <a:extLst>
              <a:ext uri="{FF2B5EF4-FFF2-40B4-BE49-F238E27FC236}">
                <a16:creationId xmlns:a16="http://schemas.microsoft.com/office/drawing/2014/main" id="{DEB646D7-68D0-4708-8F7A-97D63FAFB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971550"/>
            <a:ext cx="5019675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963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67260-EEA3-40A5-A587-882C4BF5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Algorithm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EC1367B-F9A1-45AD-B79A-F6F28F87E622}"/>
              </a:ext>
            </a:extLst>
          </p:cNvPr>
          <p:cNvSpPr txBox="1"/>
          <p:nvPr/>
        </p:nvSpPr>
        <p:spPr>
          <a:xfrm>
            <a:off x="535940" y="1513954"/>
            <a:ext cx="8466455" cy="1098377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i="1" spc="-10" dirty="0">
                <a:latin typeface="Calibri"/>
                <a:cs typeface="Calibri"/>
              </a:rPr>
              <a:t>Responsibilities </a:t>
            </a:r>
            <a:r>
              <a:rPr spc="-5" dirty="0">
                <a:latin typeface="Calibri"/>
                <a:cs typeface="Calibri"/>
              </a:rPr>
              <a:t>assign the </a:t>
            </a:r>
            <a:r>
              <a:rPr i="1" dirty="0">
                <a:latin typeface="Calibri"/>
                <a:cs typeface="Calibri"/>
              </a:rPr>
              <a:t>N </a:t>
            </a:r>
            <a:r>
              <a:rPr spc="-20" dirty="0">
                <a:latin typeface="Calibri"/>
                <a:cs typeface="Calibri"/>
              </a:rPr>
              <a:t>data </a:t>
            </a:r>
            <a:r>
              <a:rPr spc="-10" dirty="0">
                <a:latin typeface="Calibri"/>
                <a:cs typeface="Calibri"/>
              </a:rPr>
              <a:t>points </a:t>
            </a:r>
            <a:r>
              <a:rPr spc="-15" dirty="0">
                <a:latin typeface="Calibri"/>
                <a:cs typeface="Calibri"/>
              </a:rPr>
              <a:t>to </a:t>
            </a:r>
            <a:r>
              <a:rPr i="1" dirty="0">
                <a:latin typeface="Calibri"/>
                <a:cs typeface="Calibri"/>
              </a:rPr>
              <a:t>K</a:t>
            </a:r>
            <a:r>
              <a:rPr i="1" spc="4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clusters</a:t>
            </a:r>
            <a:endParaRPr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40"/>
              </a:spcBef>
            </a:pPr>
            <a:r>
              <a:rPr dirty="0">
                <a:latin typeface="Arial"/>
                <a:cs typeface="Arial"/>
              </a:rPr>
              <a:t>– </a:t>
            </a:r>
            <a:r>
              <a:rPr spc="-5" dirty="0">
                <a:latin typeface="Calibri"/>
                <a:cs typeface="Calibri"/>
              </a:rPr>
              <a:t>variables</a:t>
            </a:r>
            <a:r>
              <a:rPr spc="5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r</a:t>
            </a:r>
            <a:endParaRPr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255"/>
              </a:spcBef>
              <a:buFont typeface="Arial"/>
              <a:buChar char="•"/>
              <a:tabLst>
                <a:tab pos="354965" algn="l"/>
                <a:tab pos="355600" algn="l"/>
                <a:tab pos="1937385" algn="l"/>
              </a:tabLst>
            </a:pPr>
            <a:r>
              <a:rPr spc="-10" dirty="0">
                <a:latin typeface="Calibri"/>
                <a:cs typeface="Calibri"/>
              </a:rPr>
              <a:t>Example:	</a:t>
            </a:r>
            <a:r>
              <a:rPr dirty="0">
                <a:latin typeface="Calibri"/>
                <a:cs typeface="Calibri"/>
              </a:rPr>
              <a:t>5 </a:t>
            </a:r>
            <a:r>
              <a:rPr spc="-20" dirty="0">
                <a:latin typeface="Calibri"/>
                <a:cs typeface="Calibri"/>
              </a:rPr>
              <a:t>data </a:t>
            </a:r>
            <a:r>
              <a:rPr spc="-10" dirty="0">
                <a:latin typeface="Calibri"/>
                <a:cs typeface="Calibri"/>
              </a:rPr>
              <a:t>points, </a:t>
            </a:r>
            <a:r>
              <a:rPr dirty="0">
                <a:latin typeface="Calibri"/>
                <a:cs typeface="Calibri"/>
              </a:rPr>
              <a:t>3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clusters</a:t>
            </a:r>
            <a:r>
              <a:rPr lang="en-US" spc="-20" dirty="0">
                <a:latin typeface="Calibri"/>
                <a:cs typeface="Calibri"/>
              </a:rPr>
              <a:t> 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F064F06-9064-4D12-A5FD-A4F664284727}"/>
              </a:ext>
            </a:extLst>
          </p:cNvPr>
          <p:cNvSpPr txBox="1"/>
          <p:nvPr/>
        </p:nvSpPr>
        <p:spPr>
          <a:xfrm>
            <a:off x="168162" y="3918712"/>
            <a:ext cx="1799589" cy="664283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20" dirty="0">
                <a:latin typeface="Calibri"/>
                <a:cs typeface="Calibri"/>
              </a:rPr>
              <a:t>where</a:t>
            </a:r>
            <a:endParaRPr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  <a:tabLst>
                <a:tab pos="354965" algn="l"/>
                <a:tab pos="355600" algn="l"/>
              </a:tabLst>
            </a:pPr>
            <a:endParaRPr dirty="0">
              <a:latin typeface="Calibri"/>
              <a:cs typeface="Calibri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5575153F-3491-44AD-89C4-D64BC2C828DD}"/>
              </a:ext>
            </a:extLst>
          </p:cNvPr>
          <p:cNvSpPr/>
          <p:nvPr/>
        </p:nvSpPr>
        <p:spPr>
          <a:xfrm>
            <a:off x="1336908" y="3906430"/>
            <a:ext cx="1636775" cy="3444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7">
            <a:extLst>
              <a:ext uri="{FF2B5EF4-FFF2-40B4-BE49-F238E27FC236}">
                <a16:creationId xmlns:a16="http://schemas.microsoft.com/office/drawing/2014/main" id="{2C809488-D5AE-47F4-BDCE-1C687BD0EE46}"/>
              </a:ext>
            </a:extLst>
          </p:cNvPr>
          <p:cNvGrpSpPr/>
          <p:nvPr/>
        </p:nvGrpSpPr>
        <p:grpSpPr>
          <a:xfrm>
            <a:off x="2397465" y="2697259"/>
            <a:ext cx="2668945" cy="1844743"/>
            <a:chOff x="1469136" y="3293364"/>
            <a:chExt cx="3896995" cy="3081655"/>
          </a:xfrm>
        </p:grpSpPr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9436A7A4-CC57-40FA-95DC-534F7566DD8F}"/>
                </a:ext>
              </a:extLst>
            </p:cNvPr>
            <p:cNvSpPr/>
            <p:nvPr/>
          </p:nvSpPr>
          <p:spPr>
            <a:xfrm>
              <a:off x="1469136" y="3293364"/>
              <a:ext cx="2552699" cy="206806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203C9B2A-A3C0-4E86-9C91-58D991A2EA3E}"/>
                </a:ext>
              </a:extLst>
            </p:cNvPr>
            <p:cNvSpPr/>
            <p:nvPr/>
          </p:nvSpPr>
          <p:spPr>
            <a:xfrm>
              <a:off x="4605528" y="6115811"/>
              <a:ext cx="760475" cy="2590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A80506C6-0FD2-4AB3-AF02-BDA31D2AD915}"/>
                </a:ext>
              </a:extLst>
            </p:cNvPr>
            <p:cNvSpPr/>
            <p:nvPr/>
          </p:nvSpPr>
          <p:spPr>
            <a:xfrm>
              <a:off x="3703320" y="3869436"/>
              <a:ext cx="1266443" cy="2238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602CC016-D4FF-4A6A-9434-C70BFEA8C55A}"/>
                </a:ext>
              </a:extLst>
            </p:cNvPr>
            <p:cNvSpPr/>
            <p:nvPr/>
          </p:nvSpPr>
          <p:spPr>
            <a:xfrm>
              <a:off x="3854691" y="4028069"/>
              <a:ext cx="1061085" cy="2011680"/>
            </a:xfrm>
            <a:custGeom>
              <a:avLst/>
              <a:gdLst/>
              <a:ahLst/>
              <a:cxnLst/>
              <a:rect l="l" t="t" r="r" b="b"/>
              <a:pathLst>
                <a:path w="1061085" h="2011679">
                  <a:moveTo>
                    <a:pt x="1060830" y="2011489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1E6F28E0-BFB5-4C1B-8F55-3F5077D47DAE}"/>
                </a:ext>
              </a:extLst>
            </p:cNvPr>
            <p:cNvSpPr/>
            <p:nvPr/>
          </p:nvSpPr>
          <p:spPr>
            <a:xfrm>
              <a:off x="3824476" y="3970778"/>
              <a:ext cx="71120" cy="86995"/>
            </a:xfrm>
            <a:custGeom>
              <a:avLst/>
              <a:gdLst/>
              <a:ahLst/>
              <a:cxnLst/>
              <a:rect l="l" t="t" r="r" b="b"/>
              <a:pathLst>
                <a:path w="71120" h="86995">
                  <a:moveTo>
                    <a:pt x="0" y="0"/>
                  </a:moveTo>
                  <a:lnTo>
                    <a:pt x="1879" y="86880"/>
                  </a:lnTo>
                  <a:lnTo>
                    <a:pt x="70624" y="50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3">
            <a:extLst>
              <a:ext uri="{FF2B5EF4-FFF2-40B4-BE49-F238E27FC236}">
                <a16:creationId xmlns:a16="http://schemas.microsoft.com/office/drawing/2014/main" id="{4B3EDCD2-1850-446D-922A-997BC6743EBB}"/>
              </a:ext>
            </a:extLst>
          </p:cNvPr>
          <p:cNvGrpSpPr/>
          <p:nvPr/>
        </p:nvGrpSpPr>
        <p:grpSpPr>
          <a:xfrm>
            <a:off x="5542870" y="2934490"/>
            <a:ext cx="1034415" cy="1034415"/>
            <a:chOff x="5816005" y="4145442"/>
            <a:chExt cx="1034415" cy="1034415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060DE215-E29E-4DD2-B6BA-3F5210EDD695}"/>
                </a:ext>
              </a:extLst>
            </p:cNvPr>
            <p:cNvSpPr/>
            <p:nvPr/>
          </p:nvSpPr>
          <p:spPr>
            <a:xfrm>
              <a:off x="5830293" y="415973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94365" y="796256"/>
                  </a:moveTo>
                  <a:lnTo>
                    <a:pt x="67970" y="755581"/>
                  </a:lnTo>
                  <a:lnTo>
                    <a:pt x="45960" y="713359"/>
                  </a:lnTo>
                  <a:lnTo>
                    <a:pt x="28286" y="669883"/>
                  </a:lnTo>
                  <a:lnTo>
                    <a:pt x="14902" y="625449"/>
                  </a:lnTo>
                  <a:lnTo>
                    <a:pt x="5758" y="580350"/>
                  </a:lnTo>
                  <a:lnTo>
                    <a:pt x="806" y="534880"/>
                  </a:lnTo>
                  <a:lnTo>
                    <a:pt x="0" y="489333"/>
                  </a:lnTo>
                  <a:lnTo>
                    <a:pt x="3289" y="444004"/>
                  </a:lnTo>
                  <a:lnTo>
                    <a:pt x="10626" y="399186"/>
                  </a:lnTo>
                  <a:lnTo>
                    <a:pt x="21963" y="355175"/>
                  </a:lnTo>
                  <a:lnTo>
                    <a:pt x="37252" y="312263"/>
                  </a:lnTo>
                  <a:lnTo>
                    <a:pt x="56445" y="270746"/>
                  </a:lnTo>
                  <a:lnTo>
                    <a:pt x="79492" y="230916"/>
                  </a:lnTo>
                  <a:lnTo>
                    <a:pt x="106348" y="193070"/>
                  </a:lnTo>
                  <a:lnTo>
                    <a:pt x="136962" y="157499"/>
                  </a:lnTo>
                  <a:lnTo>
                    <a:pt x="171287" y="124500"/>
                  </a:lnTo>
                  <a:lnTo>
                    <a:pt x="209275" y="94365"/>
                  </a:lnTo>
                  <a:lnTo>
                    <a:pt x="249950" y="67970"/>
                  </a:lnTo>
                  <a:lnTo>
                    <a:pt x="292172" y="45960"/>
                  </a:lnTo>
                  <a:lnTo>
                    <a:pt x="335648" y="28286"/>
                  </a:lnTo>
                  <a:lnTo>
                    <a:pt x="380082" y="14902"/>
                  </a:lnTo>
                  <a:lnTo>
                    <a:pt x="425182" y="5758"/>
                  </a:lnTo>
                  <a:lnTo>
                    <a:pt x="470652" y="806"/>
                  </a:lnTo>
                  <a:lnTo>
                    <a:pt x="516198" y="0"/>
                  </a:lnTo>
                  <a:lnTo>
                    <a:pt x="561528" y="3289"/>
                  </a:lnTo>
                  <a:lnTo>
                    <a:pt x="606345" y="10626"/>
                  </a:lnTo>
                  <a:lnTo>
                    <a:pt x="650357" y="21963"/>
                  </a:lnTo>
                  <a:lnTo>
                    <a:pt x="693268" y="37252"/>
                  </a:lnTo>
                  <a:lnTo>
                    <a:pt x="734786" y="56445"/>
                  </a:lnTo>
                  <a:lnTo>
                    <a:pt x="774615" y="79492"/>
                  </a:lnTo>
                  <a:lnTo>
                    <a:pt x="812462" y="106348"/>
                  </a:lnTo>
                  <a:lnTo>
                    <a:pt x="848032" y="136962"/>
                  </a:lnTo>
                  <a:lnTo>
                    <a:pt x="881031" y="171287"/>
                  </a:lnTo>
                  <a:lnTo>
                    <a:pt x="911166" y="209275"/>
                  </a:lnTo>
                  <a:lnTo>
                    <a:pt x="937561" y="249950"/>
                  </a:lnTo>
                  <a:lnTo>
                    <a:pt x="959572" y="292172"/>
                  </a:lnTo>
                  <a:lnTo>
                    <a:pt x="977245" y="335648"/>
                  </a:lnTo>
                  <a:lnTo>
                    <a:pt x="990630" y="380082"/>
                  </a:lnTo>
                  <a:lnTo>
                    <a:pt x="999773" y="425182"/>
                  </a:lnTo>
                  <a:lnTo>
                    <a:pt x="1004725" y="470652"/>
                  </a:lnTo>
                  <a:lnTo>
                    <a:pt x="1005532" y="516198"/>
                  </a:lnTo>
                  <a:lnTo>
                    <a:pt x="1002243" y="561528"/>
                  </a:lnTo>
                  <a:lnTo>
                    <a:pt x="994905" y="606345"/>
                  </a:lnTo>
                  <a:lnTo>
                    <a:pt x="983568" y="650357"/>
                  </a:lnTo>
                  <a:lnTo>
                    <a:pt x="968279" y="693268"/>
                  </a:lnTo>
                  <a:lnTo>
                    <a:pt x="949087" y="734786"/>
                  </a:lnTo>
                  <a:lnTo>
                    <a:pt x="926039" y="774615"/>
                  </a:lnTo>
                  <a:lnTo>
                    <a:pt x="899184" y="812462"/>
                  </a:lnTo>
                  <a:lnTo>
                    <a:pt x="868569" y="848032"/>
                  </a:lnTo>
                  <a:lnTo>
                    <a:pt x="834244" y="881031"/>
                  </a:lnTo>
                  <a:lnTo>
                    <a:pt x="796256" y="911166"/>
                  </a:lnTo>
                  <a:lnTo>
                    <a:pt x="755581" y="937561"/>
                  </a:lnTo>
                  <a:lnTo>
                    <a:pt x="713359" y="959572"/>
                  </a:lnTo>
                  <a:lnTo>
                    <a:pt x="669883" y="977245"/>
                  </a:lnTo>
                  <a:lnTo>
                    <a:pt x="625449" y="990630"/>
                  </a:lnTo>
                  <a:lnTo>
                    <a:pt x="580350" y="999773"/>
                  </a:lnTo>
                  <a:lnTo>
                    <a:pt x="534880" y="1004725"/>
                  </a:lnTo>
                  <a:lnTo>
                    <a:pt x="489333" y="1005532"/>
                  </a:lnTo>
                  <a:lnTo>
                    <a:pt x="444004" y="1002243"/>
                  </a:lnTo>
                  <a:lnTo>
                    <a:pt x="399186" y="994905"/>
                  </a:lnTo>
                  <a:lnTo>
                    <a:pt x="355175" y="983568"/>
                  </a:lnTo>
                  <a:lnTo>
                    <a:pt x="312263" y="968279"/>
                  </a:lnTo>
                  <a:lnTo>
                    <a:pt x="270746" y="949087"/>
                  </a:lnTo>
                  <a:lnTo>
                    <a:pt x="230916" y="926039"/>
                  </a:lnTo>
                  <a:lnTo>
                    <a:pt x="193070" y="899184"/>
                  </a:lnTo>
                  <a:lnTo>
                    <a:pt x="157499" y="868569"/>
                  </a:lnTo>
                  <a:lnTo>
                    <a:pt x="124500" y="834244"/>
                  </a:lnTo>
                  <a:lnTo>
                    <a:pt x="94365" y="796256"/>
                  </a:lnTo>
                  <a:close/>
                </a:path>
              </a:pathLst>
            </a:custGeom>
            <a:ln w="28575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79BE5899-3B53-4C79-86F7-45EEF31B2EB0}"/>
                </a:ext>
              </a:extLst>
            </p:cNvPr>
            <p:cNvSpPr/>
            <p:nvPr/>
          </p:nvSpPr>
          <p:spPr>
            <a:xfrm>
              <a:off x="6175247" y="4480559"/>
              <a:ext cx="129539" cy="12649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D9B58715-78A1-4817-A784-F9661A2AE785}"/>
                </a:ext>
              </a:extLst>
            </p:cNvPr>
            <p:cNvSpPr/>
            <p:nvPr/>
          </p:nvSpPr>
          <p:spPr>
            <a:xfrm>
              <a:off x="6275831" y="4733543"/>
              <a:ext cx="129539" cy="12649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7">
            <a:extLst>
              <a:ext uri="{FF2B5EF4-FFF2-40B4-BE49-F238E27FC236}">
                <a16:creationId xmlns:a16="http://schemas.microsoft.com/office/drawing/2014/main" id="{FF8406B2-28B9-4958-81AF-44180FD6E0FA}"/>
              </a:ext>
            </a:extLst>
          </p:cNvPr>
          <p:cNvGrpSpPr/>
          <p:nvPr/>
        </p:nvGrpSpPr>
        <p:grpSpPr>
          <a:xfrm>
            <a:off x="7465508" y="2323925"/>
            <a:ext cx="1217295" cy="1217295"/>
            <a:chOff x="7738643" y="3534877"/>
            <a:chExt cx="1217295" cy="1217295"/>
          </a:xfrm>
        </p:grpSpPr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A4FAF875-5918-4E55-83D1-1D06B998C528}"/>
                </a:ext>
              </a:extLst>
            </p:cNvPr>
            <p:cNvSpPr/>
            <p:nvPr/>
          </p:nvSpPr>
          <p:spPr>
            <a:xfrm>
              <a:off x="7752931" y="3549165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201221" y="1040118"/>
                  </a:moveTo>
                  <a:lnTo>
                    <a:pt x="165961" y="1006401"/>
                  </a:lnTo>
                  <a:lnTo>
                    <a:pt x="134053" y="970522"/>
                  </a:lnTo>
                  <a:lnTo>
                    <a:pt x="105512" y="932698"/>
                  </a:lnTo>
                  <a:lnTo>
                    <a:pt x="80351" y="893145"/>
                  </a:lnTo>
                  <a:lnTo>
                    <a:pt x="58583" y="852077"/>
                  </a:lnTo>
                  <a:lnTo>
                    <a:pt x="40223" y="809712"/>
                  </a:lnTo>
                  <a:lnTo>
                    <a:pt x="25283" y="766264"/>
                  </a:lnTo>
                  <a:lnTo>
                    <a:pt x="13777" y="721951"/>
                  </a:lnTo>
                  <a:lnTo>
                    <a:pt x="5719" y="676987"/>
                  </a:lnTo>
                  <a:lnTo>
                    <a:pt x="1122" y="631589"/>
                  </a:lnTo>
                  <a:lnTo>
                    <a:pt x="0" y="585972"/>
                  </a:lnTo>
                  <a:lnTo>
                    <a:pt x="2366" y="540353"/>
                  </a:lnTo>
                  <a:lnTo>
                    <a:pt x="8234" y="494948"/>
                  </a:lnTo>
                  <a:lnTo>
                    <a:pt x="17618" y="449971"/>
                  </a:lnTo>
                  <a:lnTo>
                    <a:pt x="30530" y="405640"/>
                  </a:lnTo>
                  <a:lnTo>
                    <a:pt x="46986" y="362170"/>
                  </a:lnTo>
                  <a:lnTo>
                    <a:pt x="66997" y="319777"/>
                  </a:lnTo>
                  <a:lnTo>
                    <a:pt x="90578" y="278677"/>
                  </a:lnTo>
                  <a:lnTo>
                    <a:pt x="117742" y="239086"/>
                  </a:lnTo>
                  <a:lnTo>
                    <a:pt x="148504" y="201219"/>
                  </a:lnTo>
                  <a:lnTo>
                    <a:pt x="182222" y="165959"/>
                  </a:lnTo>
                  <a:lnTo>
                    <a:pt x="218102" y="134051"/>
                  </a:lnTo>
                  <a:lnTo>
                    <a:pt x="255928" y="105510"/>
                  </a:lnTo>
                  <a:lnTo>
                    <a:pt x="295482" y="80349"/>
                  </a:lnTo>
                  <a:lnTo>
                    <a:pt x="336551" y="58581"/>
                  </a:lnTo>
                  <a:lnTo>
                    <a:pt x="378917" y="40221"/>
                  </a:lnTo>
                  <a:lnTo>
                    <a:pt x="422366" y="25281"/>
                  </a:lnTo>
                  <a:lnTo>
                    <a:pt x="466680" y="13775"/>
                  </a:lnTo>
                  <a:lnTo>
                    <a:pt x="511644" y="5718"/>
                  </a:lnTo>
                  <a:lnTo>
                    <a:pt x="557042" y="1121"/>
                  </a:lnTo>
                  <a:lnTo>
                    <a:pt x="602658" y="0"/>
                  </a:lnTo>
                  <a:lnTo>
                    <a:pt x="648277" y="2366"/>
                  </a:lnTo>
                  <a:lnTo>
                    <a:pt x="693682" y="8235"/>
                  </a:lnTo>
                  <a:lnTo>
                    <a:pt x="738658" y="17620"/>
                  </a:lnTo>
                  <a:lnTo>
                    <a:pt x="782988" y="30534"/>
                  </a:lnTo>
                  <a:lnTo>
                    <a:pt x="826457" y="46990"/>
                  </a:lnTo>
                  <a:lnTo>
                    <a:pt x="868849" y="67003"/>
                  </a:lnTo>
                  <a:lnTo>
                    <a:pt x="909948" y="90585"/>
                  </a:lnTo>
                  <a:lnTo>
                    <a:pt x="949537" y="117751"/>
                  </a:lnTo>
                  <a:lnTo>
                    <a:pt x="987402" y="148514"/>
                  </a:lnTo>
                  <a:lnTo>
                    <a:pt x="1022662" y="182231"/>
                  </a:lnTo>
                  <a:lnTo>
                    <a:pt x="1054570" y="218109"/>
                  </a:lnTo>
                  <a:lnTo>
                    <a:pt x="1083111" y="255933"/>
                  </a:lnTo>
                  <a:lnTo>
                    <a:pt x="1108272" y="295487"/>
                  </a:lnTo>
                  <a:lnTo>
                    <a:pt x="1130040" y="336554"/>
                  </a:lnTo>
                  <a:lnTo>
                    <a:pt x="1148401" y="378920"/>
                  </a:lnTo>
                  <a:lnTo>
                    <a:pt x="1163341" y="422367"/>
                  </a:lnTo>
                  <a:lnTo>
                    <a:pt x="1174847" y="466680"/>
                  </a:lnTo>
                  <a:lnTo>
                    <a:pt x="1182905" y="511644"/>
                  </a:lnTo>
                  <a:lnTo>
                    <a:pt x="1187502" y="557041"/>
                  </a:lnTo>
                  <a:lnTo>
                    <a:pt x="1188624" y="602657"/>
                  </a:lnTo>
                  <a:lnTo>
                    <a:pt x="1186258" y="648276"/>
                  </a:lnTo>
                  <a:lnTo>
                    <a:pt x="1180389" y="693681"/>
                  </a:lnTo>
                  <a:lnTo>
                    <a:pt x="1171006" y="738656"/>
                  </a:lnTo>
                  <a:lnTo>
                    <a:pt x="1158093" y="782986"/>
                  </a:lnTo>
                  <a:lnTo>
                    <a:pt x="1141638" y="826455"/>
                  </a:lnTo>
                  <a:lnTo>
                    <a:pt x="1121626" y="868847"/>
                  </a:lnTo>
                  <a:lnTo>
                    <a:pt x="1098045" y="909946"/>
                  </a:lnTo>
                  <a:lnTo>
                    <a:pt x="1070881" y="949535"/>
                  </a:lnTo>
                  <a:lnTo>
                    <a:pt x="1040120" y="987400"/>
                  </a:lnTo>
                  <a:lnTo>
                    <a:pt x="1006403" y="1022660"/>
                  </a:lnTo>
                  <a:lnTo>
                    <a:pt x="970525" y="1054568"/>
                  </a:lnTo>
                  <a:lnTo>
                    <a:pt x="932701" y="1083109"/>
                  </a:lnTo>
                  <a:lnTo>
                    <a:pt x="893147" y="1108270"/>
                  </a:lnTo>
                  <a:lnTo>
                    <a:pt x="852079" y="1130038"/>
                  </a:lnTo>
                  <a:lnTo>
                    <a:pt x="809714" y="1148398"/>
                  </a:lnTo>
                  <a:lnTo>
                    <a:pt x="766266" y="1163338"/>
                  </a:lnTo>
                  <a:lnTo>
                    <a:pt x="721953" y="1174844"/>
                  </a:lnTo>
                  <a:lnTo>
                    <a:pt x="676989" y="1182903"/>
                  </a:lnTo>
                  <a:lnTo>
                    <a:pt x="631591" y="1187500"/>
                  </a:lnTo>
                  <a:lnTo>
                    <a:pt x="585974" y="1188622"/>
                  </a:lnTo>
                  <a:lnTo>
                    <a:pt x="540355" y="1186255"/>
                  </a:lnTo>
                  <a:lnTo>
                    <a:pt x="494950" y="1180387"/>
                  </a:lnTo>
                  <a:lnTo>
                    <a:pt x="449973" y="1171004"/>
                  </a:lnTo>
                  <a:lnTo>
                    <a:pt x="405642" y="1158091"/>
                  </a:lnTo>
                  <a:lnTo>
                    <a:pt x="362172" y="1141636"/>
                  </a:lnTo>
                  <a:lnTo>
                    <a:pt x="319779" y="1121624"/>
                  </a:lnTo>
                  <a:lnTo>
                    <a:pt x="278679" y="1098043"/>
                  </a:lnTo>
                  <a:lnTo>
                    <a:pt x="239088" y="1070879"/>
                  </a:lnTo>
                  <a:lnTo>
                    <a:pt x="201221" y="1040118"/>
                  </a:lnTo>
                  <a:close/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82B7B49F-6713-42D5-914D-1B685B1B8C80}"/>
                </a:ext>
              </a:extLst>
            </p:cNvPr>
            <p:cNvSpPr/>
            <p:nvPr/>
          </p:nvSpPr>
          <p:spPr>
            <a:xfrm>
              <a:off x="7886699" y="3948683"/>
              <a:ext cx="129539" cy="12649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42B8128E-4580-4EDA-A856-E96427EE6FF5}"/>
                </a:ext>
              </a:extLst>
            </p:cNvPr>
            <p:cNvSpPr/>
            <p:nvPr/>
          </p:nvSpPr>
          <p:spPr>
            <a:xfrm>
              <a:off x="8695943" y="4098035"/>
              <a:ext cx="129539" cy="12649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1">
            <a:extLst>
              <a:ext uri="{FF2B5EF4-FFF2-40B4-BE49-F238E27FC236}">
                <a16:creationId xmlns:a16="http://schemas.microsoft.com/office/drawing/2014/main" id="{FB540BAA-DEA0-4507-9EC2-1792D338B173}"/>
              </a:ext>
            </a:extLst>
          </p:cNvPr>
          <p:cNvGrpSpPr/>
          <p:nvPr/>
        </p:nvGrpSpPr>
        <p:grpSpPr>
          <a:xfrm>
            <a:off x="6895826" y="3787706"/>
            <a:ext cx="532130" cy="561975"/>
            <a:chOff x="7168961" y="4998658"/>
            <a:chExt cx="532130" cy="561975"/>
          </a:xfrm>
        </p:grpSpPr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B203E871-AC42-4C78-96A4-92DEEA994BDE}"/>
                </a:ext>
              </a:extLst>
            </p:cNvPr>
            <p:cNvSpPr/>
            <p:nvPr/>
          </p:nvSpPr>
          <p:spPr>
            <a:xfrm>
              <a:off x="7397495" y="5193791"/>
              <a:ext cx="129539" cy="12649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D0B8E3DC-2DD0-4CC8-9D81-A0976A6B10C8}"/>
                </a:ext>
              </a:extLst>
            </p:cNvPr>
            <p:cNvSpPr/>
            <p:nvPr/>
          </p:nvSpPr>
          <p:spPr>
            <a:xfrm>
              <a:off x="7183249" y="5012945"/>
              <a:ext cx="503555" cy="533400"/>
            </a:xfrm>
            <a:custGeom>
              <a:avLst/>
              <a:gdLst/>
              <a:ahLst/>
              <a:cxnLst/>
              <a:rect l="l" t="t" r="r" b="b"/>
              <a:pathLst>
                <a:path w="503554" h="533400">
                  <a:moveTo>
                    <a:pt x="5791" y="215608"/>
                  </a:moveTo>
                  <a:lnTo>
                    <a:pt x="19501" y="169403"/>
                  </a:lnTo>
                  <a:lnTo>
                    <a:pt x="40094" y="127510"/>
                  </a:lnTo>
                  <a:lnTo>
                    <a:pt x="66722" y="90523"/>
                  </a:lnTo>
                  <a:lnTo>
                    <a:pt x="98538" y="59037"/>
                  </a:lnTo>
                  <a:lnTo>
                    <a:pt x="134695" y="33647"/>
                  </a:lnTo>
                  <a:lnTo>
                    <a:pt x="174344" y="14947"/>
                  </a:lnTo>
                  <a:lnTo>
                    <a:pt x="216640" y="3533"/>
                  </a:lnTo>
                  <a:lnTo>
                    <a:pt x="260733" y="0"/>
                  </a:lnTo>
                  <a:lnTo>
                    <a:pt x="305778" y="4941"/>
                  </a:lnTo>
                  <a:lnTo>
                    <a:pt x="349078" y="18316"/>
                  </a:lnTo>
                  <a:lnTo>
                    <a:pt x="388134" y="39090"/>
                  </a:lnTo>
                  <a:lnTo>
                    <a:pt x="422406" y="66381"/>
                  </a:lnTo>
                  <a:lnTo>
                    <a:pt x="451352" y="99305"/>
                  </a:lnTo>
                  <a:lnTo>
                    <a:pt x="474432" y="136980"/>
                  </a:lnTo>
                  <a:lnTo>
                    <a:pt x="491105" y="178522"/>
                  </a:lnTo>
                  <a:lnTo>
                    <a:pt x="500829" y="223049"/>
                  </a:lnTo>
                  <a:lnTo>
                    <a:pt x="503064" y="269678"/>
                  </a:lnTo>
                  <a:lnTo>
                    <a:pt x="497268" y="317526"/>
                  </a:lnTo>
                  <a:lnTo>
                    <a:pt x="483558" y="363731"/>
                  </a:lnTo>
                  <a:lnTo>
                    <a:pt x="462967" y="405624"/>
                  </a:lnTo>
                  <a:lnTo>
                    <a:pt x="436340" y="442611"/>
                  </a:lnTo>
                  <a:lnTo>
                    <a:pt x="404525" y="474096"/>
                  </a:lnTo>
                  <a:lnTo>
                    <a:pt x="368370" y="499485"/>
                  </a:lnTo>
                  <a:lnTo>
                    <a:pt x="328720" y="518183"/>
                  </a:lnTo>
                  <a:lnTo>
                    <a:pt x="286425" y="529595"/>
                  </a:lnTo>
                  <a:lnTo>
                    <a:pt x="242329" y="533126"/>
                  </a:lnTo>
                  <a:lnTo>
                    <a:pt x="197282" y="528181"/>
                  </a:lnTo>
                  <a:lnTo>
                    <a:pt x="153985" y="514806"/>
                  </a:lnTo>
                  <a:lnTo>
                    <a:pt x="114932" y="494033"/>
                  </a:lnTo>
                  <a:lnTo>
                    <a:pt x="80662" y="466744"/>
                  </a:lnTo>
                  <a:lnTo>
                    <a:pt x="51716" y="433821"/>
                  </a:lnTo>
                  <a:lnTo>
                    <a:pt x="28637" y="396149"/>
                  </a:lnTo>
                  <a:lnTo>
                    <a:pt x="11963" y="354608"/>
                  </a:lnTo>
                  <a:lnTo>
                    <a:pt x="2237" y="310083"/>
                  </a:lnTo>
                  <a:lnTo>
                    <a:pt x="0" y="263455"/>
                  </a:lnTo>
                  <a:lnTo>
                    <a:pt x="5791" y="215608"/>
                  </a:lnTo>
                  <a:close/>
                </a:path>
              </a:pathLst>
            </a:custGeom>
            <a:ln w="2857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4">
            <a:extLst>
              <a:ext uri="{FF2B5EF4-FFF2-40B4-BE49-F238E27FC236}">
                <a16:creationId xmlns:a16="http://schemas.microsoft.com/office/drawing/2014/main" id="{ACB40501-EFC4-48C2-B2E8-0111E325F632}"/>
              </a:ext>
            </a:extLst>
          </p:cNvPr>
          <p:cNvSpPr txBox="1"/>
          <p:nvPr/>
        </p:nvSpPr>
        <p:spPr>
          <a:xfrm>
            <a:off x="5700030" y="3153862"/>
            <a:ext cx="233679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Calibri"/>
                <a:cs typeface="Calibri"/>
              </a:rPr>
              <a:t>x</a:t>
            </a:r>
            <a:r>
              <a:rPr baseline="-21164" dirty="0">
                <a:latin typeface="Calibri"/>
                <a:cs typeface="Calibri"/>
              </a:rPr>
              <a:t>1</a:t>
            </a:r>
            <a:endParaRPr baseline="-21164">
              <a:latin typeface="Calibri"/>
              <a:cs typeface="Calibri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5C337F67-C546-4B0C-8136-96421CFB1747}"/>
              </a:ext>
            </a:extLst>
          </p:cNvPr>
          <p:cNvSpPr txBox="1"/>
          <p:nvPr/>
        </p:nvSpPr>
        <p:spPr>
          <a:xfrm>
            <a:off x="6113264" y="3414205"/>
            <a:ext cx="2527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x</a:t>
            </a:r>
            <a:r>
              <a:rPr baseline="-20833" dirty="0">
                <a:latin typeface="Calibri"/>
                <a:cs typeface="Calibri"/>
              </a:rPr>
              <a:t>5</a:t>
            </a:r>
            <a:endParaRPr baseline="-20833">
              <a:latin typeface="Calibri"/>
              <a:cs typeface="Calibri"/>
            </a:endParaRPr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28A822D0-E01B-49FE-8125-B8C434791000}"/>
              </a:ext>
            </a:extLst>
          </p:cNvPr>
          <p:cNvSpPr txBox="1"/>
          <p:nvPr/>
        </p:nvSpPr>
        <p:spPr>
          <a:xfrm>
            <a:off x="7054189" y="4058213"/>
            <a:ext cx="1115060" cy="6982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1889"/>
              </a:lnSpc>
              <a:spcBef>
                <a:spcPts val="95"/>
              </a:spcBef>
            </a:pPr>
            <a:r>
              <a:rPr dirty="0">
                <a:latin typeface="Calibri"/>
                <a:cs typeface="Calibri"/>
              </a:rPr>
              <a:t>x</a:t>
            </a:r>
            <a:r>
              <a:rPr baseline="-21164" dirty="0">
                <a:latin typeface="Calibri"/>
                <a:cs typeface="Calibri"/>
              </a:rPr>
              <a:t>3</a:t>
            </a:r>
          </a:p>
          <a:p>
            <a:pPr marL="473075">
              <a:lnSpc>
                <a:spcPts val="1650"/>
              </a:lnSpc>
            </a:pPr>
            <a:r>
              <a:rPr spc="-10" dirty="0">
                <a:latin typeface="Calibri"/>
                <a:cs typeface="Calibri"/>
              </a:rPr>
              <a:t>cluster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</a:t>
            </a:r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BB61961E-59AD-4BE0-8123-395C5119C315}"/>
              </a:ext>
            </a:extLst>
          </p:cNvPr>
          <p:cNvSpPr txBox="1"/>
          <p:nvPr/>
        </p:nvSpPr>
        <p:spPr>
          <a:xfrm>
            <a:off x="7524961" y="2779206"/>
            <a:ext cx="233679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Calibri"/>
                <a:cs typeface="Calibri"/>
              </a:rPr>
              <a:t>x</a:t>
            </a:r>
            <a:r>
              <a:rPr baseline="-21164" dirty="0">
                <a:latin typeface="Calibri"/>
                <a:cs typeface="Calibri"/>
              </a:rPr>
              <a:t>2</a:t>
            </a:r>
            <a:endParaRPr baseline="-21164">
              <a:latin typeface="Calibri"/>
              <a:cs typeface="Calibri"/>
            </a:endParaRPr>
          </a:p>
        </p:txBody>
      </p:sp>
      <p:sp>
        <p:nvSpPr>
          <p:cNvPr id="29" name="object 28">
            <a:extLst>
              <a:ext uri="{FF2B5EF4-FFF2-40B4-BE49-F238E27FC236}">
                <a16:creationId xmlns:a16="http://schemas.microsoft.com/office/drawing/2014/main" id="{11D9B940-6ECA-477D-8A2E-EB9A8828C12C}"/>
              </a:ext>
            </a:extLst>
          </p:cNvPr>
          <p:cNvSpPr txBox="1"/>
          <p:nvPr/>
        </p:nvSpPr>
        <p:spPr>
          <a:xfrm>
            <a:off x="8369374" y="2962904"/>
            <a:ext cx="233679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Calibri"/>
                <a:cs typeface="Calibri"/>
              </a:rPr>
              <a:t>x</a:t>
            </a:r>
            <a:r>
              <a:rPr baseline="-21164" dirty="0">
                <a:latin typeface="Calibri"/>
                <a:cs typeface="Calibri"/>
              </a:rPr>
              <a:t>4</a:t>
            </a:r>
            <a:endParaRPr baseline="-21164">
              <a:latin typeface="Calibri"/>
              <a:cs typeface="Calibri"/>
            </a:endParaRPr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B7842D87-4204-4580-BB0D-788FABF7498D}"/>
              </a:ext>
            </a:extLst>
          </p:cNvPr>
          <p:cNvSpPr txBox="1"/>
          <p:nvPr/>
        </p:nvSpPr>
        <p:spPr>
          <a:xfrm>
            <a:off x="5852703" y="2666882"/>
            <a:ext cx="64198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cluster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</a:t>
            </a:r>
          </a:p>
        </p:txBody>
      </p:sp>
      <p:sp>
        <p:nvSpPr>
          <p:cNvPr id="31" name="object 30">
            <a:extLst>
              <a:ext uri="{FF2B5EF4-FFF2-40B4-BE49-F238E27FC236}">
                <a16:creationId xmlns:a16="http://schemas.microsoft.com/office/drawing/2014/main" id="{4ADB04F0-0FDF-42F2-849D-1A3513976710}"/>
              </a:ext>
            </a:extLst>
          </p:cNvPr>
          <p:cNvSpPr txBox="1"/>
          <p:nvPr/>
        </p:nvSpPr>
        <p:spPr>
          <a:xfrm>
            <a:off x="8161970" y="3525792"/>
            <a:ext cx="64198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cluster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</a:t>
            </a:r>
            <a:endParaRPr>
              <a:latin typeface="Calibri"/>
              <a:cs typeface="Calibri"/>
            </a:endParaRPr>
          </a:p>
        </p:txBody>
      </p:sp>
      <p:sp>
        <p:nvSpPr>
          <p:cNvPr id="32" name="object 31">
            <a:extLst>
              <a:ext uri="{FF2B5EF4-FFF2-40B4-BE49-F238E27FC236}">
                <a16:creationId xmlns:a16="http://schemas.microsoft.com/office/drawing/2014/main" id="{07749727-51AC-4572-9976-9819152D1045}"/>
              </a:ext>
            </a:extLst>
          </p:cNvPr>
          <p:cNvSpPr txBox="1"/>
          <p:nvPr/>
        </p:nvSpPr>
        <p:spPr>
          <a:xfrm>
            <a:off x="3861479" y="4488200"/>
            <a:ext cx="3056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implies </a:t>
            </a:r>
            <a:r>
              <a:rPr i="1" dirty="0">
                <a:latin typeface="Calibri"/>
                <a:cs typeface="Calibri"/>
              </a:rPr>
              <a:t>x</a:t>
            </a:r>
            <a:r>
              <a:rPr i="1" baseline="-20833" dirty="0">
                <a:latin typeface="Calibri"/>
                <a:cs typeface="Calibri"/>
              </a:rPr>
              <a:t>2 </a:t>
            </a:r>
            <a:r>
              <a:rPr spc="-5" dirty="0">
                <a:latin typeface="Calibri"/>
                <a:cs typeface="Calibri"/>
              </a:rPr>
              <a:t>belongs </a:t>
            </a:r>
            <a:r>
              <a:rPr spc="-10" dirty="0">
                <a:latin typeface="Calibri"/>
                <a:cs typeface="Calibri"/>
              </a:rPr>
              <a:t>to cluster</a:t>
            </a:r>
            <a:r>
              <a:rPr spc="-114" dirty="0">
                <a:latin typeface="Calibri"/>
                <a:cs typeface="Calibri"/>
              </a:rPr>
              <a:t> </a:t>
            </a:r>
            <a:r>
              <a:rPr i="1" spc="-5" dirty="0">
                <a:latin typeface="Calibri"/>
                <a:cs typeface="Calibri"/>
              </a:rPr>
              <a:t>k</a:t>
            </a:r>
            <a:r>
              <a:rPr spc="-5" dirty="0">
                <a:latin typeface="Calibri"/>
                <a:cs typeface="Calibri"/>
              </a:rPr>
              <a:t>=3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0617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3E616-ED0A-4305-92F2-8EE9524C7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Algorithm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C13C98C2-C772-4E84-87FE-723513E9A934}"/>
              </a:ext>
            </a:extLst>
          </p:cNvPr>
          <p:cNvGrpSpPr/>
          <p:nvPr/>
        </p:nvGrpSpPr>
        <p:grpSpPr>
          <a:xfrm>
            <a:off x="7602755" y="3024776"/>
            <a:ext cx="1188720" cy="1188720"/>
            <a:chOff x="7752931" y="3549165"/>
            <a:chExt cx="1188720" cy="1188720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161FB6FA-367A-4225-AFFB-EB85C8667F93}"/>
                </a:ext>
              </a:extLst>
            </p:cNvPr>
            <p:cNvSpPr/>
            <p:nvPr/>
          </p:nvSpPr>
          <p:spPr>
            <a:xfrm>
              <a:off x="7915655" y="3970020"/>
              <a:ext cx="441325" cy="190500"/>
            </a:xfrm>
            <a:custGeom>
              <a:avLst/>
              <a:gdLst/>
              <a:ahLst/>
              <a:cxnLst/>
              <a:rect l="l" t="t" r="r" b="b"/>
              <a:pathLst>
                <a:path w="441325" h="190500">
                  <a:moveTo>
                    <a:pt x="0" y="0"/>
                  </a:moveTo>
                  <a:lnTo>
                    <a:pt x="441172" y="190499"/>
                  </a:lnTo>
                </a:path>
              </a:pathLst>
            </a:custGeom>
            <a:ln w="914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571346C5-25B7-4D78-86F3-7BB0009145A5}"/>
                </a:ext>
              </a:extLst>
            </p:cNvPr>
            <p:cNvSpPr/>
            <p:nvPr/>
          </p:nvSpPr>
          <p:spPr>
            <a:xfrm>
              <a:off x="8225027" y="4043172"/>
              <a:ext cx="242315" cy="2560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5306D8EE-F991-496A-A3F7-89E3FF32FB4C}"/>
                </a:ext>
              </a:extLst>
            </p:cNvPr>
            <p:cNvSpPr/>
            <p:nvPr/>
          </p:nvSpPr>
          <p:spPr>
            <a:xfrm>
              <a:off x="8280658" y="4078989"/>
              <a:ext cx="135255" cy="149225"/>
            </a:xfrm>
            <a:custGeom>
              <a:avLst/>
              <a:gdLst/>
              <a:ahLst/>
              <a:cxnLst/>
              <a:rect l="l" t="t" r="r" b="b"/>
              <a:pathLst>
                <a:path w="135254" h="149225">
                  <a:moveTo>
                    <a:pt x="135077" y="148932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FA111707-7E58-4359-9589-8E2453F57F7C}"/>
                </a:ext>
              </a:extLst>
            </p:cNvPr>
            <p:cNvSpPr/>
            <p:nvPr/>
          </p:nvSpPr>
          <p:spPr>
            <a:xfrm>
              <a:off x="8234172" y="4011168"/>
              <a:ext cx="245363" cy="34594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6BEB1EE7-804A-48C2-A3FF-4D2F34117D0A}"/>
                </a:ext>
              </a:extLst>
            </p:cNvPr>
            <p:cNvSpPr/>
            <p:nvPr/>
          </p:nvSpPr>
          <p:spPr>
            <a:xfrm>
              <a:off x="8289802" y="4040886"/>
              <a:ext cx="135255" cy="241300"/>
            </a:xfrm>
            <a:custGeom>
              <a:avLst/>
              <a:gdLst/>
              <a:ahLst/>
              <a:cxnLst/>
              <a:rect l="l" t="t" r="r" b="b"/>
              <a:pathLst>
                <a:path w="135254" h="241300">
                  <a:moveTo>
                    <a:pt x="135077" y="0"/>
                  </a:moveTo>
                  <a:lnTo>
                    <a:pt x="0" y="240792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656B8D81-3EC3-4598-9FD7-259D252F9DD0}"/>
                </a:ext>
              </a:extLst>
            </p:cNvPr>
            <p:cNvSpPr/>
            <p:nvPr/>
          </p:nvSpPr>
          <p:spPr>
            <a:xfrm>
              <a:off x="7752931" y="3549165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201221" y="1040118"/>
                  </a:moveTo>
                  <a:lnTo>
                    <a:pt x="165961" y="1006401"/>
                  </a:lnTo>
                  <a:lnTo>
                    <a:pt x="134053" y="970522"/>
                  </a:lnTo>
                  <a:lnTo>
                    <a:pt x="105512" y="932698"/>
                  </a:lnTo>
                  <a:lnTo>
                    <a:pt x="80351" y="893145"/>
                  </a:lnTo>
                  <a:lnTo>
                    <a:pt x="58583" y="852077"/>
                  </a:lnTo>
                  <a:lnTo>
                    <a:pt x="40223" y="809712"/>
                  </a:lnTo>
                  <a:lnTo>
                    <a:pt x="25283" y="766264"/>
                  </a:lnTo>
                  <a:lnTo>
                    <a:pt x="13777" y="721951"/>
                  </a:lnTo>
                  <a:lnTo>
                    <a:pt x="5719" y="676987"/>
                  </a:lnTo>
                  <a:lnTo>
                    <a:pt x="1122" y="631589"/>
                  </a:lnTo>
                  <a:lnTo>
                    <a:pt x="0" y="585972"/>
                  </a:lnTo>
                  <a:lnTo>
                    <a:pt x="2366" y="540353"/>
                  </a:lnTo>
                  <a:lnTo>
                    <a:pt x="8234" y="494948"/>
                  </a:lnTo>
                  <a:lnTo>
                    <a:pt x="17618" y="449971"/>
                  </a:lnTo>
                  <a:lnTo>
                    <a:pt x="30530" y="405640"/>
                  </a:lnTo>
                  <a:lnTo>
                    <a:pt x="46986" y="362170"/>
                  </a:lnTo>
                  <a:lnTo>
                    <a:pt x="66997" y="319777"/>
                  </a:lnTo>
                  <a:lnTo>
                    <a:pt x="90578" y="278677"/>
                  </a:lnTo>
                  <a:lnTo>
                    <a:pt x="117742" y="239086"/>
                  </a:lnTo>
                  <a:lnTo>
                    <a:pt x="148504" y="201219"/>
                  </a:lnTo>
                  <a:lnTo>
                    <a:pt x="182222" y="165959"/>
                  </a:lnTo>
                  <a:lnTo>
                    <a:pt x="218102" y="134051"/>
                  </a:lnTo>
                  <a:lnTo>
                    <a:pt x="255928" y="105510"/>
                  </a:lnTo>
                  <a:lnTo>
                    <a:pt x="295482" y="80349"/>
                  </a:lnTo>
                  <a:lnTo>
                    <a:pt x="336551" y="58581"/>
                  </a:lnTo>
                  <a:lnTo>
                    <a:pt x="378917" y="40221"/>
                  </a:lnTo>
                  <a:lnTo>
                    <a:pt x="422366" y="25281"/>
                  </a:lnTo>
                  <a:lnTo>
                    <a:pt x="466680" y="13775"/>
                  </a:lnTo>
                  <a:lnTo>
                    <a:pt x="511644" y="5718"/>
                  </a:lnTo>
                  <a:lnTo>
                    <a:pt x="557042" y="1121"/>
                  </a:lnTo>
                  <a:lnTo>
                    <a:pt x="602658" y="0"/>
                  </a:lnTo>
                  <a:lnTo>
                    <a:pt x="648277" y="2366"/>
                  </a:lnTo>
                  <a:lnTo>
                    <a:pt x="693682" y="8235"/>
                  </a:lnTo>
                  <a:lnTo>
                    <a:pt x="738658" y="17620"/>
                  </a:lnTo>
                  <a:lnTo>
                    <a:pt x="782988" y="30534"/>
                  </a:lnTo>
                  <a:lnTo>
                    <a:pt x="826457" y="46990"/>
                  </a:lnTo>
                  <a:lnTo>
                    <a:pt x="868849" y="67003"/>
                  </a:lnTo>
                  <a:lnTo>
                    <a:pt x="909948" y="90585"/>
                  </a:lnTo>
                  <a:lnTo>
                    <a:pt x="949537" y="117751"/>
                  </a:lnTo>
                  <a:lnTo>
                    <a:pt x="987402" y="148514"/>
                  </a:lnTo>
                  <a:lnTo>
                    <a:pt x="1022662" y="182231"/>
                  </a:lnTo>
                  <a:lnTo>
                    <a:pt x="1054570" y="218109"/>
                  </a:lnTo>
                  <a:lnTo>
                    <a:pt x="1083111" y="255933"/>
                  </a:lnTo>
                  <a:lnTo>
                    <a:pt x="1108272" y="295487"/>
                  </a:lnTo>
                  <a:lnTo>
                    <a:pt x="1130040" y="336554"/>
                  </a:lnTo>
                  <a:lnTo>
                    <a:pt x="1148401" y="378920"/>
                  </a:lnTo>
                  <a:lnTo>
                    <a:pt x="1163341" y="422367"/>
                  </a:lnTo>
                  <a:lnTo>
                    <a:pt x="1174847" y="466680"/>
                  </a:lnTo>
                  <a:lnTo>
                    <a:pt x="1182905" y="511644"/>
                  </a:lnTo>
                  <a:lnTo>
                    <a:pt x="1187502" y="557041"/>
                  </a:lnTo>
                  <a:lnTo>
                    <a:pt x="1188624" y="602657"/>
                  </a:lnTo>
                  <a:lnTo>
                    <a:pt x="1186258" y="648276"/>
                  </a:lnTo>
                  <a:lnTo>
                    <a:pt x="1180389" y="693681"/>
                  </a:lnTo>
                  <a:lnTo>
                    <a:pt x="1171006" y="738656"/>
                  </a:lnTo>
                  <a:lnTo>
                    <a:pt x="1158093" y="782986"/>
                  </a:lnTo>
                  <a:lnTo>
                    <a:pt x="1141638" y="826455"/>
                  </a:lnTo>
                  <a:lnTo>
                    <a:pt x="1121626" y="868847"/>
                  </a:lnTo>
                  <a:lnTo>
                    <a:pt x="1098045" y="909946"/>
                  </a:lnTo>
                  <a:lnTo>
                    <a:pt x="1070881" y="949535"/>
                  </a:lnTo>
                  <a:lnTo>
                    <a:pt x="1040120" y="987400"/>
                  </a:lnTo>
                  <a:lnTo>
                    <a:pt x="1006403" y="1022660"/>
                  </a:lnTo>
                  <a:lnTo>
                    <a:pt x="970525" y="1054568"/>
                  </a:lnTo>
                  <a:lnTo>
                    <a:pt x="932701" y="1083109"/>
                  </a:lnTo>
                  <a:lnTo>
                    <a:pt x="893147" y="1108270"/>
                  </a:lnTo>
                  <a:lnTo>
                    <a:pt x="852079" y="1130038"/>
                  </a:lnTo>
                  <a:lnTo>
                    <a:pt x="809714" y="1148398"/>
                  </a:lnTo>
                  <a:lnTo>
                    <a:pt x="766266" y="1163338"/>
                  </a:lnTo>
                  <a:lnTo>
                    <a:pt x="721953" y="1174844"/>
                  </a:lnTo>
                  <a:lnTo>
                    <a:pt x="676989" y="1182903"/>
                  </a:lnTo>
                  <a:lnTo>
                    <a:pt x="631591" y="1187500"/>
                  </a:lnTo>
                  <a:lnTo>
                    <a:pt x="585974" y="1188622"/>
                  </a:lnTo>
                  <a:lnTo>
                    <a:pt x="540355" y="1186255"/>
                  </a:lnTo>
                  <a:lnTo>
                    <a:pt x="494950" y="1180387"/>
                  </a:lnTo>
                  <a:lnTo>
                    <a:pt x="449973" y="1171004"/>
                  </a:lnTo>
                  <a:lnTo>
                    <a:pt x="405642" y="1158091"/>
                  </a:lnTo>
                  <a:lnTo>
                    <a:pt x="362172" y="1141636"/>
                  </a:lnTo>
                  <a:lnTo>
                    <a:pt x="319779" y="1121624"/>
                  </a:lnTo>
                  <a:lnTo>
                    <a:pt x="278679" y="1098043"/>
                  </a:lnTo>
                  <a:lnTo>
                    <a:pt x="239088" y="1070879"/>
                  </a:lnTo>
                  <a:lnTo>
                    <a:pt x="201221" y="1040118"/>
                  </a:lnTo>
                  <a:close/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1BEACB11-F5C9-481C-A390-0BEC7CC84757}"/>
                </a:ext>
              </a:extLst>
            </p:cNvPr>
            <p:cNvSpPr/>
            <p:nvPr/>
          </p:nvSpPr>
          <p:spPr>
            <a:xfrm>
              <a:off x="7886699" y="3948684"/>
              <a:ext cx="129539" cy="12649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BCC5B2F1-1AB2-4E52-B915-507A462B69FC}"/>
                </a:ext>
              </a:extLst>
            </p:cNvPr>
            <p:cNvSpPr/>
            <p:nvPr/>
          </p:nvSpPr>
          <p:spPr>
            <a:xfrm>
              <a:off x="8695943" y="4098036"/>
              <a:ext cx="129539" cy="12649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5">
            <a:extLst>
              <a:ext uri="{FF2B5EF4-FFF2-40B4-BE49-F238E27FC236}">
                <a16:creationId xmlns:a16="http://schemas.microsoft.com/office/drawing/2014/main" id="{64AD0355-1CF9-485F-89CF-25CDB6E40560}"/>
              </a:ext>
            </a:extLst>
          </p:cNvPr>
          <p:cNvGrpSpPr/>
          <p:nvPr/>
        </p:nvGrpSpPr>
        <p:grpSpPr>
          <a:xfrm>
            <a:off x="417286" y="2353212"/>
            <a:ext cx="4372610" cy="944880"/>
            <a:chOff x="905255" y="1865376"/>
            <a:chExt cx="4372610" cy="944880"/>
          </a:xfrm>
        </p:grpSpPr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3D94E5FA-666C-4977-A672-15D3863C6F49}"/>
                </a:ext>
              </a:extLst>
            </p:cNvPr>
            <p:cNvSpPr/>
            <p:nvPr/>
          </p:nvSpPr>
          <p:spPr>
            <a:xfrm>
              <a:off x="905255" y="1865376"/>
              <a:ext cx="4062983" cy="75437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ACB2B8CE-A6FB-4B33-BECD-30715F6880B5}"/>
                </a:ext>
              </a:extLst>
            </p:cNvPr>
            <p:cNvSpPr/>
            <p:nvPr/>
          </p:nvSpPr>
          <p:spPr>
            <a:xfrm>
              <a:off x="4379976" y="2257044"/>
              <a:ext cx="897635" cy="55321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64C97813-C5DA-4880-BA32-220015A5C372}"/>
                </a:ext>
              </a:extLst>
            </p:cNvPr>
            <p:cNvSpPr/>
            <p:nvPr/>
          </p:nvSpPr>
          <p:spPr>
            <a:xfrm>
              <a:off x="4558622" y="2388219"/>
              <a:ext cx="669925" cy="347980"/>
            </a:xfrm>
            <a:custGeom>
              <a:avLst/>
              <a:gdLst/>
              <a:ahLst/>
              <a:cxnLst/>
              <a:rect l="l" t="t" r="r" b="b"/>
              <a:pathLst>
                <a:path w="669925" h="347980">
                  <a:moveTo>
                    <a:pt x="669874" y="347535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28689BD3-6BA1-487D-977E-E38DF632E898}"/>
                </a:ext>
              </a:extLst>
            </p:cNvPr>
            <p:cNvSpPr/>
            <p:nvPr/>
          </p:nvSpPr>
          <p:spPr>
            <a:xfrm>
              <a:off x="4501132" y="2358387"/>
              <a:ext cx="86995" cy="70485"/>
            </a:xfrm>
            <a:custGeom>
              <a:avLst/>
              <a:gdLst/>
              <a:ahLst/>
              <a:cxnLst/>
              <a:rect l="l" t="t" r="r" b="b"/>
              <a:pathLst>
                <a:path w="86995" h="70485">
                  <a:moveTo>
                    <a:pt x="0" y="0"/>
                  </a:moveTo>
                  <a:lnTo>
                    <a:pt x="51092" y="70294"/>
                  </a:lnTo>
                  <a:lnTo>
                    <a:pt x="86893" y="13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0">
            <a:extLst>
              <a:ext uri="{FF2B5EF4-FFF2-40B4-BE49-F238E27FC236}">
                <a16:creationId xmlns:a16="http://schemas.microsoft.com/office/drawing/2014/main" id="{77F26F57-EB70-46DA-A72C-B6C463E12F3F}"/>
              </a:ext>
            </a:extLst>
          </p:cNvPr>
          <p:cNvSpPr txBox="1"/>
          <p:nvPr/>
        </p:nvSpPr>
        <p:spPr>
          <a:xfrm>
            <a:off x="4236274" y="3164801"/>
            <a:ext cx="1920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6FC0"/>
                </a:solidFill>
                <a:latin typeface="Calibri"/>
                <a:cs typeface="Calibri"/>
              </a:rPr>
              <a:t>centroid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/</a:t>
            </a:r>
            <a:r>
              <a:rPr sz="1800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libri"/>
                <a:cs typeface="Calibri"/>
              </a:rPr>
              <a:t>prototype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AABBF916-A93C-475A-892D-40BE0B5E7FC1}"/>
              </a:ext>
            </a:extLst>
          </p:cNvPr>
          <p:cNvSpPr txBox="1"/>
          <p:nvPr/>
        </p:nvSpPr>
        <p:spPr>
          <a:xfrm>
            <a:off x="3319817" y="1982025"/>
            <a:ext cx="433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d</a:t>
            </a:r>
            <a:r>
              <a:rPr sz="1800" spc="-15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006FC0"/>
                </a:solidFill>
                <a:latin typeface="Calibri"/>
                <a:cs typeface="Calibri"/>
              </a:rPr>
              <a:t>ta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2">
            <a:extLst>
              <a:ext uri="{FF2B5EF4-FFF2-40B4-BE49-F238E27FC236}">
                <a16:creationId xmlns:a16="http://schemas.microsoft.com/office/drawing/2014/main" id="{8D5A7D9D-88C5-43AE-91A1-32F8426EC90C}"/>
              </a:ext>
            </a:extLst>
          </p:cNvPr>
          <p:cNvGrpSpPr/>
          <p:nvPr/>
        </p:nvGrpSpPr>
        <p:grpSpPr>
          <a:xfrm>
            <a:off x="2342098" y="2249580"/>
            <a:ext cx="1280160" cy="1056640"/>
            <a:chOff x="2830067" y="1761744"/>
            <a:chExt cx="1280160" cy="1056640"/>
          </a:xfrm>
        </p:grpSpPr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4F4E422B-C7E6-4379-A035-09459C2825C7}"/>
                </a:ext>
              </a:extLst>
            </p:cNvPr>
            <p:cNvSpPr/>
            <p:nvPr/>
          </p:nvSpPr>
          <p:spPr>
            <a:xfrm>
              <a:off x="3639311" y="1761744"/>
              <a:ext cx="470915" cy="3931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942BBFD9-0C0C-4631-A1D0-0FE99B013B35}"/>
                </a:ext>
              </a:extLst>
            </p:cNvPr>
            <p:cNvSpPr/>
            <p:nvPr/>
          </p:nvSpPr>
          <p:spPr>
            <a:xfrm>
              <a:off x="3812716" y="1794509"/>
              <a:ext cx="247650" cy="181610"/>
            </a:xfrm>
            <a:custGeom>
              <a:avLst/>
              <a:gdLst/>
              <a:ahLst/>
              <a:cxnLst/>
              <a:rect l="l" t="t" r="r" b="b"/>
              <a:pathLst>
                <a:path w="247650" h="181610">
                  <a:moveTo>
                    <a:pt x="247611" y="0"/>
                  </a:moveTo>
                  <a:lnTo>
                    <a:pt x="0" y="181394"/>
                  </a:lnTo>
                </a:path>
              </a:pathLst>
            </a:custGeom>
            <a:ln w="25907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5">
              <a:extLst>
                <a:ext uri="{FF2B5EF4-FFF2-40B4-BE49-F238E27FC236}">
                  <a16:creationId xmlns:a16="http://schemas.microsoft.com/office/drawing/2014/main" id="{7CA00F88-0B37-4E58-8DE6-1912A117B78E}"/>
                </a:ext>
              </a:extLst>
            </p:cNvPr>
            <p:cNvSpPr/>
            <p:nvPr/>
          </p:nvSpPr>
          <p:spPr>
            <a:xfrm>
              <a:off x="3760473" y="1936901"/>
              <a:ext cx="85725" cy="77470"/>
            </a:xfrm>
            <a:custGeom>
              <a:avLst/>
              <a:gdLst/>
              <a:ahLst/>
              <a:cxnLst/>
              <a:rect l="l" t="t" r="r" b="b"/>
              <a:pathLst>
                <a:path w="85725" h="77469">
                  <a:moveTo>
                    <a:pt x="39725" y="0"/>
                  </a:moveTo>
                  <a:lnTo>
                    <a:pt x="0" y="77279"/>
                  </a:lnTo>
                  <a:lnTo>
                    <a:pt x="85661" y="62699"/>
                  </a:lnTo>
                  <a:lnTo>
                    <a:pt x="3972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6">
              <a:extLst>
                <a:ext uri="{FF2B5EF4-FFF2-40B4-BE49-F238E27FC236}">
                  <a16:creationId xmlns:a16="http://schemas.microsoft.com/office/drawing/2014/main" id="{F7856B18-99D7-4FC2-8EE9-3068D5974095}"/>
                </a:ext>
              </a:extLst>
            </p:cNvPr>
            <p:cNvSpPr/>
            <p:nvPr/>
          </p:nvSpPr>
          <p:spPr>
            <a:xfrm>
              <a:off x="2830067" y="2270759"/>
              <a:ext cx="344423" cy="54711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7">
              <a:extLst>
                <a:ext uri="{FF2B5EF4-FFF2-40B4-BE49-F238E27FC236}">
                  <a16:creationId xmlns:a16="http://schemas.microsoft.com/office/drawing/2014/main" id="{3E7C4524-0E33-42E1-AEB5-431314342D5A}"/>
                </a:ext>
              </a:extLst>
            </p:cNvPr>
            <p:cNvSpPr/>
            <p:nvPr/>
          </p:nvSpPr>
          <p:spPr>
            <a:xfrm>
              <a:off x="2977614" y="2431258"/>
              <a:ext cx="142240" cy="318770"/>
            </a:xfrm>
            <a:custGeom>
              <a:avLst/>
              <a:gdLst/>
              <a:ahLst/>
              <a:cxnLst/>
              <a:rect l="l" t="t" r="r" b="b"/>
              <a:pathLst>
                <a:path w="142239" h="318769">
                  <a:moveTo>
                    <a:pt x="141935" y="318211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8">
              <a:extLst>
                <a:ext uri="{FF2B5EF4-FFF2-40B4-BE49-F238E27FC236}">
                  <a16:creationId xmlns:a16="http://schemas.microsoft.com/office/drawing/2014/main" id="{AD692043-EAF3-46AB-8C1A-8CD4C8D19639}"/>
                </a:ext>
              </a:extLst>
            </p:cNvPr>
            <p:cNvSpPr/>
            <p:nvPr/>
          </p:nvSpPr>
          <p:spPr>
            <a:xfrm>
              <a:off x="2947391" y="2372102"/>
              <a:ext cx="71120" cy="86995"/>
            </a:xfrm>
            <a:custGeom>
              <a:avLst/>
              <a:gdLst/>
              <a:ahLst/>
              <a:cxnLst/>
              <a:rect l="l" t="t" r="r" b="b"/>
              <a:pathLst>
                <a:path w="71119" h="86994">
                  <a:moveTo>
                    <a:pt x="3835" y="0"/>
                  </a:moveTo>
                  <a:lnTo>
                    <a:pt x="0" y="86817"/>
                  </a:lnTo>
                  <a:lnTo>
                    <a:pt x="70980" y="55156"/>
                  </a:lnTo>
                  <a:lnTo>
                    <a:pt x="383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29">
            <a:extLst>
              <a:ext uri="{FF2B5EF4-FFF2-40B4-BE49-F238E27FC236}">
                <a16:creationId xmlns:a16="http://schemas.microsoft.com/office/drawing/2014/main" id="{64183433-2FA9-4900-9E61-11246034E761}"/>
              </a:ext>
            </a:extLst>
          </p:cNvPr>
          <p:cNvSpPr txBox="1"/>
          <p:nvPr/>
        </p:nvSpPr>
        <p:spPr>
          <a:xfrm>
            <a:off x="2060146" y="3175192"/>
            <a:ext cx="141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6FC0"/>
                </a:solidFill>
                <a:latin typeface="Calibri"/>
                <a:cs typeface="Calibri"/>
              </a:rPr>
              <a:t>responsibilities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1" name="object 30">
            <a:extLst>
              <a:ext uri="{FF2B5EF4-FFF2-40B4-BE49-F238E27FC236}">
                <a16:creationId xmlns:a16="http://schemas.microsoft.com/office/drawing/2014/main" id="{B574C1C7-EA83-44AA-B6DA-182137457712}"/>
              </a:ext>
            </a:extLst>
          </p:cNvPr>
          <p:cNvGrpSpPr/>
          <p:nvPr/>
        </p:nvGrpSpPr>
        <p:grpSpPr>
          <a:xfrm>
            <a:off x="5665829" y="3621053"/>
            <a:ext cx="1034415" cy="1034415"/>
            <a:chOff x="5816005" y="4145442"/>
            <a:chExt cx="1034415" cy="1034415"/>
          </a:xfrm>
        </p:grpSpPr>
        <p:sp>
          <p:nvSpPr>
            <p:cNvPr id="32" name="object 31">
              <a:extLst>
                <a:ext uri="{FF2B5EF4-FFF2-40B4-BE49-F238E27FC236}">
                  <a16:creationId xmlns:a16="http://schemas.microsoft.com/office/drawing/2014/main" id="{BF12934C-2F7A-4ECA-B30E-E3E4ABC6EAB8}"/>
                </a:ext>
              </a:extLst>
            </p:cNvPr>
            <p:cNvSpPr/>
            <p:nvPr/>
          </p:nvSpPr>
          <p:spPr>
            <a:xfrm>
              <a:off x="5830293" y="415973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94365" y="796256"/>
                  </a:moveTo>
                  <a:lnTo>
                    <a:pt x="67970" y="755581"/>
                  </a:lnTo>
                  <a:lnTo>
                    <a:pt x="45960" y="713359"/>
                  </a:lnTo>
                  <a:lnTo>
                    <a:pt x="28286" y="669883"/>
                  </a:lnTo>
                  <a:lnTo>
                    <a:pt x="14902" y="625449"/>
                  </a:lnTo>
                  <a:lnTo>
                    <a:pt x="5758" y="580350"/>
                  </a:lnTo>
                  <a:lnTo>
                    <a:pt x="806" y="534880"/>
                  </a:lnTo>
                  <a:lnTo>
                    <a:pt x="0" y="489333"/>
                  </a:lnTo>
                  <a:lnTo>
                    <a:pt x="3289" y="444004"/>
                  </a:lnTo>
                  <a:lnTo>
                    <a:pt x="10626" y="399186"/>
                  </a:lnTo>
                  <a:lnTo>
                    <a:pt x="21963" y="355175"/>
                  </a:lnTo>
                  <a:lnTo>
                    <a:pt x="37252" y="312263"/>
                  </a:lnTo>
                  <a:lnTo>
                    <a:pt x="56445" y="270746"/>
                  </a:lnTo>
                  <a:lnTo>
                    <a:pt x="79492" y="230916"/>
                  </a:lnTo>
                  <a:lnTo>
                    <a:pt x="106348" y="193070"/>
                  </a:lnTo>
                  <a:lnTo>
                    <a:pt x="136962" y="157499"/>
                  </a:lnTo>
                  <a:lnTo>
                    <a:pt x="171287" y="124500"/>
                  </a:lnTo>
                  <a:lnTo>
                    <a:pt x="209275" y="94365"/>
                  </a:lnTo>
                  <a:lnTo>
                    <a:pt x="249950" y="67970"/>
                  </a:lnTo>
                  <a:lnTo>
                    <a:pt x="292172" y="45960"/>
                  </a:lnTo>
                  <a:lnTo>
                    <a:pt x="335648" y="28286"/>
                  </a:lnTo>
                  <a:lnTo>
                    <a:pt x="380082" y="14902"/>
                  </a:lnTo>
                  <a:lnTo>
                    <a:pt x="425182" y="5758"/>
                  </a:lnTo>
                  <a:lnTo>
                    <a:pt x="470652" y="806"/>
                  </a:lnTo>
                  <a:lnTo>
                    <a:pt x="516198" y="0"/>
                  </a:lnTo>
                  <a:lnTo>
                    <a:pt x="561528" y="3289"/>
                  </a:lnTo>
                  <a:lnTo>
                    <a:pt x="606345" y="10626"/>
                  </a:lnTo>
                  <a:lnTo>
                    <a:pt x="650357" y="21963"/>
                  </a:lnTo>
                  <a:lnTo>
                    <a:pt x="693268" y="37252"/>
                  </a:lnTo>
                  <a:lnTo>
                    <a:pt x="734786" y="56445"/>
                  </a:lnTo>
                  <a:lnTo>
                    <a:pt x="774615" y="79492"/>
                  </a:lnTo>
                  <a:lnTo>
                    <a:pt x="812462" y="106348"/>
                  </a:lnTo>
                  <a:lnTo>
                    <a:pt x="848032" y="136962"/>
                  </a:lnTo>
                  <a:lnTo>
                    <a:pt x="881031" y="171287"/>
                  </a:lnTo>
                  <a:lnTo>
                    <a:pt x="911166" y="209275"/>
                  </a:lnTo>
                  <a:lnTo>
                    <a:pt x="937561" y="249950"/>
                  </a:lnTo>
                  <a:lnTo>
                    <a:pt x="959572" y="292172"/>
                  </a:lnTo>
                  <a:lnTo>
                    <a:pt x="977245" y="335648"/>
                  </a:lnTo>
                  <a:lnTo>
                    <a:pt x="990630" y="380082"/>
                  </a:lnTo>
                  <a:lnTo>
                    <a:pt x="999773" y="425182"/>
                  </a:lnTo>
                  <a:lnTo>
                    <a:pt x="1004725" y="470652"/>
                  </a:lnTo>
                  <a:lnTo>
                    <a:pt x="1005532" y="516198"/>
                  </a:lnTo>
                  <a:lnTo>
                    <a:pt x="1002243" y="561528"/>
                  </a:lnTo>
                  <a:lnTo>
                    <a:pt x="994905" y="606345"/>
                  </a:lnTo>
                  <a:lnTo>
                    <a:pt x="983568" y="650357"/>
                  </a:lnTo>
                  <a:lnTo>
                    <a:pt x="968279" y="693268"/>
                  </a:lnTo>
                  <a:lnTo>
                    <a:pt x="949087" y="734786"/>
                  </a:lnTo>
                  <a:lnTo>
                    <a:pt x="926039" y="774615"/>
                  </a:lnTo>
                  <a:lnTo>
                    <a:pt x="899184" y="812462"/>
                  </a:lnTo>
                  <a:lnTo>
                    <a:pt x="868569" y="848032"/>
                  </a:lnTo>
                  <a:lnTo>
                    <a:pt x="834244" y="881031"/>
                  </a:lnTo>
                  <a:lnTo>
                    <a:pt x="796256" y="911166"/>
                  </a:lnTo>
                  <a:lnTo>
                    <a:pt x="755581" y="937561"/>
                  </a:lnTo>
                  <a:lnTo>
                    <a:pt x="713359" y="959572"/>
                  </a:lnTo>
                  <a:lnTo>
                    <a:pt x="669883" y="977245"/>
                  </a:lnTo>
                  <a:lnTo>
                    <a:pt x="625449" y="990630"/>
                  </a:lnTo>
                  <a:lnTo>
                    <a:pt x="580350" y="999773"/>
                  </a:lnTo>
                  <a:lnTo>
                    <a:pt x="534880" y="1004725"/>
                  </a:lnTo>
                  <a:lnTo>
                    <a:pt x="489333" y="1005532"/>
                  </a:lnTo>
                  <a:lnTo>
                    <a:pt x="444004" y="1002243"/>
                  </a:lnTo>
                  <a:lnTo>
                    <a:pt x="399186" y="994905"/>
                  </a:lnTo>
                  <a:lnTo>
                    <a:pt x="355175" y="983568"/>
                  </a:lnTo>
                  <a:lnTo>
                    <a:pt x="312263" y="968279"/>
                  </a:lnTo>
                  <a:lnTo>
                    <a:pt x="270746" y="949087"/>
                  </a:lnTo>
                  <a:lnTo>
                    <a:pt x="230916" y="926039"/>
                  </a:lnTo>
                  <a:lnTo>
                    <a:pt x="193070" y="899184"/>
                  </a:lnTo>
                  <a:lnTo>
                    <a:pt x="157499" y="868569"/>
                  </a:lnTo>
                  <a:lnTo>
                    <a:pt x="124500" y="834244"/>
                  </a:lnTo>
                  <a:lnTo>
                    <a:pt x="94365" y="796256"/>
                  </a:lnTo>
                  <a:close/>
                </a:path>
              </a:pathLst>
            </a:custGeom>
            <a:ln w="28575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2">
              <a:extLst>
                <a:ext uri="{FF2B5EF4-FFF2-40B4-BE49-F238E27FC236}">
                  <a16:creationId xmlns:a16="http://schemas.microsoft.com/office/drawing/2014/main" id="{F9684557-57B7-4FD8-A295-A6BF279EA0F5}"/>
                </a:ext>
              </a:extLst>
            </p:cNvPr>
            <p:cNvSpPr/>
            <p:nvPr/>
          </p:nvSpPr>
          <p:spPr>
            <a:xfrm>
              <a:off x="6175247" y="4480559"/>
              <a:ext cx="129539" cy="12649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3">
              <a:extLst>
                <a:ext uri="{FF2B5EF4-FFF2-40B4-BE49-F238E27FC236}">
                  <a16:creationId xmlns:a16="http://schemas.microsoft.com/office/drawing/2014/main" id="{3E1A9AEE-9EA4-4856-A0CC-8B2B68CFC0E7}"/>
                </a:ext>
              </a:extLst>
            </p:cNvPr>
            <p:cNvSpPr/>
            <p:nvPr/>
          </p:nvSpPr>
          <p:spPr>
            <a:xfrm>
              <a:off x="6275831" y="4733543"/>
              <a:ext cx="129539" cy="12649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4">
            <a:extLst>
              <a:ext uri="{FF2B5EF4-FFF2-40B4-BE49-F238E27FC236}">
                <a16:creationId xmlns:a16="http://schemas.microsoft.com/office/drawing/2014/main" id="{94E90C18-0BD7-44F9-B54E-257F0B3BAEC5}"/>
              </a:ext>
            </a:extLst>
          </p:cNvPr>
          <p:cNvGrpSpPr/>
          <p:nvPr/>
        </p:nvGrpSpPr>
        <p:grpSpPr>
          <a:xfrm>
            <a:off x="7018785" y="4474269"/>
            <a:ext cx="532130" cy="561975"/>
            <a:chOff x="7168961" y="4998658"/>
            <a:chExt cx="532130" cy="561975"/>
          </a:xfrm>
        </p:grpSpPr>
        <p:sp>
          <p:nvSpPr>
            <p:cNvPr id="36" name="object 35">
              <a:extLst>
                <a:ext uri="{FF2B5EF4-FFF2-40B4-BE49-F238E27FC236}">
                  <a16:creationId xmlns:a16="http://schemas.microsoft.com/office/drawing/2014/main" id="{1614ECFF-73FF-4FE4-844D-AC6BC0F6BE51}"/>
                </a:ext>
              </a:extLst>
            </p:cNvPr>
            <p:cNvSpPr/>
            <p:nvPr/>
          </p:nvSpPr>
          <p:spPr>
            <a:xfrm>
              <a:off x="7397495" y="5193791"/>
              <a:ext cx="129539" cy="12649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6">
              <a:extLst>
                <a:ext uri="{FF2B5EF4-FFF2-40B4-BE49-F238E27FC236}">
                  <a16:creationId xmlns:a16="http://schemas.microsoft.com/office/drawing/2014/main" id="{3C2E5554-EC06-4CE4-A58A-194119610EBE}"/>
                </a:ext>
              </a:extLst>
            </p:cNvPr>
            <p:cNvSpPr/>
            <p:nvPr/>
          </p:nvSpPr>
          <p:spPr>
            <a:xfrm>
              <a:off x="7183249" y="5012945"/>
              <a:ext cx="503555" cy="533400"/>
            </a:xfrm>
            <a:custGeom>
              <a:avLst/>
              <a:gdLst/>
              <a:ahLst/>
              <a:cxnLst/>
              <a:rect l="l" t="t" r="r" b="b"/>
              <a:pathLst>
                <a:path w="503554" h="533400">
                  <a:moveTo>
                    <a:pt x="5791" y="215608"/>
                  </a:moveTo>
                  <a:lnTo>
                    <a:pt x="19501" y="169403"/>
                  </a:lnTo>
                  <a:lnTo>
                    <a:pt x="40094" y="127510"/>
                  </a:lnTo>
                  <a:lnTo>
                    <a:pt x="66722" y="90523"/>
                  </a:lnTo>
                  <a:lnTo>
                    <a:pt x="98538" y="59037"/>
                  </a:lnTo>
                  <a:lnTo>
                    <a:pt x="134695" y="33647"/>
                  </a:lnTo>
                  <a:lnTo>
                    <a:pt x="174344" y="14947"/>
                  </a:lnTo>
                  <a:lnTo>
                    <a:pt x="216640" y="3533"/>
                  </a:lnTo>
                  <a:lnTo>
                    <a:pt x="260733" y="0"/>
                  </a:lnTo>
                  <a:lnTo>
                    <a:pt x="305778" y="4941"/>
                  </a:lnTo>
                  <a:lnTo>
                    <a:pt x="349078" y="18316"/>
                  </a:lnTo>
                  <a:lnTo>
                    <a:pt x="388134" y="39090"/>
                  </a:lnTo>
                  <a:lnTo>
                    <a:pt x="422406" y="66381"/>
                  </a:lnTo>
                  <a:lnTo>
                    <a:pt x="451352" y="99305"/>
                  </a:lnTo>
                  <a:lnTo>
                    <a:pt x="474432" y="136980"/>
                  </a:lnTo>
                  <a:lnTo>
                    <a:pt x="491105" y="178522"/>
                  </a:lnTo>
                  <a:lnTo>
                    <a:pt x="500829" y="223049"/>
                  </a:lnTo>
                  <a:lnTo>
                    <a:pt x="503064" y="269678"/>
                  </a:lnTo>
                  <a:lnTo>
                    <a:pt x="497268" y="317526"/>
                  </a:lnTo>
                  <a:lnTo>
                    <a:pt x="483558" y="363731"/>
                  </a:lnTo>
                  <a:lnTo>
                    <a:pt x="462967" y="405624"/>
                  </a:lnTo>
                  <a:lnTo>
                    <a:pt x="436340" y="442611"/>
                  </a:lnTo>
                  <a:lnTo>
                    <a:pt x="404525" y="474096"/>
                  </a:lnTo>
                  <a:lnTo>
                    <a:pt x="368370" y="499485"/>
                  </a:lnTo>
                  <a:lnTo>
                    <a:pt x="328720" y="518183"/>
                  </a:lnTo>
                  <a:lnTo>
                    <a:pt x="286425" y="529595"/>
                  </a:lnTo>
                  <a:lnTo>
                    <a:pt x="242329" y="533126"/>
                  </a:lnTo>
                  <a:lnTo>
                    <a:pt x="197282" y="528181"/>
                  </a:lnTo>
                  <a:lnTo>
                    <a:pt x="153985" y="514806"/>
                  </a:lnTo>
                  <a:lnTo>
                    <a:pt x="114932" y="494033"/>
                  </a:lnTo>
                  <a:lnTo>
                    <a:pt x="80662" y="466744"/>
                  </a:lnTo>
                  <a:lnTo>
                    <a:pt x="51716" y="433821"/>
                  </a:lnTo>
                  <a:lnTo>
                    <a:pt x="28637" y="396149"/>
                  </a:lnTo>
                  <a:lnTo>
                    <a:pt x="11963" y="354608"/>
                  </a:lnTo>
                  <a:lnTo>
                    <a:pt x="2237" y="310083"/>
                  </a:lnTo>
                  <a:lnTo>
                    <a:pt x="0" y="263455"/>
                  </a:lnTo>
                  <a:lnTo>
                    <a:pt x="5791" y="215608"/>
                  </a:lnTo>
                  <a:close/>
                </a:path>
              </a:pathLst>
            </a:custGeom>
            <a:ln w="2857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7">
            <a:extLst>
              <a:ext uri="{FF2B5EF4-FFF2-40B4-BE49-F238E27FC236}">
                <a16:creationId xmlns:a16="http://schemas.microsoft.com/office/drawing/2014/main" id="{B849CFCF-AC54-40C4-8B90-1AD656380EEA}"/>
              </a:ext>
            </a:extLst>
          </p:cNvPr>
          <p:cNvSpPr txBox="1"/>
          <p:nvPr/>
        </p:nvSpPr>
        <p:spPr>
          <a:xfrm>
            <a:off x="5822989" y="3840425"/>
            <a:ext cx="2336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x</a:t>
            </a:r>
            <a:r>
              <a:rPr sz="1575" baseline="-21164" dirty="0">
                <a:latin typeface="Calibri"/>
                <a:cs typeface="Calibri"/>
              </a:rPr>
              <a:t>1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39" name="object 38">
            <a:extLst>
              <a:ext uri="{FF2B5EF4-FFF2-40B4-BE49-F238E27FC236}">
                <a16:creationId xmlns:a16="http://schemas.microsoft.com/office/drawing/2014/main" id="{06165DF5-5F43-4DEA-83EC-04631BA7C302}"/>
              </a:ext>
            </a:extLst>
          </p:cNvPr>
          <p:cNvSpPr txBox="1"/>
          <p:nvPr/>
        </p:nvSpPr>
        <p:spPr>
          <a:xfrm>
            <a:off x="6236223" y="4100768"/>
            <a:ext cx="2527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x</a:t>
            </a:r>
            <a:r>
              <a:rPr sz="1800" baseline="-20833" dirty="0">
                <a:latin typeface="Calibri"/>
                <a:cs typeface="Calibri"/>
              </a:rPr>
              <a:t>5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40" name="object 39">
            <a:extLst>
              <a:ext uri="{FF2B5EF4-FFF2-40B4-BE49-F238E27FC236}">
                <a16:creationId xmlns:a16="http://schemas.microsoft.com/office/drawing/2014/main" id="{EB1BCBBA-A793-4136-996C-5F96B0519887}"/>
              </a:ext>
            </a:extLst>
          </p:cNvPr>
          <p:cNvSpPr txBox="1"/>
          <p:nvPr/>
        </p:nvSpPr>
        <p:spPr>
          <a:xfrm>
            <a:off x="7099815" y="4633595"/>
            <a:ext cx="1115060" cy="475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1889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x</a:t>
            </a:r>
            <a:r>
              <a:rPr sz="1575" baseline="-21164" dirty="0">
                <a:latin typeface="Calibri"/>
                <a:cs typeface="Calibri"/>
              </a:rPr>
              <a:t>3</a:t>
            </a:r>
            <a:endParaRPr sz="1575" baseline="-21164">
              <a:latin typeface="Calibri"/>
              <a:cs typeface="Calibri"/>
            </a:endParaRPr>
          </a:p>
          <a:p>
            <a:pPr marL="473075">
              <a:lnSpc>
                <a:spcPts val="1650"/>
              </a:lnSpc>
            </a:pPr>
            <a:r>
              <a:rPr sz="1400" spc="-10" dirty="0">
                <a:latin typeface="Calibri"/>
                <a:cs typeface="Calibri"/>
              </a:rPr>
              <a:t>cluster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1" name="object 40">
            <a:extLst>
              <a:ext uri="{FF2B5EF4-FFF2-40B4-BE49-F238E27FC236}">
                <a16:creationId xmlns:a16="http://schemas.microsoft.com/office/drawing/2014/main" id="{E65BA39F-8807-448B-ADFC-B0D18D0CEF09}"/>
              </a:ext>
            </a:extLst>
          </p:cNvPr>
          <p:cNvSpPr txBox="1"/>
          <p:nvPr/>
        </p:nvSpPr>
        <p:spPr>
          <a:xfrm>
            <a:off x="7647920" y="3465769"/>
            <a:ext cx="2336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x</a:t>
            </a:r>
            <a:r>
              <a:rPr sz="1575" baseline="-21164" dirty="0">
                <a:latin typeface="Calibri"/>
                <a:cs typeface="Calibri"/>
              </a:rPr>
              <a:t>2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42" name="object 41">
            <a:extLst>
              <a:ext uri="{FF2B5EF4-FFF2-40B4-BE49-F238E27FC236}">
                <a16:creationId xmlns:a16="http://schemas.microsoft.com/office/drawing/2014/main" id="{BE9DFA2B-1678-4EDE-9728-FE23D1497C58}"/>
              </a:ext>
            </a:extLst>
          </p:cNvPr>
          <p:cNvSpPr txBox="1"/>
          <p:nvPr/>
        </p:nvSpPr>
        <p:spPr>
          <a:xfrm>
            <a:off x="8492333" y="3649467"/>
            <a:ext cx="2336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x</a:t>
            </a:r>
            <a:r>
              <a:rPr sz="1575" baseline="-21164" dirty="0">
                <a:latin typeface="Calibri"/>
                <a:cs typeface="Calibri"/>
              </a:rPr>
              <a:t>4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43" name="object 42">
            <a:extLst>
              <a:ext uri="{FF2B5EF4-FFF2-40B4-BE49-F238E27FC236}">
                <a16:creationId xmlns:a16="http://schemas.microsoft.com/office/drawing/2014/main" id="{77503EC2-65CF-4EA3-9138-F5730B9D4B78}"/>
              </a:ext>
            </a:extLst>
          </p:cNvPr>
          <p:cNvSpPr txBox="1"/>
          <p:nvPr/>
        </p:nvSpPr>
        <p:spPr>
          <a:xfrm>
            <a:off x="5975662" y="3353445"/>
            <a:ext cx="641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cluster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4" name="object 43">
            <a:extLst>
              <a:ext uri="{FF2B5EF4-FFF2-40B4-BE49-F238E27FC236}">
                <a16:creationId xmlns:a16="http://schemas.microsoft.com/office/drawing/2014/main" id="{27C9067F-9DC8-4A2D-A2DD-61179455F213}"/>
              </a:ext>
            </a:extLst>
          </p:cNvPr>
          <p:cNvSpPr txBox="1"/>
          <p:nvPr/>
        </p:nvSpPr>
        <p:spPr>
          <a:xfrm>
            <a:off x="8284929" y="4212355"/>
            <a:ext cx="641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cluster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0" name="object 49">
            <a:extLst>
              <a:ext uri="{FF2B5EF4-FFF2-40B4-BE49-F238E27FC236}">
                <a16:creationId xmlns:a16="http://schemas.microsoft.com/office/drawing/2014/main" id="{D032D141-5C7B-4762-A946-5105C129021F}"/>
              </a:ext>
            </a:extLst>
          </p:cNvPr>
          <p:cNvSpPr txBox="1"/>
          <p:nvPr/>
        </p:nvSpPr>
        <p:spPr>
          <a:xfrm>
            <a:off x="183528" y="1172971"/>
            <a:ext cx="547372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Cost </a:t>
            </a:r>
            <a:r>
              <a:rPr sz="2400" spc="-5" dirty="0">
                <a:latin typeface="Calibri"/>
                <a:cs typeface="Calibri"/>
              </a:rPr>
              <a:t>function </a:t>
            </a:r>
            <a:r>
              <a:rPr sz="2400" i="1" dirty="0">
                <a:latin typeface="Calibri"/>
                <a:cs typeface="Calibri"/>
              </a:rPr>
              <a:t>J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K-means  </a:t>
            </a:r>
            <a:r>
              <a:rPr sz="2400" spc="-5" dirty="0">
                <a:latin typeface="Calibri"/>
                <a:cs typeface="Calibri"/>
              </a:rPr>
              <a:t>algorithm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8875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E30A0-8571-DD76-C33F-B3CFCF728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584775"/>
          </a:xfrm>
        </p:spPr>
        <p:txBody>
          <a:bodyPr/>
          <a:lstStyle/>
          <a:p>
            <a:r>
              <a:rPr lang="en-US" dirty="0"/>
              <a:t>K-means and bad local minima </a:t>
            </a:r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695834-0E44-531E-2DF9-290538C64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09750"/>
            <a:ext cx="4083562" cy="27339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78887E-3354-570F-AEF1-697D9F8E151D}"/>
              </a:ext>
            </a:extLst>
          </p:cNvPr>
          <p:cNvSpPr txBox="1"/>
          <p:nvPr/>
        </p:nvSpPr>
        <p:spPr>
          <a:xfrm>
            <a:off x="1185333" y="774513"/>
            <a:ext cx="6773332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AE" sz="105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AE" sz="1050" b="0" i="0" u="none" strike="noStrike" baseline="0" dirty="0">
              <a:latin typeface="Arial" panose="020B0604020202020204" pitchFamily="34" charset="0"/>
            </a:endParaRPr>
          </a:p>
          <a:p>
            <a:pPr marR="0" algn="l"/>
            <a:r>
              <a:rPr lang="en-US" sz="1800" b="0" i="0" u="none" strike="noStrike" baseline="0" dirty="0">
                <a:solidFill>
                  <a:srgbClr val="585858"/>
                </a:solidFill>
                <a:latin typeface="Arial" panose="020B0604020202020204" pitchFamily="34" charset="0"/>
              </a:rPr>
              <a:t>This roughly looks like it could be clustered into K=5 clusters </a:t>
            </a:r>
          </a:p>
        </p:txBody>
      </p:sp>
    </p:spTree>
    <p:extLst>
      <p:ext uri="{BB962C8B-B14F-4D97-AF65-F5344CB8AC3E}">
        <p14:creationId xmlns:p14="http://schemas.microsoft.com/office/powerpoint/2010/main" val="2894825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46998-D7D2-A1B1-014D-66A849AD6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and bad local minima </a:t>
            </a:r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B953C4-1C57-4C1D-370D-D4713F929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52550"/>
            <a:ext cx="3232110" cy="32321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CB7F80-310B-9CA1-53D2-D0F5201B57FE}"/>
              </a:ext>
            </a:extLst>
          </p:cNvPr>
          <p:cNvSpPr txBox="1"/>
          <p:nvPr/>
        </p:nvSpPr>
        <p:spPr>
          <a:xfrm>
            <a:off x="3810000" y="1581150"/>
            <a:ext cx="4585546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AE" sz="105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AE" sz="1050" b="0" i="0" u="none" strike="noStrike" baseline="0" dirty="0">
              <a:latin typeface="Arial" panose="020B0604020202020204" pitchFamily="34" charset="0"/>
            </a:endParaRPr>
          </a:p>
          <a:p>
            <a:pPr marR="0" algn="l"/>
            <a:r>
              <a:rPr lang="en-US" sz="1800" b="0" i="0" u="none" strike="noStrike" baseline="0" dirty="0">
                <a:solidFill>
                  <a:srgbClr val="585858"/>
                </a:solidFill>
                <a:latin typeface="Arial" panose="020B0604020202020204" pitchFamily="34" charset="0"/>
              </a:rPr>
              <a:t>In this example we show how K-means can fail due to a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poor choice of initial centroids</a:t>
            </a:r>
            <a:r>
              <a:rPr lang="en-US" sz="1800" b="0" i="0" u="none" strike="noStrike" baseline="0" dirty="0">
                <a:solidFill>
                  <a:srgbClr val="585858"/>
                </a:solidFill>
                <a:latin typeface="Arial" panose="020B0604020202020204" pitchFamily="34" charset="0"/>
              </a:rPr>
              <a:t>.</a:t>
            </a:r>
          </a:p>
          <a:p>
            <a:pPr marR="0" algn="l"/>
            <a:endParaRPr lang="en-US" sz="1400" dirty="0">
              <a:solidFill>
                <a:srgbClr val="585858"/>
              </a:solidFill>
              <a:latin typeface="Arial" panose="020B0604020202020204" pitchFamily="34" charset="0"/>
            </a:endParaRPr>
          </a:p>
          <a:p>
            <a:pPr marR="0" algn="l"/>
            <a:r>
              <a:rPr lang="en-US" sz="1800" b="0" i="0" u="none" strike="noStrike" baseline="0" dirty="0">
                <a:solidFill>
                  <a:srgbClr val="585858"/>
                </a:solidFill>
                <a:latin typeface="Arial" panose="020B0604020202020204" pitchFamily="34" charset="0"/>
              </a:rPr>
              <a:t>Regardless, one can intuit that the quality of a K-means clustering surely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depends on a high quality initialization. </a:t>
            </a:r>
          </a:p>
        </p:txBody>
      </p:sp>
    </p:spTree>
    <p:extLst>
      <p:ext uri="{BB962C8B-B14F-4D97-AF65-F5344CB8AC3E}">
        <p14:creationId xmlns:p14="http://schemas.microsoft.com/office/powerpoint/2010/main" val="1985087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A2B28-4C96-37B7-63E1-3C4353EA7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and Initialization Method</a:t>
            </a:r>
            <a:endParaRPr lang="en-A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789E84-4809-5802-D9CC-423E529BE62A}"/>
              </a:ext>
            </a:extLst>
          </p:cNvPr>
          <p:cNvSpPr txBox="1"/>
          <p:nvPr/>
        </p:nvSpPr>
        <p:spPr>
          <a:xfrm>
            <a:off x="228600" y="1504950"/>
            <a:ext cx="8418191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AE" sz="105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AE" sz="1050" b="0" i="0" u="none" strike="noStrike" baseline="0" dirty="0">
              <a:latin typeface="Arial" panose="020B0604020202020204" pitchFamily="34" charset="0"/>
            </a:endParaRPr>
          </a:p>
          <a:p>
            <a:pPr marR="0" algn="l"/>
            <a:r>
              <a:rPr lang="en-US" sz="1800" b="0" i="0" u="none" strike="noStrike" baseline="0" dirty="0">
                <a:solidFill>
                  <a:srgbClr val="585858"/>
                </a:solidFill>
                <a:latin typeface="Arial" panose="020B0604020202020204" pitchFamily="34" charset="0"/>
              </a:rPr>
              <a:t>Generally speaking, a good initializations is one where the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initial centroids are spread evenly throughout the distribution of the data.</a:t>
            </a:r>
          </a:p>
          <a:p>
            <a:pPr marR="0" algn="l"/>
            <a:endParaRPr lang="en-US" sz="1400" dirty="0">
              <a:solidFill>
                <a:srgbClr val="585858"/>
              </a:solidFill>
              <a:latin typeface="Arial" panose="020B0604020202020204" pitchFamily="34" charset="0"/>
            </a:endParaRPr>
          </a:p>
          <a:p>
            <a:pPr marR="0" algn="l"/>
            <a:r>
              <a:rPr lang="en-US" sz="1800" b="0" i="0" u="none" strike="noStrike" baseline="0" dirty="0">
                <a:solidFill>
                  <a:srgbClr val="585858"/>
                </a:solidFill>
                <a:latin typeface="Arial" panose="020B0604020202020204" pitchFamily="34" charset="0"/>
              </a:rPr>
              <a:t>Conversely, a poor initialization is typically one where all of the initial centroids are bunched up together in a small region of the space. </a:t>
            </a:r>
          </a:p>
          <a:p>
            <a:pPr marR="0" algn="l"/>
            <a:endParaRPr lang="en-US" sz="1400" dirty="0">
              <a:solidFill>
                <a:srgbClr val="585858"/>
              </a:solidFill>
              <a:latin typeface="Arial" panose="020B0604020202020204" pitchFamily="34" charset="0"/>
            </a:endParaRPr>
          </a:p>
          <a:p>
            <a:pPr marR="0" algn="l"/>
            <a:r>
              <a:rPr lang="en-US" sz="1800" b="0" i="0" u="none" strike="noStrike" baseline="0" dirty="0">
                <a:solidFill>
                  <a:srgbClr val="585858"/>
                </a:solidFill>
                <a:latin typeface="Arial" panose="020B0604020202020204" pitchFamily="34" charset="0"/>
              </a:rPr>
              <a:t>This can make it difficult for the centroids to spread out effectively, leading to less than optimal </a:t>
            </a:r>
            <a:r>
              <a:rPr lang="en-US" sz="1800" b="0" i="0" u="none" strike="noStrike" baseline="0" dirty="0" err="1">
                <a:solidFill>
                  <a:srgbClr val="585858"/>
                </a:solidFill>
                <a:latin typeface="Arial" panose="020B0604020202020204" pitchFamily="34" charset="0"/>
              </a:rPr>
              <a:t>clusterings</a:t>
            </a:r>
            <a:r>
              <a:rPr lang="en-US" sz="1800" b="0" i="0" u="none" strike="noStrike" baseline="0" dirty="0">
                <a:solidFill>
                  <a:srgbClr val="585858"/>
                </a:solidFill>
                <a:latin typeface="Arial" panose="020B0604020202020204" pitchFamily="34" charset="0"/>
              </a:rPr>
              <a:t> or even 'empty clusters' (i.e., those to which no points are finally assigned).</a:t>
            </a:r>
          </a:p>
        </p:txBody>
      </p:sp>
    </p:spTree>
    <p:extLst>
      <p:ext uri="{BB962C8B-B14F-4D97-AF65-F5344CB8AC3E}">
        <p14:creationId xmlns:p14="http://schemas.microsoft.com/office/powerpoint/2010/main" val="3787777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E8EF7-3831-F604-2DD1-3E54D84A9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  <a:endParaRPr lang="en-A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0EF351-BAAD-3859-2CAA-4E12E6ED3E63}"/>
              </a:ext>
            </a:extLst>
          </p:cNvPr>
          <p:cNvSpPr txBox="1"/>
          <p:nvPr/>
        </p:nvSpPr>
        <p:spPr>
          <a:xfrm>
            <a:off x="533400" y="1808733"/>
            <a:ext cx="6344919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AE" sz="105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AE" sz="1050" b="0" i="0" u="none" strike="noStrike" baseline="0" dirty="0">
              <a:latin typeface="Arial" panose="020B0604020202020204" pitchFamily="34" charset="0"/>
            </a:endParaRPr>
          </a:p>
          <a:p>
            <a:pPr marR="0" algn="l"/>
            <a:r>
              <a:rPr lang="en-US" sz="1800" b="0" i="0" u="none" strike="noStrike" baseline="0" dirty="0">
                <a:solidFill>
                  <a:srgbClr val="585858"/>
                </a:solidFill>
                <a:latin typeface="Arial" panose="020B0604020202020204" pitchFamily="34" charset="0"/>
              </a:rPr>
              <a:t>The average intra-cluster distance provides us with a simple numerical way to compare the quality of various </a:t>
            </a:r>
            <a:r>
              <a:rPr lang="en-US" sz="1800" b="0" i="0" u="none" strike="noStrike" baseline="0" dirty="0" err="1">
                <a:solidFill>
                  <a:srgbClr val="585858"/>
                </a:solidFill>
                <a:latin typeface="Arial" panose="020B0604020202020204" pitchFamily="34" charset="0"/>
              </a:rPr>
              <a:t>clusterings</a:t>
            </a:r>
            <a:r>
              <a:rPr lang="en-US" sz="1800" b="0" i="0" u="none" strike="noStrike" baseline="0" dirty="0">
                <a:solidFill>
                  <a:srgbClr val="585858"/>
                </a:solidFill>
                <a:latin typeface="Arial" panose="020B0604020202020204" pitchFamily="34" charset="0"/>
              </a:rPr>
              <a:t> (when K is fixed).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BD3C37-E1D3-8A79-24B9-2F36EBF5E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119498"/>
            <a:ext cx="4475448" cy="195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338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EC4F-E041-4D19-9BE3-EAC6D4751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2F3C8-5C37-4DD6-8253-116B4BE4A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4" y="1224788"/>
            <a:ext cx="8418191" cy="307777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lang="en-US" sz="2000" spc="-15" dirty="0">
                <a:solidFill>
                  <a:srgbClr val="00026A"/>
                </a:solidFill>
                <a:cs typeface="Calibri"/>
              </a:rPr>
              <a:t>K-means</a:t>
            </a:r>
          </a:p>
        </p:txBody>
      </p:sp>
    </p:spTree>
    <p:extLst>
      <p:ext uri="{BB962C8B-B14F-4D97-AF65-F5344CB8AC3E}">
        <p14:creationId xmlns:p14="http://schemas.microsoft.com/office/powerpoint/2010/main" val="1620865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9EB2E9FB630D499918B8F6CAC84B60" ma:contentTypeVersion="3" ma:contentTypeDescription="Create a new document." ma:contentTypeScope="" ma:versionID="4fd7eb3e58b85baec0fd0cf169f544d9">
  <xsd:schema xmlns:xsd="http://www.w3.org/2001/XMLSchema" xmlns:xs="http://www.w3.org/2001/XMLSchema" xmlns:p="http://schemas.microsoft.com/office/2006/metadata/properties" xmlns:ns2="c974d4e5-f305-4feb-a004-2bd06caf3c2b" targetNamespace="http://schemas.microsoft.com/office/2006/metadata/properties" ma:root="true" ma:fieldsID="ff8484fd76a4646b7414ae59c5a5f383" ns2:_="">
    <xsd:import namespace="c974d4e5-f305-4feb-a004-2bd06caf3c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74d4e5-f305-4feb-a004-2bd06caf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158C5E-1A04-477A-B2BB-4B4B7047B370}"/>
</file>

<file path=customXml/itemProps2.xml><?xml version="1.0" encoding="utf-8"?>
<ds:datastoreItem xmlns:ds="http://schemas.openxmlformats.org/officeDocument/2006/customXml" ds:itemID="{AD8D609D-10E4-4FB5-A0BB-47C349311A39}"/>
</file>

<file path=customXml/itemProps3.xml><?xml version="1.0" encoding="utf-8"?>
<ds:datastoreItem xmlns:ds="http://schemas.openxmlformats.org/officeDocument/2006/customXml" ds:itemID="{16D9BA38-AC98-48DD-BA24-F792032D0CC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1728</TotalTime>
  <Words>540</Words>
  <Application>Microsoft Office PowerPoint</Application>
  <PresentationFormat>On-screen Show (16:9)</PresentationFormat>
  <Paragraphs>108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Apercu</vt:lpstr>
      <vt:lpstr>Arial</vt:lpstr>
      <vt:lpstr>Calibri</vt:lpstr>
      <vt:lpstr>Corbel</vt:lpstr>
      <vt:lpstr>Office Theme</vt:lpstr>
      <vt:lpstr>PowerPoint Presentation</vt:lpstr>
      <vt:lpstr>K-Means Algorithm</vt:lpstr>
      <vt:lpstr> K-means Clustering</vt:lpstr>
      <vt:lpstr>K-means algorithm</vt:lpstr>
      <vt:lpstr>K-means algorithm</vt:lpstr>
      <vt:lpstr>Initialise:</vt:lpstr>
      <vt:lpstr>E-step:</vt:lpstr>
      <vt:lpstr>M-step:</vt:lpstr>
      <vt:lpstr>E-step:</vt:lpstr>
      <vt:lpstr>M-step:</vt:lpstr>
      <vt:lpstr>E-step:</vt:lpstr>
      <vt:lpstr>M-step:</vt:lpstr>
      <vt:lpstr>E-step:</vt:lpstr>
      <vt:lpstr>M-step:</vt:lpstr>
      <vt:lpstr>No more modifications: Clustering is Done</vt:lpstr>
      <vt:lpstr>How to select K?</vt:lpstr>
      <vt:lpstr>K-means Algorithm</vt:lpstr>
      <vt:lpstr>K-means Algorithm</vt:lpstr>
      <vt:lpstr>K-means and bad local minima </vt:lpstr>
      <vt:lpstr>K-means and bad local minima </vt:lpstr>
      <vt:lpstr>K-Means and Initialization Method</vt:lpstr>
      <vt:lpstr>Evaluation Metrics</vt:lpstr>
      <vt:lpstr>Python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 this lesson … Part 1</dc:title>
  <dc:creator>Maha</dc:creator>
  <cp:lastModifiedBy>Maha Saadeh</cp:lastModifiedBy>
  <cp:revision>201</cp:revision>
  <dcterms:created xsi:type="dcterms:W3CDTF">2020-12-02T08:32:33Z</dcterms:created>
  <dcterms:modified xsi:type="dcterms:W3CDTF">2026-02-09T06:25:13Z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2020-11-30T00:00:00Z</vt:filetime>
  </property>
  <property fmtid="{D5CDD505-2E9C-101B-9397-08002B2CF9AE}" pid="3" name="LastSaved">
    <vt:filetime>2020-12-02T00:00:00Z</vt:filetime>
  </property>
  <property fmtid="{D5CDD505-2E9C-101B-9397-08002B2CF9AE}" pid="4" name="ContentTypeId">
    <vt:lpwstr>0x0101003A9EB2E9FB630D499918B8F6CAC84B60</vt:lpwstr>
  </property>
</Properties>
</file>