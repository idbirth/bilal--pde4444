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5.xml" ContentType="application/vnd.openxmlformats-officedocument.presentationml.notesSlide+xml"/>
  <Override PartName="/ppt/ink/ink17.xml" ContentType="application/inkml+xml"/>
  <Override PartName="/ppt/notesSlides/notesSlide26.xml" ContentType="application/vnd.openxmlformats-officedocument.presentationml.notesSlide+xml"/>
  <Override PartName="/ppt/ink/ink18.xml" ContentType="application/inkml+xml"/>
  <Override PartName="/ppt/notesSlides/notesSlide27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348" r:id="rId2"/>
    <p:sldId id="349" r:id="rId3"/>
    <p:sldId id="256" r:id="rId4"/>
    <p:sldId id="351" r:id="rId5"/>
    <p:sldId id="350" r:id="rId6"/>
    <p:sldId id="352" r:id="rId7"/>
    <p:sldId id="353" r:id="rId8"/>
    <p:sldId id="354" r:id="rId9"/>
    <p:sldId id="262" r:id="rId10"/>
    <p:sldId id="358" r:id="rId11"/>
    <p:sldId id="359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9" r:id="rId20"/>
    <p:sldId id="370" r:id="rId21"/>
    <p:sldId id="371" r:id="rId22"/>
    <p:sldId id="374" r:id="rId23"/>
    <p:sldId id="376" r:id="rId24"/>
    <p:sldId id="377" r:id="rId25"/>
    <p:sldId id="389" r:id="rId26"/>
    <p:sldId id="390" r:id="rId27"/>
    <p:sldId id="306" r:id="rId28"/>
    <p:sldId id="391" r:id="rId29"/>
    <p:sldId id="281" r:id="rId30"/>
    <p:sldId id="270" r:id="rId31"/>
    <p:sldId id="263" r:id="rId32"/>
    <p:sldId id="264" r:id="rId33"/>
    <p:sldId id="265" r:id="rId34"/>
    <p:sldId id="296" r:id="rId35"/>
    <p:sldId id="266" r:id="rId36"/>
    <p:sldId id="267" r:id="rId37"/>
    <p:sldId id="268" r:id="rId38"/>
    <p:sldId id="269" r:id="rId39"/>
    <p:sldId id="297" r:id="rId40"/>
    <p:sldId id="271" r:id="rId41"/>
    <p:sldId id="258" r:id="rId42"/>
    <p:sldId id="272" r:id="rId43"/>
    <p:sldId id="273" r:id="rId44"/>
    <p:sldId id="274" r:id="rId45"/>
    <p:sldId id="275" r:id="rId46"/>
    <p:sldId id="259" r:id="rId47"/>
    <p:sldId id="260" r:id="rId48"/>
    <p:sldId id="261" r:id="rId49"/>
    <p:sldId id="276" r:id="rId50"/>
    <p:sldId id="392" r:id="rId51"/>
    <p:sldId id="279" r:id="rId52"/>
    <p:sldId id="302" r:id="rId53"/>
    <p:sldId id="282" r:id="rId54"/>
    <p:sldId id="277" r:id="rId55"/>
    <p:sldId id="278" r:id="rId56"/>
    <p:sldId id="393" r:id="rId57"/>
    <p:sldId id="294" r:id="rId58"/>
    <p:sldId id="290" r:id="rId59"/>
    <p:sldId id="394" r:id="rId60"/>
    <p:sldId id="395" r:id="rId61"/>
    <p:sldId id="283" r:id="rId62"/>
    <p:sldId id="285" r:id="rId63"/>
    <p:sldId id="286" r:id="rId64"/>
    <p:sldId id="287" r:id="rId65"/>
    <p:sldId id="284" r:id="rId66"/>
    <p:sldId id="288" r:id="rId67"/>
    <p:sldId id="396" r:id="rId68"/>
    <p:sldId id="301" r:id="rId69"/>
    <p:sldId id="295" r:id="rId70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46994B-7EB3-426A-8FA1-A8B0D33508FE}" v="31" dt="2026-02-09T06:15:55.99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>
      <p:cViewPr varScale="1">
        <p:scale>
          <a:sx n="88" d="100"/>
          <a:sy n="88" d="100"/>
        </p:scale>
        <p:origin x="556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79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80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78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undo custSel addSld delSld modSld sldOrd">
      <pc:chgData name="Maha Saadeh" userId="3cb906ed-5449-4556-905f-2231327ddc1a" providerId="ADAL" clId="{454ED7F6-9BA2-4548-88F5-A2FE5F82DAC2}" dt="2026-02-09T06:20:21.841" v="373" actId="20577"/>
      <pc:docMkLst>
        <pc:docMk/>
      </pc:docMkLst>
      <pc:sldChg chg="modSp mod ord">
        <pc:chgData name="Maha Saadeh" userId="3cb906ed-5449-4556-905f-2231327ddc1a" providerId="ADAL" clId="{454ED7F6-9BA2-4548-88F5-A2FE5F82DAC2}" dt="2026-02-07T07:41:28.003" v="50" actId="20577"/>
        <pc:sldMkLst>
          <pc:docMk/>
          <pc:sldMk cId="0" sldId="256"/>
        </pc:sldMkLst>
        <pc:spChg chg="mod">
          <ac:chgData name="Maha Saadeh" userId="3cb906ed-5449-4556-905f-2231327ddc1a" providerId="ADAL" clId="{454ED7F6-9BA2-4548-88F5-A2FE5F82DAC2}" dt="2026-02-07T07:41:28.003" v="50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ha Saadeh" userId="3cb906ed-5449-4556-905f-2231327ddc1a" providerId="ADAL" clId="{454ED7F6-9BA2-4548-88F5-A2FE5F82DAC2}" dt="2026-02-07T07:29:13.547" v="12" actId="20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Maha Saadeh" userId="3cb906ed-5449-4556-905f-2231327ddc1a" providerId="ADAL" clId="{454ED7F6-9BA2-4548-88F5-A2FE5F82DAC2}" dt="2026-02-07T07:55:51.352" v="140" actId="20577"/>
        <pc:sldMkLst>
          <pc:docMk/>
          <pc:sldMk cId="0" sldId="259"/>
        </pc:sldMkLst>
        <pc:spChg chg="mod">
          <ac:chgData name="Maha Saadeh" userId="3cb906ed-5449-4556-905f-2231327ddc1a" providerId="ADAL" clId="{454ED7F6-9BA2-4548-88F5-A2FE5F82DAC2}" dt="2026-02-07T07:55:51.352" v="140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">
        <pc:chgData name="Maha Saadeh" userId="3cb906ed-5449-4556-905f-2231327ddc1a" providerId="ADAL" clId="{454ED7F6-9BA2-4548-88F5-A2FE5F82DAC2}" dt="2026-02-07T07:56:07.522" v="141"/>
        <pc:sldMkLst>
          <pc:docMk/>
          <pc:sldMk cId="0" sldId="260"/>
        </pc:sldMkLst>
        <pc:spChg chg="mod">
          <ac:chgData name="Maha Saadeh" userId="3cb906ed-5449-4556-905f-2231327ddc1a" providerId="ADAL" clId="{454ED7F6-9BA2-4548-88F5-A2FE5F82DAC2}" dt="2026-02-07T07:56:07.522" v="141"/>
          <ac:spMkLst>
            <pc:docMk/>
            <pc:sldMk cId="0" sldId="260"/>
            <ac:spMk id="2" creationId="{00000000-0000-0000-0000-000000000000}"/>
          </ac:spMkLst>
        </pc:spChg>
      </pc:sldChg>
      <pc:sldChg chg="modSp">
        <pc:chgData name="Maha Saadeh" userId="3cb906ed-5449-4556-905f-2231327ddc1a" providerId="ADAL" clId="{454ED7F6-9BA2-4548-88F5-A2FE5F82DAC2}" dt="2026-02-07T07:56:12.990" v="142"/>
        <pc:sldMkLst>
          <pc:docMk/>
          <pc:sldMk cId="0" sldId="261"/>
        </pc:sldMkLst>
        <pc:spChg chg="mod">
          <ac:chgData name="Maha Saadeh" userId="3cb906ed-5449-4556-905f-2231327ddc1a" providerId="ADAL" clId="{454ED7F6-9BA2-4548-88F5-A2FE5F82DAC2}" dt="2026-02-07T07:56:12.990" v="142"/>
          <ac:spMkLst>
            <pc:docMk/>
            <pc:sldMk cId="0" sldId="261"/>
            <ac:spMk id="2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9T05:54:51.358" v="309" actId="207"/>
        <pc:sldMkLst>
          <pc:docMk/>
          <pc:sldMk cId="0" sldId="262"/>
        </pc:sldMkLst>
        <pc:spChg chg="mod">
          <ac:chgData name="Maha Saadeh" userId="3cb906ed-5449-4556-905f-2231327ddc1a" providerId="ADAL" clId="{454ED7F6-9BA2-4548-88F5-A2FE5F82DAC2}" dt="2026-02-09T05:54:51.358" v="309" actId="20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ha Saadeh" userId="3cb906ed-5449-4556-905f-2231327ddc1a" providerId="ADAL" clId="{454ED7F6-9BA2-4548-88F5-A2FE5F82DAC2}" dt="2026-02-07T07:43:44.741" v="64" actId="207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Maha Saadeh" userId="3cb906ed-5449-4556-905f-2231327ddc1a" providerId="ADAL" clId="{454ED7F6-9BA2-4548-88F5-A2FE5F82DAC2}" dt="2026-02-07T07:30:12.140" v="14" actId="207"/>
        <pc:sldMkLst>
          <pc:docMk/>
          <pc:sldMk cId="1097804635" sldId="270"/>
        </pc:sldMkLst>
        <pc:spChg chg="mod">
          <ac:chgData name="Maha Saadeh" userId="3cb906ed-5449-4556-905f-2231327ddc1a" providerId="ADAL" clId="{454ED7F6-9BA2-4548-88F5-A2FE5F82DAC2}" dt="2026-02-07T07:30:12.140" v="14" actId="207"/>
          <ac:spMkLst>
            <pc:docMk/>
            <pc:sldMk cId="1097804635" sldId="270"/>
            <ac:spMk id="5" creationId="{00000000-0000-0000-0000-000000000000}"/>
          </ac:spMkLst>
        </pc:spChg>
      </pc:sldChg>
      <pc:sldChg chg="modSp del mod">
        <pc:chgData name="Maha Saadeh" userId="3cb906ed-5449-4556-905f-2231327ddc1a" providerId="ADAL" clId="{454ED7F6-9BA2-4548-88F5-A2FE5F82DAC2}" dt="2026-02-09T06:17:13.858" v="351" actId="47"/>
        <pc:sldMkLst>
          <pc:docMk/>
          <pc:sldMk cId="3900158814" sldId="280"/>
        </pc:sldMkLst>
        <pc:spChg chg="mod">
          <ac:chgData name="Maha Saadeh" userId="3cb906ed-5449-4556-905f-2231327ddc1a" providerId="ADAL" clId="{454ED7F6-9BA2-4548-88F5-A2FE5F82DAC2}" dt="2026-02-09T06:15:50.171" v="339" actId="21"/>
          <ac:spMkLst>
            <pc:docMk/>
            <pc:sldMk cId="3900158814" sldId="280"/>
            <ac:spMk id="3" creationId="{37217D12-9E25-499A-A028-CDD36D4A02FE}"/>
          </ac:spMkLst>
        </pc:spChg>
      </pc:sldChg>
      <pc:sldChg chg="modSp mod">
        <pc:chgData name="Maha Saadeh" userId="3cb906ed-5449-4556-905f-2231327ddc1a" providerId="ADAL" clId="{454ED7F6-9BA2-4548-88F5-A2FE5F82DAC2}" dt="2026-02-09T06:04:58.115" v="313" actId="20577"/>
        <pc:sldMkLst>
          <pc:docMk/>
          <pc:sldMk cId="4117791032" sldId="281"/>
        </pc:sldMkLst>
        <pc:spChg chg="mod">
          <ac:chgData name="Maha Saadeh" userId="3cb906ed-5449-4556-905f-2231327ddc1a" providerId="ADAL" clId="{454ED7F6-9BA2-4548-88F5-A2FE5F82DAC2}" dt="2026-02-09T06:04:47.026" v="312" actId="207"/>
          <ac:spMkLst>
            <pc:docMk/>
            <pc:sldMk cId="4117791032" sldId="281"/>
            <ac:spMk id="3" creationId="{1E39D028-EE97-4DCE-A773-29C86B507660}"/>
          </ac:spMkLst>
        </pc:spChg>
        <pc:spChg chg="mod">
          <ac:chgData name="Maha Saadeh" userId="3cb906ed-5449-4556-905f-2231327ddc1a" providerId="ADAL" clId="{454ED7F6-9BA2-4548-88F5-A2FE5F82DAC2}" dt="2026-02-09T06:04:58.115" v="313" actId="20577"/>
          <ac:spMkLst>
            <pc:docMk/>
            <pc:sldMk cId="4117791032" sldId="281"/>
            <ac:spMk id="4" creationId="{6C30C10E-FC04-4479-B017-8019CEFBBCA7}"/>
          </ac:spMkLst>
        </pc:spChg>
      </pc:sldChg>
      <pc:sldChg chg="modSp mod">
        <pc:chgData name="Maha Saadeh" userId="3cb906ed-5449-4556-905f-2231327ddc1a" providerId="ADAL" clId="{454ED7F6-9BA2-4548-88F5-A2FE5F82DAC2}" dt="2026-02-09T06:09:15.098" v="314" actId="20577"/>
        <pc:sldMkLst>
          <pc:docMk/>
          <pc:sldMk cId="132507981" sldId="282"/>
        </pc:sldMkLst>
        <pc:spChg chg="mod">
          <ac:chgData name="Maha Saadeh" userId="3cb906ed-5449-4556-905f-2231327ddc1a" providerId="ADAL" clId="{454ED7F6-9BA2-4548-88F5-A2FE5F82DAC2}" dt="2026-02-09T06:09:15.098" v="314" actId="20577"/>
          <ac:spMkLst>
            <pc:docMk/>
            <pc:sldMk cId="132507981" sldId="282"/>
            <ac:spMk id="3" creationId="{BC1CAA9A-D643-480B-A648-18B1711D9417}"/>
          </ac:spMkLst>
        </pc:spChg>
      </pc:sldChg>
      <pc:sldChg chg="modSp mod">
        <pc:chgData name="Maha Saadeh" userId="3cb906ed-5449-4556-905f-2231327ddc1a" providerId="ADAL" clId="{454ED7F6-9BA2-4548-88F5-A2FE5F82DAC2}" dt="2026-02-09T06:17:37.338" v="371" actId="20577"/>
        <pc:sldMkLst>
          <pc:docMk/>
          <pc:sldMk cId="3489335519" sldId="283"/>
        </pc:sldMkLst>
        <pc:spChg chg="mod">
          <ac:chgData name="Maha Saadeh" userId="3cb906ed-5449-4556-905f-2231327ddc1a" providerId="ADAL" clId="{454ED7F6-9BA2-4548-88F5-A2FE5F82DAC2}" dt="2026-02-09T06:17:37.338" v="371" actId="20577"/>
          <ac:spMkLst>
            <pc:docMk/>
            <pc:sldMk cId="3489335519" sldId="283"/>
            <ac:spMk id="3" creationId="{5A49361A-CE3B-43E7-ABAA-2EF7C7990624}"/>
          </ac:spMkLst>
        </pc:spChg>
      </pc:sldChg>
      <pc:sldChg chg="modSp mod">
        <pc:chgData name="Maha Saadeh" userId="3cb906ed-5449-4556-905f-2231327ddc1a" providerId="ADAL" clId="{454ED7F6-9BA2-4548-88F5-A2FE5F82DAC2}" dt="2026-02-09T06:18:45.475" v="372" actId="20577"/>
        <pc:sldMkLst>
          <pc:docMk/>
          <pc:sldMk cId="1777149461" sldId="285"/>
        </pc:sldMkLst>
        <pc:spChg chg="mod">
          <ac:chgData name="Maha Saadeh" userId="3cb906ed-5449-4556-905f-2231327ddc1a" providerId="ADAL" clId="{454ED7F6-9BA2-4548-88F5-A2FE5F82DAC2}" dt="2026-02-09T06:18:45.475" v="372" actId="20577"/>
          <ac:spMkLst>
            <pc:docMk/>
            <pc:sldMk cId="1777149461" sldId="285"/>
            <ac:spMk id="3" creationId="{F9CE5839-CF14-4C88-A333-C7523178AAF4}"/>
          </ac:spMkLst>
        </pc:spChg>
      </pc:sldChg>
      <pc:sldChg chg="modSp mod">
        <pc:chgData name="Maha Saadeh" userId="3cb906ed-5449-4556-905f-2231327ddc1a" providerId="ADAL" clId="{454ED7F6-9BA2-4548-88F5-A2FE5F82DAC2}" dt="2026-02-09T06:20:21.841" v="373" actId="20577"/>
        <pc:sldMkLst>
          <pc:docMk/>
          <pc:sldMk cId="927263568" sldId="288"/>
        </pc:sldMkLst>
        <pc:spChg chg="mod">
          <ac:chgData name="Maha Saadeh" userId="3cb906ed-5449-4556-905f-2231327ddc1a" providerId="ADAL" clId="{454ED7F6-9BA2-4548-88F5-A2FE5F82DAC2}" dt="2026-02-09T06:20:21.841" v="373" actId="20577"/>
          <ac:spMkLst>
            <pc:docMk/>
            <pc:sldMk cId="927263568" sldId="288"/>
            <ac:spMk id="3" creationId="{B8796D01-50A1-4CD9-88D1-3B78F421CB9F}"/>
          </ac:spMkLst>
        </pc:spChg>
      </pc:sldChg>
      <pc:sldChg chg="modSp mod">
        <pc:chgData name="Maha Saadeh" userId="3cb906ed-5449-4556-905f-2231327ddc1a" providerId="ADAL" clId="{454ED7F6-9BA2-4548-88F5-A2FE5F82DAC2}" dt="2026-02-09T06:13:47.518" v="329" actId="6549"/>
        <pc:sldMkLst>
          <pc:docMk/>
          <pc:sldMk cId="4060648710" sldId="290"/>
        </pc:sldMkLst>
        <pc:spChg chg="mod">
          <ac:chgData name="Maha Saadeh" userId="3cb906ed-5449-4556-905f-2231327ddc1a" providerId="ADAL" clId="{454ED7F6-9BA2-4548-88F5-A2FE5F82DAC2}" dt="2026-02-09T06:13:47.518" v="329" actId="6549"/>
          <ac:spMkLst>
            <pc:docMk/>
            <pc:sldMk cId="4060648710" sldId="290"/>
            <ac:spMk id="3" creationId="{DB95C81C-4BB9-4EA0-825B-01B904CA98D0}"/>
          </ac:spMkLst>
        </pc:spChg>
      </pc:sldChg>
      <pc:sldChg chg="modSp mod">
        <pc:chgData name="Maha Saadeh" userId="3cb906ed-5449-4556-905f-2231327ddc1a" providerId="ADAL" clId="{454ED7F6-9BA2-4548-88F5-A2FE5F82DAC2}" dt="2026-02-07T08:06:58.408" v="185" actId="313"/>
        <pc:sldMkLst>
          <pc:docMk/>
          <pc:sldMk cId="1772390899" sldId="295"/>
        </pc:sldMkLst>
        <pc:spChg chg="mod">
          <ac:chgData name="Maha Saadeh" userId="3cb906ed-5449-4556-905f-2231327ddc1a" providerId="ADAL" clId="{454ED7F6-9BA2-4548-88F5-A2FE5F82DAC2}" dt="2026-02-07T08:06:58.408" v="185" actId="313"/>
          <ac:spMkLst>
            <pc:docMk/>
            <pc:sldMk cId="1772390899" sldId="295"/>
            <ac:spMk id="2" creationId="{4A475ECD-1D45-4BD8-B634-0F76D4F8BD6D}"/>
          </ac:spMkLst>
        </pc:spChg>
      </pc:sldChg>
      <pc:sldChg chg="add del">
        <pc:chgData name="Maha Saadeh" userId="3cb906ed-5449-4556-905f-2231327ddc1a" providerId="ADAL" clId="{454ED7F6-9BA2-4548-88F5-A2FE5F82DAC2}" dt="2026-02-07T07:54:08.654" v="124" actId="47"/>
        <pc:sldMkLst>
          <pc:docMk/>
          <pc:sldMk cId="2263454187" sldId="306"/>
        </pc:sldMkLst>
      </pc:sldChg>
      <pc:sldChg chg="modSp add mod">
        <pc:chgData name="Maha Saadeh" userId="3cb906ed-5449-4556-905f-2231327ddc1a" providerId="ADAL" clId="{454ED7F6-9BA2-4548-88F5-A2FE5F82DAC2}" dt="2026-02-07T08:07:20.951" v="191" actId="20577"/>
        <pc:sldMkLst>
          <pc:docMk/>
          <pc:sldMk cId="741890330" sldId="348"/>
        </pc:sldMkLst>
        <pc:spChg chg="mod">
          <ac:chgData name="Maha Saadeh" userId="3cb906ed-5449-4556-905f-2231327ddc1a" providerId="ADAL" clId="{454ED7F6-9BA2-4548-88F5-A2FE5F82DAC2}" dt="2026-02-07T08:07:20.951" v="191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modSp new mod ord">
        <pc:chgData name="Maha Saadeh" userId="3cb906ed-5449-4556-905f-2231327ddc1a" providerId="ADAL" clId="{454ED7F6-9BA2-4548-88F5-A2FE5F82DAC2}" dt="2026-02-09T05:52:31.726" v="304" actId="207"/>
        <pc:sldMkLst>
          <pc:docMk/>
          <pc:sldMk cId="2167712943" sldId="349"/>
        </pc:sldMkLst>
        <pc:spChg chg="mod">
          <ac:chgData name="Maha Saadeh" userId="3cb906ed-5449-4556-905f-2231327ddc1a" providerId="ADAL" clId="{454ED7F6-9BA2-4548-88F5-A2FE5F82DAC2}" dt="2026-02-07T07:40:17.402" v="27"/>
          <ac:spMkLst>
            <pc:docMk/>
            <pc:sldMk cId="2167712943" sldId="349"/>
            <ac:spMk id="2" creationId="{3CFCFA68-42AA-3620-BE26-5ECBECFC3DB0}"/>
          </ac:spMkLst>
        </pc:spChg>
        <pc:spChg chg="mod">
          <ac:chgData name="Maha Saadeh" userId="3cb906ed-5449-4556-905f-2231327ddc1a" providerId="ADAL" clId="{454ED7F6-9BA2-4548-88F5-A2FE5F82DAC2}" dt="2026-02-09T05:52:31.726" v="304" actId="207"/>
          <ac:spMkLst>
            <pc:docMk/>
            <pc:sldMk cId="2167712943" sldId="349"/>
            <ac:spMk id="3" creationId="{131C6DFE-63C2-F346-410B-6BFE9BAC7952}"/>
          </ac:spMkLst>
        </pc:spChg>
      </pc:sldChg>
      <pc:sldChg chg="modSp add mod">
        <pc:chgData name="Maha Saadeh" userId="3cb906ed-5449-4556-905f-2231327ddc1a" providerId="ADAL" clId="{454ED7F6-9BA2-4548-88F5-A2FE5F82DAC2}" dt="2026-02-07T07:41:49.280" v="53" actId="255"/>
        <pc:sldMkLst>
          <pc:docMk/>
          <pc:sldMk cId="0" sldId="350"/>
        </pc:sldMkLst>
        <pc:spChg chg="mod">
          <ac:chgData name="Maha Saadeh" userId="3cb906ed-5449-4556-905f-2231327ddc1a" providerId="ADAL" clId="{454ED7F6-9BA2-4548-88F5-A2FE5F82DAC2}" dt="2026-02-07T07:41:40.043" v="51"/>
          <ac:spMkLst>
            <pc:docMk/>
            <pc:sldMk cId="0" sldId="350"/>
            <ac:spMk id="3" creationId="{00000000-0000-0000-0000-000000000000}"/>
          </ac:spMkLst>
        </pc:spChg>
        <pc:spChg chg="mod">
          <ac:chgData name="Maha Saadeh" userId="3cb906ed-5449-4556-905f-2231327ddc1a" providerId="ADAL" clId="{454ED7F6-9BA2-4548-88F5-A2FE5F82DAC2}" dt="2026-02-07T07:41:49.280" v="53" actId="255"/>
          <ac:spMkLst>
            <pc:docMk/>
            <pc:sldMk cId="0" sldId="350"/>
            <ac:spMk id="5" creationId="{00000000-0000-0000-0000-000000000000}"/>
          </ac:spMkLst>
        </pc:spChg>
      </pc:sldChg>
      <pc:sldChg chg="modSp add mod ord">
        <pc:chgData name="Maha Saadeh" userId="3cb906ed-5449-4556-905f-2231327ddc1a" providerId="ADAL" clId="{454ED7F6-9BA2-4548-88F5-A2FE5F82DAC2}" dt="2026-02-09T05:52:55.016" v="306"/>
        <pc:sldMkLst>
          <pc:docMk/>
          <pc:sldMk cId="0" sldId="351"/>
        </pc:sldMkLst>
        <pc:spChg chg="mod">
          <ac:chgData name="Maha Saadeh" userId="3cb906ed-5449-4556-905f-2231327ddc1a" providerId="ADAL" clId="{454ED7F6-9BA2-4548-88F5-A2FE5F82DAC2}" dt="2026-02-07T07:42:21.309" v="56" actId="255"/>
          <ac:spMkLst>
            <pc:docMk/>
            <pc:sldMk cId="0" sldId="351"/>
            <ac:spMk id="30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2:43.911" v="58" actId="255"/>
        <pc:sldMkLst>
          <pc:docMk/>
          <pc:sldMk cId="0" sldId="352"/>
        </pc:sldMkLst>
        <pc:spChg chg="mod">
          <ac:chgData name="Maha Saadeh" userId="3cb906ed-5449-4556-905f-2231327ddc1a" providerId="ADAL" clId="{454ED7F6-9BA2-4548-88F5-A2FE5F82DAC2}" dt="2026-02-07T07:42:43.911" v="58" actId="255"/>
          <ac:spMkLst>
            <pc:docMk/>
            <pc:sldMk cId="0" sldId="352"/>
            <ac:spMk id="11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9T05:54:01.995" v="307" actId="207"/>
        <pc:sldMkLst>
          <pc:docMk/>
          <pc:sldMk cId="0" sldId="353"/>
        </pc:sldMkLst>
        <pc:spChg chg="mod">
          <ac:chgData name="Maha Saadeh" userId="3cb906ed-5449-4556-905f-2231327ddc1a" providerId="ADAL" clId="{454ED7F6-9BA2-4548-88F5-A2FE5F82DAC2}" dt="2026-02-09T05:54:01.995" v="307" actId="207"/>
          <ac:spMkLst>
            <pc:docMk/>
            <pc:sldMk cId="0" sldId="353"/>
            <ac:spMk id="2" creationId="{00000000-0000-0000-0000-000000000000}"/>
          </ac:spMkLst>
        </pc:spChg>
        <pc:spChg chg="mod">
          <ac:chgData name="Maha Saadeh" userId="3cb906ed-5449-4556-905f-2231327ddc1a" providerId="ADAL" clId="{454ED7F6-9BA2-4548-88F5-A2FE5F82DAC2}" dt="2026-02-07T07:42:55.056" v="60" actId="255"/>
          <ac:spMkLst>
            <pc:docMk/>
            <pc:sldMk cId="0" sldId="353"/>
            <ac:spMk id="6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9T05:54:18.091" v="308" actId="207"/>
        <pc:sldMkLst>
          <pc:docMk/>
          <pc:sldMk cId="0" sldId="354"/>
        </pc:sldMkLst>
        <pc:spChg chg="mod">
          <ac:chgData name="Maha Saadeh" userId="3cb906ed-5449-4556-905f-2231327ddc1a" providerId="ADAL" clId="{454ED7F6-9BA2-4548-88F5-A2FE5F82DAC2}" dt="2026-02-09T05:54:18.091" v="308" actId="207"/>
          <ac:spMkLst>
            <pc:docMk/>
            <pc:sldMk cId="0" sldId="354"/>
            <ac:spMk id="12" creationId="{00000000-0000-0000-0000-000000000000}"/>
          </ac:spMkLst>
        </pc:spChg>
        <pc:spChg chg="mod">
          <ac:chgData name="Maha Saadeh" userId="3cb906ed-5449-4556-905f-2231327ddc1a" providerId="ADAL" clId="{454ED7F6-9BA2-4548-88F5-A2FE5F82DAC2}" dt="2026-02-07T07:43:33.664" v="62" actId="255"/>
          <ac:spMkLst>
            <pc:docMk/>
            <pc:sldMk cId="0" sldId="354"/>
            <ac:spMk id="24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4:30.746" v="70" actId="255"/>
        <pc:sldMkLst>
          <pc:docMk/>
          <pc:sldMk cId="0" sldId="358"/>
        </pc:sldMkLst>
        <pc:spChg chg="mod">
          <ac:chgData name="Maha Saadeh" userId="3cb906ed-5449-4556-905f-2231327ddc1a" providerId="ADAL" clId="{454ED7F6-9BA2-4548-88F5-A2FE5F82DAC2}" dt="2026-02-07T07:44:30.746" v="70" actId="255"/>
          <ac:spMkLst>
            <pc:docMk/>
            <pc:sldMk cId="0" sldId="358"/>
            <ac:spMk id="30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6:19.544" v="75" actId="1035"/>
        <pc:sldMkLst>
          <pc:docMk/>
          <pc:sldMk cId="0" sldId="359"/>
        </pc:sldMkLst>
        <pc:spChg chg="mod">
          <ac:chgData name="Maha Saadeh" userId="3cb906ed-5449-4556-905f-2231327ddc1a" providerId="ADAL" clId="{454ED7F6-9BA2-4548-88F5-A2FE5F82DAC2}" dt="2026-02-07T07:46:19.544" v="75" actId="1035"/>
          <ac:spMkLst>
            <pc:docMk/>
            <pc:sldMk cId="0" sldId="359"/>
            <ac:spMk id="74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7:15.705" v="78" actId="255"/>
        <pc:sldMkLst>
          <pc:docMk/>
          <pc:sldMk cId="0" sldId="361"/>
        </pc:sldMkLst>
        <pc:spChg chg="mod">
          <ac:chgData name="Maha Saadeh" userId="3cb906ed-5449-4556-905f-2231327ddc1a" providerId="ADAL" clId="{454ED7F6-9BA2-4548-88F5-A2FE5F82DAC2}" dt="2026-02-07T07:47:15.705" v="78" actId="255"/>
          <ac:spMkLst>
            <pc:docMk/>
            <pc:sldMk cId="0" sldId="361"/>
            <ac:spMk id="17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7:34.001" v="80" actId="255"/>
        <pc:sldMkLst>
          <pc:docMk/>
          <pc:sldMk cId="0" sldId="362"/>
        </pc:sldMkLst>
        <pc:spChg chg="mod">
          <ac:chgData name="Maha Saadeh" userId="3cb906ed-5449-4556-905f-2231327ddc1a" providerId="ADAL" clId="{454ED7F6-9BA2-4548-88F5-A2FE5F82DAC2}" dt="2026-02-07T07:47:34.001" v="80" actId="255"/>
          <ac:spMkLst>
            <pc:docMk/>
            <pc:sldMk cId="0" sldId="362"/>
            <ac:spMk id="24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8:01.017" v="84" actId="207"/>
        <pc:sldMkLst>
          <pc:docMk/>
          <pc:sldMk cId="0" sldId="363"/>
        </pc:sldMkLst>
        <pc:spChg chg="mod">
          <ac:chgData name="Maha Saadeh" userId="3cb906ed-5449-4556-905f-2231327ddc1a" providerId="ADAL" clId="{454ED7F6-9BA2-4548-88F5-A2FE5F82DAC2}" dt="2026-02-07T07:48:01.017" v="84" actId="207"/>
          <ac:spMkLst>
            <pc:docMk/>
            <pc:sldMk cId="0" sldId="363"/>
            <ac:spMk id="16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7:54.835" v="83" actId="207"/>
        <pc:sldMkLst>
          <pc:docMk/>
          <pc:sldMk cId="0" sldId="364"/>
        </pc:sldMkLst>
        <pc:spChg chg="mod">
          <ac:chgData name="Maha Saadeh" userId="3cb906ed-5449-4556-905f-2231327ddc1a" providerId="ADAL" clId="{454ED7F6-9BA2-4548-88F5-A2FE5F82DAC2}" dt="2026-02-07T07:47:54.835" v="83" actId="207"/>
          <ac:spMkLst>
            <pc:docMk/>
            <pc:sldMk cId="0" sldId="364"/>
            <ac:spMk id="15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8:16.858" v="86" actId="207"/>
        <pc:sldMkLst>
          <pc:docMk/>
          <pc:sldMk cId="0" sldId="365"/>
        </pc:sldMkLst>
        <pc:spChg chg="mod">
          <ac:chgData name="Maha Saadeh" userId="3cb906ed-5449-4556-905f-2231327ddc1a" providerId="ADAL" clId="{454ED7F6-9BA2-4548-88F5-A2FE5F82DAC2}" dt="2026-02-07T07:48:16.858" v="86" actId="207"/>
          <ac:spMkLst>
            <pc:docMk/>
            <pc:sldMk cId="0" sldId="365"/>
            <ac:spMk id="22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8:25.280" v="88" actId="255"/>
        <pc:sldMkLst>
          <pc:docMk/>
          <pc:sldMk cId="0" sldId="366"/>
        </pc:sldMkLst>
        <pc:spChg chg="mod">
          <ac:chgData name="Maha Saadeh" userId="3cb906ed-5449-4556-905f-2231327ddc1a" providerId="ADAL" clId="{454ED7F6-9BA2-4548-88F5-A2FE5F82DAC2}" dt="2026-02-07T07:48:25.280" v="88" actId="255"/>
          <ac:spMkLst>
            <pc:docMk/>
            <pc:sldMk cId="0" sldId="366"/>
            <ac:spMk id="59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8:36.648" v="90" actId="207"/>
        <pc:sldMkLst>
          <pc:docMk/>
          <pc:sldMk cId="0" sldId="367"/>
        </pc:sldMkLst>
        <pc:spChg chg="mod">
          <ac:chgData name="Maha Saadeh" userId="3cb906ed-5449-4556-905f-2231327ddc1a" providerId="ADAL" clId="{454ED7F6-9BA2-4548-88F5-A2FE5F82DAC2}" dt="2026-02-07T07:48:36.648" v="90" actId="207"/>
          <ac:spMkLst>
            <pc:docMk/>
            <pc:sldMk cId="0" sldId="367"/>
            <ac:spMk id="26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9:12.556" v="93" actId="255"/>
        <pc:sldMkLst>
          <pc:docMk/>
          <pc:sldMk cId="0" sldId="369"/>
        </pc:sldMkLst>
        <pc:spChg chg="mod">
          <ac:chgData name="Maha Saadeh" userId="3cb906ed-5449-4556-905f-2231327ddc1a" providerId="ADAL" clId="{454ED7F6-9BA2-4548-88F5-A2FE5F82DAC2}" dt="2026-02-07T07:49:12.556" v="93" actId="255"/>
          <ac:spMkLst>
            <pc:docMk/>
            <pc:sldMk cId="0" sldId="369"/>
            <ac:spMk id="5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9:19.819" v="95" actId="207"/>
        <pc:sldMkLst>
          <pc:docMk/>
          <pc:sldMk cId="0" sldId="370"/>
        </pc:sldMkLst>
        <pc:spChg chg="mod">
          <ac:chgData name="Maha Saadeh" userId="3cb906ed-5449-4556-905f-2231327ddc1a" providerId="ADAL" clId="{454ED7F6-9BA2-4548-88F5-A2FE5F82DAC2}" dt="2026-02-07T07:49:19.819" v="95" actId="207"/>
          <ac:spMkLst>
            <pc:docMk/>
            <pc:sldMk cId="0" sldId="370"/>
            <ac:spMk id="40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49:27.685" v="97" actId="207"/>
        <pc:sldMkLst>
          <pc:docMk/>
          <pc:sldMk cId="0" sldId="371"/>
        </pc:sldMkLst>
        <pc:spChg chg="mod">
          <ac:chgData name="Maha Saadeh" userId="3cb906ed-5449-4556-905f-2231327ddc1a" providerId="ADAL" clId="{454ED7F6-9BA2-4548-88F5-A2FE5F82DAC2}" dt="2026-02-07T07:49:27.685" v="97" actId="207"/>
          <ac:spMkLst>
            <pc:docMk/>
            <pc:sldMk cId="0" sldId="371"/>
            <ac:spMk id="41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07T07:50:56.061" v="103" actId="255"/>
        <pc:sldMkLst>
          <pc:docMk/>
          <pc:sldMk cId="0" sldId="374"/>
        </pc:sldMkLst>
        <pc:spChg chg="mod">
          <ac:chgData name="Maha Saadeh" userId="3cb906ed-5449-4556-905f-2231327ddc1a" providerId="ADAL" clId="{454ED7F6-9BA2-4548-88F5-A2FE5F82DAC2}" dt="2026-02-07T07:50:56.061" v="103" actId="255"/>
          <ac:spMkLst>
            <pc:docMk/>
            <pc:sldMk cId="0" sldId="374"/>
            <ac:spMk id="5" creationId="{00000000-0000-0000-0000-000000000000}"/>
          </ac:spMkLst>
        </pc:spChg>
      </pc:sldChg>
      <pc:sldChg chg="delSp modSp add mod">
        <pc:chgData name="Maha Saadeh" userId="3cb906ed-5449-4556-905f-2231327ddc1a" providerId="ADAL" clId="{454ED7F6-9BA2-4548-88F5-A2FE5F82DAC2}" dt="2026-02-07T07:51:46.015" v="106" actId="478"/>
        <pc:sldMkLst>
          <pc:docMk/>
          <pc:sldMk cId="0" sldId="376"/>
        </pc:sldMkLst>
        <pc:spChg chg="mod">
          <ac:chgData name="Maha Saadeh" userId="3cb906ed-5449-4556-905f-2231327ddc1a" providerId="ADAL" clId="{454ED7F6-9BA2-4548-88F5-A2FE5F82DAC2}" dt="2026-02-07T07:51:42.062" v="105" actId="20577"/>
          <ac:spMkLst>
            <pc:docMk/>
            <pc:sldMk cId="0" sldId="376"/>
            <ac:spMk id="8" creationId="{00000000-0000-0000-0000-000000000000}"/>
          </ac:spMkLst>
        </pc:spChg>
      </pc:sldChg>
      <pc:sldChg chg="delSp modSp add mod">
        <pc:chgData name="Maha Saadeh" userId="3cb906ed-5449-4556-905f-2231327ddc1a" providerId="ADAL" clId="{454ED7F6-9BA2-4548-88F5-A2FE5F82DAC2}" dt="2026-02-07T07:51:54.983" v="108" actId="6549"/>
        <pc:sldMkLst>
          <pc:docMk/>
          <pc:sldMk cId="0" sldId="377"/>
        </pc:sldMkLst>
        <pc:spChg chg="mod">
          <ac:chgData name="Maha Saadeh" userId="3cb906ed-5449-4556-905f-2231327ddc1a" providerId="ADAL" clId="{454ED7F6-9BA2-4548-88F5-A2FE5F82DAC2}" dt="2026-02-07T07:51:54.983" v="108" actId="6549"/>
          <ac:spMkLst>
            <pc:docMk/>
            <pc:sldMk cId="0" sldId="377"/>
            <ac:spMk id="8" creationId="{00000000-0000-0000-0000-000000000000}"/>
          </ac:spMkLst>
        </pc:spChg>
      </pc:sldChg>
      <pc:sldChg chg="add">
        <pc:chgData name="Maha Saadeh" userId="3cb906ed-5449-4556-905f-2231327ddc1a" providerId="ADAL" clId="{454ED7F6-9BA2-4548-88F5-A2FE5F82DAC2}" dt="2026-02-07T07:41:07.235" v="43"/>
        <pc:sldMkLst>
          <pc:docMk/>
          <pc:sldMk cId="3967826072" sldId="389"/>
        </pc:sldMkLst>
      </pc:sldChg>
      <pc:sldChg chg="add">
        <pc:chgData name="Maha Saadeh" userId="3cb906ed-5449-4556-905f-2231327ddc1a" providerId="ADAL" clId="{454ED7F6-9BA2-4548-88F5-A2FE5F82DAC2}" dt="2026-02-07T07:41:07.235" v="43"/>
        <pc:sldMkLst>
          <pc:docMk/>
          <pc:sldMk cId="4281559353" sldId="390"/>
        </pc:sldMkLst>
      </pc:sldChg>
      <pc:sldChg chg="modSp add mod">
        <pc:chgData name="Maha Saadeh" userId="3cb906ed-5449-4556-905f-2231327ddc1a" providerId="ADAL" clId="{454ED7F6-9BA2-4548-88F5-A2FE5F82DAC2}" dt="2026-02-07T07:55:02.440" v="128" actId="13926"/>
        <pc:sldMkLst>
          <pc:docMk/>
          <pc:sldMk cId="3635742447" sldId="391"/>
        </pc:sldMkLst>
        <pc:spChg chg="mod">
          <ac:chgData name="Maha Saadeh" userId="3cb906ed-5449-4556-905f-2231327ddc1a" providerId="ADAL" clId="{454ED7F6-9BA2-4548-88F5-A2FE5F82DAC2}" dt="2026-02-07T07:55:02.440" v="128" actId="13926"/>
          <ac:spMkLst>
            <pc:docMk/>
            <pc:sldMk cId="3635742447" sldId="391"/>
            <ac:spMk id="2" creationId="{0F1018B1-370A-FF7B-ABFD-9FC32D9392C9}"/>
          </ac:spMkLst>
        </pc:spChg>
      </pc:sldChg>
      <pc:sldChg chg="modSp add mod">
        <pc:chgData name="Maha Saadeh" userId="3cb906ed-5449-4556-905f-2231327ddc1a" providerId="ADAL" clId="{454ED7F6-9BA2-4548-88F5-A2FE5F82DAC2}" dt="2026-02-07T07:57:18.513" v="145" actId="13926"/>
        <pc:sldMkLst>
          <pc:docMk/>
          <pc:sldMk cId="972501071" sldId="392"/>
        </pc:sldMkLst>
        <pc:spChg chg="mod">
          <ac:chgData name="Maha Saadeh" userId="3cb906ed-5449-4556-905f-2231327ddc1a" providerId="ADAL" clId="{454ED7F6-9BA2-4548-88F5-A2FE5F82DAC2}" dt="2026-02-07T07:57:18.513" v="145" actId="13926"/>
          <ac:spMkLst>
            <pc:docMk/>
            <pc:sldMk cId="972501071" sldId="392"/>
            <ac:spMk id="2" creationId="{DD8A90A1-4077-26D0-ACA2-A760D8E13FA0}"/>
          </ac:spMkLst>
        </pc:spChg>
      </pc:sldChg>
      <pc:sldChg chg="modSp add mod">
        <pc:chgData name="Maha Saadeh" userId="3cb906ed-5449-4556-905f-2231327ddc1a" providerId="ADAL" clId="{454ED7F6-9BA2-4548-88F5-A2FE5F82DAC2}" dt="2026-02-07T07:59:32.761" v="148" actId="13926"/>
        <pc:sldMkLst>
          <pc:docMk/>
          <pc:sldMk cId="1048732796" sldId="393"/>
        </pc:sldMkLst>
        <pc:spChg chg="mod">
          <ac:chgData name="Maha Saadeh" userId="3cb906ed-5449-4556-905f-2231327ddc1a" providerId="ADAL" clId="{454ED7F6-9BA2-4548-88F5-A2FE5F82DAC2}" dt="2026-02-07T07:59:32.761" v="148" actId="13926"/>
          <ac:spMkLst>
            <pc:docMk/>
            <pc:sldMk cId="1048732796" sldId="393"/>
            <ac:spMk id="2" creationId="{F6AC45C6-6B5B-5587-FF42-3EE3FFCADADC}"/>
          </ac:spMkLst>
        </pc:spChg>
      </pc:sldChg>
      <pc:sldChg chg="modSp add mod">
        <pc:chgData name="Maha Saadeh" userId="3cb906ed-5449-4556-905f-2231327ddc1a" providerId="ADAL" clId="{454ED7F6-9BA2-4548-88F5-A2FE5F82DAC2}" dt="2026-02-07T08:03:31.040" v="167" actId="13926"/>
        <pc:sldMkLst>
          <pc:docMk/>
          <pc:sldMk cId="1087508353" sldId="394"/>
        </pc:sldMkLst>
        <pc:spChg chg="mod">
          <ac:chgData name="Maha Saadeh" userId="3cb906ed-5449-4556-905f-2231327ddc1a" providerId="ADAL" clId="{454ED7F6-9BA2-4548-88F5-A2FE5F82DAC2}" dt="2026-02-07T08:03:31.040" v="167" actId="13926"/>
          <ac:spMkLst>
            <pc:docMk/>
            <pc:sldMk cId="1087508353" sldId="394"/>
            <ac:spMk id="2" creationId="{B945C618-873B-36F1-1447-778DD357BC01}"/>
          </ac:spMkLst>
        </pc:spChg>
      </pc:sldChg>
      <pc:sldChg chg="addSp modSp new mod">
        <pc:chgData name="Maha Saadeh" userId="3cb906ed-5449-4556-905f-2231327ddc1a" providerId="ADAL" clId="{454ED7F6-9BA2-4548-88F5-A2FE5F82DAC2}" dt="2026-02-09T06:16:36.167" v="350" actId="207"/>
        <pc:sldMkLst>
          <pc:docMk/>
          <pc:sldMk cId="1603639637" sldId="395"/>
        </pc:sldMkLst>
        <pc:spChg chg="mod">
          <ac:chgData name="Maha Saadeh" userId="3cb906ed-5449-4556-905f-2231327ddc1a" providerId="ADAL" clId="{454ED7F6-9BA2-4548-88F5-A2FE5F82DAC2}" dt="2026-02-07T08:09:15.619" v="194"/>
          <ac:spMkLst>
            <pc:docMk/>
            <pc:sldMk cId="1603639637" sldId="395"/>
            <ac:spMk id="2" creationId="{F870BDDE-CA90-FD3A-ED26-62AF80ADA6EF}"/>
          </ac:spMkLst>
        </pc:spChg>
        <pc:spChg chg="mod">
          <ac:chgData name="Maha Saadeh" userId="3cb906ed-5449-4556-905f-2231327ddc1a" providerId="ADAL" clId="{454ED7F6-9BA2-4548-88F5-A2FE5F82DAC2}" dt="2026-02-09T06:16:36.167" v="350" actId="207"/>
          <ac:spMkLst>
            <pc:docMk/>
            <pc:sldMk cId="1603639637" sldId="395"/>
            <ac:spMk id="3" creationId="{1CEB2F8D-888A-BECF-0761-1E681AE296A7}"/>
          </ac:spMkLst>
        </pc:spChg>
        <pc:spChg chg="add mod">
          <ac:chgData name="Maha Saadeh" userId="3cb906ed-5449-4556-905f-2231327ddc1a" providerId="ADAL" clId="{454ED7F6-9BA2-4548-88F5-A2FE5F82DAC2}" dt="2026-02-09T06:15:14.492" v="335" actId="14100"/>
          <ac:spMkLst>
            <pc:docMk/>
            <pc:sldMk cId="1603639637" sldId="395"/>
            <ac:spMk id="4" creationId="{BF619F4D-65DA-4D40-DB74-20917A78DCDB}"/>
          </ac:spMkLst>
        </pc:spChg>
      </pc:sldChg>
      <pc:sldChg chg="modSp new mod">
        <pc:chgData name="Maha Saadeh" userId="3cb906ed-5449-4556-905f-2231327ddc1a" providerId="ADAL" clId="{454ED7F6-9BA2-4548-88F5-A2FE5F82DAC2}" dt="2026-02-07T08:19:40.389" v="299" actId="20577"/>
        <pc:sldMkLst>
          <pc:docMk/>
          <pc:sldMk cId="1900385137" sldId="396"/>
        </pc:sldMkLst>
        <pc:spChg chg="mod">
          <ac:chgData name="Maha Saadeh" userId="3cb906ed-5449-4556-905f-2231327ddc1a" providerId="ADAL" clId="{454ED7F6-9BA2-4548-88F5-A2FE5F82DAC2}" dt="2026-02-07T08:19:40.389" v="299" actId="20577"/>
          <ac:spMkLst>
            <pc:docMk/>
            <pc:sldMk cId="1900385137" sldId="396"/>
            <ac:spMk id="2" creationId="{543045F8-11D3-BBF2-AF01-FC984D9F75A0}"/>
          </ac:spMkLst>
        </pc:spChg>
        <pc:spChg chg="mod">
          <ac:chgData name="Maha Saadeh" userId="3cb906ed-5449-4556-905f-2231327ddc1a" providerId="ADAL" clId="{454ED7F6-9BA2-4548-88F5-A2FE5F82DAC2}" dt="2026-02-07T08:14:55.201" v="269"/>
          <ac:spMkLst>
            <pc:docMk/>
            <pc:sldMk cId="1900385137" sldId="396"/>
            <ac:spMk id="3" creationId="{5D0C807F-7EDB-016D-56B3-25A75CCD3308}"/>
          </ac:spMkLst>
        </pc:spChg>
      </pc:sldChg>
      <pc:sldChg chg="addSp delSp modSp add del mod">
        <pc:chgData name="Maha Saadeh" userId="3cb906ed-5449-4556-905f-2231327ddc1a" providerId="ADAL" clId="{454ED7F6-9BA2-4548-88F5-A2FE5F82DAC2}" dt="2026-02-09T06:15:17.011" v="336" actId="47"/>
        <pc:sldMkLst>
          <pc:docMk/>
          <pc:sldMk cId="2459091390" sldId="397"/>
        </pc:sldMkLst>
        <pc:spChg chg="del mod">
          <ac:chgData name="Maha Saadeh" userId="3cb906ed-5449-4556-905f-2231327ddc1a" providerId="ADAL" clId="{454ED7F6-9BA2-4548-88F5-A2FE5F82DAC2}" dt="2026-02-09T06:15:00.215" v="332" actId="21"/>
          <ac:spMkLst>
            <pc:docMk/>
            <pc:sldMk cId="2459091390" sldId="397"/>
            <ac:spMk id="3" creationId="{BF619F4D-65DA-4D40-DB74-20917A78DCDB}"/>
          </ac:spMkLst>
        </pc:spChg>
        <pc:spChg chg="add mod">
          <ac:chgData name="Maha Saadeh" userId="3cb906ed-5449-4556-905f-2231327ddc1a" providerId="ADAL" clId="{454ED7F6-9BA2-4548-88F5-A2FE5F82DAC2}" dt="2026-02-09T06:15:00.215" v="332" actId="21"/>
          <ac:spMkLst>
            <pc:docMk/>
            <pc:sldMk cId="2459091390" sldId="397"/>
            <ac:spMk id="5" creationId="{24C9FE32-1CCA-7B9F-1BEA-72462925A5A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09T16:42:44.1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15 208,'0'-14'1206,"0"14"-1228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09T16:42:45.6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7 608,'0'0'412,"0"0"6,0 0-53,0 0-70,0 0-52,0 0-58,0 0-30,0 0-38,0 0-17,0 0 1,0 0-10,0 0-32,0 0-27,0 0-20,0 0 5,0 0 47,0 0 68,0 0 104,0 0 71,0 0 56,0 0-7,0 0-64,0 0-70,0 0-91,0-1-63,0 0-55,0 1-5,0 0 6,0 0-4,0 0 5,0 0 3,0 0 4,0 0 1,0 0-6,0 0-1,0 0 2,0 0 6,0-4-1930,0 4 1138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09T16:42:46.1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22 368,'-2'0'264,"2"-2"56,0 1-16,0 0 8,0-1 32,0 1 8,0-1-39,0 1-105,0 0-64,0-1-96,0 1-24,0-1-104,0 1-88,0 0-216,0-1-169,0 1 345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09T17:02:50.4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66 35 1680,'-1'-2'125,"-1"-1"-1,1 1 1,-1 0-1,0 0 1,0 0-1,0 0 1,1 0-1,-2 0 1,1 1-1,0-1 1,0 1-1,-1-1 1,1 1-1,0 0 1,-1 0-1,1 0 1,-1 0-1,0 0 1,1 1-1,-1-1 1,0 1 0,1 0-1,-1 0 1,0 0-1,0 0-124,2 0 83,-5-3 1725,6 3-2043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09T17:02:51.3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14 3449,'0'0'57,"0"-1"1,0 1-1,0-1 1,0 1 0,0-1-1,-1 1 1,1-1-1,0 1 1,0-1-1,-1 1 1,1-1 0,0 1-1,0 0 1,-1-1-1,1 1 1,-1-1-1,1 1 1,0 0 0,-1 0-1,1-1 1,-1 1-1,1 0-57,-3-4 837,3 3-1540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6:57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31 1128,'-2'-20'2109,"-1"10"-428,3 10-1633,0 0 0,0 0-1,0 0 1,0 0 0,0 0-1,0 0 1,0 0 0,0 0 0,0 0-1,-1 0 1,1 0 0,0 0-1,0 0 1,0-1 0,0 1-1,0 0 1,0 0 0,0 0-1,0 0 1,0 0 0,0 0 0,0 0-1,0 0 1,-1 0 0,1 0-1,0 0 1,0 0 0,0 0-1,0 0 1,0 0 0,0 0-1,0 0 1,0 0 0,0 0 0,0 0-1,-1 0 1,1 0 0,0 0-1,0 0 1,0 0 0,0 0-1,0 0 1,0 0 0,0 1 0,0-1-1,0 0 1,0 0 0,0 0-1,0 0 1,0 0 0,-1 0-1,1 0 1,0 0 0,0 0-1,0 0 1,0 0 0,0 0 0,0 0-1,0 1 1,0-1 0,0 0-1,0 0 1,0 0-48,-3 6 46,0 0 1,-1 0-1,1-1 0,-2 1 0,1-1 1,0 0-1,-6 5-46,2-2 48,-8 7 73,-1 0 1,0-2-1,-1 0 1,0-1-1,-2 0-121,-2 1 167,2 1 1,-15 13-168,32-24-222,-17 13 711,19-15-585,1-1 0,0 0-1,-1 1 1,1-1-1,0 0 1,-1 1-1,1-1 1,-1 0-1,1 1 1,-1-1 0,1 0-1,0 0 1,-1 1-1,1-1 1,-1 0-1,1 0 1,-1 0-1,0 0 1,1 0 0,-1 0-1,1 0 1,-1 0-1,1 0 1,-1 0-1,1 0 1,-1 0-1,1 0 1,-1 0 0,1 0-1,-1 0 1,1-1-1,-1 1 1,1 0-1,-1-1 97,1 0-648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6:58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24 3217,'-2'-3'430,"2"2"-326,-1 0 1,1-1-1,-1 1 1,0 0-1,0 0 0,1 0 1,-1 0-1,0 0 1,0 0-1,0 0 1,0 0-1,0 0 1,0 0-1,0 0 0,-1 1 1,1-1-1,0 0 1,0 1-1,-1-1 1,1 1-1,0-1 1,-1 1-1,1 0 1,0 0-1,-1-1 0,1 1 1,0 0-1,-1 0 1,1 0-1,0 0 1,-1 1-1,1-1 1,-1 0-1,1 1 0,0-1 1,-1 1-105,-34 9 344,32-9-287,3-1-6,0 0-1,-1 0 1,1 1 0,0-1 0,0 1 0,0-1 0,-1 1 0,1-1 0,0 1 0,0 0-1,0-1 1,0 1 0,0 0 0,-1 1-51,3-1 17,-1 0 0,0 0 0,0 0 0,0 0-1,0 0 1,1 0 0,-1 0 0,0 0 0,1 0 0,-1 0 0,1 0 0,-1-1-1,1 1 1,-1 0 0,1 0 0,0 0 0,0-1 0,-1 1 0,1 0-1,0 0 1,0-1 0,0 1-17,19 17 71,0-1-1,2-1 1,0 0-1,1-2 1,0-1-1,22 9-70,43 16 331,65 38-331,-141-69-79,32 16-192,-41-22 158,0 0 0,0 0 0,0 0 0,0 0 0,0 0 0,0-1 0,0 0 0,0 0 1,0 0-1,0 0 0,0 0 0,0 0 0,0-1 0,1 1 113,19-9-488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6:59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 4553,'-1'-2'139,"-1"-5"773,21 13-664,-18-5-248,204 88 534,-135-57-407,-59-27-100,0-2-1,0 0 0,1 0 1,-1-1-1,1 0 0,-1-1 1,1 0-1,0-1 0,7-1-26,-4 1-21,15 5-1406,-13-2 838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6:59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 4217,'-14'16'1424,"4"16"-1400,-2 8 16,1 10-8,-2 4 0,-2 10-8,6 7-8,1 9-16,0 0 0,1-1-72,7-5-80,2-11-400,4-7-336,2-16 544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7:01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2 257 3105,'0'0'67,"-1"0"0,1 0-1,0-1 1,0 1 0,0 0 0,0 0 0,0-1 0,0 1 0,-1 0 0,1-1 0,0 1 0,0 0 0,0 0 0,0-1 0,0 1 0,0 0-1,0-1 1,0 1 0,0 0 0,0 0 0,0-1 0,0 1 0,1 0 0,-1 0 0,0-1 0,0 1 0,0 0 0,0 0 0,0-1 0,0 1 0,1 0-1,-1 0 1,0-1 0,0 1 0,0 0 0,1 0-67,13-5-171,-6 3 356,55-16 540,57-24-725,-97 32 113,0-1 0,0-1 1,-2-1-1,1 0 0,-2-2 0,18-15-113,-20 14 168,-12 12-109,-1 0 0,0 0 0,0-1 1,0 0-1,-1 0 0,0 0 0,1 0 0,-2 0 1,1-1-1,-1 0 0,0 0-59,-11 30-217,4-12 216,0 1 0,0 0 1,1 0-1,1 0 0,0 0 1,1 0 0,-1 14 18,0-3-7,-1-1 0,0 0 0,-2 0 0,0-1 0,-5 9-11,-13 40 9,15-42 12,-1-1-1,-2-1 1,-9 16-21,1-2 62,50-50-80,-18 4 30,-3 2-1,0-1 1,-1 0 0,1 0-1,-1-1 1,0-1-1,0 1 1,5-6-12,10-12 50,0-1 0,10-15-50,-15 17 27,1 0 0,1 2 0,15-12-27,-13 13 7,41-27 4,-49 33-1998,-15 13 1341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7:30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48 507 5089,'-7'-15'1312,"7"14"-1343,0 0 1,0 0-1,-1 0 1,1 0 0,0 0-1,-1 0 1,1 0-1,-1 0 1,1 0-1,-1 1 1,1-1-1,-1 0 1,1 0-1,-1 1 1,0-1-1,0 0 1,1 0 0,-1 1-1,0-1 1,0 1-1,0-1 1,0 1-1,1-1 1,-1 1-1,0 0 1,0-1-1,0 1 1,0 0-1,0 0 1,0 0 0,0-1-1,0 1 1,0 0-1,0 1 31,0-1 12,0 0 0,1 0 0,-1 0 0,1 0 0,-1 0 0,1 0 0,-1 0 0,1 0 0,-1 0 0,1 0 0,-1 0 0,1 0 0,-1 0 0,1-1-1,-1 1 1,1 0 0,-1 0 0,1-1 0,-1 1 0,1 0 0,-1 0 0,1-1 0,0 1 0,-1 0 0,1-1 0,0 1 0,-1-1-12,1-1 59,-1 1 0,0-1 0,1 0 0,0 0 0,-1 0 0,1 0 0,0 0 0,0 0 0,0 0 0,0 0 0,1 0-59,0-16 198,2 1 0,0 0-1,1-1 1,1 2 0,2-7-198,22-60 663,-14 37-45,15-29-618,-24 61 24,1 1 0,0 0 1,1 1-1,0 0 0,1 0 0,1 0 1,5-5-25,-12 15-1,-1-1 0,1 1 0,0 0 0,0 0 0,0 0 0,0 0 0,0 0 0,0 1 0,1-1 0,-1 1 0,0 0 0,1 0 0,-1 0 0,1 1 0,-1-1 0,1 1 0,-1-1 0,1 1 0,0 1 0,-1-1 0,1 0 0,-1 1 0,1 0 0,-1-1 0,1 1 0,-1 1 0,0-1 0,1 0 0,-1 1 0,0 0 0,0 0 0,0 0 1,5 4-8,0 0-1,0 0 1,-1 1 0,0 0-1,0 0 1,0 1 0,-1 0 0,-1 0-1,1 1 1,-1-1 0,0 2 8,10 21 30,-2 2 0,0-1 0,-3 2 0,2 7-30,-8-21 21,0 0-1,-1-1 1,-1 1 0,-1 0-1,-1 0 1,0 0 0,-2 0-1,0 3-20,-13 104 23,11-81-17,-2 0 0,-1 0 1,-3-1-7,0-17 10,8-24-7,0-1-1,0 1 1,1 0-1,-1 0 0,1 0 1,0 0-1,1 1 1,-1-1-1,1 0 1,0 0-1,0 3-2,0-6 0,0 0-1,0 0 1,1 0 0,-1 0 0,0 0 0,1 0-1,-1-1 1,1 1 0,-1 0 0,1 0-1,-1 0 1,1-1 0,0 1 0,-1 0-1,1-1 1,0 1 0,-1-1 0,1 1-1,0-1 1,0 1 0,0-1 0,0 1-1,0-1 1,-1 0 0,1 1 0,0-1 0,0 0-1,0 0 1,0 0 0,0 0 0,0 1-1,0-1 1,0-1 0,0 1 0,0 0-1,0 0 1,0 0 0,0 0 0,0-1 0,5 0 3,1-1 1,-1 0-1,0 0 0,0 0 1,2-2-4,35-19 60,-1-2 0,-1-2 0,-2-2 0,30-28-60,-23 24 25,-34 26-296,-1-1 0,-1 0 0,1-1 0,-1 0 0,-1 0 0,1-1 0,0-2 271,-5 3-1757,-2-4 785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7:31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30 3633,'-1'-2'261,"-10"-22"500,13 21-1265,8 13-449,39 39 2478,2-2 0,5 0-1525,-18-16 537,0 3 0,-2 0 0,-2 2 0,24 33-537,-5 10 56,-20-28-554,12 10 498,-39-53-551,-5 1 222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7:32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191 497 2553,'-3'-1'-83,"1"0"1,0 1-1,-1-1 1,1 1-1,-1-1 1,1 1-1,-1 0 1,1 0-1,-1 1 1,1-1-1,-1 0 1,1 1 0,-1-1-1,1 1 1,0 0-1,-1 0 1,1 0-1,0 0 1,-2 1 82,-15 5-338,14-6 492,0 1 1,0-1-1,0-1 0,0 1 1,0-1-1,0 0 0,0 0 0,0 0 1,-1-1-1,1 0 0,0 0 0,0 0 1,0 0-1,0-1 0,1 0 1,-1 0-1,0 0 0,1-1 0,-4-2-154,6 3 139,0 0 0,0 0 0,1 0 0,-1-1 0,0 1 0,1 0 0,0-1-1,0 0 1,0 1 0,0-1 0,0 1 0,0-1 0,0 0 0,1 0 0,0 1 0,-1-1-1,1 0 1,0 0 0,0 0 0,1 0 0,-1 1 0,1-1 0,-1 0-139,2-8 38,0 0 1,1 0 0,0 1-1,0-1 1,5-7-39,-1 6 42,1-1 0,0 2 0,1-1 0,0 1 0,1 0-42,5-6 166,4-7 13,2 1 0,1 1 0,1 2 0,1 0 0,22-14-179,-22 17 16,0 1 0,1 1 0,0 2 1,1 0-1,1 2 0,0 1 0,13-2-16,-12 5 8,-1 2 0,1 1 0,0 1 0,0 1 0,0 2 0,0 0 0,0 2 0,0 2 0,0 0 0,-1 2 0,9 3-8,-10-1-3,0 1 0,-1 1-1,0 1 1,-1 1 0,9 8 3,-19-11 5,0 0-1,-1 2 1,0 0-1,0 0 1,-1 1 0,-1 0-1,0 1 1,-1 1-1,2 3-4,-7-8 6,0 1-1,-1 0 0,-1 0 1,1 0-1,-1 0 0,-1 0 1,0 1-1,0-1 0,-1 1 1,-1-1-1,0 2-5,0 21 47,-2 0 1,-6 30-48,5-43 12,-2-1-1,0 0 1,-1-1 0,-1 1 0,-3 5-12,-49 88-3,23-46-24,30-53 27,-1-1-1,0 0 1,-1 0 0,0 0-1,-1-1 1,-1-1-1,1 1 1,-2-2 0,1 1-1,-7 3 1,6-4-8,1 0 1,0 0-1,-6 8 8,7-8-4,0 1 1,-1-2-1,-8 7 4,14-12 1,0-1 1,0 1-1,0-1 0,0-1 1,0 1-1,0 0 1,0-1-1,-1 0 1,1 0-1,0 0 0,-1-1 1,1 1-1,-2-1-1,-13 0 11,11 1 2,0-1 0,0 0 0,0 0 0,0-1-1,0 0 1,-1 0-13,-7-11-1779,16 12 1132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8:02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341 395 4833,'-3'-3'142,"-1"1"-1,0-1 1,-1 1 0,1 0-1,0 0 1,-1 1-1,1-1 1,-1 1 0,1 0-1,-1 0 1,1 1-1,-1-1 1,-4 1-142,-10 0-117,0 2 0,-18 3 117,-11 0 75,40-5-60,0 1 0,-1-2 1,1 1-1,0-1 1,0-1-1,0 1 0,0-1 1,0-1-1,0 1 0,1-1 1,-8-4-16,11 4 22,1 1 1,-1-1 0,1 0-1,-1 0 1,1 0 0,0 0-1,0 0 1,1-1 0,-1 1 0,1-1-1,0 0 1,-1 0 0,2 0-1,-1 0 1,0 0 0,1 0-1,0 0 1,0-1 0,0 1-1,0 0 1,1-1 0,0-3-23,0 2 25,0-1 0,1 1 1,0 0-1,0 0 0,0 0 1,1 0-1,0 0 0,0 0 0,1 0 1,0 1-1,0-1 0,1-1-25,9-13 104,1 1 1,11-11-105,-12 14 36,-3 5-16,-1 0-1,2 1 1,-1 0 0,1 1-1,1 0 1,0 1 0,0 0-1,0 1 1,1 1 0,0 0-1,0 0 1,13-3-20,-23 9-2,1-1 0,-1 0 1,1 1-1,-1 0 0,1-1 0,-1 1 1,1 1-1,-1-1 0,1 1 0,-1-1 1,1 1-1,-1 0 0,1 0 0,-1 0 0,0 1 1,0-1-1,0 1 0,0 0 0,0 0 1,0 0-1,0 0 0,0 0 0,-1 1 0,1-1 1,1 3 1,4 4-12,-1 1-1,1 1 1,-2-1 0,0 1 0,0 0 0,3 8 12,0 7-14,0 0 1,-1 0 0,-2 1 0,0 0-1,-2 0 1,-1 0 0,-1 16 13,-2 45 1,-9 58-1,9-136 2,-1 0 6,-1 4-6,2 1 0,-1 0 0,2-1 0,0 1 0,1 2-2,-2-15 6,0 0 0,1 0 0,-1 1 1,1-1-1,-1 0 0,1 0 0,0 1 0,0-1 0,0 0 0,0 0 0,0 0 0,1 0 0,-1 0 0,0-1 0,1 1 0,0 0 0,-1-1 0,1 1 0,0-1 1,0 1-1,0-1 0,0 0 0,0 0 0,0 0 0,0 0 0,0 0 0,0 0 0,0 0 0,1-1 0,-1 1 0,0-1 0,1 0 0,-1 0 0,2 0-6,5 0-115,0 0 0,0-1 1,0-1-1,-1 0 0,1 0 0,0 0 0,-1-1 0,0-1 0,1 1 0,-1-1 0,-1 0 0,1-1 0,-1 0 0,1 0 0,-1-1 0,3-3 115,11-22-696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8:02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2465,'2'2'125,"0"0"0,0 0 0,0 0 0,0 0 0,0 0 0,-1 0 0,1 0 0,-1 1 0,0-1 0,0 1 0,0-1 0,1 3-125,44 128 674,-1 0 372,-35-110-828,1 0 0,0-1 0,2 0 0,9 11-218,-6-11-362,-1 0 0,-1 0-1,-1 2 1,5 13 362,-14-29-499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4:48:03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30 318 3401,'-4'-4'337,"1"-1"0,-1 1 0,1-1 0,0 0 0,0 0 0,0-1 0,1 1 0,-2-3-337,4 5-24,0 0-1,-1 1 1,1-1-1,0 0 1,0 1 0,1-1-1,-1 1 1,1-1 0,-1 0-1,1 1 1,0-1-1,0 1 1,0-1 0,0 1-1,0-1 1,0 1-1,1 0 1,-1 0 0,1 0-1,1-2 25,5-6-67,1 1 0,0 1-1,0-1 1,1 1 0,0 1 0,0 0-1,4-1 68,27-15-50,14-4 50,-20 10 29,-29 13-23,28-13 122,1 0 1,1 3-1,21-6-128,-45 17 27,0 0 0,0 1 0,0 0 0,1 1 0,-1 0 0,0 1 0,1 1 0,-1 0 0,0 0 0,0 1 0,0 1 0,0 0 0,3 2-27,-1 0 23,-1 0 0,1 1 0,-1 1 1,0 1-1,-1-1 0,0 2 1,0 0-1,8 8-23,-15-12 10,0 0 0,0 0 0,-1 1 0,0 0 0,0 0 1,0 0-1,0 0 0,-1 0 0,0 1 0,-1-1 0,0 1 0,0 0 1,0 0-1,0 0 0,-1 0 0,-1 0 0,1 0 0,-1 0 0,0 1-10,-2 17 7,-2-1 0,-1 1-1,0-1 1,-2 0 0,-4 8-7,-51 118 28,26-67 10,22-47-63,-2 0 0,-1-1-1,-2 0 1,-1-1 0,-21 24 25,18-29-583,0 3 268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16T14:29:42.2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1,'0'0,"0"0,0 0,0 0,0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1T10:24:09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 3121,'-1'-6'272,"5"4"-504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5:11:48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 3121,'-1'-6'272,"5"4"-504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5:13:04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10 3449,'0'-1'1080,"-2"-1"-1256,1 1 48,1-1-96,0 1-472,0 0-216,0-1 519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5:13:04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24 1168,'0'0'123,"0"0"-1,1 0 0,-1 0 1,0 0-1,0 0 0,0 0 1,0 0-1,1 0 1,-1 0-1,0 0 0,0 0 1,0 0-1,1 0 0,-1 0 1,0 0-1,0 0 0,0 0 1,1 0-1,-1 0 1,0 0-1,0 0 0,0-1 1,0 1-1,1 0 0,-1 0 1,0 0-1,0 0 0,0 0 1,0 0-1,0-1 1,1 1-1,-1 0 0,0 0 1,0 0-1,0 0 0,0-1 1,0 1-1,0 0 0,0 0 1,0 0-1,0-1-122,-4-7 1690,-1-3-3218,5 10 966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5:16:40.7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7574 1 1032,'0'0'936,"0"0"-418,7 9-234,158 175 3363,-249-264-3024,134 131-332,-43-43-204,-28-27 117,-13-12 220,24 24 325,0 1-327,-54-54-242,64 59-75,-1 0 1,1 1-1,0-1 0,-1 1 1,1 0-1,-1-1 1,1 1-1,-1-1 1,1 1-1,-1 0 1,1-1-1,-1 1 1,1 0-1,-1-1 0,1 1 1,-1 0-1,0 0 1,1 0-1,-1 0 1,0-1-1,1 1 1,-1 0-106,-1 1-8,0 0 1,1 0 0,-1 1 0,1-1 0,0 0 0,-1 0-1,1 1 1,0-1 0,0 1 0,0-1 0,0 1-1,0 0 8,-1 0 3,-3 6 24,0-1-1,-1 0 1,0 0-1,0 0 1,-1-1-1,0 0 1,0 0-1,0 0 1,-1-1 0,0 0-27,-30 13 213,21-11-154,1 1 0,0 0 0,0 1 1,1 1-1,-13 11-59,15-11 59,0-1 0,-1 0-1,0 0 1,0-2 0,-1 0 0,0-1-1,-5 2-58,-4 1 118,12-3-98,-1 0-1,2 0 0,-1 1 0,1 1 0,-11 9-19,16-13 17,0 0 0,0 0 0,-1 0 0,1-1 0,-7 2-17,-24 14 41,1 6 33,-2-2 0,-31 14-74,55-31 9,-7 4 17,1 0 0,0 1 0,-6 5-26,-64 42 50,-10 6-12,-20 16 38,67-46-58,6-5 31,-3-3-1,-11 3-48,12-6 45,1 2 0,-18 14-45,2 3 67,2 4 1,0 4-68,-46 58 41,91-94-5,-2 0 1,0-1-1,-18 10-36,17-11 19,-35 19 85,-5-1-104,10-4 111,-31 21-111,45-24 9,3-3 47,1 2 0,0 1 0,-23 24-56,30-17 10,19-22-4,-1 0-1,1-1 1,-1 0-1,-1 0-5,-83 62 184,-3-4 0,-18 5-184,74-46 75,-35 15-75,-27 14 124,-28 25-123,45-30-1,31-17 0,2-3 1,1-1 1,2 2 0,0 1 0,-6 9-2,17-10 2,25-22-10,1 0 0,0 1 0,1 0 0,-1 1 0,2 0 0,-1 0 0,1 1 0,1 0 0,0 0 1,-3 6 7,1 4 3,-2 0 0,0 0 0,-1-1 0,-1-1 1,-1 0-1,0-1 0,-16 14-3,21-24 5,-1 0-1,0-1 1,0 0 0,-1-1-1,-9 4-4,-27 15 8,-61 40 1,-79 51 7,149-89-14,-67 47 28,0 8-30,82-64-2,-1-1 0,-24 12 2,19-12-4,-27 21 4,-154 106 12,96-67-8,-20 8-5,130-81 1,-56 31 0,1 3 1,3 2-1,-14 15 0,-75 67 34,97-81-19,-2-2 0,-5 0-15,50-34 0,-45 27 4,-29 13-4,33-19 2,1 1 0,-11 12-2,6-3 2,25-18-1,1 0 0,0 2 1,2 1-1,-18 19-1,14-11 1,-1-2 1,-3 1-2,-41 41 5,61-58-6,1 0 0,-2-1 1,1 0-1,-1-1 0,-1 0 0,1-1 1,-2 1 0,-4 2 1,2 0 1,-1 1-1,2 1 1,-1 1-2,-44 33 8,-14-2 0,-34 24 0,37-23 0,44-29-3,1 0 1,1 1-1,-17 17-5,-48 45 0,56-49-9,0 1 2,0 2 1,2 2 6,12-14 10,-2-1 0,0-1 0,-16 11-10,7-5 2,-14 13-2,19-15 2,-2-1 1,0-1 0,-25 13-3,43-29 2,-22 15 1,-23 21-3,27-21-9,-25 13 9,-20 16-6,-16 25 8,71-72-557,13-2-2348,3 0 2078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5:19:50.77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49 133 432,'-7'-23'272,"0"2"-72,3 6-96,0 1-64,-5-3-192,2 2-88,-4-13 136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5:36:48.1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9 1288,'27'-2'3090,"-25"2"-2604,-1 0-425,0 1 0,-1-1-1,1 0 1,0 0-1,-1 0 1,1 0 0,0 0-1,-1 0 1,1 0-1,0 0 1,-1 0-1,1 0 1,0-1 0,-1 1-1,1 0 1,-1 0-1,1-1 1,0 1-1,-1 0 1,1-1 0,-1 1-1,1 0 1,-1-1-1,1 1 1,-1-1-1,1 1 1,-1-1-61,0-1-171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1-16T15:36:48.13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9 1288,'27'-2'3090,"-25"2"-2604,-1 0-425,0 1 0,-1-1-1,1 0 1,0 0-1,-1 0 1,1 0 0,0 0-1,-1 0 1,1 0-1,0 0 1,-1 0-1,1 0 1,0-1 0,-1 1-1,1 0 1,-1 0-1,1-1 1,0 1-1,-1 0 1,1-1 0,-1 1-1,1 0 1,-1-1-1,1 1 1,-1-1-1,1 1 1,-1-1-61,0-1-171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16T14:32:19.2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16T14:32:20.253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157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6B8C-9CC8-9405-D604-0C1319A3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F062B95C-7CED-61A1-B05B-F3B8E533F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40215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73549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8EB86-B3D7-109F-FA60-DD15EC7F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8957E4DE-4C53-2B62-B298-1EF8F1303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51012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E63C-9650-3ABA-E36F-0358257A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269EABCD-D7E7-313E-11E6-250C655B3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14509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C362B-830A-8841-099F-0CF029D7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B8922DD0-9690-1159-4182-A3DC96FEC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2702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799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6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D</a:t>
            </a:r>
            <a:r>
              <a:rPr spc="-5" dirty="0"/>
              <a:t>r</a:t>
            </a:r>
            <a:r>
              <a:rPr dirty="0"/>
              <a:t>.</a:t>
            </a:r>
            <a:r>
              <a:rPr spc="5" dirty="0"/>
              <a:t> </a:t>
            </a:r>
            <a:r>
              <a:rPr spc="-5" dirty="0"/>
              <a:t>Gi</a:t>
            </a:r>
            <a:r>
              <a:rPr spc="-15" dirty="0"/>
              <a:t>o</a:t>
            </a:r>
            <a:r>
              <a:rPr dirty="0"/>
              <a:t>v</a:t>
            </a:r>
            <a:r>
              <a:rPr spc="-20" dirty="0"/>
              <a:t>a</a:t>
            </a:r>
            <a:r>
              <a:rPr spc="-15" dirty="0"/>
              <a:t>nn</a:t>
            </a:r>
            <a:r>
              <a:rPr spc="-5" dirty="0"/>
              <a:t>i</a:t>
            </a:r>
            <a:r>
              <a:rPr spc="5" dirty="0"/>
              <a:t> </a:t>
            </a:r>
            <a:r>
              <a:rPr spc="-5" dirty="0"/>
              <a:t>Q</a:t>
            </a:r>
            <a:r>
              <a:rPr spc="-15" dirty="0"/>
              <a:t>u</a:t>
            </a:r>
            <a:r>
              <a:rPr spc="-20" dirty="0"/>
              <a:t>a</a:t>
            </a:r>
            <a:r>
              <a:rPr dirty="0"/>
              <a:t>tt</a:t>
            </a:r>
            <a:r>
              <a:rPr spc="-5" dirty="0"/>
              <a:t>r</a:t>
            </a:r>
            <a:r>
              <a:rPr spc="-15" dirty="0"/>
              <a:t>on</a:t>
            </a:r>
            <a:r>
              <a:rPr spc="-5" dirty="0"/>
              <a:t>e,</a:t>
            </a:r>
            <a:r>
              <a:rPr dirty="0"/>
              <a:t> M</a:t>
            </a:r>
            <a:r>
              <a:rPr spc="-5" dirty="0"/>
              <a:t>i</a:t>
            </a:r>
            <a:r>
              <a:rPr spc="-15" dirty="0"/>
              <a:t>dd</a:t>
            </a:r>
            <a:r>
              <a:rPr spc="-5" dirty="0"/>
              <a:t>le</a:t>
            </a:r>
            <a:r>
              <a:rPr spc="-10" dirty="0"/>
              <a:t>s</a:t>
            </a:r>
            <a:r>
              <a:rPr spc="-5" dirty="0"/>
              <a:t>e</a:t>
            </a:r>
            <a:r>
              <a:rPr dirty="0"/>
              <a:t>x</a:t>
            </a:r>
            <a:r>
              <a:rPr spc="-5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-5" dirty="0"/>
              <a:t>i</a:t>
            </a:r>
            <a:r>
              <a:rPr dirty="0"/>
              <a:t>v</a:t>
            </a:r>
            <a:r>
              <a:rPr spc="-5" dirty="0"/>
              <a:t>er</a:t>
            </a:r>
            <a:r>
              <a:rPr spc="-10" dirty="0"/>
              <a:t>s</a:t>
            </a:r>
            <a:r>
              <a:rPr spc="-5" dirty="0"/>
              <a:t>i</a:t>
            </a:r>
            <a:r>
              <a:rPr dirty="0"/>
              <a:t>t</a:t>
            </a:r>
            <a:r>
              <a:rPr spc="-10" dirty="0"/>
              <a:t>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6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D</a:t>
            </a:r>
            <a:r>
              <a:rPr spc="-5" dirty="0"/>
              <a:t>r</a:t>
            </a:r>
            <a:r>
              <a:rPr dirty="0"/>
              <a:t>.</a:t>
            </a:r>
            <a:r>
              <a:rPr spc="5" dirty="0"/>
              <a:t> </a:t>
            </a:r>
            <a:r>
              <a:rPr spc="-5" dirty="0"/>
              <a:t>Gi</a:t>
            </a:r>
            <a:r>
              <a:rPr spc="-15" dirty="0"/>
              <a:t>o</a:t>
            </a:r>
            <a:r>
              <a:rPr dirty="0"/>
              <a:t>v</a:t>
            </a:r>
            <a:r>
              <a:rPr spc="-20" dirty="0"/>
              <a:t>a</a:t>
            </a:r>
            <a:r>
              <a:rPr spc="-15" dirty="0"/>
              <a:t>nn</a:t>
            </a:r>
            <a:r>
              <a:rPr spc="-5" dirty="0"/>
              <a:t>i</a:t>
            </a:r>
            <a:r>
              <a:rPr spc="5" dirty="0"/>
              <a:t> </a:t>
            </a:r>
            <a:r>
              <a:rPr spc="-5" dirty="0"/>
              <a:t>Q</a:t>
            </a:r>
            <a:r>
              <a:rPr spc="-15" dirty="0"/>
              <a:t>u</a:t>
            </a:r>
            <a:r>
              <a:rPr spc="-20" dirty="0"/>
              <a:t>a</a:t>
            </a:r>
            <a:r>
              <a:rPr dirty="0"/>
              <a:t>tt</a:t>
            </a:r>
            <a:r>
              <a:rPr spc="-5" dirty="0"/>
              <a:t>r</a:t>
            </a:r>
            <a:r>
              <a:rPr spc="-15" dirty="0"/>
              <a:t>on</a:t>
            </a:r>
            <a:r>
              <a:rPr spc="-5" dirty="0"/>
              <a:t>e,</a:t>
            </a:r>
            <a:r>
              <a:rPr dirty="0"/>
              <a:t> M</a:t>
            </a:r>
            <a:r>
              <a:rPr spc="-5" dirty="0"/>
              <a:t>i</a:t>
            </a:r>
            <a:r>
              <a:rPr spc="-15" dirty="0"/>
              <a:t>dd</a:t>
            </a:r>
            <a:r>
              <a:rPr spc="-5" dirty="0"/>
              <a:t>le</a:t>
            </a:r>
            <a:r>
              <a:rPr spc="-10" dirty="0"/>
              <a:t>s</a:t>
            </a:r>
            <a:r>
              <a:rPr spc="-5" dirty="0"/>
              <a:t>e</a:t>
            </a:r>
            <a:r>
              <a:rPr dirty="0"/>
              <a:t>x</a:t>
            </a:r>
            <a:r>
              <a:rPr spc="-5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-5" dirty="0"/>
              <a:t>i</a:t>
            </a:r>
            <a:r>
              <a:rPr dirty="0"/>
              <a:t>v</a:t>
            </a:r>
            <a:r>
              <a:rPr spc="-5" dirty="0"/>
              <a:t>er</a:t>
            </a:r>
            <a:r>
              <a:rPr spc="-10" dirty="0"/>
              <a:t>s</a:t>
            </a:r>
            <a:r>
              <a:rPr spc="-5" dirty="0"/>
              <a:t>i</a:t>
            </a:r>
            <a:r>
              <a:rPr dirty="0"/>
              <a:t>t</a:t>
            </a:r>
            <a:r>
              <a:rPr spc="-10" dirty="0"/>
              <a:t>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6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D</a:t>
            </a:r>
            <a:r>
              <a:rPr spc="-5" dirty="0"/>
              <a:t>r</a:t>
            </a:r>
            <a:r>
              <a:rPr dirty="0"/>
              <a:t>.</a:t>
            </a:r>
            <a:r>
              <a:rPr spc="5" dirty="0"/>
              <a:t> </a:t>
            </a:r>
            <a:r>
              <a:rPr spc="-5" dirty="0"/>
              <a:t>Gi</a:t>
            </a:r>
            <a:r>
              <a:rPr spc="-15" dirty="0"/>
              <a:t>o</a:t>
            </a:r>
            <a:r>
              <a:rPr dirty="0"/>
              <a:t>v</a:t>
            </a:r>
            <a:r>
              <a:rPr spc="-20" dirty="0"/>
              <a:t>a</a:t>
            </a:r>
            <a:r>
              <a:rPr spc="-15" dirty="0"/>
              <a:t>nn</a:t>
            </a:r>
            <a:r>
              <a:rPr spc="-5" dirty="0"/>
              <a:t>i</a:t>
            </a:r>
            <a:r>
              <a:rPr spc="5" dirty="0"/>
              <a:t> </a:t>
            </a:r>
            <a:r>
              <a:rPr spc="-5" dirty="0"/>
              <a:t>Q</a:t>
            </a:r>
            <a:r>
              <a:rPr spc="-15" dirty="0"/>
              <a:t>u</a:t>
            </a:r>
            <a:r>
              <a:rPr spc="-20" dirty="0"/>
              <a:t>a</a:t>
            </a:r>
            <a:r>
              <a:rPr dirty="0"/>
              <a:t>tt</a:t>
            </a:r>
            <a:r>
              <a:rPr spc="-5" dirty="0"/>
              <a:t>r</a:t>
            </a:r>
            <a:r>
              <a:rPr spc="-15" dirty="0"/>
              <a:t>on</a:t>
            </a:r>
            <a:r>
              <a:rPr spc="-5" dirty="0"/>
              <a:t>e,</a:t>
            </a:r>
            <a:r>
              <a:rPr dirty="0"/>
              <a:t> M</a:t>
            </a:r>
            <a:r>
              <a:rPr spc="-5" dirty="0"/>
              <a:t>i</a:t>
            </a:r>
            <a:r>
              <a:rPr spc="-15" dirty="0"/>
              <a:t>dd</a:t>
            </a:r>
            <a:r>
              <a:rPr spc="-5" dirty="0"/>
              <a:t>le</a:t>
            </a:r>
            <a:r>
              <a:rPr spc="-10" dirty="0"/>
              <a:t>s</a:t>
            </a:r>
            <a:r>
              <a:rPr spc="-5" dirty="0"/>
              <a:t>e</a:t>
            </a:r>
            <a:r>
              <a:rPr dirty="0"/>
              <a:t>x</a:t>
            </a:r>
            <a:r>
              <a:rPr spc="-5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-5" dirty="0"/>
              <a:t>i</a:t>
            </a:r>
            <a:r>
              <a:rPr dirty="0"/>
              <a:t>v</a:t>
            </a:r>
            <a:r>
              <a:rPr spc="-5" dirty="0"/>
              <a:t>er</a:t>
            </a:r>
            <a:r>
              <a:rPr spc="-10" dirty="0"/>
              <a:t>s</a:t>
            </a:r>
            <a:r>
              <a:rPr spc="-5" dirty="0"/>
              <a:t>i</a:t>
            </a:r>
            <a:r>
              <a:rPr dirty="0"/>
              <a:t>t</a:t>
            </a:r>
            <a:r>
              <a:rPr spc="-10" dirty="0"/>
              <a:t>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6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D</a:t>
            </a:r>
            <a:r>
              <a:rPr spc="-5" dirty="0"/>
              <a:t>r</a:t>
            </a:r>
            <a:r>
              <a:rPr dirty="0"/>
              <a:t>.</a:t>
            </a:r>
            <a:r>
              <a:rPr spc="5" dirty="0"/>
              <a:t> </a:t>
            </a:r>
            <a:r>
              <a:rPr spc="-5" dirty="0"/>
              <a:t>Gi</a:t>
            </a:r>
            <a:r>
              <a:rPr spc="-15" dirty="0"/>
              <a:t>o</a:t>
            </a:r>
            <a:r>
              <a:rPr dirty="0"/>
              <a:t>v</a:t>
            </a:r>
            <a:r>
              <a:rPr spc="-20" dirty="0"/>
              <a:t>a</a:t>
            </a:r>
            <a:r>
              <a:rPr spc="-15" dirty="0"/>
              <a:t>nn</a:t>
            </a:r>
            <a:r>
              <a:rPr spc="-5" dirty="0"/>
              <a:t>i</a:t>
            </a:r>
            <a:r>
              <a:rPr spc="5" dirty="0"/>
              <a:t> </a:t>
            </a:r>
            <a:r>
              <a:rPr spc="-5" dirty="0"/>
              <a:t>Q</a:t>
            </a:r>
            <a:r>
              <a:rPr spc="-15" dirty="0"/>
              <a:t>u</a:t>
            </a:r>
            <a:r>
              <a:rPr spc="-20" dirty="0"/>
              <a:t>a</a:t>
            </a:r>
            <a:r>
              <a:rPr dirty="0"/>
              <a:t>tt</a:t>
            </a:r>
            <a:r>
              <a:rPr spc="-5" dirty="0"/>
              <a:t>r</a:t>
            </a:r>
            <a:r>
              <a:rPr spc="-15" dirty="0"/>
              <a:t>on</a:t>
            </a:r>
            <a:r>
              <a:rPr spc="-5" dirty="0"/>
              <a:t>e,</a:t>
            </a:r>
            <a:r>
              <a:rPr dirty="0"/>
              <a:t> M</a:t>
            </a:r>
            <a:r>
              <a:rPr spc="-5" dirty="0"/>
              <a:t>i</a:t>
            </a:r>
            <a:r>
              <a:rPr spc="-15" dirty="0"/>
              <a:t>dd</a:t>
            </a:r>
            <a:r>
              <a:rPr spc="-5" dirty="0"/>
              <a:t>le</a:t>
            </a:r>
            <a:r>
              <a:rPr spc="-10" dirty="0"/>
              <a:t>s</a:t>
            </a:r>
            <a:r>
              <a:rPr spc="-5" dirty="0"/>
              <a:t>e</a:t>
            </a:r>
            <a:r>
              <a:rPr dirty="0"/>
              <a:t>x</a:t>
            </a:r>
            <a:r>
              <a:rPr spc="-5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-5" dirty="0"/>
              <a:t>i</a:t>
            </a:r>
            <a:r>
              <a:rPr dirty="0"/>
              <a:t>v</a:t>
            </a:r>
            <a:r>
              <a:rPr spc="-5" dirty="0"/>
              <a:t>er</a:t>
            </a:r>
            <a:r>
              <a:rPr spc="-10" dirty="0"/>
              <a:t>s</a:t>
            </a:r>
            <a:r>
              <a:rPr spc="-5" dirty="0"/>
              <a:t>i</a:t>
            </a:r>
            <a:r>
              <a:rPr dirty="0"/>
              <a:t>t</a:t>
            </a:r>
            <a:r>
              <a:rPr spc="-10" dirty="0"/>
              <a:t>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65100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10" dirty="0"/>
              <a:t>D</a:t>
            </a:r>
            <a:r>
              <a:rPr spc="-5" dirty="0"/>
              <a:t>r</a:t>
            </a:r>
            <a:r>
              <a:rPr dirty="0"/>
              <a:t>.</a:t>
            </a:r>
            <a:r>
              <a:rPr spc="5" dirty="0"/>
              <a:t> </a:t>
            </a:r>
            <a:r>
              <a:rPr spc="-5" dirty="0"/>
              <a:t>Gi</a:t>
            </a:r>
            <a:r>
              <a:rPr spc="-15" dirty="0"/>
              <a:t>o</a:t>
            </a:r>
            <a:r>
              <a:rPr dirty="0"/>
              <a:t>v</a:t>
            </a:r>
            <a:r>
              <a:rPr spc="-20" dirty="0"/>
              <a:t>a</a:t>
            </a:r>
            <a:r>
              <a:rPr spc="-15" dirty="0"/>
              <a:t>nn</a:t>
            </a:r>
            <a:r>
              <a:rPr spc="-5" dirty="0"/>
              <a:t>i</a:t>
            </a:r>
            <a:r>
              <a:rPr spc="5" dirty="0"/>
              <a:t> </a:t>
            </a:r>
            <a:r>
              <a:rPr spc="-5" dirty="0"/>
              <a:t>Q</a:t>
            </a:r>
            <a:r>
              <a:rPr spc="-15" dirty="0"/>
              <a:t>u</a:t>
            </a:r>
            <a:r>
              <a:rPr spc="-20" dirty="0"/>
              <a:t>a</a:t>
            </a:r>
            <a:r>
              <a:rPr dirty="0"/>
              <a:t>tt</a:t>
            </a:r>
            <a:r>
              <a:rPr spc="-5" dirty="0"/>
              <a:t>r</a:t>
            </a:r>
            <a:r>
              <a:rPr spc="-15" dirty="0"/>
              <a:t>on</a:t>
            </a:r>
            <a:r>
              <a:rPr spc="-5" dirty="0"/>
              <a:t>e,</a:t>
            </a:r>
            <a:r>
              <a:rPr dirty="0"/>
              <a:t> M</a:t>
            </a:r>
            <a:r>
              <a:rPr spc="-5" dirty="0"/>
              <a:t>i</a:t>
            </a:r>
            <a:r>
              <a:rPr spc="-15" dirty="0"/>
              <a:t>dd</a:t>
            </a:r>
            <a:r>
              <a:rPr spc="-5" dirty="0"/>
              <a:t>le</a:t>
            </a:r>
            <a:r>
              <a:rPr spc="-10" dirty="0"/>
              <a:t>s</a:t>
            </a:r>
            <a:r>
              <a:rPr spc="-5" dirty="0"/>
              <a:t>e</a:t>
            </a:r>
            <a:r>
              <a:rPr dirty="0"/>
              <a:t>x</a:t>
            </a:r>
            <a:r>
              <a:rPr spc="-5" dirty="0"/>
              <a:t> </a:t>
            </a:r>
            <a:r>
              <a:rPr spc="-20" dirty="0"/>
              <a:t>U</a:t>
            </a:r>
            <a:r>
              <a:rPr spc="-15" dirty="0"/>
              <a:t>n</a:t>
            </a:r>
            <a:r>
              <a:rPr spc="-5" dirty="0"/>
              <a:t>i</a:t>
            </a:r>
            <a:r>
              <a:rPr dirty="0"/>
              <a:t>v</a:t>
            </a:r>
            <a:r>
              <a:rPr spc="-5" dirty="0"/>
              <a:t>er</a:t>
            </a:r>
            <a:r>
              <a:rPr spc="-10" dirty="0"/>
              <a:t>s</a:t>
            </a:r>
            <a:r>
              <a:rPr spc="-5" dirty="0"/>
              <a:t>i</a:t>
            </a:r>
            <a:r>
              <a:rPr dirty="0"/>
              <a:t>t</a:t>
            </a:r>
            <a:r>
              <a:rPr spc="-10" dirty="0"/>
              <a:t>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3468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508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0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1806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8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254.png"/><Relationship Id="rId4" Type="http://schemas.openxmlformats.org/officeDocument/2006/relationships/customXml" Target="../ink/ink1.xml"/><Relationship Id="rId9" Type="http://schemas.openxmlformats.org/officeDocument/2006/relationships/image" Target="../media/image25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50" Type="http://schemas.openxmlformats.org/officeDocument/2006/relationships/image" Target="../media/image40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9" Type="http://schemas.openxmlformats.org/officeDocument/2006/relationships/customXml" Target="../ink/ink5.xml"/><Relationship Id="rId48" Type="http://schemas.openxmlformats.org/officeDocument/2006/relationships/image" Target="../media/image40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8.xml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3.xml"/><Relationship Id="rId5" Type="http://schemas.openxmlformats.org/officeDocument/2006/relationships/image" Target="../media/image38.png"/><Relationship Id="rId4" Type="http://schemas.openxmlformats.org/officeDocument/2006/relationships/customXml" Target="../ink/ink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16.xml"/><Relationship Id="rId5" Type="http://schemas.openxmlformats.org/officeDocument/2006/relationships/image" Target="../media/image41.png"/><Relationship Id="rId4" Type="http://schemas.openxmlformats.org/officeDocument/2006/relationships/customXml" Target="../ink/ink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5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7.xml"/><Relationship Id="rId4" Type="http://schemas.openxmlformats.org/officeDocument/2006/relationships/image" Target="../media/image7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customXml" Target="../ink/ink19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4.png"/><Relationship Id="rId5" Type="http://schemas.openxmlformats.org/officeDocument/2006/relationships/customXml" Target="../ink/ink21.xml"/><Relationship Id="rId4" Type="http://schemas.openxmlformats.org/officeDocument/2006/relationships/image" Target="../media/image103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CB5F3-7E1B-3C01-5EDD-ACE15FD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038AF-3454-BA65-9BFB-197720AA5C7F}"/>
              </a:ext>
            </a:extLst>
          </p:cNvPr>
          <p:cNvSpPr txBox="1"/>
          <p:nvPr/>
        </p:nvSpPr>
        <p:spPr>
          <a:xfrm>
            <a:off x="1905000" y="2800350"/>
            <a:ext cx="5638800" cy="830997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Week 4: Linear Unsupervised Learning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Part 1- PCA</a:t>
            </a:r>
            <a:endParaRPr lang="en-AE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CFF84-8DC6-5772-8AC5-D21CBDD4573D}"/>
              </a:ext>
            </a:extLst>
          </p:cNvPr>
          <p:cNvSpPr txBox="1"/>
          <p:nvPr/>
        </p:nvSpPr>
        <p:spPr>
          <a:xfrm>
            <a:off x="1752600" y="4552950"/>
            <a:ext cx="5638800" cy="369332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 Maha Saadeh</a:t>
            </a:r>
          </a:p>
        </p:txBody>
      </p:sp>
    </p:spTree>
    <p:extLst>
      <p:ext uri="{BB962C8B-B14F-4D97-AF65-F5344CB8AC3E}">
        <p14:creationId xmlns:p14="http://schemas.microsoft.com/office/powerpoint/2010/main" val="7418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FA68-42AA-3620-BE26-5ECBECFC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Linear Unsupervised Learning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C6DFE-63C2-F346-410B-6BFE9BAC7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fundamental principles of unsupervised learning all lie in some very elementary ideas from linear algebra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because unsupervised learning is about effectively representing datasets with no output, i.e., </a:t>
            </a:r>
            <a:r>
              <a:rPr lang="en-US" i="1" dirty="0"/>
              <a:t>only input data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goal with such data is simply to effectively represent it, and this is a task that has roots in the notion of a </a:t>
            </a:r>
            <a:r>
              <a:rPr lang="en-US" i="1" dirty="0">
                <a:solidFill>
                  <a:srgbClr val="FF0000"/>
                </a:solidFill>
              </a:rPr>
              <a:t>spanning set of vectors </a:t>
            </a:r>
            <a:r>
              <a:rPr lang="en-US" dirty="0"/>
              <a:t>from basic linear algebra.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6771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91844"/>
            <a:ext cx="420909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Linear Algebra Basics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Dimensionality</a:t>
            </a:r>
            <a:r>
              <a:rPr lang="en-US" sz="2400" spc="-135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 Reduction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Covariance Matrix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Eigenvalues and Eigenvectors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PCA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4" y="286781"/>
            <a:ext cx="5123496" cy="58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15" dirty="0">
                <a:solidFill>
                  <a:srgbClr val="00026A"/>
                </a:solidFill>
                <a:latin typeface="Corbel"/>
                <a:cs typeface="Corbel"/>
              </a:rPr>
              <a:t>In 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t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h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i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 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l</a:t>
            </a:r>
            <a:r>
              <a:rPr sz="3800" spc="-25" dirty="0">
                <a:solidFill>
                  <a:srgbClr val="00026A"/>
                </a:solidFill>
                <a:latin typeface="Corbel"/>
                <a:cs typeface="Corbel"/>
              </a:rPr>
              <a:t>e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ss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o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n</a:t>
            </a:r>
            <a:r>
              <a:rPr lang="en-US" sz="3800" dirty="0">
                <a:solidFill>
                  <a:srgbClr val="00026A"/>
                </a:solidFill>
                <a:latin typeface="Corbel"/>
                <a:cs typeface="Corbel"/>
              </a:rPr>
              <a:t> Part 1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 …</a:t>
            </a:r>
            <a:endParaRPr sz="3800" dirty="0">
              <a:latin typeface="Corbel"/>
              <a:cs typeface="Corbe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91844"/>
            <a:ext cx="5445125" cy="699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sz="24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3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mm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rm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f d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o</a:t>
            </a:r>
            <a:r>
              <a:rPr sz="24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65" dirty="0">
                <a:solidFill>
                  <a:srgbClr val="00026A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z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r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arn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g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i="1" spc="-5" dirty="0">
                <a:solidFill>
                  <a:srgbClr val="00B0F0"/>
                </a:solidFill>
                <a:latin typeface="Calibri"/>
                <a:cs typeface="Calibri"/>
              </a:rPr>
              <a:t>2</a:t>
            </a:r>
            <a:r>
              <a:rPr sz="2400" i="1" dirty="0">
                <a:solidFill>
                  <a:srgbClr val="00B0F0"/>
                </a:solidFill>
                <a:latin typeface="Calibri"/>
                <a:cs typeface="Calibri"/>
              </a:rPr>
              <a:t>D</a:t>
            </a:r>
            <a:r>
              <a:rPr sz="2400" i="1" spc="-1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B0F0"/>
                </a:solidFill>
                <a:latin typeface="Calibri"/>
                <a:cs typeface="Calibri"/>
              </a:rPr>
              <a:t>a</a:t>
            </a:r>
            <a:r>
              <a:rPr sz="2400" i="1" spc="-10" dirty="0">
                <a:solidFill>
                  <a:srgbClr val="00B0F0"/>
                </a:solidFill>
                <a:latin typeface="Calibri"/>
                <a:cs typeface="Calibri"/>
              </a:rPr>
              <a:t>rr</a:t>
            </a:r>
            <a:r>
              <a:rPr sz="2400" i="1" dirty="0">
                <a:solidFill>
                  <a:srgbClr val="00B0F0"/>
                </a:solidFill>
                <a:latin typeface="Calibri"/>
                <a:cs typeface="Calibri"/>
              </a:rPr>
              <a:t>ay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4" y="2117851"/>
            <a:ext cx="5291455" cy="2284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725" marR="228600" indent="-454025">
              <a:lnSpc>
                <a:spcPct val="100000"/>
              </a:lnSpc>
              <a:buClr>
                <a:srgbClr val="A6A6A6"/>
              </a:buClr>
              <a:buSzPct val="90000"/>
              <a:buFont typeface="Arial"/>
              <a:buChar char="•"/>
              <a:tabLst>
                <a:tab pos="466725" algn="l"/>
              </a:tabLst>
            </a:pPr>
            <a:r>
              <a:rPr sz="2000" i="1" spc="-10" dirty="0">
                <a:solidFill>
                  <a:srgbClr val="00B0F0"/>
                </a:solidFill>
                <a:latin typeface="Calibri"/>
                <a:cs typeface="Calibri"/>
              </a:rPr>
              <a:t>r</a:t>
            </a:r>
            <a:r>
              <a:rPr sz="2000" i="1" spc="-30" dirty="0">
                <a:solidFill>
                  <a:srgbClr val="00B0F0"/>
                </a:solidFill>
                <a:latin typeface="Calibri"/>
                <a:cs typeface="Calibri"/>
              </a:rPr>
              <a:t>o</a:t>
            </a:r>
            <a:r>
              <a:rPr sz="2000" i="1" spc="-20" dirty="0">
                <a:solidFill>
                  <a:srgbClr val="00B0F0"/>
                </a:solidFill>
                <a:latin typeface="Calibri"/>
                <a:cs typeface="Calibri"/>
              </a:rPr>
              <a:t>w</a:t>
            </a:r>
            <a:r>
              <a:rPr sz="2000" i="1" dirty="0">
                <a:solidFill>
                  <a:srgbClr val="00B0F0"/>
                </a:solidFill>
                <a:latin typeface="Calibri"/>
                <a:cs typeface="Calibri"/>
              </a:rPr>
              <a:t>s</a:t>
            </a:r>
            <a:r>
              <a:rPr sz="2000" i="1" spc="-1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o</a:t>
            </a:r>
            <a:r>
              <a:rPr sz="2000" i="1" spc="-15" dirty="0">
                <a:solidFill>
                  <a:srgbClr val="00B0F0"/>
                </a:solidFill>
                <a:latin typeface="Calibri"/>
                <a:cs typeface="Calibri"/>
              </a:rPr>
              <a:t>b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s</a:t>
            </a:r>
            <a:r>
              <a:rPr sz="2000" i="1" spc="-20" dirty="0">
                <a:solidFill>
                  <a:srgbClr val="00B0F0"/>
                </a:solidFill>
                <a:latin typeface="Calibri"/>
                <a:cs typeface="Calibri"/>
              </a:rPr>
              <a:t>e</a:t>
            </a:r>
            <a:r>
              <a:rPr sz="2000" i="1" spc="5" dirty="0">
                <a:solidFill>
                  <a:srgbClr val="00B0F0"/>
                </a:solidFill>
                <a:latin typeface="Calibri"/>
                <a:cs typeface="Calibri"/>
              </a:rPr>
              <a:t>r</a:t>
            </a:r>
            <a:r>
              <a:rPr sz="2000" i="1" spc="-15" dirty="0">
                <a:solidFill>
                  <a:srgbClr val="00B0F0"/>
                </a:solidFill>
                <a:latin typeface="Calibri"/>
                <a:cs typeface="Calibri"/>
              </a:rPr>
              <a:t>v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at</a:t>
            </a:r>
            <a:r>
              <a:rPr sz="2000" i="1" dirty="0">
                <a:solidFill>
                  <a:srgbClr val="00B0F0"/>
                </a:solidFill>
                <a:latin typeface="Calibri"/>
                <a:cs typeface="Calibri"/>
              </a:rPr>
              <a:t>i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on</a:t>
            </a:r>
            <a:r>
              <a:rPr sz="2000" i="1" dirty="0">
                <a:solidFill>
                  <a:srgbClr val="00B0F0"/>
                </a:solidFill>
                <a:latin typeface="Calibri"/>
                <a:cs typeface="Calibri"/>
              </a:rPr>
              <a:t>s</a:t>
            </a:r>
            <a:r>
              <a:rPr sz="2000" i="1" spc="-1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, 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3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em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, d</a:t>
            </a: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 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po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466725" marR="789940" indent="-454025">
              <a:lnSpc>
                <a:spcPct val="100000"/>
              </a:lnSpc>
              <a:spcBef>
                <a:spcPts val="815"/>
              </a:spcBef>
              <a:buClr>
                <a:srgbClr val="A6A6A6"/>
              </a:buClr>
              <a:buSzPct val="90000"/>
              <a:buFont typeface="Arial"/>
              <a:buChar char="•"/>
              <a:tabLst>
                <a:tab pos="466725" algn="l"/>
              </a:tabLst>
            </a:pPr>
            <a:r>
              <a:rPr sz="2000" i="1" spc="-15" dirty="0">
                <a:solidFill>
                  <a:srgbClr val="00B0F0"/>
                </a:solidFill>
                <a:latin typeface="Calibri"/>
                <a:cs typeface="Calibri"/>
              </a:rPr>
              <a:t>c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o</a:t>
            </a:r>
            <a:r>
              <a:rPr sz="2000" i="1" dirty="0">
                <a:solidFill>
                  <a:srgbClr val="00B0F0"/>
                </a:solidFill>
                <a:latin typeface="Calibri"/>
                <a:cs typeface="Calibri"/>
              </a:rPr>
              <a:t>l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u</a:t>
            </a:r>
            <a:r>
              <a:rPr sz="2000" i="1" spc="5" dirty="0">
                <a:solidFill>
                  <a:srgbClr val="00B0F0"/>
                </a:solidFill>
                <a:latin typeface="Calibri"/>
                <a:cs typeface="Calibri"/>
              </a:rPr>
              <a:t>m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n</a:t>
            </a:r>
            <a:r>
              <a:rPr sz="2000" i="1" dirty="0">
                <a:solidFill>
                  <a:srgbClr val="00B0F0"/>
                </a:solidFill>
                <a:latin typeface="Calibri"/>
                <a:cs typeface="Calibri"/>
              </a:rPr>
              <a:t>s</a:t>
            </a:r>
            <a:r>
              <a:rPr sz="2000" i="1" spc="-1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a</a:t>
            </a:r>
            <a:r>
              <a:rPr sz="2000" i="1" spc="-15" dirty="0">
                <a:solidFill>
                  <a:srgbClr val="00B0F0"/>
                </a:solidFill>
                <a:latin typeface="Calibri"/>
                <a:cs typeface="Calibri"/>
              </a:rPr>
              <a:t>t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t</a:t>
            </a:r>
            <a:r>
              <a:rPr sz="2000" i="1" spc="-10" dirty="0">
                <a:solidFill>
                  <a:srgbClr val="00B0F0"/>
                </a:solidFill>
                <a:latin typeface="Calibri"/>
                <a:cs typeface="Calibri"/>
              </a:rPr>
              <a:t>r</a:t>
            </a:r>
            <a:r>
              <a:rPr sz="2000" i="1" dirty="0">
                <a:solidFill>
                  <a:srgbClr val="00B0F0"/>
                </a:solidFill>
                <a:latin typeface="Calibri"/>
                <a:cs typeface="Calibri"/>
              </a:rPr>
              <a:t>i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bu</a:t>
            </a:r>
            <a:r>
              <a:rPr sz="2000" i="1" spc="-20" dirty="0">
                <a:solidFill>
                  <a:srgbClr val="00B0F0"/>
                </a:solidFill>
                <a:latin typeface="Calibri"/>
                <a:cs typeface="Calibri"/>
              </a:rPr>
              <a:t>te</a:t>
            </a:r>
            <a:r>
              <a:rPr sz="2000" i="1" dirty="0">
                <a:solidFill>
                  <a:srgbClr val="00B0F0"/>
                </a:solidFill>
                <a:latin typeface="Calibri"/>
                <a:cs typeface="Calibri"/>
              </a:rPr>
              <a:t>s</a:t>
            </a:r>
            <a:r>
              <a:rPr sz="2000" i="1" spc="-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2000" spc="-5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tu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, </a:t>
            </a:r>
            <a:r>
              <a:rPr sz="2000" spc="-4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ia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400" spc="-6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k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f 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ac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sam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e 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400" i="1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i="1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i="1" spc="-4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i="1" spc="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i="1" spc="-10" dirty="0">
                <a:solidFill>
                  <a:srgbClr val="00026A"/>
                </a:solidFill>
                <a:latin typeface="Calibri"/>
                <a:cs typeface="Calibri"/>
              </a:rPr>
              <a:t>r 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f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bu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,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ol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a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6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4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as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026A"/>
                </a:solidFill>
                <a:latin typeface="Calibri"/>
                <a:cs typeface="Calibri"/>
              </a:rPr>
              <a:t>ma</a:t>
            </a:r>
            <a:r>
              <a:rPr sz="2400" i="1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i="1" dirty="0">
                <a:solidFill>
                  <a:srgbClr val="00026A"/>
                </a:solidFill>
                <a:latin typeface="Calibri"/>
                <a:cs typeface="Calibri"/>
              </a:rPr>
              <a:t>rix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W</a:t>
            </a:r>
            <a:r>
              <a:rPr dirty="0"/>
              <a:t>hy</a:t>
            </a:r>
            <a:r>
              <a:rPr spc="5" dirty="0"/>
              <a:t> </a:t>
            </a:r>
            <a:r>
              <a:rPr spc="-25" dirty="0"/>
              <a:t>ve</a:t>
            </a:r>
            <a:r>
              <a:rPr spc="-5" dirty="0"/>
              <a:t>c</a:t>
            </a:r>
            <a:r>
              <a:rPr spc="5" dirty="0"/>
              <a:t>t</a:t>
            </a:r>
            <a:r>
              <a:rPr spc="-5" dirty="0"/>
              <a:t>o</a:t>
            </a:r>
            <a:r>
              <a:rPr dirty="0"/>
              <a:t>rs </a:t>
            </a:r>
            <a:r>
              <a:rPr spc="-20" dirty="0"/>
              <a:t>a</a:t>
            </a:r>
            <a:r>
              <a:rPr spc="-25" dirty="0"/>
              <a:t>nd</a:t>
            </a:r>
            <a:r>
              <a:rPr spc="5" dirty="0"/>
              <a:t> </a:t>
            </a:r>
            <a:r>
              <a:rPr spc="-25" dirty="0"/>
              <a:t>ma</a:t>
            </a:r>
            <a:r>
              <a:rPr spc="5" dirty="0"/>
              <a:t>t</a:t>
            </a:r>
            <a:r>
              <a:rPr spc="-15" dirty="0"/>
              <a:t>r</a:t>
            </a:r>
            <a:r>
              <a:rPr spc="-5" dirty="0"/>
              <a:t>ice</a:t>
            </a:r>
            <a:r>
              <a:rPr dirty="0"/>
              <a:t>s?</a:t>
            </a:r>
          </a:p>
        </p:txBody>
      </p:sp>
      <p:sp>
        <p:nvSpPr>
          <p:cNvPr id="5" name="object 5"/>
          <p:cNvSpPr/>
          <p:nvPr/>
        </p:nvSpPr>
        <p:spPr>
          <a:xfrm>
            <a:off x="6786428" y="1819861"/>
            <a:ext cx="0" cy="114935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930"/>
                </a:lnTo>
              </a:path>
            </a:pathLst>
          </a:custGeom>
          <a:ln w="27491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6731" y="1819861"/>
            <a:ext cx="0" cy="114935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930"/>
                </a:lnTo>
              </a:path>
            </a:pathLst>
          </a:custGeom>
          <a:ln w="27491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73317" y="1934769"/>
            <a:ext cx="436880" cy="196215"/>
          </a:xfrm>
          <a:custGeom>
            <a:avLst/>
            <a:gdLst/>
            <a:ahLst/>
            <a:cxnLst/>
            <a:rect l="l" t="t" r="r" b="b"/>
            <a:pathLst>
              <a:path w="436879" h="196214">
                <a:moveTo>
                  <a:pt x="0" y="195860"/>
                </a:moveTo>
                <a:lnTo>
                  <a:pt x="436523" y="195860"/>
                </a:lnTo>
                <a:lnTo>
                  <a:pt x="436523" y="0"/>
                </a:lnTo>
                <a:lnTo>
                  <a:pt x="0" y="0"/>
                </a:lnTo>
                <a:lnTo>
                  <a:pt x="0" y="19586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799539" y="1819861"/>
            <a:ext cx="384175" cy="114935"/>
          </a:xfrm>
          <a:custGeom>
            <a:avLst/>
            <a:gdLst/>
            <a:ahLst/>
            <a:cxnLst/>
            <a:rect l="l" t="t" r="r" b="b"/>
            <a:pathLst>
              <a:path w="384175" h="114935">
                <a:moveTo>
                  <a:pt x="0" y="114930"/>
                </a:moveTo>
                <a:lnTo>
                  <a:pt x="384080" y="114930"/>
                </a:lnTo>
                <a:lnTo>
                  <a:pt x="384080" y="0"/>
                </a:lnTo>
                <a:lnTo>
                  <a:pt x="0" y="0"/>
                </a:lnTo>
                <a:lnTo>
                  <a:pt x="0" y="11493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26760" y="1819839"/>
            <a:ext cx="0" cy="230504"/>
          </a:xfrm>
          <a:custGeom>
            <a:avLst/>
            <a:gdLst/>
            <a:ahLst/>
            <a:cxnLst/>
            <a:rect l="l" t="t" r="r" b="b"/>
            <a:pathLst>
              <a:path h="230505">
                <a:moveTo>
                  <a:pt x="0" y="0"/>
                </a:moveTo>
                <a:lnTo>
                  <a:pt x="0" y="229980"/>
                </a:lnTo>
              </a:path>
            </a:pathLst>
          </a:custGeom>
          <a:ln w="27616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86423" y="1819839"/>
            <a:ext cx="27940" cy="230504"/>
          </a:xfrm>
          <a:custGeom>
            <a:avLst/>
            <a:gdLst/>
            <a:ahLst/>
            <a:cxnLst/>
            <a:rect l="l" t="t" r="r" b="b"/>
            <a:pathLst>
              <a:path w="27940" h="230505">
                <a:moveTo>
                  <a:pt x="0" y="229980"/>
                </a:moveTo>
                <a:lnTo>
                  <a:pt x="27491" y="229980"/>
                </a:lnTo>
                <a:lnTo>
                  <a:pt x="27491" y="0"/>
                </a:lnTo>
                <a:lnTo>
                  <a:pt x="0" y="0"/>
                </a:lnTo>
                <a:lnTo>
                  <a:pt x="0" y="22998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13587" y="2049820"/>
            <a:ext cx="499745" cy="81280"/>
          </a:xfrm>
          <a:custGeom>
            <a:avLst/>
            <a:gdLst/>
            <a:ahLst/>
            <a:cxnLst/>
            <a:rect l="l" t="t" r="r" b="b"/>
            <a:pathLst>
              <a:path w="499745" h="81280">
                <a:moveTo>
                  <a:pt x="0" y="80810"/>
                </a:moveTo>
                <a:lnTo>
                  <a:pt x="499704" y="80810"/>
                </a:lnTo>
                <a:lnTo>
                  <a:pt x="499704" y="0"/>
                </a:lnTo>
                <a:lnTo>
                  <a:pt x="0" y="0"/>
                </a:lnTo>
                <a:lnTo>
                  <a:pt x="0" y="8081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39932" y="1819861"/>
            <a:ext cx="447675" cy="114935"/>
          </a:xfrm>
          <a:custGeom>
            <a:avLst/>
            <a:gdLst/>
            <a:ahLst/>
            <a:cxnLst/>
            <a:rect l="l" t="t" r="r" b="b"/>
            <a:pathLst>
              <a:path w="447675" h="114935">
                <a:moveTo>
                  <a:pt x="0" y="114930"/>
                </a:moveTo>
                <a:lnTo>
                  <a:pt x="447136" y="114930"/>
                </a:lnTo>
                <a:lnTo>
                  <a:pt x="447136" y="0"/>
                </a:lnTo>
                <a:lnTo>
                  <a:pt x="0" y="0"/>
                </a:lnTo>
                <a:lnTo>
                  <a:pt x="0" y="11493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39932" y="1934770"/>
            <a:ext cx="447675" cy="115570"/>
          </a:xfrm>
          <a:custGeom>
            <a:avLst/>
            <a:gdLst/>
            <a:ahLst/>
            <a:cxnLst/>
            <a:rect l="l" t="t" r="r" b="b"/>
            <a:pathLst>
              <a:path w="447675" h="115569">
                <a:moveTo>
                  <a:pt x="0" y="115050"/>
                </a:moveTo>
                <a:lnTo>
                  <a:pt x="447136" y="115050"/>
                </a:lnTo>
                <a:lnTo>
                  <a:pt x="447136" y="0"/>
                </a:lnTo>
                <a:lnTo>
                  <a:pt x="0" y="0"/>
                </a:lnTo>
                <a:lnTo>
                  <a:pt x="0" y="11505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16390" y="1819839"/>
            <a:ext cx="27940" cy="230504"/>
          </a:xfrm>
          <a:custGeom>
            <a:avLst/>
            <a:gdLst/>
            <a:ahLst/>
            <a:cxnLst/>
            <a:rect l="l" t="t" r="r" b="b"/>
            <a:pathLst>
              <a:path w="27940" h="230505">
                <a:moveTo>
                  <a:pt x="0" y="229980"/>
                </a:moveTo>
                <a:lnTo>
                  <a:pt x="27491" y="229980"/>
                </a:lnTo>
                <a:lnTo>
                  <a:pt x="27491" y="0"/>
                </a:lnTo>
                <a:lnTo>
                  <a:pt x="0" y="0"/>
                </a:lnTo>
                <a:lnTo>
                  <a:pt x="0" y="22998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181675" y="1819839"/>
            <a:ext cx="0" cy="230504"/>
          </a:xfrm>
          <a:custGeom>
            <a:avLst/>
            <a:gdLst/>
            <a:ahLst/>
            <a:cxnLst/>
            <a:rect l="l" t="t" r="r" b="b"/>
            <a:pathLst>
              <a:path h="230505">
                <a:moveTo>
                  <a:pt x="0" y="0"/>
                </a:moveTo>
                <a:lnTo>
                  <a:pt x="0" y="229980"/>
                </a:lnTo>
              </a:path>
            </a:pathLst>
          </a:custGeom>
          <a:ln w="27491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17025" y="2049820"/>
            <a:ext cx="478155" cy="81280"/>
          </a:xfrm>
          <a:custGeom>
            <a:avLst/>
            <a:gdLst/>
            <a:ahLst/>
            <a:cxnLst/>
            <a:rect l="l" t="t" r="r" b="b"/>
            <a:pathLst>
              <a:path w="478154" h="81280">
                <a:moveTo>
                  <a:pt x="0" y="80810"/>
                </a:moveTo>
                <a:lnTo>
                  <a:pt x="477728" y="80810"/>
                </a:lnTo>
                <a:lnTo>
                  <a:pt x="477728" y="0"/>
                </a:lnTo>
                <a:lnTo>
                  <a:pt x="0" y="0"/>
                </a:lnTo>
                <a:lnTo>
                  <a:pt x="0" y="8081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3249" y="1819861"/>
            <a:ext cx="425450" cy="114935"/>
          </a:xfrm>
          <a:custGeom>
            <a:avLst/>
            <a:gdLst/>
            <a:ahLst/>
            <a:cxnLst/>
            <a:rect l="l" t="t" r="r" b="b"/>
            <a:pathLst>
              <a:path w="425450" h="114935">
                <a:moveTo>
                  <a:pt x="0" y="114930"/>
                </a:moveTo>
                <a:lnTo>
                  <a:pt x="425285" y="114930"/>
                </a:lnTo>
                <a:lnTo>
                  <a:pt x="425285" y="0"/>
                </a:lnTo>
                <a:lnTo>
                  <a:pt x="0" y="0"/>
                </a:lnTo>
                <a:lnTo>
                  <a:pt x="0" y="11493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43249" y="1934770"/>
            <a:ext cx="425450" cy="115570"/>
          </a:xfrm>
          <a:custGeom>
            <a:avLst/>
            <a:gdLst/>
            <a:ahLst/>
            <a:cxnLst/>
            <a:rect l="l" t="t" r="r" b="b"/>
            <a:pathLst>
              <a:path w="425450" h="115569">
                <a:moveTo>
                  <a:pt x="0" y="115050"/>
                </a:moveTo>
                <a:lnTo>
                  <a:pt x="425285" y="115050"/>
                </a:lnTo>
                <a:lnTo>
                  <a:pt x="425285" y="0"/>
                </a:lnTo>
                <a:lnTo>
                  <a:pt x="0" y="0"/>
                </a:lnTo>
                <a:lnTo>
                  <a:pt x="0" y="115050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198530" y="1819860"/>
            <a:ext cx="331470" cy="98425"/>
          </a:xfrm>
          <a:custGeom>
            <a:avLst/>
            <a:gdLst/>
            <a:ahLst/>
            <a:cxnLst/>
            <a:rect l="l" t="t" r="r" b="b"/>
            <a:pathLst>
              <a:path w="331470" h="98425">
                <a:moveTo>
                  <a:pt x="0" y="98169"/>
                </a:moveTo>
                <a:lnTo>
                  <a:pt x="330993" y="98169"/>
                </a:lnTo>
                <a:lnTo>
                  <a:pt x="330993" y="0"/>
                </a:lnTo>
                <a:lnTo>
                  <a:pt x="0" y="0"/>
                </a:lnTo>
                <a:lnTo>
                  <a:pt x="0" y="98169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11641" y="1918010"/>
            <a:ext cx="0" cy="114935"/>
          </a:xfrm>
          <a:custGeom>
            <a:avLst/>
            <a:gdLst/>
            <a:ahLst/>
            <a:cxnLst/>
            <a:rect l="l" t="t" r="r" b="b"/>
            <a:pathLst>
              <a:path h="114935">
                <a:moveTo>
                  <a:pt x="0" y="0"/>
                </a:moveTo>
                <a:lnTo>
                  <a:pt x="0" y="114451"/>
                </a:lnTo>
              </a:path>
            </a:pathLst>
          </a:custGeom>
          <a:ln w="27491">
            <a:solidFill>
              <a:srgbClr val="000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98530" y="2032461"/>
            <a:ext cx="331470" cy="98425"/>
          </a:xfrm>
          <a:custGeom>
            <a:avLst/>
            <a:gdLst/>
            <a:ahLst/>
            <a:cxnLst/>
            <a:rect l="l" t="t" r="r" b="b"/>
            <a:pathLst>
              <a:path w="331470" h="98425">
                <a:moveTo>
                  <a:pt x="0" y="98169"/>
                </a:moveTo>
                <a:lnTo>
                  <a:pt x="330993" y="98169"/>
                </a:lnTo>
                <a:lnTo>
                  <a:pt x="330993" y="0"/>
                </a:lnTo>
                <a:lnTo>
                  <a:pt x="0" y="0"/>
                </a:lnTo>
                <a:lnTo>
                  <a:pt x="0" y="98169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24755" y="1918010"/>
            <a:ext cx="304800" cy="114935"/>
          </a:xfrm>
          <a:custGeom>
            <a:avLst/>
            <a:gdLst/>
            <a:ahLst/>
            <a:cxnLst/>
            <a:rect l="l" t="t" r="r" b="b"/>
            <a:pathLst>
              <a:path w="304800" h="114935">
                <a:moveTo>
                  <a:pt x="0" y="114451"/>
                </a:moveTo>
                <a:lnTo>
                  <a:pt x="304768" y="114451"/>
                </a:lnTo>
                <a:lnTo>
                  <a:pt x="304768" y="0"/>
                </a:lnTo>
                <a:lnTo>
                  <a:pt x="0" y="0"/>
                </a:lnTo>
                <a:lnTo>
                  <a:pt x="0" y="114451"/>
                </a:lnTo>
                <a:close/>
              </a:path>
            </a:pathLst>
          </a:custGeom>
          <a:solidFill>
            <a:srgbClr val="000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749379" y="4011023"/>
            <a:ext cx="30480" cy="30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" spc="-15" dirty="0">
                <a:latin typeface="Arial"/>
                <a:cs typeface="Arial"/>
              </a:rPr>
              <a:t>10</a:t>
            </a:r>
            <a:endParaRPr sz="1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17762" y="1702240"/>
            <a:ext cx="2058670" cy="2451735"/>
          </a:xfrm>
          <a:custGeom>
            <a:avLst/>
            <a:gdLst/>
            <a:ahLst/>
            <a:cxnLst/>
            <a:rect l="l" t="t" r="r" b="b"/>
            <a:pathLst>
              <a:path w="2058670" h="2451735">
                <a:moveTo>
                  <a:pt x="0" y="342090"/>
                </a:moveTo>
                <a:lnTo>
                  <a:pt x="4489" y="286601"/>
                </a:lnTo>
                <a:lnTo>
                  <a:pt x="17489" y="233963"/>
                </a:lnTo>
                <a:lnTo>
                  <a:pt x="38290" y="184880"/>
                </a:lnTo>
                <a:lnTo>
                  <a:pt x="66189" y="140056"/>
                </a:lnTo>
                <a:lnTo>
                  <a:pt x="100477" y="100196"/>
                </a:lnTo>
                <a:lnTo>
                  <a:pt x="140449" y="66003"/>
                </a:lnTo>
                <a:lnTo>
                  <a:pt x="185399" y="38183"/>
                </a:lnTo>
                <a:lnTo>
                  <a:pt x="234620" y="17440"/>
                </a:lnTo>
                <a:lnTo>
                  <a:pt x="287406" y="4477"/>
                </a:lnTo>
                <a:lnTo>
                  <a:pt x="343051" y="0"/>
                </a:lnTo>
                <a:lnTo>
                  <a:pt x="1715217" y="0"/>
                </a:lnTo>
                <a:lnTo>
                  <a:pt x="1770862" y="4477"/>
                </a:lnTo>
                <a:lnTo>
                  <a:pt x="1823648" y="17440"/>
                </a:lnTo>
                <a:lnTo>
                  <a:pt x="1872870" y="38183"/>
                </a:lnTo>
                <a:lnTo>
                  <a:pt x="1917819" y="66003"/>
                </a:lnTo>
                <a:lnTo>
                  <a:pt x="1957792" y="100196"/>
                </a:lnTo>
                <a:lnTo>
                  <a:pt x="1992080" y="140056"/>
                </a:lnTo>
                <a:lnTo>
                  <a:pt x="2019978" y="184880"/>
                </a:lnTo>
                <a:lnTo>
                  <a:pt x="2040780" y="233963"/>
                </a:lnTo>
                <a:lnTo>
                  <a:pt x="2053779" y="286601"/>
                </a:lnTo>
                <a:lnTo>
                  <a:pt x="2058269" y="342090"/>
                </a:lnTo>
                <a:lnTo>
                  <a:pt x="2058269" y="2109509"/>
                </a:lnTo>
                <a:lnTo>
                  <a:pt x="2053779" y="2164998"/>
                </a:lnTo>
                <a:lnTo>
                  <a:pt x="2040780" y="2217636"/>
                </a:lnTo>
                <a:lnTo>
                  <a:pt x="2019978" y="2266719"/>
                </a:lnTo>
                <a:lnTo>
                  <a:pt x="1992080" y="2311543"/>
                </a:lnTo>
                <a:lnTo>
                  <a:pt x="1957792" y="2351403"/>
                </a:lnTo>
                <a:lnTo>
                  <a:pt x="1917819" y="2385596"/>
                </a:lnTo>
                <a:lnTo>
                  <a:pt x="1872870" y="2413416"/>
                </a:lnTo>
                <a:lnTo>
                  <a:pt x="1823648" y="2434159"/>
                </a:lnTo>
                <a:lnTo>
                  <a:pt x="1770862" y="2447122"/>
                </a:lnTo>
                <a:lnTo>
                  <a:pt x="1715217" y="2451599"/>
                </a:lnTo>
                <a:lnTo>
                  <a:pt x="343051" y="2451599"/>
                </a:lnTo>
                <a:lnTo>
                  <a:pt x="287406" y="2447122"/>
                </a:lnTo>
                <a:lnTo>
                  <a:pt x="234620" y="2434159"/>
                </a:lnTo>
                <a:lnTo>
                  <a:pt x="185399" y="2413416"/>
                </a:lnTo>
                <a:lnTo>
                  <a:pt x="140449" y="2385596"/>
                </a:lnTo>
                <a:lnTo>
                  <a:pt x="100477" y="2351403"/>
                </a:lnTo>
                <a:lnTo>
                  <a:pt x="66189" y="2311543"/>
                </a:lnTo>
                <a:lnTo>
                  <a:pt x="38290" y="2266719"/>
                </a:lnTo>
                <a:lnTo>
                  <a:pt x="17489" y="2217636"/>
                </a:lnTo>
                <a:lnTo>
                  <a:pt x="4489" y="2164998"/>
                </a:lnTo>
                <a:lnTo>
                  <a:pt x="0" y="2109509"/>
                </a:lnTo>
                <a:lnTo>
                  <a:pt x="0" y="342090"/>
                </a:lnTo>
                <a:close/>
              </a:path>
            </a:pathLst>
          </a:custGeom>
          <a:ln w="190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46898" y="4153841"/>
            <a:ext cx="114935" cy="285115"/>
          </a:xfrm>
          <a:custGeom>
            <a:avLst/>
            <a:gdLst/>
            <a:ahLst/>
            <a:cxnLst/>
            <a:rect l="l" t="t" r="r" b="b"/>
            <a:pathLst>
              <a:path w="114934" h="285114">
                <a:moveTo>
                  <a:pt x="0" y="0"/>
                </a:moveTo>
                <a:lnTo>
                  <a:pt x="114348" y="285069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75157" y="1474184"/>
            <a:ext cx="229235" cy="1197610"/>
          </a:xfrm>
          <a:custGeom>
            <a:avLst/>
            <a:gdLst/>
            <a:ahLst/>
            <a:cxnLst/>
            <a:rect l="l" t="t" r="r" b="b"/>
            <a:pathLst>
              <a:path w="229234" h="1197610">
                <a:moveTo>
                  <a:pt x="0" y="1197293"/>
                </a:moveTo>
                <a:lnTo>
                  <a:pt x="228696" y="0"/>
                </a:lnTo>
              </a:path>
            </a:pathLst>
          </a:custGeom>
          <a:ln w="190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073892" y="1196867"/>
            <a:ext cx="648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vector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449771" y="4500337"/>
            <a:ext cx="648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ma</a:t>
            </a:r>
            <a:r>
              <a:rPr sz="1800" spc="-5" dirty="0">
                <a:latin typeface="Arial"/>
                <a:cs typeface="Arial"/>
              </a:rPr>
              <a:t>trix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6655746" y="1816269"/>
          <a:ext cx="1943919" cy="2320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5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728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5017">
                      <a:solidFill>
                        <a:srgbClr val="000080"/>
                      </a:solidFill>
                      <a:prstDash val="solid"/>
                    </a:lnR>
                    <a:lnB w="38382">
                      <a:solidFill>
                        <a:srgbClr val="E5E5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und</a:t>
                      </a:r>
                      <a:endParaRPr sz="75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B w="38382">
                      <a:solidFill>
                        <a:srgbClr val="E5E5E5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25400" marR="128905">
                        <a:lnSpc>
                          <a:spcPct val="100000"/>
                        </a:lnSpc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Marital Stat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>
                  <a:txBody>
                    <a:bodyPr/>
                    <a:lstStyle/>
                    <a:p>
                      <a:pPr marL="25400" marR="54610">
                        <a:lnSpc>
                          <a:spcPct val="100000"/>
                        </a:lnSpc>
                      </a:pPr>
                      <a:r>
                        <a:rPr sz="7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Taxable Inco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solidFill>
                      <a:srgbClr val="00008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7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sz="75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7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solidFill>
                      <a:srgbClr val="000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491"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  <a:lnT w="38382">
                      <a:solidFill>
                        <a:srgbClr val="E5E5E5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/>
                          <a:cs typeface="Arial"/>
                        </a:rPr>
                        <a:t>Yes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lnT w="38382">
                      <a:solidFill>
                        <a:srgbClr val="E5E5E5"/>
                      </a:solidFill>
                      <a:prstDash val="solid"/>
                    </a:lnT>
                    <a:solidFill>
                      <a:srgbClr val="E4E4E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5400" marR="111760">
                        <a:lnSpc>
                          <a:spcPct val="165300"/>
                        </a:lnSpc>
                      </a:pPr>
                      <a:r>
                        <a:rPr sz="750" dirty="0">
                          <a:latin typeface="Arial"/>
                          <a:cs typeface="Arial"/>
                        </a:rPr>
                        <a:t>Single Marr</a:t>
                      </a:r>
                      <a:r>
                        <a:rPr sz="750" spc="-5" dirty="0">
                          <a:latin typeface="Arial"/>
                          <a:cs typeface="Arial"/>
                        </a:rPr>
                        <a:t>ied </a:t>
                      </a:r>
                      <a:r>
                        <a:rPr sz="750" dirty="0">
                          <a:latin typeface="Arial"/>
                          <a:cs typeface="Arial"/>
                        </a:rPr>
                        <a:t>Single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616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125K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100K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70K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5400" marR="158115" algn="just">
                        <a:lnSpc>
                          <a:spcPct val="165300"/>
                        </a:lnSpc>
                      </a:pPr>
                      <a:r>
                        <a:rPr sz="75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 No No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005"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No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983"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No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9">
                <a:tc rowSpan="3"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9005">
                      <a:solidFill>
                        <a:srgbClr val="00000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solidFill>
                      <a:srgbClr val="E5E5E5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/>
                          <a:cs typeface="Arial"/>
                        </a:rPr>
                        <a:t>Marr</a:t>
                      </a:r>
                      <a:r>
                        <a:rPr sz="750" spc="-5" dirty="0">
                          <a:latin typeface="Arial"/>
                          <a:cs typeface="Arial"/>
                        </a:rPr>
                        <a:t>ied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120K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75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3"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9005">
                      <a:solidFill>
                        <a:srgbClr val="00000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9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05">
                      <a:solidFill>
                        <a:srgbClr val="00000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/>
                          <a:cs typeface="Arial"/>
                        </a:rPr>
                        <a:t>Yes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05">
                      <a:solidFill>
                        <a:srgbClr val="00000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05">
                      <a:solidFill>
                        <a:srgbClr val="00000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05">
                      <a:solidFill>
                        <a:srgbClr val="00000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1900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407"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No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solidFill>
                      <a:srgbClr val="E4E4E4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5400" marR="53340">
                        <a:lnSpc>
                          <a:spcPct val="1652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Divor</a:t>
                      </a:r>
                      <a:r>
                        <a:rPr sz="750" dirty="0">
                          <a:latin typeface="Arial"/>
                          <a:cs typeface="Arial"/>
                        </a:rPr>
                        <a:t>ced Marr</a:t>
                      </a:r>
                      <a:r>
                        <a:rPr sz="750" spc="-5" dirty="0">
                          <a:latin typeface="Arial"/>
                          <a:cs typeface="Arial"/>
                        </a:rPr>
                        <a:t>ied Divor</a:t>
                      </a:r>
                      <a:r>
                        <a:rPr sz="750" dirty="0">
                          <a:latin typeface="Arial"/>
                          <a:cs typeface="Arial"/>
                        </a:rPr>
                        <a:t>ced Single Marr</a:t>
                      </a:r>
                      <a:r>
                        <a:rPr sz="750" spc="-5" dirty="0">
                          <a:latin typeface="Arial"/>
                          <a:cs typeface="Arial"/>
                        </a:rPr>
                        <a:t>ied </a:t>
                      </a:r>
                      <a:r>
                        <a:rPr sz="750" dirty="0">
                          <a:latin typeface="Arial"/>
                          <a:cs typeface="Arial"/>
                        </a:rPr>
                        <a:t>Sing</a:t>
                      </a:r>
                      <a:r>
                        <a:rPr sz="750" spc="-5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750" dirty="0">
                          <a:latin typeface="Arial"/>
                          <a:cs typeface="Arial"/>
                        </a:rPr>
                        <a:t>e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7616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95K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60K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220K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85K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75K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90K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25400" marR="111125">
                        <a:lnSpc>
                          <a:spcPct val="165200"/>
                        </a:lnSpc>
                      </a:pPr>
                      <a:r>
                        <a:rPr sz="75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 </a:t>
                      </a:r>
                      <a:r>
                        <a:rPr sz="75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 No </a:t>
                      </a:r>
                      <a:r>
                        <a:rPr sz="75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 </a:t>
                      </a:r>
                      <a:r>
                        <a:rPr sz="750" b="1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No </a:t>
                      </a:r>
                      <a:r>
                        <a:rPr sz="750" b="1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Yes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rowSpan="6"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0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231"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No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900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8"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dirty="0">
                          <a:latin typeface="Arial"/>
                          <a:cs typeface="Arial"/>
                        </a:rPr>
                        <a:t>Yes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900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216"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No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900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8618">
                <a:tc>
                  <a:txBody>
                    <a:bodyPr/>
                    <a:lstStyle/>
                    <a:p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No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900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011">
                <a:tc>
                  <a:txBody>
                    <a:bodyPr/>
                    <a:lstStyle/>
                    <a:p>
                      <a:endParaRPr sz="75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31237">
                      <a:solidFill>
                        <a:srgbClr val="E5E5E5"/>
                      </a:solidFill>
                      <a:prstDash val="solid"/>
                    </a:lnR>
                    <a:lnB w="38382">
                      <a:solidFill>
                        <a:srgbClr val="E5E5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</a:pPr>
                      <a:r>
                        <a:rPr sz="750" spc="-5" dirty="0">
                          <a:latin typeface="Arial"/>
                          <a:cs typeface="Arial"/>
                        </a:rPr>
                        <a:t>No</a:t>
                      </a:r>
                      <a:endParaRPr sz="75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31237">
                      <a:solidFill>
                        <a:srgbClr val="E5E5E5"/>
                      </a:solidFill>
                      <a:prstDash val="solid"/>
                    </a:lnL>
                    <a:lnR w="27616">
                      <a:solidFill>
                        <a:srgbClr val="C0C0C0"/>
                      </a:solidFill>
                      <a:prstDash val="solid"/>
                    </a:lnR>
                    <a:lnB w="41973">
                      <a:solidFill>
                        <a:srgbClr val="E5E5E5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R w="5017">
                      <a:solidFill>
                        <a:srgbClr val="000080"/>
                      </a:solidFill>
                      <a:prstDash val="solid"/>
                    </a:lnR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E4E4E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5017">
                      <a:solidFill>
                        <a:srgbClr val="000080"/>
                      </a:solidFill>
                      <a:prstDash val="solid"/>
                    </a:lnL>
                    <a:lnT w="19005">
                      <a:solidFill>
                        <a:srgbClr val="000000"/>
                      </a:solidFill>
                      <a:prstDash val="solid"/>
                    </a:lnT>
                    <a:lnB w="4861">
                      <a:solidFill>
                        <a:srgbClr val="000080"/>
                      </a:solidFill>
                      <a:prstDash val="solid"/>
                    </a:lnB>
                    <a:solidFill>
                      <a:srgbClr val="C0C0C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900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91844"/>
            <a:ext cx="2456496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5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endParaRPr lang="en-US" sz="2400" dirty="0">
              <a:solidFill>
                <a:srgbClr val="00026A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rgbClr val="00026A"/>
                </a:solidFill>
                <a:latin typeface="Calibri"/>
                <a:cs typeface="Calibri"/>
              </a:rPr>
              <a:t>Vectors arithmetic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4" y="286781"/>
            <a:ext cx="512349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4000" dirty="0">
                <a:solidFill>
                  <a:schemeClr val="tx2">
                    <a:lumMod val="75000"/>
                  </a:schemeClr>
                </a:solidFill>
              </a:rPr>
              <a:t>Linear Algebra Basics</a:t>
            </a:r>
          </a:p>
        </p:txBody>
      </p:sp>
      <p:sp>
        <p:nvSpPr>
          <p:cNvPr id="4" name="object 4"/>
          <p:cNvSpPr/>
          <p:nvPr/>
        </p:nvSpPr>
        <p:spPr>
          <a:xfrm>
            <a:off x="3541058" y="1613265"/>
            <a:ext cx="4446492" cy="244711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35455"/>
            <a:ext cx="6154420" cy="2110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-20" dirty="0">
                <a:solidFill>
                  <a:srgbClr val="00B0F0"/>
                </a:solidFill>
                <a:latin typeface="Calibri"/>
                <a:cs typeface="Calibri"/>
              </a:rPr>
              <a:t>De</a:t>
            </a:r>
            <a:r>
              <a:rPr sz="2200" i="1" spc="-10" dirty="0">
                <a:solidFill>
                  <a:srgbClr val="00B0F0"/>
                </a:solidFill>
                <a:latin typeface="Calibri"/>
                <a:cs typeface="Calibri"/>
              </a:rPr>
              <a:t>f</a:t>
            </a:r>
            <a:r>
              <a:rPr sz="2200" i="1" spc="-5" dirty="0">
                <a:solidFill>
                  <a:srgbClr val="00B0F0"/>
                </a:solidFill>
                <a:latin typeface="Calibri"/>
                <a:cs typeface="Calibri"/>
              </a:rPr>
              <a:t>i</a:t>
            </a:r>
            <a:r>
              <a:rPr sz="2200" i="1" spc="-10" dirty="0">
                <a:solidFill>
                  <a:srgbClr val="00B0F0"/>
                </a:solidFill>
                <a:latin typeface="Calibri"/>
                <a:cs typeface="Calibri"/>
              </a:rPr>
              <a:t>n</a:t>
            </a:r>
            <a:r>
              <a:rPr sz="2200" i="1" spc="-5" dirty="0">
                <a:solidFill>
                  <a:srgbClr val="00B0F0"/>
                </a:solidFill>
                <a:latin typeface="Calibri"/>
                <a:cs typeface="Calibri"/>
              </a:rPr>
              <a:t>i</a:t>
            </a:r>
            <a:r>
              <a:rPr sz="2200" i="1" dirty="0">
                <a:solidFill>
                  <a:srgbClr val="00B0F0"/>
                </a:solidFill>
                <a:latin typeface="Calibri"/>
                <a:cs typeface="Calibri"/>
              </a:rPr>
              <a:t>t</a:t>
            </a:r>
            <a:r>
              <a:rPr sz="2200" i="1" spc="-5" dirty="0">
                <a:solidFill>
                  <a:srgbClr val="00B0F0"/>
                </a:solidFill>
                <a:latin typeface="Calibri"/>
                <a:cs typeface="Calibri"/>
              </a:rPr>
              <a:t>io</a:t>
            </a:r>
            <a:r>
              <a:rPr sz="2200" i="1" spc="-10" dirty="0">
                <a:solidFill>
                  <a:srgbClr val="00B0F0"/>
                </a:solidFill>
                <a:latin typeface="Calibri"/>
                <a:cs typeface="Calibri"/>
              </a:rPr>
              <a:t>n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n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-t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up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al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ue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all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nu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be</a:t>
            </a:r>
            <a:r>
              <a:rPr sz="2200" spc="-5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350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66725" algn="l"/>
              </a:tabLst>
            </a:pPr>
            <a:r>
              <a:rPr sz="1800" dirty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800" spc="-675" dirty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4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as 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ec</a:t>
            </a:r>
            <a:r>
              <a:rPr sz="18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335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66725" algn="l"/>
              </a:tabLst>
            </a:pPr>
            <a:r>
              <a:rPr sz="1800" dirty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800" spc="-675" dirty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si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spc="-3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g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b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wr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rm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or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rm</a:t>
            </a:r>
            <a:endParaRPr sz="220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375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66725" algn="l"/>
              </a:tabLst>
            </a:pP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Co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rm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30" dirty="0">
                <a:solidFill>
                  <a:srgbClr val="00026A"/>
                </a:solidFill>
                <a:latin typeface="Calibri"/>
                <a:cs typeface="Calibri"/>
              </a:rPr>
              <a:t>nv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on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335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66725" algn="l"/>
              </a:tabLst>
            </a:pPr>
            <a:r>
              <a:rPr sz="1800" spc="-10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ec</a:t>
            </a:r>
            <a:r>
              <a:rPr sz="18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nt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18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4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ce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bs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70" dirty="0"/>
              <a:t>V</a:t>
            </a:r>
            <a:r>
              <a:rPr spc="-25" dirty="0"/>
              <a:t>e</a:t>
            </a:r>
            <a:r>
              <a:rPr spc="-5" dirty="0"/>
              <a:t>c</a:t>
            </a:r>
            <a:r>
              <a:rPr spc="5" dirty="0"/>
              <a:t>t</a:t>
            </a:r>
            <a:r>
              <a:rPr spc="-5" dirty="0"/>
              <a:t>o</a:t>
            </a:r>
            <a:r>
              <a:rPr spc="-15" dirty="0"/>
              <a:t>r</a:t>
            </a:r>
            <a:r>
              <a:rPr dirty="0"/>
              <a:t>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A6C8C1-6370-4EFA-92C9-A8DE04224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439" y="3486949"/>
            <a:ext cx="51054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67460"/>
            <a:ext cx="5926455" cy="10951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50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725" algn="l"/>
              </a:tabLst>
            </a:pP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in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pa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e,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o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endParaRPr sz="1900" dirty="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62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725" algn="l"/>
              </a:tabLst>
            </a:pP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di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lin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se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g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900" spc="-5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ni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ud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 and</a:t>
            </a:r>
            <a:r>
              <a:rPr sz="19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di</a:t>
            </a:r>
            <a:r>
              <a:rPr sz="1900" spc="-3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900" spc="-1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9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9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70" dirty="0"/>
              <a:t>V</a:t>
            </a:r>
            <a:r>
              <a:rPr spc="-25" dirty="0"/>
              <a:t>e</a:t>
            </a:r>
            <a:r>
              <a:rPr spc="-5" dirty="0"/>
              <a:t>c</a:t>
            </a:r>
            <a:r>
              <a:rPr spc="5" dirty="0"/>
              <a:t>t</a:t>
            </a:r>
            <a:r>
              <a:rPr spc="-5" dirty="0"/>
              <a:t>o</a:t>
            </a:r>
            <a:r>
              <a:rPr spc="-15" dirty="0"/>
              <a:t>r</a:t>
            </a:r>
            <a:r>
              <a:rPr dirty="0"/>
              <a:t>s</a:t>
            </a:r>
          </a:p>
        </p:txBody>
      </p:sp>
      <p:sp>
        <p:nvSpPr>
          <p:cNvPr id="4" name="object 4"/>
          <p:cNvSpPr/>
          <p:nvPr/>
        </p:nvSpPr>
        <p:spPr>
          <a:xfrm>
            <a:off x="2490229" y="2571748"/>
            <a:ext cx="2052774" cy="2031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98864" y="2419350"/>
            <a:ext cx="2680911" cy="1959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291844"/>
            <a:ext cx="28930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20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d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d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n 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f </a:t>
            </a:r>
            <a:r>
              <a:rPr sz="2400" i="1" spc="-20" dirty="0">
                <a:solidFill>
                  <a:srgbClr val="FF6600"/>
                </a:solidFill>
                <a:latin typeface="Calibri"/>
                <a:cs typeface="Calibri"/>
              </a:rPr>
              <a:t>tw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o 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v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e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2400" i="1" spc="-4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5" y="1910836"/>
            <a:ext cx="847090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1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100" spc="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5116" y="1939053"/>
            <a:ext cx="1153795" cy="247650"/>
          </a:xfrm>
          <a:custGeom>
            <a:avLst/>
            <a:gdLst/>
            <a:ahLst/>
            <a:cxnLst/>
            <a:rect l="l" t="t" r="r" b="b"/>
            <a:pathLst>
              <a:path w="1153795" h="247650">
                <a:moveTo>
                  <a:pt x="1074978" y="0"/>
                </a:moveTo>
                <a:lnTo>
                  <a:pt x="1073466" y="10711"/>
                </a:lnTo>
                <a:lnTo>
                  <a:pt x="1084531" y="15614"/>
                </a:lnTo>
                <a:lnTo>
                  <a:pt x="1094534" y="22239"/>
                </a:lnTo>
                <a:lnTo>
                  <a:pt x="1119347" y="54966"/>
                </a:lnTo>
                <a:lnTo>
                  <a:pt x="1129850" y="100547"/>
                </a:lnTo>
                <a:lnTo>
                  <a:pt x="1131047" y="132258"/>
                </a:lnTo>
                <a:lnTo>
                  <a:pt x="1130166" y="145012"/>
                </a:lnTo>
                <a:lnTo>
                  <a:pt x="1117679" y="193512"/>
                </a:lnTo>
                <a:lnTo>
                  <a:pt x="1094645" y="224950"/>
                </a:lnTo>
                <a:lnTo>
                  <a:pt x="1071853" y="237009"/>
                </a:lnTo>
                <a:lnTo>
                  <a:pt x="1079271" y="245816"/>
                </a:lnTo>
                <a:lnTo>
                  <a:pt x="1120312" y="219944"/>
                </a:lnTo>
                <a:lnTo>
                  <a:pt x="1142665" y="185566"/>
                </a:lnTo>
                <a:lnTo>
                  <a:pt x="1153305" y="135243"/>
                </a:lnTo>
                <a:lnTo>
                  <a:pt x="1153740" y="120397"/>
                </a:lnTo>
                <a:lnTo>
                  <a:pt x="1153133" y="107773"/>
                </a:lnTo>
                <a:lnTo>
                  <a:pt x="1141015" y="59655"/>
                </a:lnTo>
                <a:lnTo>
                  <a:pt x="1119501" y="25360"/>
                </a:lnTo>
                <a:lnTo>
                  <a:pt x="1087724" y="4212"/>
                </a:lnTo>
                <a:lnTo>
                  <a:pt x="1074978" y="0"/>
                </a:lnTo>
                <a:close/>
              </a:path>
              <a:path w="1153795" h="247650">
                <a:moveTo>
                  <a:pt x="78763" y="0"/>
                </a:moveTo>
                <a:lnTo>
                  <a:pt x="42850" y="18231"/>
                </a:lnTo>
                <a:lnTo>
                  <a:pt x="16027" y="50969"/>
                </a:lnTo>
                <a:lnTo>
                  <a:pt x="1768" y="98063"/>
                </a:lnTo>
                <a:lnTo>
                  <a:pt x="0" y="126706"/>
                </a:lnTo>
                <a:lnTo>
                  <a:pt x="601" y="139371"/>
                </a:lnTo>
                <a:lnTo>
                  <a:pt x="12673" y="187525"/>
                </a:lnTo>
                <a:lnTo>
                  <a:pt x="34140" y="221727"/>
                </a:lnTo>
                <a:lnTo>
                  <a:pt x="65973" y="242826"/>
                </a:lnTo>
                <a:lnTo>
                  <a:pt x="78763" y="247036"/>
                </a:lnTo>
                <a:lnTo>
                  <a:pt x="79987" y="236350"/>
                </a:lnTo>
                <a:lnTo>
                  <a:pt x="69076" y="231428"/>
                </a:lnTo>
                <a:lnTo>
                  <a:pt x="59188" y="224748"/>
                </a:lnTo>
                <a:lnTo>
                  <a:pt x="34506" y="191656"/>
                </a:lnTo>
                <a:lnTo>
                  <a:pt x="23880" y="145685"/>
                </a:lnTo>
                <a:lnTo>
                  <a:pt x="22626" y="114532"/>
                </a:lnTo>
                <a:lnTo>
                  <a:pt x="23423" y="101808"/>
                </a:lnTo>
                <a:lnTo>
                  <a:pt x="35935" y="53289"/>
                </a:lnTo>
                <a:lnTo>
                  <a:pt x="59223" y="22006"/>
                </a:lnTo>
                <a:lnTo>
                  <a:pt x="82279" y="10027"/>
                </a:lnTo>
                <a:lnTo>
                  <a:pt x="78763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42012" y="1939053"/>
            <a:ext cx="1118870" cy="247650"/>
          </a:xfrm>
          <a:custGeom>
            <a:avLst/>
            <a:gdLst/>
            <a:ahLst/>
            <a:cxnLst/>
            <a:rect l="l" t="t" r="r" b="b"/>
            <a:pathLst>
              <a:path w="1118870" h="247650">
                <a:moveTo>
                  <a:pt x="1040053" y="0"/>
                </a:moveTo>
                <a:lnTo>
                  <a:pt x="1038541" y="10711"/>
                </a:lnTo>
                <a:lnTo>
                  <a:pt x="1049606" y="15614"/>
                </a:lnTo>
                <a:lnTo>
                  <a:pt x="1059609" y="22239"/>
                </a:lnTo>
                <a:lnTo>
                  <a:pt x="1084421" y="54966"/>
                </a:lnTo>
                <a:lnTo>
                  <a:pt x="1094925" y="100547"/>
                </a:lnTo>
                <a:lnTo>
                  <a:pt x="1096122" y="132258"/>
                </a:lnTo>
                <a:lnTo>
                  <a:pt x="1095241" y="145012"/>
                </a:lnTo>
                <a:lnTo>
                  <a:pt x="1082754" y="193512"/>
                </a:lnTo>
                <a:lnTo>
                  <a:pt x="1059720" y="224950"/>
                </a:lnTo>
                <a:lnTo>
                  <a:pt x="1036928" y="237009"/>
                </a:lnTo>
                <a:lnTo>
                  <a:pt x="1044346" y="245816"/>
                </a:lnTo>
                <a:lnTo>
                  <a:pt x="1085387" y="219944"/>
                </a:lnTo>
                <a:lnTo>
                  <a:pt x="1107740" y="185566"/>
                </a:lnTo>
                <a:lnTo>
                  <a:pt x="1118380" y="135244"/>
                </a:lnTo>
                <a:lnTo>
                  <a:pt x="1118815" y="120398"/>
                </a:lnTo>
                <a:lnTo>
                  <a:pt x="1118208" y="107773"/>
                </a:lnTo>
                <a:lnTo>
                  <a:pt x="1106090" y="59656"/>
                </a:lnTo>
                <a:lnTo>
                  <a:pt x="1084576" y="25361"/>
                </a:lnTo>
                <a:lnTo>
                  <a:pt x="1052799" y="4212"/>
                </a:lnTo>
                <a:lnTo>
                  <a:pt x="1040053" y="0"/>
                </a:lnTo>
                <a:close/>
              </a:path>
              <a:path w="1118870" h="247650">
                <a:moveTo>
                  <a:pt x="78763" y="0"/>
                </a:moveTo>
                <a:lnTo>
                  <a:pt x="42850" y="18231"/>
                </a:lnTo>
                <a:lnTo>
                  <a:pt x="16027" y="50969"/>
                </a:lnTo>
                <a:lnTo>
                  <a:pt x="1768" y="98063"/>
                </a:lnTo>
                <a:lnTo>
                  <a:pt x="0" y="126706"/>
                </a:lnTo>
                <a:lnTo>
                  <a:pt x="601" y="139371"/>
                </a:lnTo>
                <a:lnTo>
                  <a:pt x="12673" y="187525"/>
                </a:lnTo>
                <a:lnTo>
                  <a:pt x="34140" y="221727"/>
                </a:lnTo>
                <a:lnTo>
                  <a:pt x="65973" y="242826"/>
                </a:lnTo>
                <a:lnTo>
                  <a:pt x="78763" y="247036"/>
                </a:lnTo>
                <a:lnTo>
                  <a:pt x="79987" y="236350"/>
                </a:lnTo>
                <a:lnTo>
                  <a:pt x="69076" y="231428"/>
                </a:lnTo>
                <a:lnTo>
                  <a:pt x="59188" y="224748"/>
                </a:lnTo>
                <a:lnTo>
                  <a:pt x="34506" y="191656"/>
                </a:lnTo>
                <a:lnTo>
                  <a:pt x="23880" y="145685"/>
                </a:lnTo>
                <a:lnTo>
                  <a:pt x="22626" y="114532"/>
                </a:lnTo>
                <a:lnTo>
                  <a:pt x="23423" y="101808"/>
                </a:lnTo>
                <a:lnTo>
                  <a:pt x="35934" y="53289"/>
                </a:lnTo>
                <a:lnTo>
                  <a:pt x="59222" y="22006"/>
                </a:lnTo>
                <a:lnTo>
                  <a:pt x="82279" y="10027"/>
                </a:lnTo>
                <a:lnTo>
                  <a:pt x="78763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69634" y="1906689"/>
            <a:ext cx="3312795" cy="32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359025" algn="l"/>
              </a:tabLst>
            </a:pPr>
            <a:r>
              <a:rPr sz="2100" spc="-1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100" spc="-22" baseline="-15873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0" dirty="0">
                <a:solidFill>
                  <a:srgbClr val="00026A"/>
                </a:solidFill>
                <a:latin typeface="Cambria Math"/>
                <a:cs typeface="Cambria Math"/>
              </a:rPr>
              <a:t>…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3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baseline="23809" dirty="0">
                <a:solidFill>
                  <a:srgbClr val="00026A"/>
                </a:solidFill>
                <a:latin typeface="Cambria Math"/>
                <a:cs typeface="Cambria Math"/>
              </a:rPr>
              <a:t>𝑇 </a:t>
            </a:r>
            <a:r>
              <a:rPr sz="2100" spc="-142" baseline="23809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𝒚</a:t>
            </a:r>
            <a:r>
              <a:rPr sz="2100" spc="114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=	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𝑦</a:t>
            </a:r>
            <a:r>
              <a:rPr sz="2100" spc="-22" baseline="-15873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0" dirty="0">
                <a:solidFill>
                  <a:srgbClr val="00026A"/>
                </a:solidFill>
                <a:latin typeface="Cambria Math"/>
                <a:cs typeface="Cambria Math"/>
              </a:rPr>
              <a:t>…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𝑦</a:t>
            </a:r>
            <a:r>
              <a:rPr sz="2100" spc="-22" baseline="-15873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endParaRPr sz="2100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1583" y="1906689"/>
            <a:ext cx="94869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aseline="23809" dirty="0">
                <a:solidFill>
                  <a:srgbClr val="00026A"/>
                </a:solidFill>
                <a:latin typeface="Cambria Math"/>
                <a:cs typeface="Cambria Math"/>
              </a:rPr>
              <a:t>𝑇 </a:t>
            </a:r>
            <a:r>
              <a:rPr sz="2100" spc="-142" baseline="23809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-4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05" y="2223681"/>
            <a:ext cx="4638040" cy="62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500"/>
              </a:lnSpc>
            </a:pPr>
            <a:r>
              <a:rPr sz="2100" spc="-3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ec</a:t>
            </a:r>
            <a:r>
              <a:rPr sz="21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1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ℛ</a:t>
            </a:r>
            <a:r>
              <a:rPr sz="2100" spc="22" baseline="23809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,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1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𝒛</a:t>
            </a:r>
            <a:r>
              <a:rPr sz="2100" spc="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r>
              <a:rPr sz="2100" spc="12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1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+</a:t>
            </a:r>
            <a:r>
              <a:rPr sz="21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𝒚</a:t>
            </a:r>
            <a:r>
              <a:rPr sz="21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is </a:t>
            </a:r>
            <a:r>
              <a:rPr sz="2100" spc="-2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100" spc="-3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1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96232" y="2891553"/>
            <a:ext cx="2345055" cy="247650"/>
          </a:xfrm>
          <a:custGeom>
            <a:avLst/>
            <a:gdLst/>
            <a:ahLst/>
            <a:cxnLst/>
            <a:rect l="l" t="t" r="r" b="b"/>
            <a:pathLst>
              <a:path w="2345054" h="247650">
                <a:moveTo>
                  <a:pt x="2265857" y="0"/>
                </a:moveTo>
                <a:lnTo>
                  <a:pt x="2264345" y="10711"/>
                </a:lnTo>
                <a:lnTo>
                  <a:pt x="2275409" y="15614"/>
                </a:lnTo>
                <a:lnTo>
                  <a:pt x="2285413" y="22239"/>
                </a:lnTo>
                <a:lnTo>
                  <a:pt x="2310225" y="54966"/>
                </a:lnTo>
                <a:lnTo>
                  <a:pt x="2320728" y="100547"/>
                </a:lnTo>
                <a:lnTo>
                  <a:pt x="2321925" y="132258"/>
                </a:lnTo>
                <a:lnTo>
                  <a:pt x="2321044" y="145012"/>
                </a:lnTo>
                <a:lnTo>
                  <a:pt x="2308558" y="193512"/>
                </a:lnTo>
                <a:lnTo>
                  <a:pt x="2285524" y="224950"/>
                </a:lnTo>
                <a:lnTo>
                  <a:pt x="2262732" y="237009"/>
                </a:lnTo>
                <a:lnTo>
                  <a:pt x="2270150" y="245816"/>
                </a:lnTo>
                <a:lnTo>
                  <a:pt x="2311191" y="219944"/>
                </a:lnTo>
                <a:lnTo>
                  <a:pt x="2333544" y="185566"/>
                </a:lnTo>
                <a:lnTo>
                  <a:pt x="2344184" y="135244"/>
                </a:lnTo>
                <a:lnTo>
                  <a:pt x="2344619" y="120398"/>
                </a:lnTo>
                <a:lnTo>
                  <a:pt x="2344012" y="107773"/>
                </a:lnTo>
                <a:lnTo>
                  <a:pt x="2331894" y="59655"/>
                </a:lnTo>
                <a:lnTo>
                  <a:pt x="2310380" y="25361"/>
                </a:lnTo>
                <a:lnTo>
                  <a:pt x="2278603" y="4212"/>
                </a:lnTo>
                <a:lnTo>
                  <a:pt x="2265857" y="0"/>
                </a:lnTo>
                <a:close/>
              </a:path>
              <a:path w="2345054" h="247650">
                <a:moveTo>
                  <a:pt x="78763" y="0"/>
                </a:moveTo>
                <a:lnTo>
                  <a:pt x="42850" y="18231"/>
                </a:lnTo>
                <a:lnTo>
                  <a:pt x="16027" y="50968"/>
                </a:lnTo>
                <a:lnTo>
                  <a:pt x="1768" y="98062"/>
                </a:lnTo>
                <a:lnTo>
                  <a:pt x="0" y="126706"/>
                </a:lnTo>
                <a:lnTo>
                  <a:pt x="601" y="139371"/>
                </a:lnTo>
                <a:lnTo>
                  <a:pt x="12673" y="187525"/>
                </a:lnTo>
                <a:lnTo>
                  <a:pt x="34140" y="221727"/>
                </a:lnTo>
                <a:lnTo>
                  <a:pt x="65973" y="242826"/>
                </a:lnTo>
                <a:lnTo>
                  <a:pt x="78763" y="247036"/>
                </a:lnTo>
                <a:lnTo>
                  <a:pt x="79987" y="236350"/>
                </a:lnTo>
                <a:lnTo>
                  <a:pt x="69076" y="231428"/>
                </a:lnTo>
                <a:lnTo>
                  <a:pt x="59188" y="224748"/>
                </a:lnTo>
                <a:lnTo>
                  <a:pt x="34506" y="191656"/>
                </a:lnTo>
                <a:lnTo>
                  <a:pt x="23880" y="145685"/>
                </a:lnTo>
                <a:lnTo>
                  <a:pt x="22626" y="114532"/>
                </a:lnTo>
                <a:lnTo>
                  <a:pt x="23423" y="101808"/>
                </a:lnTo>
                <a:lnTo>
                  <a:pt x="35934" y="53289"/>
                </a:lnTo>
                <a:lnTo>
                  <a:pt x="59222" y="22006"/>
                </a:lnTo>
                <a:lnTo>
                  <a:pt x="82279" y="10027"/>
                </a:lnTo>
                <a:lnTo>
                  <a:pt x="78763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73723" y="2861812"/>
            <a:ext cx="2788920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09600" algn="l"/>
              </a:tabLst>
            </a:pP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𝒛</a:t>
            </a:r>
            <a:r>
              <a:rPr sz="2100" spc="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=	</a:t>
            </a:r>
            <a:r>
              <a:rPr sz="2100" spc="-1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100" spc="-15" baseline="-15873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2100" baseline="-15873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25" baseline="-15873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+</a:t>
            </a:r>
            <a:r>
              <a:rPr sz="21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𝑦</a:t>
            </a:r>
            <a:r>
              <a:rPr sz="2100" spc="-22" baseline="-15873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0" dirty="0">
                <a:solidFill>
                  <a:srgbClr val="00026A"/>
                </a:solidFill>
                <a:latin typeface="Cambria Math"/>
                <a:cs typeface="Cambria Math"/>
              </a:rPr>
              <a:t>…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3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100" spc="3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+</a:t>
            </a:r>
            <a:r>
              <a:rPr sz="21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30" dirty="0">
                <a:solidFill>
                  <a:srgbClr val="00026A"/>
                </a:solidFill>
                <a:latin typeface="Cambria Math"/>
                <a:cs typeface="Cambria Math"/>
              </a:rPr>
              <a:t>𝑦𝑛</a:t>
            </a:r>
            <a:endParaRPr sz="21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51606" y="2857665"/>
            <a:ext cx="13144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2905" y="3430689"/>
            <a:ext cx="2952750" cy="323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2100" spc="-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spc="-3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100" spc="-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s a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00" spc="-1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100" spc="-3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 i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1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Cambria Math"/>
                <a:cs typeface="Cambria Math"/>
              </a:rPr>
              <a:t>ℝ</a:t>
            </a:r>
            <a:r>
              <a:rPr sz="2100" spc="22" baseline="23809" dirty="0">
                <a:solidFill>
                  <a:srgbClr val="FF0000"/>
                </a:solidFill>
                <a:latin typeface="Cambria Math"/>
                <a:cs typeface="Cambria Math"/>
              </a:rPr>
              <a:t>𝑛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</a:p>
        </p:txBody>
      </p:sp>
      <p:sp>
        <p:nvSpPr>
          <p:cNvPr id="13" name="object 13"/>
          <p:cNvSpPr/>
          <p:nvPr/>
        </p:nvSpPr>
        <p:spPr>
          <a:xfrm>
            <a:off x="1294955" y="4025050"/>
            <a:ext cx="626110" cy="212090"/>
          </a:xfrm>
          <a:custGeom>
            <a:avLst/>
            <a:gdLst/>
            <a:ahLst/>
            <a:cxnLst/>
            <a:rect l="l" t="t" r="r" b="b"/>
            <a:pathLst>
              <a:path w="626110" h="212089">
                <a:moveTo>
                  <a:pt x="558184" y="0"/>
                </a:moveTo>
                <a:lnTo>
                  <a:pt x="558079" y="9614"/>
                </a:lnTo>
                <a:lnTo>
                  <a:pt x="569358" y="15077"/>
                </a:lnTo>
                <a:lnTo>
                  <a:pt x="579227" y="22607"/>
                </a:lnTo>
                <a:lnTo>
                  <a:pt x="602341" y="66195"/>
                </a:lnTo>
                <a:lnTo>
                  <a:pt x="606384" y="107802"/>
                </a:lnTo>
                <a:lnTo>
                  <a:pt x="605732" y="122121"/>
                </a:lnTo>
                <a:lnTo>
                  <a:pt x="593649" y="169613"/>
                </a:lnTo>
                <a:lnTo>
                  <a:pt x="567482" y="197856"/>
                </a:lnTo>
                <a:lnTo>
                  <a:pt x="555504" y="203150"/>
                </a:lnTo>
                <a:lnTo>
                  <a:pt x="570127" y="207733"/>
                </a:lnTo>
                <a:lnTo>
                  <a:pt x="608585" y="174278"/>
                </a:lnTo>
                <a:lnTo>
                  <a:pt x="623781" y="129538"/>
                </a:lnTo>
                <a:lnTo>
                  <a:pt x="625613" y="99939"/>
                </a:lnTo>
                <a:lnTo>
                  <a:pt x="624713" y="87953"/>
                </a:lnTo>
                <a:lnTo>
                  <a:pt x="608996" y="40218"/>
                </a:lnTo>
                <a:lnTo>
                  <a:pt x="582240" y="10316"/>
                </a:lnTo>
                <a:lnTo>
                  <a:pt x="570840" y="4330"/>
                </a:lnTo>
                <a:lnTo>
                  <a:pt x="558184" y="0"/>
                </a:lnTo>
                <a:close/>
              </a:path>
              <a:path w="626110" h="212089">
                <a:moveTo>
                  <a:pt x="67432" y="0"/>
                </a:moveTo>
                <a:lnTo>
                  <a:pt x="24918" y="26616"/>
                </a:lnTo>
                <a:lnTo>
                  <a:pt x="4214" y="69601"/>
                </a:lnTo>
                <a:lnTo>
                  <a:pt x="0" y="111867"/>
                </a:lnTo>
                <a:lnTo>
                  <a:pt x="893" y="123889"/>
                </a:lnTo>
                <a:lnTo>
                  <a:pt x="16558" y="171625"/>
                </a:lnTo>
                <a:lnTo>
                  <a:pt x="43305" y="201443"/>
                </a:lnTo>
                <a:lnTo>
                  <a:pt x="67432" y="211745"/>
                </a:lnTo>
                <a:lnTo>
                  <a:pt x="67423" y="202195"/>
                </a:lnTo>
                <a:lnTo>
                  <a:pt x="56257" y="196710"/>
                </a:lnTo>
                <a:lnTo>
                  <a:pt x="46464" y="189115"/>
                </a:lnTo>
                <a:lnTo>
                  <a:pt x="26522" y="156423"/>
                </a:lnTo>
                <a:lnTo>
                  <a:pt x="19669" y="118698"/>
                </a:lnTo>
                <a:lnTo>
                  <a:pt x="19213" y="103833"/>
                </a:lnTo>
                <a:lnTo>
                  <a:pt x="19769" y="89498"/>
                </a:lnTo>
                <a:lnTo>
                  <a:pt x="31963" y="41752"/>
                </a:lnTo>
                <a:lnTo>
                  <a:pt x="58321" y="13865"/>
                </a:lnTo>
                <a:lnTo>
                  <a:pt x="70445" y="8594"/>
                </a:lnTo>
                <a:lnTo>
                  <a:pt x="67432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62905" y="3999116"/>
            <a:ext cx="1495425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06475" algn="l"/>
              </a:tabLst>
            </a:pP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e: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3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2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28053" y="3996868"/>
            <a:ext cx="34290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026A"/>
                </a:solidFill>
                <a:latin typeface="Cambria Math"/>
                <a:cs typeface="Cambria Math"/>
              </a:rPr>
              <a:t>𝑇 </a:t>
            </a:r>
            <a:r>
              <a:rPr sz="1200" spc="-9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baseline="-15432" dirty="0">
                <a:solidFill>
                  <a:srgbClr val="00026A"/>
                </a:solidFill>
                <a:latin typeface="Cambria Math"/>
                <a:cs typeface="Cambria Math"/>
              </a:rPr>
              <a:t>+</a:t>
            </a:r>
            <a:endParaRPr sz="2700" baseline="-15432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29497" y="4025050"/>
            <a:ext cx="626110" cy="212090"/>
          </a:xfrm>
          <a:custGeom>
            <a:avLst/>
            <a:gdLst/>
            <a:ahLst/>
            <a:cxnLst/>
            <a:rect l="l" t="t" r="r" b="b"/>
            <a:pathLst>
              <a:path w="626110" h="212089">
                <a:moveTo>
                  <a:pt x="558184" y="0"/>
                </a:moveTo>
                <a:lnTo>
                  <a:pt x="558079" y="9614"/>
                </a:lnTo>
                <a:lnTo>
                  <a:pt x="569358" y="15077"/>
                </a:lnTo>
                <a:lnTo>
                  <a:pt x="579227" y="22607"/>
                </a:lnTo>
                <a:lnTo>
                  <a:pt x="602341" y="66195"/>
                </a:lnTo>
                <a:lnTo>
                  <a:pt x="606384" y="107802"/>
                </a:lnTo>
                <a:lnTo>
                  <a:pt x="605732" y="122121"/>
                </a:lnTo>
                <a:lnTo>
                  <a:pt x="593649" y="169613"/>
                </a:lnTo>
                <a:lnTo>
                  <a:pt x="567481" y="197856"/>
                </a:lnTo>
                <a:lnTo>
                  <a:pt x="555504" y="203150"/>
                </a:lnTo>
                <a:lnTo>
                  <a:pt x="570127" y="207733"/>
                </a:lnTo>
                <a:lnTo>
                  <a:pt x="608585" y="174278"/>
                </a:lnTo>
                <a:lnTo>
                  <a:pt x="623781" y="129538"/>
                </a:lnTo>
                <a:lnTo>
                  <a:pt x="625613" y="99939"/>
                </a:lnTo>
                <a:lnTo>
                  <a:pt x="624713" y="87953"/>
                </a:lnTo>
                <a:lnTo>
                  <a:pt x="608996" y="40218"/>
                </a:lnTo>
                <a:lnTo>
                  <a:pt x="582240" y="10316"/>
                </a:lnTo>
                <a:lnTo>
                  <a:pt x="570840" y="4330"/>
                </a:lnTo>
                <a:lnTo>
                  <a:pt x="558184" y="0"/>
                </a:lnTo>
                <a:close/>
              </a:path>
              <a:path w="626110" h="212089">
                <a:moveTo>
                  <a:pt x="67432" y="0"/>
                </a:moveTo>
                <a:lnTo>
                  <a:pt x="24918" y="26616"/>
                </a:lnTo>
                <a:lnTo>
                  <a:pt x="4214" y="69601"/>
                </a:lnTo>
                <a:lnTo>
                  <a:pt x="0" y="111867"/>
                </a:lnTo>
                <a:lnTo>
                  <a:pt x="893" y="123889"/>
                </a:lnTo>
                <a:lnTo>
                  <a:pt x="16558" y="171625"/>
                </a:lnTo>
                <a:lnTo>
                  <a:pt x="43305" y="201443"/>
                </a:lnTo>
                <a:lnTo>
                  <a:pt x="67432" y="211745"/>
                </a:lnTo>
                <a:lnTo>
                  <a:pt x="67423" y="202195"/>
                </a:lnTo>
                <a:lnTo>
                  <a:pt x="56257" y="196710"/>
                </a:lnTo>
                <a:lnTo>
                  <a:pt x="46464" y="189115"/>
                </a:lnTo>
                <a:lnTo>
                  <a:pt x="26522" y="156423"/>
                </a:lnTo>
                <a:lnTo>
                  <a:pt x="19669" y="118698"/>
                </a:lnTo>
                <a:lnTo>
                  <a:pt x="19213" y="103833"/>
                </a:lnTo>
                <a:lnTo>
                  <a:pt x="19769" y="89498"/>
                </a:lnTo>
                <a:lnTo>
                  <a:pt x="31963" y="41752"/>
                </a:lnTo>
                <a:lnTo>
                  <a:pt x="58321" y="13865"/>
                </a:lnTo>
                <a:lnTo>
                  <a:pt x="70445" y="8594"/>
                </a:lnTo>
                <a:lnTo>
                  <a:pt x="67432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391476" y="3999116"/>
            <a:ext cx="5016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2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62595" y="3996868"/>
            <a:ext cx="355600" cy="256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026A"/>
                </a:solidFill>
                <a:latin typeface="Cambria Math"/>
                <a:cs typeface="Cambria Math"/>
              </a:rPr>
              <a:t>𝑇 </a:t>
            </a:r>
            <a:r>
              <a:rPr sz="12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baseline="-15432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endParaRPr sz="2700" baseline="-15432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89439" y="4025050"/>
            <a:ext cx="626110" cy="212090"/>
          </a:xfrm>
          <a:custGeom>
            <a:avLst/>
            <a:gdLst/>
            <a:ahLst/>
            <a:cxnLst/>
            <a:rect l="l" t="t" r="r" b="b"/>
            <a:pathLst>
              <a:path w="626110" h="212089">
                <a:moveTo>
                  <a:pt x="558184" y="0"/>
                </a:moveTo>
                <a:lnTo>
                  <a:pt x="558079" y="9614"/>
                </a:lnTo>
                <a:lnTo>
                  <a:pt x="569358" y="15077"/>
                </a:lnTo>
                <a:lnTo>
                  <a:pt x="579227" y="22607"/>
                </a:lnTo>
                <a:lnTo>
                  <a:pt x="602341" y="66195"/>
                </a:lnTo>
                <a:lnTo>
                  <a:pt x="606384" y="107802"/>
                </a:lnTo>
                <a:lnTo>
                  <a:pt x="605732" y="122121"/>
                </a:lnTo>
                <a:lnTo>
                  <a:pt x="593649" y="169613"/>
                </a:lnTo>
                <a:lnTo>
                  <a:pt x="567481" y="197856"/>
                </a:lnTo>
                <a:lnTo>
                  <a:pt x="555504" y="203150"/>
                </a:lnTo>
                <a:lnTo>
                  <a:pt x="570127" y="207733"/>
                </a:lnTo>
                <a:lnTo>
                  <a:pt x="608585" y="174278"/>
                </a:lnTo>
                <a:lnTo>
                  <a:pt x="623781" y="129538"/>
                </a:lnTo>
                <a:lnTo>
                  <a:pt x="625613" y="99939"/>
                </a:lnTo>
                <a:lnTo>
                  <a:pt x="624713" y="87953"/>
                </a:lnTo>
                <a:lnTo>
                  <a:pt x="608996" y="40218"/>
                </a:lnTo>
                <a:lnTo>
                  <a:pt x="582240" y="10316"/>
                </a:lnTo>
                <a:lnTo>
                  <a:pt x="570840" y="4330"/>
                </a:lnTo>
                <a:lnTo>
                  <a:pt x="558184" y="0"/>
                </a:lnTo>
                <a:close/>
              </a:path>
              <a:path w="626110" h="212089">
                <a:moveTo>
                  <a:pt x="67432" y="0"/>
                </a:moveTo>
                <a:lnTo>
                  <a:pt x="24918" y="26616"/>
                </a:lnTo>
                <a:lnTo>
                  <a:pt x="4214" y="69601"/>
                </a:lnTo>
                <a:lnTo>
                  <a:pt x="0" y="111867"/>
                </a:lnTo>
                <a:lnTo>
                  <a:pt x="893" y="123889"/>
                </a:lnTo>
                <a:lnTo>
                  <a:pt x="16558" y="171625"/>
                </a:lnTo>
                <a:lnTo>
                  <a:pt x="43305" y="201443"/>
                </a:lnTo>
                <a:lnTo>
                  <a:pt x="67432" y="211745"/>
                </a:lnTo>
                <a:lnTo>
                  <a:pt x="67423" y="202195"/>
                </a:lnTo>
                <a:lnTo>
                  <a:pt x="56257" y="196710"/>
                </a:lnTo>
                <a:lnTo>
                  <a:pt x="46464" y="189115"/>
                </a:lnTo>
                <a:lnTo>
                  <a:pt x="26522" y="156423"/>
                </a:lnTo>
                <a:lnTo>
                  <a:pt x="19669" y="118698"/>
                </a:lnTo>
                <a:lnTo>
                  <a:pt x="19213" y="103833"/>
                </a:lnTo>
                <a:lnTo>
                  <a:pt x="19769" y="89498"/>
                </a:lnTo>
                <a:lnTo>
                  <a:pt x="31963" y="41752"/>
                </a:lnTo>
                <a:lnTo>
                  <a:pt x="58321" y="13865"/>
                </a:lnTo>
                <a:lnTo>
                  <a:pt x="70445" y="8594"/>
                </a:lnTo>
                <a:lnTo>
                  <a:pt x="67432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51418" y="3999116"/>
            <a:ext cx="5016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4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4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22537" y="3996868"/>
            <a:ext cx="1162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70" dirty="0"/>
              <a:t>V</a:t>
            </a:r>
            <a:r>
              <a:rPr spc="-25" dirty="0"/>
              <a:t>e</a:t>
            </a:r>
            <a:r>
              <a:rPr spc="-5" dirty="0"/>
              <a:t>c</a:t>
            </a:r>
            <a:r>
              <a:rPr spc="5" dirty="0"/>
              <a:t>t</a:t>
            </a:r>
            <a:r>
              <a:rPr spc="-5" dirty="0"/>
              <a:t>o</a:t>
            </a:r>
            <a:r>
              <a:rPr spc="-15" dirty="0"/>
              <a:t>r</a:t>
            </a:r>
            <a:r>
              <a:rPr dirty="0"/>
              <a:t> </a:t>
            </a:r>
            <a:r>
              <a:rPr spc="-20" dirty="0"/>
              <a:t>ar</a:t>
            </a:r>
            <a:r>
              <a:rPr spc="-5" dirty="0"/>
              <a:t>i</a:t>
            </a:r>
            <a:r>
              <a:rPr spc="5" dirty="0"/>
              <a:t>t</a:t>
            </a:r>
            <a:r>
              <a:rPr dirty="0"/>
              <a:t>h</a:t>
            </a:r>
            <a:r>
              <a:rPr spc="-35" dirty="0"/>
              <a:t>me</a:t>
            </a:r>
            <a:r>
              <a:rPr spc="5" dirty="0"/>
              <a:t>t</a:t>
            </a:r>
            <a:r>
              <a:rPr spc="-5" dirty="0"/>
              <a:t>i</a:t>
            </a:r>
            <a:r>
              <a:rPr dirty="0"/>
              <a:t>c</a:t>
            </a:r>
          </a:p>
        </p:txBody>
      </p:sp>
      <p:sp>
        <p:nvSpPr>
          <p:cNvPr id="23" name="object 23"/>
          <p:cNvSpPr/>
          <p:nvPr/>
        </p:nvSpPr>
        <p:spPr>
          <a:xfrm>
            <a:off x="6553200" y="1302971"/>
            <a:ext cx="2105832" cy="1025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0395CB-3524-4C3B-B8D2-A1544EDC220C}"/>
              </a:ext>
            </a:extLst>
          </p:cNvPr>
          <p:cNvCxnSpPr>
            <a:cxnSpLocks/>
          </p:cNvCxnSpPr>
          <p:nvPr/>
        </p:nvCxnSpPr>
        <p:spPr>
          <a:xfrm flipV="1">
            <a:off x="7881871" y="2869467"/>
            <a:ext cx="269735" cy="6099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07CF5D-FA24-4D5B-A8F9-8BEE8746D91F}"/>
              </a:ext>
            </a:extLst>
          </p:cNvPr>
          <p:cNvCxnSpPr>
            <a:cxnSpLocks/>
          </p:cNvCxnSpPr>
          <p:nvPr/>
        </p:nvCxnSpPr>
        <p:spPr>
          <a:xfrm flipV="1">
            <a:off x="6490041" y="3477210"/>
            <a:ext cx="1394527" cy="21175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C43FB3-CC69-498F-A033-DCAE8CF81DA5}"/>
              </a:ext>
            </a:extLst>
          </p:cNvPr>
          <p:cNvCxnSpPr/>
          <p:nvPr/>
        </p:nvCxnSpPr>
        <p:spPr>
          <a:xfrm flipV="1">
            <a:off x="6510886" y="2857665"/>
            <a:ext cx="1600200" cy="82303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291844"/>
            <a:ext cx="393446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S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l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mu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l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p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li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n 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f a 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v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ec</a:t>
            </a:r>
            <a:r>
              <a:rPr sz="2400" i="1" spc="-4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95116" y="1913653"/>
            <a:ext cx="1153795" cy="247650"/>
          </a:xfrm>
          <a:custGeom>
            <a:avLst/>
            <a:gdLst/>
            <a:ahLst/>
            <a:cxnLst/>
            <a:rect l="l" t="t" r="r" b="b"/>
            <a:pathLst>
              <a:path w="1153795" h="247650">
                <a:moveTo>
                  <a:pt x="1074978" y="0"/>
                </a:moveTo>
                <a:lnTo>
                  <a:pt x="1073466" y="10711"/>
                </a:lnTo>
                <a:lnTo>
                  <a:pt x="1084531" y="15614"/>
                </a:lnTo>
                <a:lnTo>
                  <a:pt x="1094534" y="22239"/>
                </a:lnTo>
                <a:lnTo>
                  <a:pt x="1119347" y="54966"/>
                </a:lnTo>
                <a:lnTo>
                  <a:pt x="1129850" y="100547"/>
                </a:lnTo>
                <a:lnTo>
                  <a:pt x="1131047" y="132258"/>
                </a:lnTo>
                <a:lnTo>
                  <a:pt x="1130166" y="145012"/>
                </a:lnTo>
                <a:lnTo>
                  <a:pt x="1117679" y="193512"/>
                </a:lnTo>
                <a:lnTo>
                  <a:pt x="1094645" y="224950"/>
                </a:lnTo>
                <a:lnTo>
                  <a:pt x="1071853" y="237009"/>
                </a:lnTo>
                <a:lnTo>
                  <a:pt x="1079271" y="245816"/>
                </a:lnTo>
                <a:lnTo>
                  <a:pt x="1120312" y="219944"/>
                </a:lnTo>
                <a:lnTo>
                  <a:pt x="1142665" y="185566"/>
                </a:lnTo>
                <a:lnTo>
                  <a:pt x="1153305" y="135243"/>
                </a:lnTo>
                <a:lnTo>
                  <a:pt x="1153740" y="120397"/>
                </a:lnTo>
                <a:lnTo>
                  <a:pt x="1153133" y="107773"/>
                </a:lnTo>
                <a:lnTo>
                  <a:pt x="1141015" y="59655"/>
                </a:lnTo>
                <a:lnTo>
                  <a:pt x="1119501" y="25360"/>
                </a:lnTo>
                <a:lnTo>
                  <a:pt x="1087724" y="4212"/>
                </a:lnTo>
                <a:lnTo>
                  <a:pt x="1074978" y="0"/>
                </a:lnTo>
                <a:close/>
              </a:path>
              <a:path w="1153795" h="247650">
                <a:moveTo>
                  <a:pt x="78763" y="0"/>
                </a:moveTo>
                <a:lnTo>
                  <a:pt x="42850" y="18231"/>
                </a:lnTo>
                <a:lnTo>
                  <a:pt x="16027" y="50969"/>
                </a:lnTo>
                <a:lnTo>
                  <a:pt x="1768" y="98063"/>
                </a:lnTo>
                <a:lnTo>
                  <a:pt x="0" y="126706"/>
                </a:lnTo>
                <a:lnTo>
                  <a:pt x="601" y="139371"/>
                </a:lnTo>
                <a:lnTo>
                  <a:pt x="12673" y="187525"/>
                </a:lnTo>
                <a:lnTo>
                  <a:pt x="34140" y="221727"/>
                </a:lnTo>
                <a:lnTo>
                  <a:pt x="65973" y="242826"/>
                </a:lnTo>
                <a:lnTo>
                  <a:pt x="78763" y="247036"/>
                </a:lnTo>
                <a:lnTo>
                  <a:pt x="79987" y="236350"/>
                </a:lnTo>
                <a:lnTo>
                  <a:pt x="69076" y="231428"/>
                </a:lnTo>
                <a:lnTo>
                  <a:pt x="59188" y="224748"/>
                </a:lnTo>
                <a:lnTo>
                  <a:pt x="34506" y="191656"/>
                </a:lnTo>
                <a:lnTo>
                  <a:pt x="23880" y="145685"/>
                </a:lnTo>
                <a:lnTo>
                  <a:pt x="22626" y="114532"/>
                </a:lnTo>
                <a:lnTo>
                  <a:pt x="23423" y="101808"/>
                </a:lnTo>
                <a:lnTo>
                  <a:pt x="35935" y="53289"/>
                </a:lnTo>
                <a:lnTo>
                  <a:pt x="59223" y="22006"/>
                </a:lnTo>
                <a:lnTo>
                  <a:pt x="82279" y="10027"/>
                </a:lnTo>
                <a:lnTo>
                  <a:pt x="78763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2905" y="1883404"/>
            <a:ext cx="847090" cy="645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1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100" spc="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endParaRPr sz="21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100" spc="-3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100" spc="-22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9634" y="1879257"/>
            <a:ext cx="4258310" cy="331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1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100" spc="-22" baseline="-15873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0" dirty="0">
                <a:solidFill>
                  <a:srgbClr val="00026A"/>
                </a:solidFill>
                <a:latin typeface="Cambria Math"/>
                <a:cs typeface="Cambria Math"/>
              </a:rPr>
              <a:t>…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3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baseline="23809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r>
              <a:rPr sz="2100" spc="75" baseline="23809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 a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ec</a:t>
            </a:r>
            <a:r>
              <a:rPr sz="21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 in </a:t>
            </a:r>
            <a:r>
              <a:rPr sz="2100" spc="130" dirty="0">
                <a:solidFill>
                  <a:srgbClr val="00026A"/>
                </a:solidFill>
                <a:latin typeface="Arial"/>
                <a:cs typeface="Arial"/>
              </a:rPr>
              <a:t>R</a:t>
            </a:r>
            <a:r>
              <a:rPr sz="2100" baseline="23809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,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1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i="1" spc="2010" dirty="0">
                <a:solidFill>
                  <a:srgbClr val="00026A"/>
                </a:solidFill>
                <a:latin typeface="Symbol"/>
                <a:cs typeface="Symbol"/>
              </a:rPr>
              <a:t>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2905" y="2544820"/>
            <a:ext cx="3533775" cy="300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-1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1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𝒚</a:t>
            </a:r>
            <a:r>
              <a:rPr sz="2100" spc="114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r>
              <a:rPr sz="2100" spc="12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𝛼𝒙</a:t>
            </a:r>
            <a:r>
              <a:rPr sz="21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100" spc="-3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1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1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100" spc="-10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7085" y="2891553"/>
            <a:ext cx="1423670" cy="247650"/>
          </a:xfrm>
          <a:custGeom>
            <a:avLst/>
            <a:gdLst/>
            <a:ahLst/>
            <a:cxnLst/>
            <a:rect l="l" t="t" r="r" b="b"/>
            <a:pathLst>
              <a:path w="1423670" h="247650">
                <a:moveTo>
                  <a:pt x="1344853" y="0"/>
                </a:moveTo>
                <a:lnTo>
                  <a:pt x="1343341" y="10711"/>
                </a:lnTo>
                <a:lnTo>
                  <a:pt x="1354406" y="15614"/>
                </a:lnTo>
                <a:lnTo>
                  <a:pt x="1364409" y="22239"/>
                </a:lnTo>
                <a:lnTo>
                  <a:pt x="1389222" y="54966"/>
                </a:lnTo>
                <a:lnTo>
                  <a:pt x="1399725" y="100547"/>
                </a:lnTo>
                <a:lnTo>
                  <a:pt x="1400922" y="132258"/>
                </a:lnTo>
                <a:lnTo>
                  <a:pt x="1400041" y="145012"/>
                </a:lnTo>
                <a:lnTo>
                  <a:pt x="1387555" y="193512"/>
                </a:lnTo>
                <a:lnTo>
                  <a:pt x="1364520" y="224950"/>
                </a:lnTo>
                <a:lnTo>
                  <a:pt x="1341728" y="237009"/>
                </a:lnTo>
                <a:lnTo>
                  <a:pt x="1349146" y="245816"/>
                </a:lnTo>
                <a:lnTo>
                  <a:pt x="1390187" y="219944"/>
                </a:lnTo>
                <a:lnTo>
                  <a:pt x="1412540" y="185566"/>
                </a:lnTo>
                <a:lnTo>
                  <a:pt x="1423180" y="135243"/>
                </a:lnTo>
                <a:lnTo>
                  <a:pt x="1423615" y="120397"/>
                </a:lnTo>
                <a:lnTo>
                  <a:pt x="1423008" y="107773"/>
                </a:lnTo>
                <a:lnTo>
                  <a:pt x="1410890" y="59655"/>
                </a:lnTo>
                <a:lnTo>
                  <a:pt x="1389376" y="25360"/>
                </a:lnTo>
                <a:lnTo>
                  <a:pt x="1357599" y="4212"/>
                </a:lnTo>
                <a:lnTo>
                  <a:pt x="1344853" y="0"/>
                </a:lnTo>
                <a:close/>
              </a:path>
              <a:path w="1423670" h="247650">
                <a:moveTo>
                  <a:pt x="78763" y="0"/>
                </a:moveTo>
                <a:lnTo>
                  <a:pt x="42850" y="18231"/>
                </a:lnTo>
                <a:lnTo>
                  <a:pt x="16027" y="50968"/>
                </a:lnTo>
                <a:lnTo>
                  <a:pt x="1768" y="98062"/>
                </a:lnTo>
                <a:lnTo>
                  <a:pt x="0" y="126706"/>
                </a:lnTo>
                <a:lnTo>
                  <a:pt x="601" y="139371"/>
                </a:lnTo>
                <a:lnTo>
                  <a:pt x="12673" y="187525"/>
                </a:lnTo>
                <a:lnTo>
                  <a:pt x="34140" y="221727"/>
                </a:lnTo>
                <a:lnTo>
                  <a:pt x="65973" y="242826"/>
                </a:lnTo>
                <a:lnTo>
                  <a:pt x="78763" y="247036"/>
                </a:lnTo>
                <a:lnTo>
                  <a:pt x="79987" y="236351"/>
                </a:lnTo>
                <a:lnTo>
                  <a:pt x="69076" y="231428"/>
                </a:lnTo>
                <a:lnTo>
                  <a:pt x="59188" y="224748"/>
                </a:lnTo>
                <a:lnTo>
                  <a:pt x="34506" y="191657"/>
                </a:lnTo>
                <a:lnTo>
                  <a:pt x="23880" y="145685"/>
                </a:lnTo>
                <a:lnTo>
                  <a:pt x="22626" y="114533"/>
                </a:lnTo>
                <a:lnTo>
                  <a:pt x="23423" y="101809"/>
                </a:lnTo>
                <a:lnTo>
                  <a:pt x="35934" y="53289"/>
                </a:lnTo>
                <a:lnTo>
                  <a:pt x="59222" y="22007"/>
                </a:lnTo>
                <a:lnTo>
                  <a:pt x="82278" y="10027"/>
                </a:lnTo>
                <a:lnTo>
                  <a:pt x="78763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3938" y="2861812"/>
            <a:ext cx="1888489" cy="327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9920" algn="l"/>
              </a:tabLst>
            </a:pP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𝒚</a:t>
            </a:r>
            <a:r>
              <a:rPr sz="2100" spc="114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=	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𝛼</a:t>
            </a:r>
            <a:r>
              <a:rPr sz="2100" spc="-1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100" spc="-22" baseline="-15873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0" dirty="0">
                <a:solidFill>
                  <a:srgbClr val="00026A"/>
                </a:solidFill>
                <a:latin typeface="Cambria Math"/>
                <a:cs typeface="Cambria Math"/>
              </a:rPr>
              <a:t>…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100" spc="-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100" spc="-25" dirty="0">
                <a:solidFill>
                  <a:srgbClr val="00026A"/>
                </a:solidFill>
                <a:latin typeface="Cambria Math"/>
                <a:cs typeface="Cambria Math"/>
              </a:rPr>
              <a:t>𝛼</a:t>
            </a:r>
            <a:r>
              <a:rPr sz="2100" spc="-1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100" spc="-22" baseline="-15873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endParaRPr sz="2100" baseline="-15873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1454" y="2857665"/>
            <a:ext cx="131445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905" y="3440533"/>
            <a:ext cx="299148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2100" spc="-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spc="-3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100" spc="-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1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s a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100" spc="-1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100" spc="-3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100" spc="5" dirty="0">
                <a:solidFill>
                  <a:srgbClr val="FF0000"/>
                </a:solidFill>
                <a:latin typeface="Calibri"/>
                <a:cs typeface="Calibri"/>
              </a:rPr>
              <a:t> i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1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mbria Math"/>
                <a:cs typeface="Cambria Math"/>
              </a:rPr>
              <a:t>ℝ</a:t>
            </a:r>
            <a:r>
              <a:rPr sz="2100" spc="30" baseline="23809" dirty="0">
                <a:solidFill>
                  <a:srgbClr val="FF0000"/>
                </a:solidFill>
                <a:latin typeface="Cambria Math"/>
                <a:cs typeface="Cambria Math"/>
              </a:rPr>
              <a:t>𝑛</a:t>
            </a:r>
            <a:r>
              <a:rPr sz="21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10842" y="4075850"/>
            <a:ext cx="626110" cy="212090"/>
          </a:xfrm>
          <a:custGeom>
            <a:avLst/>
            <a:gdLst/>
            <a:ahLst/>
            <a:cxnLst/>
            <a:rect l="l" t="t" r="r" b="b"/>
            <a:pathLst>
              <a:path w="626110" h="212089">
                <a:moveTo>
                  <a:pt x="558184" y="0"/>
                </a:moveTo>
                <a:lnTo>
                  <a:pt x="558079" y="9614"/>
                </a:lnTo>
                <a:lnTo>
                  <a:pt x="569358" y="15077"/>
                </a:lnTo>
                <a:lnTo>
                  <a:pt x="579227" y="22607"/>
                </a:lnTo>
                <a:lnTo>
                  <a:pt x="602341" y="66196"/>
                </a:lnTo>
                <a:lnTo>
                  <a:pt x="606386" y="107802"/>
                </a:lnTo>
                <a:lnTo>
                  <a:pt x="605733" y="122121"/>
                </a:lnTo>
                <a:lnTo>
                  <a:pt x="593649" y="169613"/>
                </a:lnTo>
                <a:lnTo>
                  <a:pt x="567482" y="197856"/>
                </a:lnTo>
                <a:lnTo>
                  <a:pt x="555504" y="203150"/>
                </a:lnTo>
                <a:lnTo>
                  <a:pt x="570127" y="207733"/>
                </a:lnTo>
                <a:lnTo>
                  <a:pt x="608585" y="174278"/>
                </a:lnTo>
                <a:lnTo>
                  <a:pt x="623781" y="129538"/>
                </a:lnTo>
                <a:lnTo>
                  <a:pt x="625613" y="99939"/>
                </a:lnTo>
                <a:lnTo>
                  <a:pt x="624713" y="87953"/>
                </a:lnTo>
                <a:lnTo>
                  <a:pt x="608996" y="40218"/>
                </a:lnTo>
                <a:lnTo>
                  <a:pt x="582240" y="10316"/>
                </a:lnTo>
                <a:lnTo>
                  <a:pt x="570840" y="4330"/>
                </a:lnTo>
                <a:lnTo>
                  <a:pt x="558184" y="0"/>
                </a:lnTo>
                <a:close/>
              </a:path>
              <a:path w="626110" h="212089">
                <a:moveTo>
                  <a:pt x="67432" y="0"/>
                </a:moveTo>
                <a:lnTo>
                  <a:pt x="24918" y="26616"/>
                </a:lnTo>
                <a:lnTo>
                  <a:pt x="4214" y="69601"/>
                </a:lnTo>
                <a:lnTo>
                  <a:pt x="0" y="111867"/>
                </a:lnTo>
                <a:lnTo>
                  <a:pt x="893" y="123889"/>
                </a:lnTo>
                <a:lnTo>
                  <a:pt x="16558" y="171625"/>
                </a:lnTo>
                <a:lnTo>
                  <a:pt x="43305" y="201443"/>
                </a:lnTo>
                <a:lnTo>
                  <a:pt x="67432" y="211745"/>
                </a:lnTo>
                <a:lnTo>
                  <a:pt x="67423" y="202195"/>
                </a:lnTo>
                <a:lnTo>
                  <a:pt x="56257" y="196710"/>
                </a:lnTo>
                <a:lnTo>
                  <a:pt x="46464" y="189115"/>
                </a:lnTo>
                <a:lnTo>
                  <a:pt x="26522" y="156423"/>
                </a:lnTo>
                <a:lnTo>
                  <a:pt x="19669" y="118698"/>
                </a:lnTo>
                <a:lnTo>
                  <a:pt x="19213" y="103833"/>
                </a:lnTo>
                <a:lnTo>
                  <a:pt x="19769" y="89498"/>
                </a:lnTo>
                <a:lnTo>
                  <a:pt x="31963" y="41752"/>
                </a:lnTo>
                <a:lnTo>
                  <a:pt x="58321" y="13865"/>
                </a:lnTo>
                <a:lnTo>
                  <a:pt x="70445" y="8594"/>
                </a:lnTo>
                <a:lnTo>
                  <a:pt x="67432" y="0"/>
                </a:lnTo>
                <a:close/>
              </a:path>
            </a:pathLst>
          </a:custGeom>
          <a:solidFill>
            <a:srgbClr val="000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2905" y="4047884"/>
            <a:ext cx="1611630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0090"/>
                </a:solidFill>
                <a:latin typeface="Calibri"/>
                <a:cs typeface="Calibri"/>
              </a:rPr>
              <a:t>E</a:t>
            </a:r>
            <a:r>
              <a:rPr sz="1800" spc="-40" dirty="0">
                <a:solidFill>
                  <a:srgbClr val="000090"/>
                </a:solidFill>
                <a:latin typeface="Calibri"/>
                <a:cs typeface="Calibri"/>
              </a:rPr>
              <a:t>x</a:t>
            </a:r>
            <a:r>
              <a:rPr sz="1800" dirty="0">
                <a:solidFill>
                  <a:srgbClr val="000090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000090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000090"/>
                </a:solidFill>
                <a:latin typeface="Calibri"/>
                <a:cs typeface="Calibri"/>
              </a:rPr>
              <a:t>p</a:t>
            </a:r>
            <a:r>
              <a:rPr sz="1800" spc="-5" dirty="0">
                <a:solidFill>
                  <a:srgbClr val="000090"/>
                </a:solidFill>
                <a:latin typeface="Calibri"/>
                <a:cs typeface="Calibri"/>
              </a:rPr>
              <a:t>l</a:t>
            </a:r>
            <a:r>
              <a:rPr sz="1800" spc="-10" dirty="0">
                <a:solidFill>
                  <a:srgbClr val="000090"/>
                </a:solidFill>
                <a:latin typeface="Calibri"/>
                <a:cs typeface="Calibri"/>
              </a:rPr>
              <a:t>e:</a:t>
            </a:r>
            <a:r>
              <a:rPr sz="1800" spc="1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90"/>
                </a:solidFill>
                <a:latin typeface="Calibri"/>
                <a:cs typeface="Calibri"/>
              </a:rPr>
              <a:t>3</a:t>
            </a:r>
            <a:r>
              <a:rPr sz="180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800" spc="-7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90"/>
                </a:solidFill>
                <a:latin typeface="Cambria Math"/>
                <a:cs typeface="Cambria Math"/>
              </a:rPr>
              <a:t>3</a:t>
            </a:r>
            <a:r>
              <a:rPr sz="1800" spc="5" dirty="0">
                <a:solidFill>
                  <a:srgbClr val="000090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090"/>
                </a:solidFill>
                <a:latin typeface="Cambria Math"/>
                <a:cs typeface="Cambria Math"/>
              </a:rPr>
              <a:t>2</a:t>
            </a:r>
            <a:r>
              <a:rPr sz="1800" spc="5" dirty="0">
                <a:solidFill>
                  <a:srgbClr val="000090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09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3940" y="4047884"/>
            <a:ext cx="35560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0090"/>
                </a:solidFill>
                <a:latin typeface="Cambria Math"/>
                <a:cs typeface="Cambria Math"/>
              </a:rPr>
              <a:t>𝑇 </a:t>
            </a:r>
            <a:r>
              <a:rPr sz="1200" spc="5" dirty="0">
                <a:solidFill>
                  <a:srgbClr val="000090"/>
                </a:solidFill>
                <a:latin typeface="Cambria Math"/>
                <a:cs typeface="Cambria Math"/>
              </a:rPr>
              <a:t> </a:t>
            </a:r>
            <a:r>
              <a:rPr sz="2700" baseline="-15432" dirty="0">
                <a:solidFill>
                  <a:srgbClr val="000090"/>
                </a:solidFill>
                <a:latin typeface="Cambria Math"/>
                <a:cs typeface="Cambria Math"/>
              </a:rPr>
              <a:t>=</a:t>
            </a:r>
            <a:endParaRPr sz="2700" baseline="-15432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70784" y="4075850"/>
            <a:ext cx="626110" cy="212090"/>
          </a:xfrm>
          <a:custGeom>
            <a:avLst/>
            <a:gdLst/>
            <a:ahLst/>
            <a:cxnLst/>
            <a:rect l="l" t="t" r="r" b="b"/>
            <a:pathLst>
              <a:path w="626110" h="212089">
                <a:moveTo>
                  <a:pt x="558184" y="0"/>
                </a:moveTo>
                <a:lnTo>
                  <a:pt x="558079" y="9614"/>
                </a:lnTo>
                <a:lnTo>
                  <a:pt x="569358" y="15077"/>
                </a:lnTo>
                <a:lnTo>
                  <a:pt x="579227" y="22607"/>
                </a:lnTo>
                <a:lnTo>
                  <a:pt x="602341" y="66195"/>
                </a:lnTo>
                <a:lnTo>
                  <a:pt x="606384" y="107802"/>
                </a:lnTo>
                <a:lnTo>
                  <a:pt x="605732" y="122121"/>
                </a:lnTo>
                <a:lnTo>
                  <a:pt x="593649" y="169613"/>
                </a:lnTo>
                <a:lnTo>
                  <a:pt x="567481" y="197856"/>
                </a:lnTo>
                <a:lnTo>
                  <a:pt x="555504" y="203150"/>
                </a:lnTo>
                <a:lnTo>
                  <a:pt x="570127" y="207733"/>
                </a:lnTo>
                <a:lnTo>
                  <a:pt x="608585" y="174278"/>
                </a:lnTo>
                <a:lnTo>
                  <a:pt x="623781" y="129538"/>
                </a:lnTo>
                <a:lnTo>
                  <a:pt x="625613" y="99939"/>
                </a:lnTo>
                <a:lnTo>
                  <a:pt x="624713" y="87953"/>
                </a:lnTo>
                <a:lnTo>
                  <a:pt x="608996" y="40218"/>
                </a:lnTo>
                <a:lnTo>
                  <a:pt x="582240" y="10316"/>
                </a:lnTo>
                <a:lnTo>
                  <a:pt x="570840" y="4330"/>
                </a:lnTo>
                <a:lnTo>
                  <a:pt x="558184" y="0"/>
                </a:lnTo>
                <a:close/>
              </a:path>
              <a:path w="626110" h="212089">
                <a:moveTo>
                  <a:pt x="67432" y="0"/>
                </a:moveTo>
                <a:lnTo>
                  <a:pt x="24918" y="26616"/>
                </a:lnTo>
                <a:lnTo>
                  <a:pt x="4214" y="69601"/>
                </a:lnTo>
                <a:lnTo>
                  <a:pt x="0" y="111867"/>
                </a:lnTo>
                <a:lnTo>
                  <a:pt x="893" y="123889"/>
                </a:lnTo>
                <a:lnTo>
                  <a:pt x="16558" y="171625"/>
                </a:lnTo>
                <a:lnTo>
                  <a:pt x="43305" y="201443"/>
                </a:lnTo>
                <a:lnTo>
                  <a:pt x="67432" y="211745"/>
                </a:lnTo>
                <a:lnTo>
                  <a:pt x="67423" y="202195"/>
                </a:lnTo>
                <a:lnTo>
                  <a:pt x="56257" y="196710"/>
                </a:lnTo>
                <a:lnTo>
                  <a:pt x="46464" y="189115"/>
                </a:lnTo>
                <a:lnTo>
                  <a:pt x="26522" y="156423"/>
                </a:lnTo>
                <a:lnTo>
                  <a:pt x="19669" y="118698"/>
                </a:lnTo>
                <a:lnTo>
                  <a:pt x="19213" y="103833"/>
                </a:lnTo>
                <a:lnTo>
                  <a:pt x="19769" y="89498"/>
                </a:lnTo>
                <a:lnTo>
                  <a:pt x="31963" y="41752"/>
                </a:lnTo>
                <a:lnTo>
                  <a:pt x="58321" y="13865"/>
                </a:lnTo>
                <a:lnTo>
                  <a:pt x="70445" y="8594"/>
                </a:lnTo>
                <a:lnTo>
                  <a:pt x="67432" y="0"/>
                </a:lnTo>
                <a:close/>
              </a:path>
            </a:pathLst>
          </a:custGeom>
          <a:solidFill>
            <a:srgbClr val="000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32763" y="4047884"/>
            <a:ext cx="5016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0090"/>
                </a:solidFill>
                <a:latin typeface="Cambria Math"/>
                <a:cs typeface="Cambria Math"/>
              </a:rPr>
              <a:t>9</a:t>
            </a:r>
            <a:r>
              <a:rPr sz="1800" spc="5" dirty="0">
                <a:solidFill>
                  <a:srgbClr val="000090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090"/>
                </a:solidFill>
                <a:latin typeface="Cambria Math"/>
                <a:cs typeface="Cambria Math"/>
              </a:rPr>
              <a:t>6</a:t>
            </a:r>
            <a:r>
              <a:rPr sz="1800" spc="5" dirty="0">
                <a:solidFill>
                  <a:srgbClr val="000090"/>
                </a:solidFill>
                <a:latin typeface="Cambria Math"/>
                <a:cs typeface="Cambria Math"/>
              </a:rPr>
              <a:t>,</a:t>
            </a:r>
            <a:r>
              <a:rPr sz="1800" spc="-10" dirty="0">
                <a:solidFill>
                  <a:srgbClr val="000090"/>
                </a:solidFill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03882" y="4048684"/>
            <a:ext cx="1162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0090"/>
                </a:solidFill>
                <a:latin typeface="Cambria Math"/>
                <a:cs typeface="Cambria Math"/>
              </a:rPr>
              <a:t>𝑇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70" dirty="0"/>
              <a:t>V</a:t>
            </a:r>
            <a:r>
              <a:rPr spc="-25" dirty="0"/>
              <a:t>e</a:t>
            </a:r>
            <a:r>
              <a:rPr spc="-5" dirty="0"/>
              <a:t>c</a:t>
            </a:r>
            <a:r>
              <a:rPr spc="5" dirty="0"/>
              <a:t>t</a:t>
            </a:r>
            <a:r>
              <a:rPr spc="-5" dirty="0"/>
              <a:t>o</a:t>
            </a:r>
            <a:r>
              <a:rPr spc="-15" dirty="0"/>
              <a:t>r</a:t>
            </a:r>
            <a:r>
              <a:rPr dirty="0"/>
              <a:t> </a:t>
            </a:r>
            <a:r>
              <a:rPr spc="-20" dirty="0"/>
              <a:t>ar</a:t>
            </a:r>
            <a:r>
              <a:rPr spc="-5" dirty="0"/>
              <a:t>i</a:t>
            </a:r>
            <a:r>
              <a:rPr spc="5" dirty="0"/>
              <a:t>t</a:t>
            </a:r>
            <a:r>
              <a:rPr dirty="0"/>
              <a:t>h</a:t>
            </a:r>
            <a:r>
              <a:rPr spc="-35" dirty="0"/>
              <a:t>me</a:t>
            </a:r>
            <a:r>
              <a:rPr spc="5" dirty="0"/>
              <a:t>t</a:t>
            </a:r>
            <a:r>
              <a:rPr spc="-5" dirty="0"/>
              <a:t>i</a:t>
            </a:r>
            <a:r>
              <a:rPr dirty="0"/>
              <a:t>c</a:t>
            </a:r>
          </a:p>
        </p:txBody>
      </p:sp>
      <p:sp>
        <p:nvSpPr>
          <p:cNvPr id="18" name="object 18"/>
          <p:cNvSpPr/>
          <p:nvPr/>
        </p:nvSpPr>
        <p:spPr>
          <a:xfrm>
            <a:off x="6553200" y="1830501"/>
            <a:ext cx="1718431" cy="10271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299463"/>
            <a:ext cx="304038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i="1" spc="-5" dirty="0">
                <a:solidFill>
                  <a:srgbClr val="FF6600"/>
                </a:solidFill>
                <a:latin typeface="Calibri"/>
                <a:cs typeface="Calibri"/>
              </a:rPr>
              <a:t>Do</a:t>
            </a:r>
            <a:r>
              <a:rPr sz="2200" i="1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200" i="1" spc="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FF6600"/>
                </a:solidFill>
                <a:latin typeface="Calibri"/>
                <a:cs typeface="Calibri"/>
              </a:rPr>
              <a:t>p</a:t>
            </a:r>
            <a:r>
              <a:rPr sz="2200" i="1" spc="-15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r>
              <a:rPr sz="2200" i="1" spc="-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200" i="1" spc="-10" dirty="0">
                <a:solidFill>
                  <a:srgbClr val="FF6600"/>
                </a:solidFill>
                <a:latin typeface="Calibri"/>
                <a:cs typeface="Calibri"/>
              </a:rPr>
              <a:t>du</a:t>
            </a:r>
            <a:r>
              <a:rPr sz="2200" i="1" spc="-15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2200" i="1" spc="-10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200" i="1" spc="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200" i="1" spc="-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200" i="1" dirty="0">
                <a:solidFill>
                  <a:srgbClr val="FF6600"/>
                </a:solidFill>
                <a:latin typeface="Calibri"/>
                <a:cs typeface="Calibri"/>
              </a:rPr>
              <a:t>f</a:t>
            </a:r>
            <a:r>
              <a:rPr sz="2200" i="1" spc="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200" i="1" spc="-15" dirty="0">
                <a:solidFill>
                  <a:srgbClr val="FF6600"/>
                </a:solidFill>
                <a:latin typeface="Calibri"/>
                <a:cs typeface="Calibri"/>
              </a:rPr>
              <a:t>tw</a:t>
            </a:r>
            <a:r>
              <a:rPr sz="2200" i="1" dirty="0">
                <a:solidFill>
                  <a:srgbClr val="FF6600"/>
                </a:solidFill>
                <a:latin typeface="Calibri"/>
                <a:cs typeface="Calibri"/>
              </a:rPr>
              <a:t>o </a:t>
            </a:r>
            <a:r>
              <a:rPr sz="2200" i="1" spc="-15" dirty="0">
                <a:solidFill>
                  <a:srgbClr val="FF6600"/>
                </a:solidFill>
                <a:latin typeface="Calibri"/>
                <a:cs typeface="Calibri"/>
              </a:rPr>
              <a:t>vec</a:t>
            </a:r>
            <a:r>
              <a:rPr sz="2200" i="1" spc="-40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200" i="1" spc="-15" dirty="0">
                <a:solidFill>
                  <a:srgbClr val="FF6600"/>
                </a:solidFill>
                <a:latin typeface="Calibri"/>
                <a:cs typeface="Calibri"/>
              </a:rPr>
              <a:t>or</a:t>
            </a:r>
            <a:r>
              <a:rPr sz="2200" i="1" dirty="0">
                <a:solidFill>
                  <a:srgbClr val="FF6600"/>
                </a:solidFill>
                <a:latin typeface="Calibri"/>
                <a:cs typeface="Calibri"/>
              </a:rPr>
              <a:t>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5" y="1789316"/>
            <a:ext cx="730250" cy="260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2060"/>
                </a:solidFill>
                <a:latin typeface="Calibri"/>
                <a:cs typeface="Calibri"/>
              </a:rPr>
              <a:t>L</a:t>
            </a:r>
            <a:r>
              <a:rPr sz="1800" spc="-2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8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060"/>
                </a:solidFill>
                <a:latin typeface="Cambria Math"/>
                <a:cs typeface="Cambria Math"/>
              </a:rPr>
              <a:t>𝒙</a:t>
            </a:r>
            <a:r>
              <a:rPr sz="1800" spc="100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4526" y="1815250"/>
            <a:ext cx="995044" cy="212090"/>
          </a:xfrm>
          <a:custGeom>
            <a:avLst/>
            <a:gdLst/>
            <a:ahLst/>
            <a:cxnLst/>
            <a:rect l="l" t="t" r="r" b="b"/>
            <a:pathLst>
              <a:path w="995044" h="212089">
                <a:moveTo>
                  <a:pt x="927245" y="0"/>
                </a:moveTo>
                <a:lnTo>
                  <a:pt x="927141" y="9614"/>
                </a:lnTo>
                <a:lnTo>
                  <a:pt x="938419" y="15077"/>
                </a:lnTo>
                <a:lnTo>
                  <a:pt x="948289" y="22607"/>
                </a:lnTo>
                <a:lnTo>
                  <a:pt x="971403" y="66196"/>
                </a:lnTo>
                <a:lnTo>
                  <a:pt x="975446" y="107802"/>
                </a:lnTo>
                <a:lnTo>
                  <a:pt x="974794" y="122121"/>
                </a:lnTo>
                <a:lnTo>
                  <a:pt x="962711" y="169614"/>
                </a:lnTo>
                <a:lnTo>
                  <a:pt x="936544" y="197856"/>
                </a:lnTo>
                <a:lnTo>
                  <a:pt x="924566" y="203150"/>
                </a:lnTo>
                <a:lnTo>
                  <a:pt x="939189" y="207733"/>
                </a:lnTo>
                <a:lnTo>
                  <a:pt x="977647" y="174278"/>
                </a:lnTo>
                <a:lnTo>
                  <a:pt x="992843" y="129539"/>
                </a:lnTo>
                <a:lnTo>
                  <a:pt x="994675" y="99939"/>
                </a:lnTo>
                <a:lnTo>
                  <a:pt x="993774" y="87953"/>
                </a:lnTo>
                <a:lnTo>
                  <a:pt x="978057" y="40218"/>
                </a:lnTo>
                <a:lnTo>
                  <a:pt x="951301" y="10316"/>
                </a:lnTo>
                <a:lnTo>
                  <a:pt x="939902" y="4330"/>
                </a:lnTo>
                <a:lnTo>
                  <a:pt x="927245" y="0"/>
                </a:lnTo>
                <a:close/>
              </a:path>
              <a:path w="995044" h="212089">
                <a:moveTo>
                  <a:pt x="67431" y="0"/>
                </a:moveTo>
                <a:lnTo>
                  <a:pt x="24918" y="26616"/>
                </a:lnTo>
                <a:lnTo>
                  <a:pt x="4214" y="69602"/>
                </a:lnTo>
                <a:lnTo>
                  <a:pt x="0" y="111868"/>
                </a:lnTo>
                <a:lnTo>
                  <a:pt x="893" y="123889"/>
                </a:lnTo>
                <a:lnTo>
                  <a:pt x="16558" y="171625"/>
                </a:lnTo>
                <a:lnTo>
                  <a:pt x="43305" y="201443"/>
                </a:lnTo>
                <a:lnTo>
                  <a:pt x="67431" y="211745"/>
                </a:lnTo>
                <a:lnTo>
                  <a:pt x="67423" y="202195"/>
                </a:lnTo>
                <a:lnTo>
                  <a:pt x="56257" y="196710"/>
                </a:lnTo>
                <a:lnTo>
                  <a:pt x="46464" y="189116"/>
                </a:lnTo>
                <a:lnTo>
                  <a:pt x="26522" y="156423"/>
                </a:lnTo>
                <a:lnTo>
                  <a:pt x="19669" y="118698"/>
                </a:lnTo>
                <a:lnTo>
                  <a:pt x="19213" y="103834"/>
                </a:lnTo>
                <a:lnTo>
                  <a:pt x="19769" y="89499"/>
                </a:lnTo>
                <a:lnTo>
                  <a:pt x="31963" y="41753"/>
                </a:lnTo>
                <a:lnTo>
                  <a:pt x="58321" y="13865"/>
                </a:lnTo>
                <a:lnTo>
                  <a:pt x="70445" y="8595"/>
                </a:lnTo>
                <a:lnTo>
                  <a:pt x="67431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85667" y="1815250"/>
            <a:ext cx="1007744" cy="212090"/>
          </a:xfrm>
          <a:custGeom>
            <a:avLst/>
            <a:gdLst/>
            <a:ahLst/>
            <a:cxnLst/>
            <a:rect l="l" t="t" r="r" b="b"/>
            <a:pathLst>
              <a:path w="1007745" h="212089">
                <a:moveTo>
                  <a:pt x="939946" y="0"/>
                </a:moveTo>
                <a:lnTo>
                  <a:pt x="939841" y="9615"/>
                </a:lnTo>
                <a:lnTo>
                  <a:pt x="951120" y="15078"/>
                </a:lnTo>
                <a:lnTo>
                  <a:pt x="960989" y="22608"/>
                </a:lnTo>
                <a:lnTo>
                  <a:pt x="984103" y="66196"/>
                </a:lnTo>
                <a:lnTo>
                  <a:pt x="988146" y="107802"/>
                </a:lnTo>
                <a:lnTo>
                  <a:pt x="987494" y="122121"/>
                </a:lnTo>
                <a:lnTo>
                  <a:pt x="975411" y="169614"/>
                </a:lnTo>
                <a:lnTo>
                  <a:pt x="949244" y="197856"/>
                </a:lnTo>
                <a:lnTo>
                  <a:pt x="937266" y="203150"/>
                </a:lnTo>
                <a:lnTo>
                  <a:pt x="951888" y="207734"/>
                </a:lnTo>
                <a:lnTo>
                  <a:pt x="990345" y="174279"/>
                </a:lnTo>
                <a:lnTo>
                  <a:pt x="1005542" y="129539"/>
                </a:lnTo>
                <a:lnTo>
                  <a:pt x="1007374" y="99940"/>
                </a:lnTo>
                <a:lnTo>
                  <a:pt x="1006473" y="87954"/>
                </a:lnTo>
                <a:lnTo>
                  <a:pt x="990757" y="40218"/>
                </a:lnTo>
                <a:lnTo>
                  <a:pt x="964002" y="10316"/>
                </a:lnTo>
                <a:lnTo>
                  <a:pt x="952602" y="4330"/>
                </a:lnTo>
                <a:lnTo>
                  <a:pt x="939946" y="0"/>
                </a:lnTo>
                <a:close/>
              </a:path>
              <a:path w="1007745" h="212089">
                <a:moveTo>
                  <a:pt x="67432" y="0"/>
                </a:moveTo>
                <a:lnTo>
                  <a:pt x="24918" y="26616"/>
                </a:lnTo>
                <a:lnTo>
                  <a:pt x="4214" y="69602"/>
                </a:lnTo>
                <a:lnTo>
                  <a:pt x="0" y="111868"/>
                </a:lnTo>
                <a:lnTo>
                  <a:pt x="893" y="123889"/>
                </a:lnTo>
                <a:lnTo>
                  <a:pt x="16558" y="171625"/>
                </a:lnTo>
                <a:lnTo>
                  <a:pt x="43305" y="201443"/>
                </a:lnTo>
                <a:lnTo>
                  <a:pt x="67432" y="211745"/>
                </a:lnTo>
                <a:lnTo>
                  <a:pt x="67423" y="202195"/>
                </a:lnTo>
                <a:lnTo>
                  <a:pt x="56257" y="196710"/>
                </a:lnTo>
                <a:lnTo>
                  <a:pt x="46464" y="189116"/>
                </a:lnTo>
                <a:lnTo>
                  <a:pt x="26522" y="156423"/>
                </a:lnTo>
                <a:lnTo>
                  <a:pt x="19669" y="118698"/>
                </a:lnTo>
                <a:lnTo>
                  <a:pt x="19213" y="103834"/>
                </a:lnTo>
                <a:lnTo>
                  <a:pt x="19769" y="89499"/>
                </a:lnTo>
                <a:lnTo>
                  <a:pt x="31963" y="41753"/>
                </a:lnTo>
                <a:lnTo>
                  <a:pt x="58321" y="13865"/>
                </a:lnTo>
                <a:lnTo>
                  <a:pt x="70445" y="8595"/>
                </a:lnTo>
                <a:lnTo>
                  <a:pt x="67432" y="0"/>
                </a:lnTo>
                <a:close/>
              </a:path>
            </a:pathLst>
          </a:custGeom>
          <a:solidFill>
            <a:srgbClr val="002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26505" y="1787068"/>
            <a:ext cx="290068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33270" algn="l"/>
              </a:tabLst>
            </a:pP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𝑥</a:t>
            </a:r>
            <a:r>
              <a:rPr sz="1800" spc="-22" baseline="-13888" dirty="0">
                <a:solidFill>
                  <a:srgbClr val="002060"/>
                </a:solidFill>
                <a:latin typeface="Cambria Math"/>
                <a:cs typeface="Cambria Math"/>
              </a:rPr>
              <a:t>1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,</a:t>
            </a:r>
            <a:r>
              <a:rPr sz="1800" spc="-95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spc="-15" dirty="0">
                <a:solidFill>
                  <a:srgbClr val="002060"/>
                </a:solidFill>
                <a:latin typeface="Cambria Math"/>
                <a:cs typeface="Cambria Math"/>
              </a:rPr>
              <a:t>…</a:t>
            </a:r>
            <a:r>
              <a:rPr sz="1800" spc="-100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,</a:t>
            </a:r>
            <a:r>
              <a:rPr sz="1800" spc="-95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2060"/>
                </a:solidFill>
                <a:latin typeface="Cambria Math"/>
                <a:cs typeface="Cambria Math"/>
              </a:rPr>
              <a:t>𝑥𝑛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baseline="23148" dirty="0">
                <a:solidFill>
                  <a:srgbClr val="002060"/>
                </a:solidFill>
                <a:latin typeface="Cambria Math"/>
                <a:cs typeface="Cambria Math"/>
              </a:rPr>
              <a:t>𝑇 </a:t>
            </a:r>
            <a:r>
              <a:rPr sz="1800" spc="-120" baseline="23148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d</a:t>
            </a:r>
            <a:r>
              <a:rPr sz="1800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2060"/>
                </a:solidFill>
                <a:latin typeface="Cambria Math"/>
                <a:cs typeface="Cambria Math"/>
              </a:rPr>
              <a:t>𝒚</a:t>
            </a:r>
            <a:r>
              <a:rPr sz="1800" spc="100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=	</a:t>
            </a:r>
            <a:r>
              <a:rPr sz="1800" spc="-15" dirty="0">
                <a:solidFill>
                  <a:srgbClr val="002060"/>
                </a:solidFill>
                <a:latin typeface="Cambria Math"/>
                <a:cs typeface="Cambria Math"/>
              </a:rPr>
              <a:t>𝑦</a:t>
            </a:r>
            <a:r>
              <a:rPr sz="1800" spc="-22" baseline="-13888" dirty="0">
                <a:solidFill>
                  <a:srgbClr val="002060"/>
                </a:solidFill>
                <a:latin typeface="Cambria Math"/>
                <a:cs typeface="Cambria Math"/>
              </a:rPr>
              <a:t>1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,</a:t>
            </a:r>
            <a:r>
              <a:rPr sz="1800" spc="-95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spc="-15" dirty="0">
                <a:solidFill>
                  <a:srgbClr val="002060"/>
                </a:solidFill>
                <a:latin typeface="Cambria Math"/>
                <a:cs typeface="Cambria Math"/>
              </a:rPr>
              <a:t>…</a:t>
            </a:r>
            <a:r>
              <a:rPr sz="1800" spc="-100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,</a:t>
            </a:r>
            <a:r>
              <a:rPr sz="1800" spc="-95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spc="-15" dirty="0">
                <a:solidFill>
                  <a:srgbClr val="002060"/>
                </a:solidFill>
                <a:latin typeface="Cambria Math"/>
                <a:cs typeface="Cambria Math"/>
              </a:rPr>
              <a:t>𝑦𝑛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0527" y="1787068"/>
            <a:ext cx="176720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aseline="23148" dirty="0">
                <a:solidFill>
                  <a:srgbClr val="002060"/>
                </a:solidFill>
                <a:latin typeface="Cambria Math"/>
                <a:cs typeface="Cambria Math"/>
              </a:rPr>
              <a:t>𝑇 </a:t>
            </a:r>
            <a:r>
              <a:rPr sz="1800" spc="-120" baseline="23148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2060"/>
                </a:solidFill>
                <a:latin typeface="Calibri"/>
                <a:cs typeface="Calibri"/>
              </a:rPr>
              <a:t>be</a:t>
            </a:r>
            <a:r>
              <a:rPr sz="1800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800" spc="-35" dirty="0">
                <a:solidFill>
                  <a:srgbClr val="002060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800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002060"/>
                </a:solidFill>
                <a:latin typeface="Calibri"/>
                <a:cs typeface="Calibri"/>
              </a:rPr>
              <a:t>v</a:t>
            </a:r>
            <a:r>
              <a:rPr sz="1800" spc="-10" dirty="0">
                <a:solidFill>
                  <a:srgbClr val="002060"/>
                </a:solidFill>
                <a:latin typeface="Calibri"/>
                <a:cs typeface="Calibri"/>
              </a:rPr>
              <a:t>ec</a:t>
            </a:r>
            <a:r>
              <a:rPr sz="1800" spc="-3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800" spc="-45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s </a:t>
            </a:r>
            <a:r>
              <a:rPr sz="18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04" y="2130552"/>
            <a:ext cx="4512945" cy="469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2060"/>
                </a:solidFill>
                <a:latin typeface="Cambria Math"/>
                <a:cs typeface="Cambria Math"/>
              </a:rPr>
              <a:t>ℛ</a:t>
            </a:r>
            <a:r>
              <a:rPr sz="1800" spc="22" baseline="23148" dirty="0">
                <a:solidFill>
                  <a:srgbClr val="002060"/>
                </a:solidFill>
                <a:latin typeface="Cambria Math"/>
                <a:cs typeface="Cambria Math"/>
              </a:rPr>
              <a:t>𝑛</a:t>
            </a:r>
            <a:r>
              <a:rPr sz="1800" spc="-5" dirty="0">
                <a:solidFill>
                  <a:srgbClr val="002060"/>
                </a:solidFill>
                <a:latin typeface="Calibri"/>
                <a:cs typeface="Calibri"/>
              </a:rPr>
              <a:t>,</a:t>
            </a:r>
            <a:r>
              <a:rPr sz="1800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800" spc="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i="1" spc="-5" dirty="0">
                <a:solidFill>
                  <a:srgbClr val="002060"/>
                </a:solidFill>
                <a:latin typeface="Calibri"/>
                <a:cs typeface="Calibri"/>
              </a:rPr>
              <a:t>d</a:t>
            </a:r>
            <a:r>
              <a:rPr sz="1800" i="1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800" i="1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800" i="1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i="1" spc="-15" dirty="0">
                <a:solidFill>
                  <a:srgbClr val="002060"/>
                </a:solidFill>
                <a:latin typeface="Calibri"/>
                <a:cs typeface="Calibri"/>
              </a:rPr>
              <a:t>p</a:t>
            </a:r>
            <a:r>
              <a:rPr sz="1800" i="1" spc="-2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800" i="1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800" i="1" spc="-5" dirty="0">
                <a:solidFill>
                  <a:srgbClr val="002060"/>
                </a:solidFill>
                <a:latin typeface="Calibri"/>
                <a:cs typeface="Calibri"/>
              </a:rPr>
              <a:t>du</a:t>
            </a:r>
            <a:r>
              <a:rPr sz="1800" i="1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1800" i="1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800" i="1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𝑎</a:t>
            </a:r>
            <a:r>
              <a:rPr sz="1800" spc="145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206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2060"/>
                </a:solidFill>
                <a:latin typeface="Cambria Math"/>
                <a:cs typeface="Cambria Math"/>
              </a:rPr>
              <a:t>𝒙</a:t>
            </a:r>
            <a:r>
              <a:rPr lang="en-US" sz="1800" dirty="0">
                <a:solidFill>
                  <a:srgbClr val="002060"/>
                </a:solidFill>
                <a:latin typeface="Cambria Math"/>
                <a:cs typeface="Cambria Math"/>
              </a:rPr>
              <a:t>. </a:t>
            </a:r>
            <a:r>
              <a:rPr lang="en-US" sz="1800" spc="-500" dirty="0">
                <a:solidFill>
                  <a:srgbClr val="002060"/>
                </a:solidFill>
                <a:latin typeface="Cambria Math"/>
                <a:cs typeface="Cambria Math"/>
              </a:rPr>
              <a:t>   </a:t>
            </a:r>
            <a:r>
              <a:rPr lang="en-US" sz="1800" spc="-20" dirty="0">
                <a:solidFill>
                  <a:srgbClr val="002060"/>
                </a:solidFill>
                <a:latin typeface="Cambria Math"/>
                <a:cs typeface="Cambria Math"/>
              </a:rPr>
              <a:t>𝒚 </a:t>
            </a:r>
            <a:r>
              <a:rPr lang="en-US" sz="1800" spc="15" dirty="0">
                <a:solidFill>
                  <a:srgbClr val="002060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s </a:t>
            </a:r>
            <a:r>
              <a:rPr sz="1800" spc="5" dirty="0">
                <a:solidFill>
                  <a:srgbClr val="002060"/>
                </a:solidFill>
                <a:latin typeface="Calibri"/>
                <a:cs typeface="Calibri"/>
              </a:rPr>
              <a:t>d</a:t>
            </a:r>
            <a:r>
              <a:rPr sz="1800" spc="-25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fin</a:t>
            </a:r>
            <a:r>
              <a:rPr sz="18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d</a:t>
            </a:r>
            <a:r>
              <a:rPr sz="1800" spc="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002060"/>
                </a:solidFill>
                <a:latin typeface="Calibri"/>
                <a:cs typeface="Calibri"/>
              </a:rPr>
              <a:t>s:</a:t>
            </a:r>
            <a:endParaRPr sz="1800" dirty="0">
              <a:latin typeface="Calibri"/>
              <a:cs typeface="Calibri"/>
            </a:endParaRPr>
          </a:p>
          <a:p>
            <a:pPr marR="1151255" algn="r">
              <a:lnSpc>
                <a:spcPts val="1475"/>
              </a:lnSpc>
            </a:pPr>
            <a:endParaRPr sz="1300" dirty="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2905" y="3027679"/>
            <a:ext cx="4100829" cy="530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s a</a:t>
            </a:r>
            <a:r>
              <a:rPr sz="1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b="1" spc="-19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165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70" dirty="0"/>
              <a:t>V</a:t>
            </a:r>
            <a:r>
              <a:rPr spc="-25" dirty="0"/>
              <a:t>e</a:t>
            </a:r>
            <a:r>
              <a:rPr spc="-5" dirty="0"/>
              <a:t>c</a:t>
            </a:r>
            <a:r>
              <a:rPr spc="5" dirty="0"/>
              <a:t>t</a:t>
            </a:r>
            <a:r>
              <a:rPr spc="-5" dirty="0"/>
              <a:t>o</a:t>
            </a:r>
            <a:r>
              <a:rPr spc="-15" dirty="0"/>
              <a:t>r</a:t>
            </a:r>
            <a:r>
              <a:rPr dirty="0"/>
              <a:t> </a:t>
            </a:r>
            <a:r>
              <a:rPr spc="-20" dirty="0"/>
              <a:t>ar</a:t>
            </a:r>
            <a:r>
              <a:rPr spc="-5" dirty="0"/>
              <a:t>i</a:t>
            </a:r>
            <a:r>
              <a:rPr spc="5" dirty="0"/>
              <a:t>t</a:t>
            </a:r>
            <a:r>
              <a:rPr dirty="0"/>
              <a:t>h</a:t>
            </a:r>
            <a:r>
              <a:rPr spc="-35" dirty="0"/>
              <a:t>me</a:t>
            </a:r>
            <a:r>
              <a:rPr spc="5" dirty="0"/>
              <a:t>t</a:t>
            </a:r>
            <a:r>
              <a:rPr spc="-5" dirty="0"/>
              <a:t>i</a:t>
            </a:r>
            <a:r>
              <a:rPr dirty="0"/>
              <a:t>c</a:t>
            </a:r>
          </a:p>
        </p:txBody>
      </p:sp>
      <p:sp>
        <p:nvSpPr>
          <p:cNvPr id="22" name="object 22"/>
          <p:cNvSpPr/>
          <p:nvPr/>
        </p:nvSpPr>
        <p:spPr>
          <a:xfrm>
            <a:off x="6314313" y="2402848"/>
            <a:ext cx="1424940" cy="1137920"/>
          </a:xfrm>
          <a:custGeom>
            <a:avLst/>
            <a:gdLst/>
            <a:ahLst/>
            <a:cxnLst/>
            <a:rect l="l" t="t" r="r" b="b"/>
            <a:pathLst>
              <a:path w="1424940" h="1137920">
                <a:moveTo>
                  <a:pt x="0" y="1137785"/>
                </a:moveTo>
                <a:lnTo>
                  <a:pt x="1424734" y="0"/>
                </a:lnTo>
              </a:path>
            </a:pathLst>
          </a:custGeom>
          <a:ln w="201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645262" y="2390321"/>
            <a:ext cx="109855" cy="102235"/>
          </a:xfrm>
          <a:custGeom>
            <a:avLst/>
            <a:gdLst/>
            <a:ahLst/>
            <a:cxnLst/>
            <a:rect l="l" t="t" r="r" b="b"/>
            <a:pathLst>
              <a:path w="109854" h="102235">
                <a:moveTo>
                  <a:pt x="109471" y="0"/>
                </a:moveTo>
                <a:lnTo>
                  <a:pt x="0" y="23075"/>
                </a:lnTo>
                <a:lnTo>
                  <a:pt x="62415" y="37580"/>
                </a:lnTo>
                <a:lnTo>
                  <a:pt x="62089" y="102188"/>
                </a:lnTo>
                <a:lnTo>
                  <a:pt x="1094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14313" y="3120313"/>
            <a:ext cx="2381250" cy="420370"/>
          </a:xfrm>
          <a:custGeom>
            <a:avLst/>
            <a:gdLst/>
            <a:ahLst/>
            <a:cxnLst/>
            <a:rect l="l" t="t" r="r" b="b"/>
            <a:pathLst>
              <a:path w="2381250" h="420370">
                <a:moveTo>
                  <a:pt x="0" y="420320"/>
                </a:moveTo>
                <a:lnTo>
                  <a:pt x="2380995" y="0"/>
                </a:lnTo>
              </a:path>
            </a:pathLst>
          </a:custGeom>
          <a:ln w="20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07862" y="3084532"/>
            <a:ext cx="107314" cy="99695"/>
          </a:xfrm>
          <a:custGeom>
            <a:avLst/>
            <a:gdLst/>
            <a:ahLst/>
            <a:cxnLst/>
            <a:rect l="l" t="t" r="r" b="b"/>
            <a:pathLst>
              <a:path w="107315" h="99694">
                <a:moveTo>
                  <a:pt x="0" y="0"/>
                </a:moveTo>
                <a:lnTo>
                  <a:pt x="48033" y="42739"/>
                </a:lnTo>
                <a:lnTo>
                  <a:pt x="17242" y="99394"/>
                </a:lnTo>
                <a:lnTo>
                  <a:pt x="107153" y="323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453951" y="2158536"/>
            <a:ext cx="146050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-10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94283" y="3244758"/>
            <a:ext cx="146050" cy="267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b="1" spc="-10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33828" y="3083057"/>
            <a:ext cx="150495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b="1" i="1" spc="-45" dirty="0">
                <a:latin typeface="Symbol"/>
                <a:cs typeface="Symbol"/>
              </a:rPr>
              <a:t>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447153" y="2629291"/>
            <a:ext cx="297815" cy="638810"/>
          </a:xfrm>
          <a:custGeom>
            <a:avLst/>
            <a:gdLst/>
            <a:ahLst/>
            <a:cxnLst/>
            <a:rect l="l" t="t" r="r" b="b"/>
            <a:pathLst>
              <a:path w="297815" h="638810">
                <a:moveTo>
                  <a:pt x="0" y="0"/>
                </a:moveTo>
                <a:lnTo>
                  <a:pt x="55499" y="48478"/>
                </a:lnTo>
                <a:lnTo>
                  <a:pt x="105809" y="101511"/>
                </a:lnTo>
                <a:lnTo>
                  <a:pt x="150731" y="158670"/>
                </a:lnTo>
                <a:lnTo>
                  <a:pt x="190064" y="219527"/>
                </a:lnTo>
                <a:lnTo>
                  <a:pt x="223609" y="283653"/>
                </a:lnTo>
                <a:lnTo>
                  <a:pt x="251165" y="350619"/>
                </a:lnTo>
                <a:lnTo>
                  <a:pt x="272534" y="419997"/>
                </a:lnTo>
                <a:lnTo>
                  <a:pt x="287515" y="491357"/>
                </a:lnTo>
                <a:lnTo>
                  <a:pt x="295908" y="564271"/>
                </a:lnTo>
                <a:lnTo>
                  <a:pt x="297571" y="601177"/>
                </a:lnTo>
                <a:lnTo>
                  <a:pt x="297513" y="638310"/>
                </a:lnTo>
              </a:path>
            </a:pathLst>
          </a:custGeom>
          <a:ln w="100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4CF0BC2-96E7-41DD-BA39-4780F1F32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694" y="2497170"/>
            <a:ext cx="2733675" cy="6858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A51D8CD-C644-47AA-A78E-3614A43BFECE}"/>
              </a:ext>
            </a:extLst>
          </p:cNvPr>
          <p:cNvSpPr txBox="1"/>
          <p:nvPr/>
        </p:nvSpPr>
        <p:spPr>
          <a:xfrm>
            <a:off x="533400" y="3678324"/>
            <a:ext cx="505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Example: (3,2,1)</a:t>
            </a:r>
            <a:r>
              <a:rPr lang="en-US" i="1" baseline="30000" dirty="0"/>
              <a:t>T</a:t>
            </a:r>
            <a:r>
              <a:rPr lang="en-US" i="1" dirty="0"/>
              <a:t>  .  (1,2,0)</a:t>
            </a:r>
            <a:r>
              <a:rPr lang="en-US" i="1" baseline="30000" dirty="0"/>
              <a:t>T</a:t>
            </a:r>
            <a:r>
              <a:rPr lang="en-US" i="1" dirty="0"/>
              <a:t>   = (3 + 4 + 0) = 7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131D96C-0410-4C45-9838-417B0DD3F6DE}"/>
                  </a:ext>
                </a:extLst>
              </p14:cNvPr>
              <p14:cNvContentPartPr/>
              <p14:nvPr/>
            </p14:nvContentPartPr>
            <p14:xfrm>
              <a:off x="2601248" y="3930936"/>
              <a:ext cx="360" cy="5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131D96C-0410-4C45-9838-417B0DD3F6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2248" y="3922296"/>
                <a:ext cx="1800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16615A1-3265-4E51-B850-074288DD0DBF}"/>
                  </a:ext>
                </a:extLst>
              </p14:cNvPr>
              <p14:cNvContentPartPr/>
              <p14:nvPr/>
            </p14:nvContentPartPr>
            <p14:xfrm>
              <a:off x="3584048" y="3909336"/>
              <a:ext cx="360" cy="2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16615A1-3265-4E51-B850-074288DD0DB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75408" y="3900696"/>
                <a:ext cx="1800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7809B93-0B22-4426-9401-BC32D4EF3D63}"/>
                  </a:ext>
                </a:extLst>
              </p14:cNvPr>
              <p14:cNvContentPartPr/>
              <p14:nvPr/>
            </p14:nvContentPartPr>
            <p14:xfrm>
              <a:off x="3774128" y="3916896"/>
              <a:ext cx="720" cy="7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7809B93-0B22-4426-9401-BC32D4EF3D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65128" y="3908256"/>
                <a:ext cx="18360" cy="2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40790"/>
            <a:ext cx="5401223" cy="13952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00" i="1" spc="-10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1900" i="1" spc="-5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r>
              <a:rPr sz="1900" i="1" spc="-10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1900" i="1" spc="-5" dirty="0">
                <a:solidFill>
                  <a:srgbClr val="FF6600"/>
                </a:solidFill>
                <a:latin typeface="Calibri"/>
                <a:cs typeface="Calibri"/>
              </a:rPr>
              <a:t>h</a:t>
            </a:r>
            <a:r>
              <a:rPr sz="1900" i="1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1900" i="1" spc="-5" dirty="0">
                <a:solidFill>
                  <a:srgbClr val="FF6600"/>
                </a:solidFill>
                <a:latin typeface="Calibri"/>
                <a:cs typeface="Calibri"/>
              </a:rPr>
              <a:t>g</a:t>
            </a:r>
            <a:r>
              <a:rPr sz="1900" i="1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1900" i="1" spc="-5" dirty="0">
                <a:solidFill>
                  <a:srgbClr val="FF6600"/>
                </a:solidFill>
                <a:latin typeface="Calibri"/>
                <a:cs typeface="Calibri"/>
              </a:rPr>
              <a:t>na</a:t>
            </a:r>
            <a:r>
              <a:rPr sz="1900" i="1" dirty="0">
                <a:solidFill>
                  <a:srgbClr val="FF6600"/>
                </a:solidFill>
                <a:latin typeface="Calibri"/>
                <a:cs typeface="Calibri"/>
              </a:rPr>
              <a:t>l</a:t>
            </a:r>
            <a:r>
              <a:rPr sz="1900" i="1" spc="-5" dirty="0">
                <a:solidFill>
                  <a:srgbClr val="FF6600"/>
                </a:solidFill>
                <a:latin typeface="Calibri"/>
                <a:cs typeface="Calibri"/>
              </a:rPr>
              <a:t> p</a:t>
            </a:r>
            <a:r>
              <a:rPr sz="1900" i="1" spc="-15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r>
              <a:rPr sz="1900" i="1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1900" i="1" spc="-5" dirty="0">
                <a:solidFill>
                  <a:srgbClr val="FF6600"/>
                </a:solidFill>
                <a:latin typeface="Calibri"/>
                <a:cs typeface="Calibri"/>
              </a:rPr>
              <a:t>jec</a:t>
            </a:r>
            <a:r>
              <a:rPr sz="1900" i="1" spc="-10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1900" i="1" dirty="0">
                <a:solidFill>
                  <a:srgbClr val="FF6600"/>
                </a:solidFill>
                <a:latin typeface="Calibri"/>
                <a:cs typeface="Calibri"/>
              </a:rPr>
              <a:t>ion</a:t>
            </a:r>
            <a:endParaRPr sz="19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spc="-55" dirty="0">
                <a:solidFill>
                  <a:srgbClr val="00026A"/>
                </a:solidFill>
                <a:latin typeface="Calibri"/>
                <a:cs typeface="Calibri"/>
              </a:rPr>
              <a:t>k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ace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spc="-3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y 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ace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f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on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li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ty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g</a:t>
            </a:r>
            <a:r>
              <a:rPr sz="1500" spc="-30" dirty="0">
                <a:solidFill>
                  <a:srgbClr val="00026A"/>
                </a:solidFill>
                <a:latin typeface="Calibri"/>
                <a:cs typeface="Calibri"/>
              </a:rPr>
              <a:t>g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er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2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lang="en-US" sz="1500" dirty="0">
              <a:solidFill>
                <a:srgbClr val="00026A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lang="en-US" sz="1500" dirty="0">
                <a:solidFill>
                  <a:srgbClr val="00026A"/>
                </a:solidFill>
                <a:latin typeface="Calibri"/>
                <a:cs typeface="Calibri"/>
              </a:rPr>
              <a:t>Projection of y onto x : drop a perpendicular line from y onto x (meet at point ) and the projection vector is the vector to that point.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2904" y="3145789"/>
            <a:ext cx="260604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ot p</a:t>
            </a:r>
            <a:r>
              <a:rPr sz="1500" spc="-2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odu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1500" spc="-3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rm: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70" dirty="0"/>
              <a:t>V</a:t>
            </a:r>
            <a:r>
              <a:rPr spc="-25" dirty="0"/>
              <a:t>e</a:t>
            </a:r>
            <a:r>
              <a:rPr spc="-5" dirty="0"/>
              <a:t>c</a:t>
            </a:r>
            <a:r>
              <a:rPr spc="5" dirty="0"/>
              <a:t>t</a:t>
            </a:r>
            <a:r>
              <a:rPr spc="-5" dirty="0"/>
              <a:t>o</a:t>
            </a:r>
            <a:r>
              <a:rPr spc="-15" dirty="0"/>
              <a:t>r</a:t>
            </a:r>
            <a:r>
              <a:rPr dirty="0"/>
              <a:t> </a:t>
            </a:r>
            <a:r>
              <a:rPr spc="-30" dirty="0"/>
              <a:t>p</a:t>
            </a:r>
            <a:r>
              <a:rPr spc="-15" dirty="0"/>
              <a:t>r</a:t>
            </a:r>
            <a:r>
              <a:rPr spc="-5" dirty="0"/>
              <a:t>oj</a:t>
            </a:r>
            <a:r>
              <a:rPr spc="-25" dirty="0"/>
              <a:t>e</a:t>
            </a:r>
            <a:r>
              <a:rPr spc="-5" dirty="0"/>
              <a:t>c</a:t>
            </a:r>
            <a:r>
              <a:rPr spc="5" dirty="0"/>
              <a:t>t</a:t>
            </a:r>
            <a:r>
              <a:rPr spc="-5" dirty="0"/>
              <a:t>io</a:t>
            </a:r>
            <a:r>
              <a:rPr dirty="0"/>
              <a:t>n</a:t>
            </a:r>
          </a:p>
        </p:txBody>
      </p:sp>
      <p:sp>
        <p:nvSpPr>
          <p:cNvPr id="40" name="object 40"/>
          <p:cNvSpPr/>
          <p:nvPr/>
        </p:nvSpPr>
        <p:spPr>
          <a:xfrm>
            <a:off x="6068518" y="1985680"/>
            <a:ext cx="1605280" cy="1261745"/>
          </a:xfrm>
          <a:custGeom>
            <a:avLst/>
            <a:gdLst/>
            <a:ahLst/>
            <a:cxnLst/>
            <a:rect l="l" t="t" r="r" b="b"/>
            <a:pathLst>
              <a:path w="1605279" h="1261745">
                <a:moveTo>
                  <a:pt x="0" y="1261384"/>
                </a:moveTo>
                <a:lnTo>
                  <a:pt x="1604958" y="0"/>
                </a:lnTo>
              </a:path>
            </a:pathLst>
          </a:custGeom>
          <a:ln w="224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567828" y="1971793"/>
            <a:ext cx="123825" cy="113664"/>
          </a:xfrm>
          <a:custGeom>
            <a:avLst/>
            <a:gdLst/>
            <a:ahLst/>
            <a:cxnLst/>
            <a:rect l="l" t="t" r="r" b="b"/>
            <a:pathLst>
              <a:path w="123825" h="113664">
                <a:moveTo>
                  <a:pt x="123318" y="0"/>
                </a:moveTo>
                <a:lnTo>
                  <a:pt x="0" y="25582"/>
                </a:lnTo>
                <a:lnTo>
                  <a:pt x="70309" y="41662"/>
                </a:lnTo>
                <a:lnTo>
                  <a:pt x="69940" y="113289"/>
                </a:lnTo>
                <a:lnTo>
                  <a:pt x="12331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068518" y="2781084"/>
            <a:ext cx="2682240" cy="466090"/>
          </a:xfrm>
          <a:custGeom>
            <a:avLst/>
            <a:gdLst/>
            <a:ahLst/>
            <a:cxnLst/>
            <a:rect l="l" t="t" r="r" b="b"/>
            <a:pathLst>
              <a:path w="2682240" h="466089">
                <a:moveTo>
                  <a:pt x="0" y="465980"/>
                </a:moveTo>
                <a:lnTo>
                  <a:pt x="2682181" y="0"/>
                </a:lnTo>
              </a:path>
            </a:pathLst>
          </a:custGeom>
          <a:ln w="223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652189" y="2741416"/>
            <a:ext cx="121285" cy="110489"/>
          </a:xfrm>
          <a:custGeom>
            <a:avLst/>
            <a:gdLst/>
            <a:ahLst/>
            <a:cxnLst/>
            <a:rect l="l" t="t" r="r" b="b"/>
            <a:pathLst>
              <a:path w="121284" h="110489">
                <a:moveTo>
                  <a:pt x="0" y="0"/>
                </a:moveTo>
                <a:lnTo>
                  <a:pt x="54109" y="47382"/>
                </a:lnTo>
                <a:lnTo>
                  <a:pt x="19425" y="110190"/>
                </a:lnTo>
                <a:lnTo>
                  <a:pt x="120709" y="358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7353920" y="1706205"/>
            <a:ext cx="15113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b="1" spc="5" dirty="0">
                <a:latin typeface="Arial"/>
                <a:cs typeface="Arial"/>
              </a:rPr>
              <a:t>y</a:t>
            </a:r>
            <a:endParaRPr sz="17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638500" y="2918903"/>
            <a:ext cx="151130" cy="249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50" b="1" spc="5" dirty="0">
                <a:latin typeface="Arial"/>
                <a:cs typeface="Arial"/>
              </a:rPr>
              <a:t>x</a:t>
            </a:r>
            <a:endParaRPr sz="17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118582" y="2453019"/>
            <a:ext cx="250825" cy="537845"/>
          </a:xfrm>
          <a:custGeom>
            <a:avLst/>
            <a:gdLst/>
            <a:ahLst/>
            <a:cxnLst/>
            <a:rect l="l" t="t" r="r" b="b"/>
            <a:pathLst>
              <a:path w="250825" h="537844">
                <a:moveTo>
                  <a:pt x="0" y="0"/>
                </a:moveTo>
                <a:lnTo>
                  <a:pt x="46775" y="45912"/>
                </a:lnTo>
                <a:lnTo>
                  <a:pt x="89136" y="94473"/>
                </a:lnTo>
                <a:lnTo>
                  <a:pt x="126924" y="145342"/>
                </a:lnTo>
                <a:lnTo>
                  <a:pt x="159983" y="198184"/>
                </a:lnTo>
                <a:lnTo>
                  <a:pt x="188155" y="252660"/>
                </a:lnTo>
                <a:lnTo>
                  <a:pt x="211283" y="308431"/>
                </a:lnTo>
                <a:lnTo>
                  <a:pt x="229210" y="365161"/>
                </a:lnTo>
                <a:lnTo>
                  <a:pt x="241778" y="422512"/>
                </a:lnTo>
                <a:lnTo>
                  <a:pt x="248831" y="480145"/>
                </a:lnTo>
                <a:lnTo>
                  <a:pt x="250240" y="508962"/>
                </a:lnTo>
                <a:lnTo>
                  <a:pt x="250212" y="537724"/>
                </a:lnTo>
              </a:path>
            </a:pathLst>
          </a:custGeom>
          <a:ln w="112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669015" y="1971793"/>
            <a:ext cx="193040" cy="977265"/>
          </a:xfrm>
          <a:custGeom>
            <a:avLst/>
            <a:gdLst/>
            <a:ahLst/>
            <a:cxnLst/>
            <a:rect l="l" t="t" r="r" b="b"/>
            <a:pathLst>
              <a:path w="193040" h="977264">
                <a:moveTo>
                  <a:pt x="0" y="0"/>
                </a:moveTo>
                <a:lnTo>
                  <a:pt x="192865" y="977120"/>
                </a:lnTo>
              </a:path>
            </a:pathLst>
          </a:custGeom>
          <a:ln w="167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076989" y="2935820"/>
            <a:ext cx="1762760" cy="318770"/>
          </a:xfrm>
          <a:custGeom>
            <a:avLst/>
            <a:gdLst/>
            <a:ahLst/>
            <a:cxnLst/>
            <a:rect l="l" t="t" r="r" b="b"/>
            <a:pathLst>
              <a:path w="1762759" h="318770">
                <a:moveTo>
                  <a:pt x="0" y="318309"/>
                </a:moveTo>
                <a:lnTo>
                  <a:pt x="1762436" y="0"/>
                </a:lnTo>
              </a:path>
            </a:pathLst>
          </a:custGeom>
          <a:ln w="223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40651" y="2896807"/>
            <a:ext cx="121285" cy="110489"/>
          </a:xfrm>
          <a:custGeom>
            <a:avLst/>
            <a:gdLst/>
            <a:ahLst/>
            <a:cxnLst/>
            <a:rect l="l" t="t" r="r" b="b"/>
            <a:pathLst>
              <a:path w="121284" h="110489">
                <a:moveTo>
                  <a:pt x="0" y="0"/>
                </a:moveTo>
                <a:lnTo>
                  <a:pt x="54428" y="47023"/>
                </a:lnTo>
                <a:lnTo>
                  <a:pt x="20168" y="110060"/>
                </a:lnTo>
                <a:lnTo>
                  <a:pt x="120947" y="3500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792457" y="2740979"/>
            <a:ext cx="935355" cy="739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330">
              <a:lnSpc>
                <a:spcPct val="100000"/>
              </a:lnSpc>
            </a:pPr>
            <a:r>
              <a:rPr sz="2150" b="1" i="1" spc="-15" dirty="0">
                <a:latin typeface="Symbol"/>
                <a:cs typeface="Symbol"/>
              </a:rPr>
              <a:t></a:t>
            </a:r>
            <a:endParaRPr sz="21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750" b="1" spc="5" dirty="0">
                <a:latin typeface="Arial"/>
                <a:cs typeface="Arial"/>
              </a:rPr>
              <a:t>proj</a:t>
            </a:r>
            <a:r>
              <a:rPr sz="1725" b="1" spc="15" baseline="-21739" dirty="0">
                <a:latin typeface="Arial"/>
                <a:cs typeface="Arial"/>
              </a:rPr>
              <a:t>x</a:t>
            </a:r>
            <a:r>
              <a:rPr sz="1750" b="1" spc="5" dirty="0">
                <a:latin typeface="Arial"/>
                <a:cs typeface="Arial"/>
              </a:rPr>
              <a:t>( y )</a:t>
            </a:r>
            <a:endParaRPr sz="1750">
              <a:latin typeface="Arial"/>
              <a:cs typeface="Arial"/>
            </a:endParaRPr>
          </a:p>
        </p:txBody>
      </p:sp>
      <p:sp>
        <p:nvSpPr>
          <p:cNvPr id="74" name="object 74"/>
          <p:cNvSpPr txBox="1">
            <a:spLocks noGrp="1"/>
          </p:cNvSpPr>
          <p:nvPr>
            <p:ph type="ftr" sz="quarter" idx="5"/>
          </p:nvPr>
        </p:nvSpPr>
        <p:spPr>
          <a:xfrm>
            <a:off x="278437" y="4781550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E588223-F71F-46D6-927F-4263621CEEAD}"/>
                  </a:ext>
                </a:extLst>
              </p:cNvPr>
              <p:cNvSpPr txBox="1"/>
              <p:nvPr/>
            </p:nvSpPr>
            <p:spPr>
              <a:xfrm>
                <a:off x="962888" y="3327547"/>
                <a:ext cx="3429000" cy="679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𝑃𝑟𝑜𝑗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.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E588223-F71F-46D6-927F-4263621CE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88" y="3327547"/>
                <a:ext cx="3429000" cy="6790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A0A7349-7051-4FB6-9125-016997393BB6}"/>
              </a:ext>
            </a:extLst>
          </p:cNvPr>
          <p:cNvCxnSpPr/>
          <p:nvPr/>
        </p:nvCxnSpPr>
        <p:spPr>
          <a:xfrm flipV="1">
            <a:off x="6076989" y="2949058"/>
            <a:ext cx="1762760" cy="2981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40A2C74-F1B6-4CE5-9F72-9B80239C71B2}"/>
                  </a:ext>
                </a:extLst>
              </p:cNvPr>
              <p:cNvSpPr txBox="1"/>
              <p:nvPr/>
            </p:nvSpPr>
            <p:spPr>
              <a:xfrm>
                <a:off x="351463" y="4289410"/>
                <a:ext cx="7006503" cy="540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solidFill>
                      <a:srgbClr val="FFC000"/>
                    </a:solidFill>
                  </a:rPr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𝑃𝑟𝑜𝑗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(4,3,0)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(25,0,5)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100+0+0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 (4,3,0)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(16+9+0)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=(16,12,0)</m:t>
                    </m:r>
                  </m:oMath>
                </a14:m>
                <a:r>
                  <a:rPr lang="en-US" i="1" dirty="0"/>
                  <a:t> 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40A2C74-F1B6-4CE5-9F72-9B80239C7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63" y="4289410"/>
                <a:ext cx="7006503" cy="540661"/>
              </a:xfrm>
              <a:prstGeom prst="rect">
                <a:avLst/>
              </a:prstGeom>
              <a:blipFill>
                <a:blip r:embed="rId4"/>
                <a:stretch>
                  <a:fillRect l="-783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235455"/>
            <a:ext cx="5921375" cy="570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79100"/>
              </a:lnSpc>
            </a:pP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200" spc="-3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n: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00026A"/>
                </a:solidFill>
                <a:latin typeface="Calibri"/>
                <a:cs typeface="Calibri"/>
              </a:rPr>
              <a:t>m 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x </a:t>
            </a:r>
            <a:r>
              <a:rPr sz="2200" i="1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spc="-4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o-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a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6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al</a:t>
            </a:r>
            <a:r>
              <a:rPr sz="2200" spc="-25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(u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uall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nu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-5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).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905" y="1872488"/>
            <a:ext cx="1431290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buClr>
                <a:srgbClr val="A6A6A6"/>
              </a:buClr>
              <a:buSzPct val="88888"/>
              <a:buFont typeface="Arial"/>
              <a:buChar char="•"/>
              <a:tabLst>
                <a:tab pos="466725" algn="l"/>
              </a:tabLst>
            </a:pPr>
            <a:r>
              <a:rPr sz="1800" i="1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i="1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3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335"/>
              </a:spcBef>
              <a:buClr>
                <a:srgbClr val="A6A6A6"/>
              </a:buClr>
              <a:buSzPct val="88888"/>
              <a:buFont typeface="Arial"/>
              <a:buChar char="•"/>
              <a:tabLst>
                <a:tab pos="466725" algn="l"/>
              </a:tabLst>
            </a:pPr>
            <a:r>
              <a:rPr sz="1800" i="1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i="1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905" y="2936239"/>
            <a:ext cx="501967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spc="-4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x 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3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-5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-25" dirty="0">
                <a:solidFill>
                  <a:srgbClr val="00026A"/>
                </a:solidFill>
                <a:latin typeface="Calibri"/>
                <a:cs typeface="Calibri"/>
              </a:rPr>
              <a:t>nc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o-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leme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s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endParaRPr sz="22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905" y="3310382"/>
            <a:ext cx="5618480" cy="1153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buClr>
                <a:srgbClr val="A6A6A6"/>
              </a:buClr>
              <a:buSzPct val="89473"/>
              <a:buFont typeface="Arial"/>
              <a:buChar char="•"/>
              <a:tabLst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in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s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sc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pt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endParaRPr sz="1900">
              <a:latin typeface="Calibri"/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31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725" algn="l"/>
              </a:tabLst>
            </a:pP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nd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e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in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lu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mn</a:t>
            </a:r>
            <a:endParaRPr sz="1900">
              <a:latin typeface="Calibri"/>
              <a:cs typeface="Calibri"/>
            </a:endParaRPr>
          </a:p>
          <a:p>
            <a:pPr marL="466725" marR="5080" indent="-454025">
              <a:lnSpc>
                <a:spcPct val="78900"/>
              </a:lnSpc>
              <a:spcBef>
                <a:spcPts val="79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725" algn="l"/>
              </a:tabLst>
            </a:pP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45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pl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e: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b="1" spc="-2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50" spc="-52" baseline="-17094" dirty="0">
                <a:solidFill>
                  <a:srgbClr val="00026A"/>
                </a:solidFill>
                <a:latin typeface="Calibri"/>
                <a:cs typeface="Calibri"/>
              </a:rPr>
              <a:t>2</a:t>
            </a:r>
            <a:r>
              <a:rPr sz="1950" spc="-30" baseline="-17094" dirty="0">
                <a:solidFill>
                  <a:srgbClr val="00026A"/>
                </a:solidFill>
                <a:latin typeface="Calibri"/>
                <a:cs typeface="Calibri"/>
              </a:rPr>
              <a:t>,</a:t>
            </a:r>
            <a:r>
              <a:rPr sz="1950" spc="-15" baseline="-17094" dirty="0">
                <a:solidFill>
                  <a:srgbClr val="00026A"/>
                </a:solidFill>
                <a:latin typeface="Calibri"/>
                <a:cs typeface="Calibri"/>
              </a:rPr>
              <a:t>4</a:t>
            </a:r>
            <a:r>
              <a:rPr sz="1950" spc="157" baseline="-17094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i="1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50" spc="-52" baseline="-17094" dirty="0">
                <a:solidFill>
                  <a:srgbClr val="00026A"/>
                </a:solidFill>
                <a:latin typeface="Calibri"/>
                <a:cs typeface="Calibri"/>
              </a:rPr>
              <a:t>2</a:t>
            </a:r>
            <a:r>
              <a:rPr sz="1950" spc="-30" baseline="-17094" dirty="0">
                <a:solidFill>
                  <a:srgbClr val="00026A"/>
                </a:solidFill>
                <a:latin typeface="Calibri"/>
                <a:cs typeface="Calibri"/>
              </a:rPr>
              <a:t>,</a:t>
            </a:r>
            <a:r>
              <a:rPr sz="1950" spc="-15" baseline="-17094" dirty="0">
                <a:solidFill>
                  <a:srgbClr val="00026A"/>
                </a:solidFill>
                <a:latin typeface="Calibri"/>
                <a:cs typeface="Calibri"/>
              </a:rPr>
              <a:t>4</a:t>
            </a:r>
            <a:r>
              <a:rPr sz="1950" spc="157" baseline="-17094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e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in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se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nd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spc="-17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, </a:t>
            </a:r>
            <a:r>
              <a:rPr sz="1900" spc="-4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rt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h 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lu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b="1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Matr</a:t>
            </a:r>
            <a:r>
              <a:rPr spc="-5" dirty="0"/>
              <a:t>ic</a:t>
            </a:r>
            <a:r>
              <a:rPr spc="-25" dirty="0"/>
              <a:t>e</a:t>
            </a:r>
            <a:r>
              <a:rPr dirty="0"/>
              <a:t>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9A23E2-EE8E-447E-90B0-251432FBE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170227"/>
            <a:ext cx="2133600" cy="18524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299463"/>
            <a:ext cx="3497579" cy="100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590"/>
              </a:lnSpc>
            </a:pP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v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4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g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d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a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 s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pe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ia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ix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,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he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of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men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=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1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905" y="2536189"/>
            <a:ext cx="3291840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spc="-4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x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os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2200" spc="-2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en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50" spc="-30" baseline="2592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905" y="2988055"/>
            <a:ext cx="3643629" cy="1408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725" marR="376555" indent="-454025">
              <a:lnSpc>
                <a:spcPct val="101800"/>
              </a:lnSpc>
              <a:buClr>
                <a:srgbClr val="A6A6A6"/>
              </a:buClr>
              <a:buSzPct val="90909"/>
              <a:buFont typeface="Arial"/>
              <a:buChar char="•"/>
              <a:tabLst>
                <a:tab pos="466725" algn="l"/>
              </a:tabLst>
            </a:pP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-4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5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4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1700" spc="-4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7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700" spc="-1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17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26A"/>
                </a:solidFill>
                <a:latin typeface="Calibri"/>
                <a:cs typeface="Calibri"/>
              </a:rPr>
              <a:t>1</a:t>
            </a:r>
            <a:r>
              <a:rPr sz="17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26A"/>
                </a:solidFill>
                <a:latin typeface="Calibri"/>
                <a:cs typeface="Calibri"/>
              </a:rPr>
              <a:t>be</a:t>
            </a:r>
            <a:r>
              <a:rPr sz="1700" spc="-2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7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700" spc="-15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17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1700" spc="-2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7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7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700" spc="-1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7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7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7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26A"/>
                </a:solidFill>
                <a:latin typeface="Calibri"/>
                <a:cs typeface="Calibri"/>
              </a:rPr>
              <a:t>1,</a:t>
            </a:r>
            <a:r>
              <a:rPr sz="17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7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700" spc="-3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700" spc="-5" dirty="0">
                <a:solidFill>
                  <a:srgbClr val="00026A"/>
                </a:solidFill>
                <a:latin typeface="Calibri"/>
                <a:cs typeface="Calibri"/>
              </a:rPr>
              <a:t>c.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endParaRPr sz="2200">
              <a:latin typeface="Calibri"/>
              <a:cs typeface="Calibri"/>
            </a:endParaRPr>
          </a:p>
          <a:p>
            <a:pPr marL="466725" indent="-454025">
              <a:lnSpc>
                <a:spcPts val="2615"/>
              </a:lnSpc>
              <a:spcBef>
                <a:spcPts val="765"/>
              </a:spcBef>
              <a:buClr>
                <a:srgbClr val="A6A6A6"/>
              </a:buClr>
              <a:buSzPct val="90909"/>
              <a:buFont typeface="Arial"/>
              <a:buChar char="•"/>
              <a:tabLst>
                <a:tab pos="466725" algn="l"/>
              </a:tabLst>
            </a:pPr>
            <a:r>
              <a:rPr sz="2200" i="1" dirty="0">
                <a:solidFill>
                  <a:srgbClr val="00026A"/>
                </a:solidFill>
                <a:latin typeface="Calibri"/>
                <a:cs typeface="Calibri"/>
              </a:rPr>
              <a:t>m 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x </a:t>
            </a:r>
            <a:r>
              <a:rPr sz="2200" i="1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spc="-4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x 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2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mes</a:t>
            </a:r>
            <a:r>
              <a:rPr sz="22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200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x </a:t>
            </a:r>
            <a:r>
              <a:rPr sz="2200" i="1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endParaRPr sz="2200">
              <a:latin typeface="Calibri"/>
              <a:cs typeface="Calibri"/>
            </a:endParaRPr>
          </a:p>
          <a:p>
            <a:pPr marL="466725">
              <a:lnSpc>
                <a:spcPts val="2615"/>
              </a:lnSpc>
            </a:pPr>
            <a:r>
              <a:rPr sz="22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200" spc="-4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200" spc="-2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200" spc="-1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200" spc="-5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22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Matr</a:t>
            </a:r>
            <a:r>
              <a:rPr spc="-5" dirty="0"/>
              <a:t>ic</a:t>
            </a:r>
            <a:r>
              <a:rPr spc="-25" dirty="0"/>
              <a:t>e</a:t>
            </a:r>
            <a:r>
              <a:rPr dirty="0"/>
              <a:t>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834EF59-F5D5-40A4-B337-DA9C74DD3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364042"/>
            <a:ext cx="3783253" cy="32480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91844"/>
            <a:ext cx="4541520" cy="2087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20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d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d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n 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f </a:t>
            </a:r>
            <a:r>
              <a:rPr sz="2400" i="1" spc="-20" dirty="0">
                <a:solidFill>
                  <a:srgbClr val="FF6600"/>
                </a:solidFill>
                <a:latin typeface="Calibri"/>
                <a:cs typeface="Calibri"/>
              </a:rPr>
              <a:t>tw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o ma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ce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s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tr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ce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s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5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z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𝑪</a:t>
            </a:r>
            <a:r>
              <a:rPr sz="1800" spc="9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 +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𝑩 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is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d</a:t>
            </a:r>
            <a:r>
              <a:rPr sz="1800" spc="-15" dirty="0">
                <a:solidFill>
                  <a:srgbClr val="00026A"/>
                </a:solidFill>
                <a:latin typeface="Cambria Math"/>
                <a:cs typeface="Cambria Math"/>
              </a:rPr>
              <a:t>e</a:t>
            </a:r>
            <a:r>
              <a:rPr sz="1800" spc="-5" dirty="0">
                <a:solidFill>
                  <a:srgbClr val="00026A"/>
                </a:solidFill>
                <a:latin typeface="Cambria Math"/>
                <a:cs typeface="Cambria Math"/>
              </a:rPr>
              <a:t>fi</a:t>
            </a:r>
            <a:r>
              <a:rPr sz="1800" spc="-15" dirty="0">
                <a:solidFill>
                  <a:srgbClr val="00026A"/>
                </a:solidFill>
                <a:latin typeface="Cambria Math"/>
                <a:cs typeface="Cambria Math"/>
              </a:rPr>
              <a:t>ne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d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s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u</a:t>
            </a:r>
            <a:r>
              <a:rPr sz="1800" spc="-20" dirty="0">
                <a:solidFill>
                  <a:srgbClr val="00026A"/>
                </a:solidFill>
                <a:latin typeface="Cambria Math"/>
                <a:cs typeface="Cambria Math"/>
              </a:rPr>
              <a:t>c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h</a:t>
            </a:r>
            <a:r>
              <a:rPr sz="1800" spc="-5" dirty="0">
                <a:solidFill>
                  <a:srgbClr val="00026A"/>
                </a:solidFill>
                <a:latin typeface="Cambria Math"/>
                <a:cs typeface="Cambria Math"/>
              </a:rPr>
              <a:t> a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s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-30" dirty="0">
                <a:solidFill>
                  <a:srgbClr val="00026A"/>
                </a:solidFill>
                <a:latin typeface="Cambria Math"/>
                <a:cs typeface="Cambria Math"/>
              </a:rPr>
              <a:t>f</a:t>
            </a:r>
            <a:r>
              <a:rPr sz="1800" spc="-20" dirty="0">
                <a:solidFill>
                  <a:srgbClr val="00026A"/>
                </a:solidFill>
                <a:latin typeface="Cambria Math"/>
                <a:cs typeface="Cambria Math"/>
              </a:rPr>
              <a:t>o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r</a:t>
            </a:r>
            <a:r>
              <a:rPr sz="18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-15" dirty="0">
                <a:solidFill>
                  <a:srgbClr val="00026A"/>
                </a:solidFill>
                <a:latin typeface="Cambria Math"/>
                <a:cs typeface="Cambria Math"/>
              </a:rPr>
              <a:t>e</a:t>
            </a:r>
            <a:r>
              <a:rPr sz="1800" spc="-5" dirty="0">
                <a:solidFill>
                  <a:srgbClr val="00026A"/>
                </a:solidFill>
                <a:latin typeface="Cambria Math"/>
                <a:cs typeface="Cambria Math"/>
              </a:rPr>
              <a:t>a</a:t>
            </a:r>
            <a:r>
              <a:rPr sz="1800" spc="-20" dirty="0">
                <a:solidFill>
                  <a:srgbClr val="00026A"/>
                </a:solidFill>
                <a:latin typeface="Cambria Math"/>
                <a:cs typeface="Cambria Math"/>
              </a:rPr>
              <a:t>c</a:t>
            </a:r>
            <a:r>
              <a:rPr sz="1800" spc="-10" dirty="0">
                <a:solidFill>
                  <a:srgbClr val="00026A"/>
                </a:solidFill>
                <a:latin typeface="Cambria Math"/>
                <a:cs typeface="Cambria Math"/>
              </a:rPr>
              <a:t>h</a:t>
            </a:r>
            <a:endParaRPr sz="18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spc="40" dirty="0">
                <a:solidFill>
                  <a:srgbClr val="00026A"/>
                </a:solidFill>
                <a:latin typeface="Cambria Math"/>
                <a:cs typeface="Cambria Math"/>
              </a:rPr>
              <a:t>𝑖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-9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30" dirty="0">
                <a:solidFill>
                  <a:srgbClr val="00026A"/>
                </a:solidFill>
                <a:latin typeface="Cambria Math"/>
                <a:cs typeface="Cambria Math"/>
              </a:rPr>
              <a:t>𝑗</a:t>
            </a:r>
            <a:r>
              <a:rPr sz="1800" spc="-5" dirty="0">
                <a:solidFill>
                  <a:srgbClr val="00026A"/>
                </a:solidFill>
                <a:latin typeface="Cambria Math"/>
                <a:cs typeface="Cambria Math"/>
              </a:rPr>
              <a:t>:</a:t>
            </a:r>
            <a:endParaRPr sz="1800" dirty="0">
              <a:latin typeface="Cambria Math"/>
              <a:cs typeface="Cambria Math"/>
            </a:endParaRPr>
          </a:p>
          <a:p>
            <a:pPr marL="1635125">
              <a:lnSpc>
                <a:spcPct val="100000"/>
              </a:lnSpc>
              <a:spcBef>
                <a:spcPts val="405"/>
              </a:spcBef>
            </a:pPr>
            <a:r>
              <a:rPr sz="2700" spc="-104" baseline="12345" dirty="0">
                <a:solidFill>
                  <a:srgbClr val="00026A"/>
                </a:solidFill>
                <a:latin typeface="Cambria Math"/>
                <a:cs typeface="Cambria Math"/>
              </a:rPr>
              <a:t>𝑐</a:t>
            </a:r>
            <a:r>
              <a:rPr lang="en-US" sz="1300" spc="130" baseline="12345" dirty="0" err="1">
                <a:solidFill>
                  <a:srgbClr val="00026A"/>
                </a:solidFill>
                <a:latin typeface="Cambria Math"/>
                <a:cs typeface="Cambria Math"/>
              </a:rPr>
              <a:t>i</a:t>
            </a:r>
            <a:r>
              <a:rPr sz="1300" spc="5" dirty="0" err="1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lang="en-US" sz="1300" spc="-204" dirty="0" err="1">
                <a:solidFill>
                  <a:srgbClr val="00026A"/>
                </a:solidFill>
                <a:latin typeface="Cambria Math"/>
                <a:cs typeface="Cambria Math"/>
              </a:rPr>
              <a:t>j</a:t>
            </a:r>
            <a:r>
              <a:rPr sz="1300" spc="5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baseline="12345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r>
              <a:rPr sz="2700" spc="157" baseline="1234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spc="-7" baseline="12345" dirty="0">
                <a:solidFill>
                  <a:srgbClr val="00026A"/>
                </a:solidFill>
                <a:latin typeface="Cambria Math"/>
                <a:cs typeface="Cambria Math"/>
              </a:rPr>
              <a:t>𝑎</a:t>
            </a:r>
            <a:r>
              <a:rPr lang="en-US" sz="1300" spc="130" baseline="12345" dirty="0" err="1">
                <a:solidFill>
                  <a:srgbClr val="00026A"/>
                </a:solidFill>
                <a:latin typeface="Cambria Math"/>
                <a:cs typeface="Cambria Math"/>
              </a:rPr>
              <a:t>i</a:t>
            </a:r>
            <a:r>
              <a:rPr sz="1300" spc="5" dirty="0" err="1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lang="en-US" sz="1300" spc="-204" dirty="0" err="1">
                <a:solidFill>
                  <a:srgbClr val="00026A"/>
                </a:solidFill>
                <a:latin typeface="Cambria Math"/>
                <a:cs typeface="Cambria Math"/>
              </a:rPr>
              <a:t>j</a:t>
            </a:r>
            <a:r>
              <a:rPr sz="1300" spc="-5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baseline="12345" dirty="0">
                <a:solidFill>
                  <a:srgbClr val="00026A"/>
                </a:solidFill>
                <a:latin typeface="Cambria Math"/>
                <a:cs typeface="Cambria Math"/>
              </a:rPr>
              <a:t>+</a:t>
            </a:r>
            <a:r>
              <a:rPr sz="2700" spc="7" baseline="1234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spc="-82" baseline="12345" dirty="0">
                <a:solidFill>
                  <a:srgbClr val="00026A"/>
                </a:solidFill>
                <a:latin typeface="Cambria Math"/>
                <a:cs typeface="Cambria Math"/>
              </a:rPr>
              <a:t>𝑏</a:t>
            </a:r>
            <a:r>
              <a:rPr lang="en-US" sz="1300" spc="130" baseline="12345" dirty="0" err="1">
                <a:solidFill>
                  <a:srgbClr val="00026A"/>
                </a:solidFill>
                <a:latin typeface="Cambria Math"/>
                <a:cs typeface="Cambria Math"/>
              </a:rPr>
              <a:t>i</a:t>
            </a:r>
            <a:r>
              <a:rPr sz="1300" spc="5" dirty="0" err="1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lang="en-US" sz="1300" spc="-204" dirty="0" err="1">
                <a:solidFill>
                  <a:srgbClr val="00026A"/>
                </a:solidFill>
                <a:latin typeface="Cambria Math"/>
                <a:cs typeface="Cambria Math"/>
              </a:rPr>
              <a:t>j</a:t>
            </a:r>
            <a:endParaRPr sz="13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s a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x of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si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z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Matr</a:t>
            </a:r>
            <a:r>
              <a:rPr spc="-5" dirty="0"/>
              <a:t>i</a:t>
            </a:r>
            <a:r>
              <a:rPr dirty="0"/>
              <a:t>x</a:t>
            </a:r>
            <a:r>
              <a:rPr spc="-5" dirty="0"/>
              <a:t> </a:t>
            </a:r>
            <a:r>
              <a:rPr spc="-15" dirty="0"/>
              <a:t>ari</a:t>
            </a:r>
            <a:r>
              <a:rPr dirty="0"/>
              <a:t>th</a:t>
            </a:r>
            <a:r>
              <a:rPr spc="-35" dirty="0"/>
              <a:t>me</a:t>
            </a:r>
            <a:r>
              <a:rPr dirty="0"/>
              <a:t>t</a:t>
            </a:r>
            <a:r>
              <a:rPr spc="-5" dirty="0"/>
              <a:t>i</a:t>
            </a:r>
            <a:r>
              <a:rPr dirty="0"/>
              <a:t>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B12E00-49DB-42C6-9A62-ABE6762E4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724150"/>
            <a:ext cx="2886075" cy="19526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91844"/>
            <a:ext cx="4959350" cy="18697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S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l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mu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l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p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li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spc="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12700" marR="5080">
              <a:lnSpc>
                <a:spcPts val="2110"/>
              </a:lnSpc>
            </a:pP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li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on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of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026A"/>
                </a:solidFill>
                <a:latin typeface="Cambria Math"/>
                <a:cs typeface="Cambria Math"/>
              </a:rPr>
              <a:t>𝑑</a:t>
            </a:r>
            <a:r>
              <a:rPr sz="1800" spc="6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y a 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ri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x </a:t>
            </a:r>
            <a:r>
              <a:rPr sz="1800" spc="-20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18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is 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ne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uch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emen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40" dirty="0">
                <a:solidFill>
                  <a:srgbClr val="00026A"/>
                </a:solidFill>
                <a:latin typeface="Cambria Math"/>
                <a:cs typeface="Cambria Math"/>
              </a:rPr>
              <a:t>𝑖</a:t>
            </a:r>
            <a:r>
              <a:rPr sz="18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1800" spc="-9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800" spc="30" dirty="0">
                <a:solidFill>
                  <a:srgbClr val="00026A"/>
                </a:solidFill>
                <a:latin typeface="Cambria Math"/>
                <a:cs typeface="Cambria Math"/>
              </a:rPr>
              <a:t>𝑗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12700" indent="2190750">
              <a:lnSpc>
                <a:spcPct val="100000"/>
              </a:lnSpc>
              <a:spcBef>
                <a:spcPts val="345"/>
              </a:spcBef>
            </a:pPr>
            <a:r>
              <a:rPr sz="2700" spc="-82" baseline="12345" dirty="0">
                <a:solidFill>
                  <a:srgbClr val="00026A"/>
                </a:solidFill>
                <a:latin typeface="Cambria Math"/>
                <a:cs typeface="Cambria Math"/>
              </a:rPr>
              <a:t>𝑏</a:t>
            </a:r>
            <a:r>
              <a:rPr lang="en-US" sz="1300" spc="130" baseline="12345" dirty="0" err="1">
                <a:solidFill>
                  <a:srgbClr val="00026A"/>
                </a:solidFill>
                <a:latin typeface="Cambria Math"/>
                <a:cs typeface="Cambria Math"/>
              </a:rPr>
              <a:t>i</a:t>
            </a:r>
            <a:r>
              <a:rPr sz="1300" spc="5" dirty="0" err="1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lang="en-US" sz="1300" spc="-204" dirty="0" err="1">
                <a:solidFill>
                  <a:srgbClr val="00026A"/>
                </a:solidFill>
                <a:latin typeface="Cambria Math"/>
                <a:cs typeface="Cambria Math"/>
              </a:rPr>
              <a:t>j</a:t>
            </a:r>
            <a:r>
              <a:rPr sz="130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300" spc="5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baseline="12345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r>
              <a:rPr sz="2700" spc="157" baseline="1234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spc="-30" baseline="12345" dirty="0">
                <a:solidFill>
                  <a:srgbClr val="00026A"/>
                </a:solidFill>
                <a:latin typeface="Cambria Math"/>
                <a:cs typeface="Cambria Math"/>
              </a:rPr>
              <a:t>𝑑</a:t>
            </a:r>
            <a:r>
              <a:rPr sz="2700" spc="82" baseline="1234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lang="en-US" sz="2700" spc="82" baseline="12345" dirty="0">
                <a:solidFill>
                  <a:srgbClr val="00026A"/>
                </a:solidFill>
                <a:latin typeface="Cambria Math"/>
                <a:cs typeface="Cambria Math"/>
              </a:rPr>
              <a:t>.</a:t>
            </a:r>
            <a:r>
              <a:rPr sz="2700" spc="7" baseline="1234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700" spc="-7" baseline="12345" dirty="0">
                <a:solidFill>
                  <a:srgbClr val="00026A"/>
                </a:solidFill>
                <a:latin typeface="Cambria Math"/>
                <a:cs typeface="Cambria Math"/>
              </a:rPr>
              <a:t>𝑎</a:t>
            </a:r>
            <a:r>
              <a:rPr lang="en-US" sz="1300" spc="130" baseline="12345" dirty="0" err="1">
                <a:solidFill>
                  <a:srgbClr val="00026A"/>
                </a:solidFill>
                <a:latin typeface="Cambria Math"/>
                <a:cs typeface="Cambria Math"/>
              </a:rPr>
              <a:t>i</a:t>
            </a:r>
            <a:r>
              <a:rPr sz="1300" spc="5" dirty="0" err="1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lang="en-US" sz="1300" spc="-204" dirty="0" err="1">
                <a:solidFill>
                  <a:srgbClr val="00026A"/>
                </a:solidFill>
                <a:latin typeface="Cambria Math"/>
                <a:cs typeface="Cambria Math"/>
              </a:rPr>
              <a:t>j</a:t>
            </a:r>
            <a:endParaRPr sz="13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s a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spc="-2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x of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si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z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Matr</a:t>
            </a:r>
            <a:r>
              <a:rPr spc="-5" dirty="0"/>
              <a:t>i</a:t>
            </a:r>
            <a:r>
              <a:rPr dirty="0"/>
              <a:t>x</a:t>
            </a:r>
            <a:r>
              <a:rPr spc="-5" dirty="0"/>
              <a:t> </a:t>
            </a:r>
            <a:r>
              <a:rPr spc="-15" dirty="0"/>
              <a:t>ari</a:t>
            </a:r>
            <a:r>
              <a:rPr dirty="0"/>
              <a:t>th</a:t>
            </a:r>
            <a:r>
              <a:rPr spc="-35" dirty="0"/>
              <a:t>me</a:t>
            </a:r>
            <a:r>
              <a:rPr dirty="0"/>
              <a:t>t</a:t>
            </a:r>
            <a:r>
              <a:rPr spc="-5" dirty="0"/>
              <a:t>i</a:t>
            </a:r>
            <a:r>
              <a:rPr dirty="0"/>
              <a:t>c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A8C7AB-BB35-4C93-B551-9FEE664CC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254" y="2585068"/>
            <a:ext cx="2400300" cy="1552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91844"/>
            <a:ext cx="8006715" cy="20031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M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r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x</a:t>
            </a:r>
            <a:r>
              <a:rPr sz="2400" i="1" spc="-10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mu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l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p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li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400" i="1" spc="-15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400" i="1" spc="-5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400" i="1" dirty="0">
                <a:solidFill>
                  <a:srgbClr val="FF6600"/>
                </a:solidFill>
                <a:latin typeface="Calibri"/>
                <a:cs typeface="Calibri"/>
              </a:rPr>
              <a:t>on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55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1900" spc="5" dirty="0">
                <a:solidFill>
                  <a:srgbClr val="00026A"/>
                </a:solidFill>
                <a:latin typeface="Calibri"/>
                <a:cs typeface="Calibri"/>
              </a:rPr>
              <a:t>-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ix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ul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ipli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in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4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by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lu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ns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m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ul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ipli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:</a:t>
            </a:r>
            <a:endParaRPr sz="1900" dirty="0">
              <a:latin typeface="Calibri"/>
              <a:cs typeface="Calibri"/>
            </a:endParaRPr>
          </a:p>
          <a:p>
            <a:pPr marR="2272030" algn="r">
              <a:lnSpc>
                <a:spcPts val="1380"/>
              </a:lnSpc>
            </a:pPr>
            <a:endParaRPr sz="14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en-US"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lang="en-US" sz="13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spc="-6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900" spc="5" dirty="0">
                <a:solidFill>
                  <a:srgbClr val="00026A"/>
                </a:solidFill>
                <a:latin typeface="Calibri"/>
                <a:cs typeface="Calibri"/>
              </a:rPr>
              <a:t>-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ix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ul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ipli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j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ial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f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55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1900" spc="5" dirty="0">
                <a:solidFill>
                  <a:srgbClr val="00026A"/>
                </a:solidFill>
                <a:latin typeface="Calibri"/>
                <a:cs typeface="Calibri"/>
              </a:rPr>
              <a:t>-</a:t>
            </a:r>
            <a:r>
              <a:rPr sz="19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ix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ul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ipli</a:t>
            </a:r>
            <a:r>
              <a:rPr sz="1900" spc="-3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n.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Matr</a:t>
            </a:r>
            <a:r>
              <a:rPr spc="-5" dirty="0"/>
              <a:t>i</a:t>
            </a:r>
            <a:r>
              <a:rPr dirty="0"/>
              <a:t>x</a:t>
            </a:r>
            <a:r>
              <a:rPr spc="-5" dirty="0"/>
              <a:t> </a:t>
            </a:r>
            <a:r>
              <a:rPr spc="-15" dirty="0"/>
              <a:t>ari</a:t>
            </a:r>
            <a:r>
              <a:rPr dirty="0"/>
              <a:t>th</a:t>
            </a:r>
            <a:r>
              <a:rPr spc="-35" dirty="0"/>
              <a:t>me</a:t>
            </a:r>
            <a:r>
              <a:rPr dirty="0"/>
              <a:t>t</a:t>
            </a:r>
            <a:r>
              <a:rPr spc="-5" dirty="0"/>
              <a:t>i</a:t>
            </a:r>
            <a:r>
              <a:rPr dirty="0"/>
              <a:t>c</a:t>
            </a:r>
          </a:p>
        </p:txBody>
      </p:sp>
      <p:sp>
        <p:nvSpPr>
          <p:cNvPr id="4" name="object 4"/>
          <p:cNvSpPr/>
          <p:nvPr/>
        </p:nvSpPr>
        <p:spPr>
          <a:xfrm>
            <a:off x="2572708" y="3712318"/>
            <a:ext cx="982344" cy="695960"/>
          </a:xfrm>
          <a:custGeom>
            <a:avLst/>
            <a:gdLst/>
            <a:ahLst/>
            <a:cxnLst/>
            <a:rect l="l" t="t" r="r" b="b"/>
            <a:pathLst>
              <a:path w="982345" h="695960">
                <a:moveTo>
                  <a:pt x="0" y="695658"/>
                </a:moveTo>
                <a:lnTo>
                  <a:pt x="982177" y="695658"/>
                </a:lnTo>
                <a:lnTo>
                  <a:pt x="982177" y="0"/>
                </a:lnTo>
                <a:lnTo>
                  <a:pt x="0" y="0"/>
                </a:lnTo>
                <a:lnTo>
                  <a:pt x="0" y="695658"/>
                </a:lnTo>
                <a:close/>
              </a:path>
            </a:pathLst>
          </a:custGeom>
          <a:ln w="66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12279" y="3553114"/>
            <a:ext cx="838835" cy="1036955"/>
          </a:xfrm>
          <a:custGeom>
            <a:avLst/>
            <a:gdLst/>
            <a:ahLst/>
            <a:cxnLst/>
            <a:rect l="l" t="t" r="r" b="b"/>
            <a:pathLst>
              <a:path w="838835" h="1036954">
                <a:moveTo>
                  <a:pt x="0" y="1036696"/>
                </a:moveTo>
                <a:lnTo>
                  <a:pt x="838602" y="1036696"/>
                </a:lnTo>
                <a:lnTo>
                  <a:pt x="838602" y="0"/>
                </a:lnTo>
                <a:lnTo>
                  <a:pt x="0" y="0"/>
                </a:lnTo>
                <a:lnTo>
                  <a:pt x="0" y="1036696"/>
                </a:lnTo>
                <a:close/>
              </a:path>
            </a:pathLst>
          </a:custGeom>
          <a:ln w="65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93757" y="3553114"/>
            <a:ext cx="0" cy="1036955"/>
          </a:xfrm>
          <a:custGeom>
            <a:avLst/>
            <a:gdLst/>
            <a:ahLst/>
            <a:cxnLst/>
            <a:rect l="l" t="t" r="r" b="b"/>
            <a:pathLst>
              <a:path h="1036954">
                <a:moveTo>
                  <a:pt x="0" y="0"/>
                </a:moveTo>
                <a:lnTo>
                  <a:pt x="0" y="1036696"/>
                </a:lnTo>
              </a:path>
            </a:pathLst>
          </a:custGeom>
          <a:ln w="320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59547" y="3683837"/>
            <a:ext cx="838835" cy="695960"/>
          </a:xfrm>
          <a:custGeom>
            <a:avLst/>
            <a:gdLst/>
            <a:ahLst/>
            <a:cxnLst/>
            <a:rect l="l" t="t" r="r" b="b"/>
            <a:pathLst>
              <a:path w="838834" h="695960">
                <a:moveTo>
                  <a:pt x="0" y="695658"/>
                </a:moveTo>
                <a:lnTo>
                  <a:pt x="838602" y="695658"/>
                </a:lnTo>
                <a:lnTo>
                  <a:pt x="838602" y="0"/>
                </a:lnTo>
                <a:lnTo>
                  <a:pt x="0" y="0"/>
                </a:lnTo>
                <a:lnTo>
                  <a:pt x="0" y="695658"/>
                </a:lnTo>
                <a:close/>
              </a:path>
            </a:pathLst>
          </a:custGeom>
          <a:ln w="6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09161" y="4139235"/>
            <a:ext cx="64135" cy="64135"/>
          </a:xfrm>
          <a:custGeom>
            <a:avLst/>
            <a:gdLst/>
            <a:ahLst/>
            <a:cxnLst/>
            <a:rect l="l" t="t" r="r" b="b"/>
            <a:pathLst>
              <a:path w="64135" h="64135">
                <a:moveTo>
                  <a:pt x="41153" y="0"/>
                </a:moveTo>
                <a:lnTo>
                  <a:pt x="24323" y="1540"/>
                </a:lnTo>
                <a:lnTo>
                  <a:pt x="11769" y="7521"/>
                </a:lnTo>
                <a:lnTo>
                  <a:pt x="3618" y="16937"/>
                </a:lnTo>
                <a:lnTo>
                  <a:pt x="0" y="28785"/>
                </a:lnTo>
                <a:lnTo>
                  <a:pt x="2550" y="44422"/>
                </a:lnTo>
                <a:lnTo>
                  <a:pt x="9724" y="56409"/>
                </a:lnTo>
                <a:lnTo>
                  <a:pt x="20384" y="63930"/>
                </a:lnTo>
                <a:lnTo>
                  <a:pt x="37803" y="62985"/>
                </a:lnTo>
                <a:lnTo>
                  <a:pt x="50769" y="57713"/>
                </a:lnTo>
                <a:lnTo>
                  <a:pt x="59314" y="49057"/>
                </a:lnTo>
                <a:lnTo>
                  <a:pt x="63467" y="37961"/>
                </a:lnTo>
                <a:lnTo>
                  <a:pt x="63912" y="32397"/>
                </a:lnTo>
                <a:lnTo>
                  <a:pt x="60937" y="18150"/>
                </a:lnTo>
                <a:lnTo>
                  <a:pt x="52904" y="6878"/>
                </a:lnTo>
                <a:lnTo>
                  <a:pt x="411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96086" y="3509367"/>
            <a:ext cx="12128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75" dirty="0">
                <a:latin typeface="Verdana"/>
                <a:cs typeface="Verdana"/>
              </a:rPr>
              <a:t>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01331" y="4469305"/>
            <a:ext cx="1397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20" dirty="0">
                <a:latin typeface="Verdana"/>
                <a:cs typeface="Verdana"/>
              </a:rPr>
              <a:t>C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74918" y="4481488"/>
            <a:ext cx="14541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50" dirty="0">
                <a:latin typeface="Verdana"/>
                <a:cs typeface="Verdana"/>
              </a:rPr>
              <a:t>A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76594" y="4629644"/>
            <a:ext cx="14668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50" dirty="0">
                <a:latin typeface="Verdana"/>
                <a:cs typeface="Verdana"/>
              </a:rPr>
              <a:t>B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82705" y="3894981"/>
            <a:ext cx="16573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165" dirty="0">
                <a:latin typeface="Verdana"/>
                <a:cs typeface="Verdana"/>
              </a:rPr>
              <a:t>m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95757" y="4016734"/>
            <a:ext cx="12128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75" dirty="0">
                <a:latin typeface="Verdana"/>
                <a:cs typeface="Verdana"/>
              </a:rPr>
              <a:t>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1593" y="3308440"/>
            <a:ext cx="1060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180" dirty="0">
                <a:latin typeface="Verdana"/>
                <a:cs typeface="Verdana"/>
              </a:rPr>
              <a:t>p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60008" y="4012673"/>
            <a:ext cx="1007744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1620" algn="l"/>
                <a:tab pos="994410" algn="l"/>
              </a:tabLst>
            </a:pPr>
            <a:r>
              <a:rPr sz="1300" u="heavy" spc="90" dirty="0">
                <a:latin typeface="Garamond"/>
                <a:cs typeface="Garamond"/>
              </a:rPr>
              <a:t> 	</a:t>
            </a:r>
            <a:r>
              <a:rPr sz="1300" u="heavy" spc="10" dirty="0">
                <a:latin typeface="Garamond"/>
                <a:cs typeface="Garamond"/>
              </a:rPr>
              <a:t>r</a:t>
            </a:r>
            <a:r>
              <a:rPr sz="1300" u="heavy" spc="-15" dirty="0">
                <a:latin typeface="Garamond"/>
                <a:cs typeface="Garamond"/>
              </a:rPr>
              <a:t>o</a:t>
            </a:r>
            <a:r>
              <a:rPr sz="1300" u="heavy" spc="30" dirty="0">
                <a:latin typeface="Garamond"/>
                <a:cs typeface="Garamond"/>
              </a:rPr>
              <a:t>w</a:t>
            </a:r>
            <a:r>
              <a:rPr sz="1300" u="heavy" spc="75" dirty="0">
                <a:latin typeface="Garamond"/>
                <a:cs typeface="Garamond"/>
              </a:rPr>
              <a:t> </a:t>
            </a:r>
            <a:r>
              <a:rPr sz="1300" i="1" u="heavy" spc="70" dirty="0">
                <a:latin typeface="Verdana"/>
                <a:cs typeface="Verdana"/>
              </a:rPr>
              <a:t>i</a:t>
            </a:r>
            <a:r>
              <a:rPr sz="1300" i="1" u="heavy" spc="-45" dirty="0">
                <a:latin typeface="Verdana"/>
                <a:cs typeface="Verdana"/>
              </a:rPr>
              <a:t> </a:t>
            </a:r>
            <a:r>
              <a:rPr sz="1300" i="1" u="heavy" dirty="0">
                <a:latin typeface="Verdana"/>
                <a:cs typeface="Verdana"/>
              </a:rPr>
              <a:t>	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6986" y="3813784"/>
            <a:ext cx="530860" cy="340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5"/>
              </a:lnSpc>
            </a:pPr>
            <a:r>
              <a:rPr sz="1300" spc="-20" dirty="0">
                <a:latin typeface="Garamond"/>
                <a:cs typeface="Garamond"/>
              </a:rPr>
              <a:t>c</a:t>
            </a:r>
            <a:r>
              <a:rPr sz="1300" spc="-10" dirty="0">
                <a:latin typeface="Garamond"/>
                <a:cs typeface="Garamond"/>
              </a:rPr>
              <a:t>o</a:t>
            </a:r>
            <a:r>
              <a:rPr sz="1300" spc="40" dirty="0">
                <a:latin typeface="Garamond"/>
                <a:cs typeface="Garamond"/>
              </a:rPr>
              <a:t>l</a:t>
            </a:r>
            <a:r>
              <a:rPr sz="1300" spc="50" dirty="0">
                <a:latin typeface="Garamond"/>
                <a:cs typeface="Garamond"/>
              </a:rPr>
              <a:t>u</a:t>
            </a:r>
            <a:r>
              <a:rPr sz="1300" spc="25" dirty="0">
                <a:latin typeface="Garamond"/>
                <a:cs typeface="Garamond"/>
              </a:rPr>
              <a:t>mn</a:t>
            </a:r>
            <a:endParaRPr sz="1300">
              <a:latin typeface="Garamond"/>
              <a:cs typeface="Garamond"/>
            </a:endParaRPr>
          </a:p>
          <a:p>
            <a:pPr marL="24130">
              <a:lnSpc>
                <a:spcPts val="1355"/>
              </a:lnSpc>
            </a:pPr>
            <a:r>
              <a:rPr sz="1300" i="1" spc="65" dirty="0">
                <a:latin typeface="Verdana"/>
                <a:cs typeface="Verdana"/>
              </a:rPr>
              <a:t>j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65170" y="4000864"/>
            <a:ext cx="6985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15" dirty="0">
                <a:latin typeface="Sitka Subheading"/>
                <a:cs typeface="Sitka Subheading"/>
              </a:rPr>
              <a:t>·</a:t>
            </a:r>
            <a:endParaRPr sz="1300">
              <a:latin typeface="Sitka Subheading"/>
              <a:cs typeface="Sitka Subheading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49514" y="3923371"/>
            <a:ext cx="14986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00" dirty="0">
                <a:latin typeface="Garamond"/>
                <a:cs typeface="Garamond"/>
              </a:rPr>
              <a:t>=</a:t>
            </a:r>
            <a:endParaRPr sz="1300">
              <a:latin typeface="Garamond"/>
              <a:cs typeface="Garamond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30177" y="4014694"/>
            <a:ext cx="191135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i="1" spc="-209" baseline="8547" dirty="0">
                <a:latin typeface="Verdana"/>
                <a:cs typeface="Verdana"/>
              </a:rPr>
              <a:t>c</a:t>
            </a:r>
            <a:r>
              <a:rPr sz="900" i="1" spc="70" dirty="0">
                <a:latin typeface="Trebuchet MS"/>
                <a:cs typeface="Trebuchet MS"/>
              </a:rPr>
              <a:t>ij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39817" y="3424137"/>
            <a:ext cx="10604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i="1" spc="-180" dirty="0">
                <a:latin typeface="Verdana"/>
                <a:cs typeface="Verdana"/>
              </a:rPr>
              <a:t>p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D970E97-6805-4628-9A39-394C056F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404" y="2355938"/>
            <a:ext cx="5619750" cy="5026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33169"/>
            <a:ext cx="1868805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i="1" spc="-5" dirty="0">
                <a:solidFill>
                  <a:srgbClr val="FF6600"/>
                </a:solidFill>
                <a:latin typeface="Calibri"/>
                <a:cs typeface="Calibri"/>
              </a:rPr>
              <a:t>M</a:t>
            </a:r>
            <a:r>
              <a:rPr sz="17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1700" i="1" spc="-5" dirty="0">
                <a:solidFill>
                  <a:srgbClr val="FF6600"/>
                </a:solidFill>
                <a:latin typeface="Calibri"/>
                <a:cs typeface="Calibri"/>
              </a:rPr>
              <a:t>tri</a:t>
            </a:r>
            <a:r>
              <a:rPr sz="1700" i="1" dirty="0">
                <a:solidFill>
                  <a:srgbClr val="FF6600"/>
                </a:solidFill>
                <a:latin typeface="Calibri"/>
                <a:cs typeface="Calibri"/>
              </a:rPr>
              <a:t>x </a:t>
            </a:r>
            <a:r>
              <a:rPr sz="1700" i="1" spc="5" dirty="0">
                <a:solidFill>
                  <a:srgbClr val="FF6600"/>
                </a:solidFill>
                <a:latin typeface="Calibri"/>
                <a:cs typeface="Calibri"/>
              </a:rPr>
              <a:t>m</a:t>
            </a:r>
            <a:r>
              <a:rPr sz="1700" i="1" dirty="0">
                <a:solidFill>
                  <a:srgbClr val="FF6600"/>
                </a:solidFill>
                <a:latin typeface="Calibri"/>
                <a:cs typeface="Calibri"/>
              </a:rPr>
              <a:t>u</a:t>
            </a:r>
            <a:r>
              <a:rPr sz="1700" i="1" spc="-5" dirty="0">
                <a:solidFill>
                  <a:srgbClr val="FF6600"/>
                </a:solidFill>
                <a:latin typeface="Calibri"/>
                <a:cs typeface="Calibri"/>
              </a:rPr>
              <a:t>lti</a:t>
            </a:r>
            <a:r>
              <a:rPr sz="1700" i="1" dirty="0">
                <a:solidFill>
                  <a:srgbClr val="FF6600"/>
                </a:solidFill>
                <a:latin typeface="Calibri"/>
                <a:cs typeface="Calibri"/>
              </a:rPr>
              <a:t>p</a:t>
            </a:r>
            <a:r>
              <a:rPr sz="1700" i="1" spc="-5" dirty="0">
                <a:solidFill>
                  <a:srgbClr val="FF6600"/>
                </a:solidFill>
                <a:latin typeface="Calibri"/>
                <a:cs typeface="Calibri"/>
              </a:rPr>
              <a:t>li</a:t>
            </a:r>
            <a:r>
              <a:rPr sz="1700" i="1" spc="-10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1700" i="1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1700" i="1" spc="-5" dirty="0">
                <a:solidFill>
                  <a:srgbClr val="FF6600"/>
                </a:solidFill>
                <a:latin typeface="Calibri"/>
                <a:cs typeface="Calibri"/>
              </a:rPr>
              <a:t>ti</a:t>
            </a:r>
            <a:r>
              <a:rPr sz="1700" i="1" dirty="0">
                <a:solidFill>
                  <a:srgbClr val="FF6600"/>
                </a:solidFill>
                <a:latin typeface="Calibri"/>
                <a:cs typeface="Calibri"/>
              </a:rPr>
              <a:t>on</a:t>
            </a:r>
            <a:endParaRPr sz="1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"/>
              </a:spcBef>
            </a:pPr>
            <a:endParaRPr sz="1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13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Matr</a:t>
            </a:r>
            <a:r>
              <a:rPr spc="-5" dirty="0"/>
              <a:t>i</a:t>
            </a:r>
            <a:r>
              <a:rPr dirty="0"/>
              <a:t>x</a:t>
            </a:r>
            <a:r>
              <a:rPr spc="-5" dirty="0"/>
              <a:t> </a:t>
            </a:r>
            <a:r>
              <a:rPr spc="-15" dirty="0"/>
              <a:t>ari</a:t>
            </a:r>
            <a:r>
              <a:rPr dirty="0"/>
              <a:t>th</a:t>
            </a:r>
            <a:r>
              <a:rPr spc="-35" dirty="0"/>
              <a:t>me</a:t>
            </a:r>
            <a:r>
              <a:rPr dirty="0"/>
              <a:t>t</a:t>
            </a:r>
            <a:r>
              <a:rPr spc="-5" dirty="0"/>
              <a:t>i</a:t>
            </a:r>
            <a:r>
              <a:rPr dirty="0"/>
              <a:t>c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4D962F88-AE01-4FD2-B77C-A40E2392F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5" y="1819275"/>
            <a:ext cx="4743450" cy="150495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CB9B4BB-38D2-47BE-B048-6BF72F2944F2}"/>
              </a:ext>
            </a:extLst>
          </p:cNvPr>
          <p:cNvSpPr txBox="1"/>
          <p:nvPr/>
        </p:nvSpPr>
        <p:spPr>
          <a:xfrm>
            <a:off x="914400" y="3562350"/>
            <a:ext cx="579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  <a:r>
              <a:rPr lang="en-US" baseline="-25000" dirty="0"/>
              <a:t>1,2</a:t>
            </a:r>
            <a:r>
              <a:rPr lang="en-US" dirty="0"/>
              <a:t> = 2*3 + 1*3 + 2*1 = 6 + 3 + 2 = 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30883"/>
            <a:ext cx="3366135" cy="622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dirty="0">
                <a:solidFill>
                  <a:srgbClr val="FF6600"/>
                </a:solidFill>
                <a:latin typeface="Calibri"/>
                <a:cs typeface="Calibri"/>
              </a:rPr>
              <a:t>M</a:t>
            </a:r>
            <a:r>
              <a:rPr sz="2000" i="1" spc="-5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000" i="1" spc="-10" dirty="0">
                <a:solidFill>
                  <a:srgbClr val="FF6600"/>
                </a:solidFill>
                <a:latin typeface="Calibri"/>
                <a:cs typeface="Calibri"/>
              </a:rPr>
              <a:t>tr</a:t>
            </a:r>
            <a:r>
              <a:rPr sz="2000" i="1" dirty="0">
                <a:solidFill>
                  <a:srgbClr val="FF6600"/>
                </a:solidFill>
                <a:latin typeface="Calibri"/>
                <a:cs typeface="Calibri"/>
              </a:rPr>
              <a:t>ix</a:t>
            </a:r>
            <a:r>
              <a:rPr sz="2000" i="1" spc="-5" dirty="0">
                <a:solidFill>
                  <a:srgbClr val="FF6600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FF6600"/>
                </a:solidFill>
                <a:latin typeface="Calibri"/>
                <a:cs typeface="Calibri"/>
              </a:rPr>
              <a:t>m</a:t>
            </a:r>
            <a:r>
              <a:rPr sz="2000" i="1" spc="-5" dirty="0">
                <a:solidFill>
                  <a:srgbClr val="FF6600"/>
                </a:solidFill>
                <a:latin typeface="Calibri"/>
                <a:cs typeface="Calibri"/>
              </a:rPr>
              <a:t>u</a:t>
            </a:r>
            <a:r>
              <a:rPr sz="2000" i="1" dirty="0">
                <a:solidFill>
                  <a:srgbClr val="FF6600"/>
                </a:solidFill>
                <a:latin typeface="Calibri"/>
                <a:cs typeface="Calibri"/>
              </a:rPr>
              <a:t>l</a:t>
            </a:r>
            <a:r>
              <a:rPr sz="2000" i="1" spc="-10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000" i="1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000" i="1" spc="-5" dirty="0">
                <a:solidFill>
                  <a:srgbClr val="FF6600"/>
                </a:solidFill>
                <a:latin typeface="Calibri"/>
                <a:cs typeface="Calibri"/>
              </a:rPr>
              <a:t>p</a:t>
            </a:r>
            <a:r>
              <a:rPr sz="2000" i="1" dirty="0">
                <a:solidFill>
                  <a:srgbClr val="FF6600"/>
                </a:solidFill>
                <a:latin typeface="Calibri"/>
                <a:cs typeface="Calibri"/>
              </a:rPr>
              <a:t>li</a:t>
            </a:r>
            <a:r>
              <a:rPr sz="2000" i="1" spc="-10" dirty="0">
                <a:solidFill>
                  <a:srgbClr val="FF6600"/>
                </a:solidFill>
                <a:latin typeface="Calibri"/>
                <a:cs typeface="Calibri"/>
              </a:rPr>
              <a:t>c</a:t>
            </a:r>
            <a:r>
              <a:rPr sz="2000" i="1" spc="-5" dirty="0">
                <a:solidFill>
                  <a:srgbClr val="FF6600"/>
                </a:solidFill>
                <a:latin typeface="Calibri"/>
                <a:cs typeface="Calibri"/>
              </a:rPr>
              <a:t>a</a:t>
            </a:r>
            <a:r>
              <a:rPr sz="2000" i="1" spc="-10" dirty="0">
                <a:solidFill>
                  <a:srgbClr val="FF6600"/>
                </a:solidFill>
                <a:latin typeface="Calibri"/>
                <a:cs typeface="Calibri"/>
              </a:rPr>
              <a:t>t</a:t>
            </a:r>
            <a:r>
              <a:rPr sz="2000" i="1" dirty="0">
                <a:solidFill>
                  <a:srgbClr val="FF6600"/>
                </a:solidFill>
                <a:latin typeface="Calibri"/>
                <a:cs typeface="Calibri"/>
              </a:rPr>
              <a:t>i</a:t>
            </a:r>
            <a:r>
              <a:rPr sz="2000" i="1" spc="-5" dirty="0">
                <a:solidFill>
                  <a:srgbClr val="FF6600"/>
                </a:solidFill>
                <a:latin typeface="Calibri"/>
                <a:cs typeface="Calibri"/>
              </a:rPr>
              <a:t>o</a:t>
            </a:r>
            <a:r>
              <a:rPr sz="2000" i="1" dirty="0">
                <a:solidFill>
                  <a:srgbClr val="FF6600"/>
                </a:solidFill>
                <a:latin typeface="Calibri"/>
                <a:cs typeface="Calibri"/>
              </a:rPr>
              <a:t>n</a:t>
            </a:r>
            <a:endParaRPr sz="2000" dirty="0">
              <a:latin typeface="Calibri"/>
              <a:cs typeface="Calibri"/>
            </a:endParaRPr>
          </a:p>
          <a:p>
            <a:pPr marL="1840864" algn="ctr">
              <a:lnSpc>
                <a:spcPts val="1555"/>
              </a:lnSpc>
              <a:spcBef>
                <a:spcPts val="1005"/>
              </a:spcBef>
            </a:pPr>
            <a:endParaRPr sz="1100" dirty="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904" y="2155188"/>
            <a:ext cx="5656896" cy="1424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019300">
              <a:lnSpc>
                <a:spcPct val="125299"/>
              </a:lnSpc>
            </a:pPr>
            <a:r>
              <a:rPr sz="1500" i="1" dirty="0">
                <a:solidFill>
                  <a:srgbClr val="00B0F0"/>
                </a:solidFill>
                <a:latin typeface="Calibri"/>
                <a:cs typeface="Calibri"/>
              </a:rPr>
              <a:t>Ch</a:t>
            </a:r>
            <a:r>
              <a:rPr sz="1500" i="1" spc="-5" dirty="0">
                <a:solidFill>
                  <a:srgbClr val="00B0F0"/>
                </a:solidFill>
                <a:latin typeface="Calibri"/>
                <a:cs typeface="Calibri"/>
              </a:rPr>
              <a:t>e</a:t>
            </a:r>
            <a:r>
              <a:rPr sz="1500" i="1" dirty="0">
                <a:solidFill>
                  <a:srgbClr val="00B0F0"/>
                </a:solidFill>
                <a:latin typeface="Calibri"/>
                <a:cs typeface="Calibri"/>
              </a:rPr>
              <a:t>c</a:t>
            </a:r>
            <a:r>
              <a:rPr sz="1500" i="1" spc="-10" dirty="0">
                <a:solidFill>
                  <a:srgbClr val="00B0F0"/>
                </a:solidFill>
                <a:latin typeface="Calibri"/>
                <a:cs typeface="Calibri"/>
              </a:rPr>
              <a:t>k</a:t>
            </a:r>
            <a:r>
              <a:rPr sz="1500" i="1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00B0F0"/>
                </a:solidFill>
                <a:latin typeface="Calibri"/>
                <a:cs typeface="Calibri"/>
              </a:rPr>
              <a:t>the </a:t>
            </a:r>
            <a:r>
              <a:rPr sz="1500" i="1" dirty="0">
                <a:solidFill>
                  <a:srgbClr val="00B0F0"/>
                </a:solidFill>
                <a:latin typeface="Calibri"/>
                <a:cs typeface="Calibri"/>
              </a:rPr>
              <a:t>d</a:t>
            </a:r>
            <a:r>
              <a:rPr sz="1500" i="1" spc="5" dirty="0">
                <a:solidFill>
                  <a:srgbClr val="00B0F0"/>
                </a:solidFill>
                <a:latin typeface="Calibri"/>
                <a:cs typeface="Calibri"/>
              </a:rPr>
              <a:t>i</a:t>
            </a:r>
            <a:r>
              <a:rPr sz="1500" i="1" dirty="0">
                <a:solidFill>
                  <a:srgbClr val="00B0F0"/>
                </a:solidFill>
                <a:latin typeface="Calibri"/>
                <a:cs typeface="Calibri"/>
              </a:rPr>
              <a:t>m</a:t>
            </a:r>
            <a:r>
              <a:rPr sz="1500" i="1" spc="-15" dirty="0">
                <a:solidFill>
                  <a:srgbClr val="00B0F0"/>
                </a:solidFill>
                <a:latin typeface="Calibri"/>
                <a:cs typeface="Calibri"/>
              </a:rPr>
              <a:t>e</a:t>
            </a:r>
            <a:r>
              <a:rPr sz="1500" i="1" dirty="0">
                <a:solidFill>
                  <a:srgbClr val="00B0F0"/>
                </a:solidFill>
                <a:latin typeface="Calibri"/>
                <a:cs typeface="Calibri"/>
              </a:rPr>
              <a:t>ns</a:t>
            </a:r>
            <a:r>
              <a:rPr sz="1500" i="1" spc="5" dirty="0">
                <a:solidFill>
                  <a:srgbClr val="00B0F0"/>
                </a:solidFill>
                <a:latin typeface="Calibri"/>
                <a:cs typeface="Calibri"/>
              </a:rPr>
              <a:t>io</a:t>
            </a:r>
            <a:r>
              <a:rPr sz="1500" i="1" dirty="0">
                <a:solidFill>
                  <a:srgbClr val="00B0F0"/>
                </a:solidFill>
                <a:latin typeface="Calibri"/>
                <a:cs typeface="Calibri"/>
              </a:rPr>
              <a:t>na</a:t>
            </a:r>
            <a:r>
              <a:rPr sz="1500" i="1" spc="5" dirty="0">
                <a:solidFill>
                  <a:srgbClr val="00B0F0"/>
                </a:solidFill>
                <a:latin typeface="Calibri"/>
                <a:cs typeface="Calibri"/>
              </a:rPr>
              <a:t>li</a:t>
            </a:r>
            <a:r>
              <a:rPr sz="1500" i="1" spc="-10" dirty="0">
                <a:solidFill>
                  <a:srgbClr val="00B0F0"/>
                </a:solidFill>
                <a:latin typeface="Calibri"/>
                <a:cs typeface="Calibri"/>
              </a:rPr>
              <a:t>t</a:t>
            </a:r>
            <a:r>
              <a:rPr sz="1500" i="1" spc="-70" dirty="0">
                <a:solidFill>
                  <a:srgbClr val="00B0F0"/>
                </a:solidFill>
                <a:latin typeface="Calibri"/>
                <a:cs typeface="Calibri"/>
              </a:rPr>
              <a:t>y</a:t>
            </a:r>
            <a:r>
              <a:rPr sz="1500" i="1" spc="-5" dirty="0">
                <a:solidFill>
                  <a:srgbClr val="00B0F0"/>
                </a:solidFill>
                <a:latin typeface="Calibri"/>
                <a:cs typeface="Calibri"/>
              </a:rPr>
              <a:t>..</a:t>
            </a:r>
            <a:r>
              <a:rPr sz="1500" i="1" dirty="0">
                <a:solidFill>
                  <a:srgbClr val="00B0F0"/>
                </a:solidFill>
                <a:latin typeface="Calibri"/>
                <a:cs typeface="Calibri"/>
              </a:rPr>
              <a:t>. </a:t>
            </a:r>
            <a:endParaRPr lang="en-US" sz="1500" i="1" dirty="0">
              <a:solidFill>
                <a:srgbClr val="00B0F0"/>
              </a:solidFill>
              <a:latin typeface="Calibri"/>
              <a:cs typeface="Calibri"/>
            </a:endParaRPr>
          </a:p>
          <a:p>
            <a:pPr marL="12700" marR="2019300">
              <a:lnSpc>
                <a:spcPct val="125299"/>
              </a:lnSpc>
            </a:pP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500" spc="-3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b="1" i="1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b="1" i="1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(</a:t>
            </a:r>
            <a:r>
              <a:rPr sz="1500" spc="-1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, </a:t>
            </a:r>
            <a:r>
              <a:rPr sz="15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ons </a:t>
            </a:r>
            <a:endParaRPr lang="en-US" sz="1500" spc="-5" dirty="0">
              <a:solidFill>
                <a:srgbClr val="00026A"/>
              </a:solidFill>
              <a:latin typeface="Calibri"/>
              <a:cs typeface="Calibri"/>
            </a:endParaRPr>
          </a:p>
          <a:p>
            <a:pPr marL="12700" marR="2019300">
              <a:lnSpc>
                <a:spcPct val="125299"/>
              </a:lnSpc>
            </a:pP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500" spc="-3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b="1" i="1" spc="-1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1500" b="1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(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m,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p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ons</a:t>
            </a:r>
            <a:endParaRPr sz="1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500" spc="-1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g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500" spc="-2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tr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b="1" i="1" spc="-1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500" b="1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= </a:t>
            </a:r>
            <a:r>
              <a:rPr sz="1500" b="1" i="1" spc="-1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b="1" i="1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b="1" i="1" spc="-1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1500" b="1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il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l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500" spc="-3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500" spc="-30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1500" spc="-1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, p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)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10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500" spc="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500" spc="-5" dirty="0">
                <a:solidFill>
                  <a:srgbClr val="00026A"/>
                </a:solidFill>
                <a:latin typeface="Calibri"/>
                <a:cs typeface="Calibri"/>
              </a:rPr>
              <a:t>on</a:t>
            </a:r>
            <a:r>
              <a:rPr sz="1500" dirty="0">
                <a:solidFill>
                  <a:srgbClr val="00026A"/>
                </a:solidFill>
                <a:latin typeface="Calibri"/>
                <a:cs typeface="Calibri"/>
              </a:rPr>
              <a:t>s.</a:t>
            </a:r>
            <a:endParaRPr sz="15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610"/>
              </a:spcBef>
            </a:pPr>
            <a:endParaRPr sz="13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Matr</a:t>
            </a:r>
            <a:r>
              <a:rPr spc="-5" dirty="0"/>
              <a:t>i</a:t>
            </a:r>
            <a:r>
              <a:rPr dirty="0"/>
              <a:t>x</a:t>
            </a:r>
            <a:r>
              <a:rPr spc="-5" dirty="0"/>
              <a:t> </a:t>
            </a:r>
            <a:r>
              <a:rPr spc="-15" dirty="0"/>
              <a:t>ari</a:t>
            </a:r>
            <a:r>
              <a:rPr dirty="0"/>
              <a:t>th</a:t>
            </a:r>
            <a:r>
              <a:rPr spc="-35" dirty="0"/>
              <a:t>me</a:t>
            </a:r>
            <a:r>
              <a:rPr dirty="0"/>
              <a:t>t</a:t>
            </a:r>
            <a:r>
              <a:rPr spc="-5" dirty="0"/>
              <a:t>i</a:t>
            </a:r>
            <a:r>
              <a:rPr dirty="0"/>
              <a:t>c</a:t>
            </a:r>
          </a:p>
        </p:txBody>
      </p:sp>
      <p:sp>
        <p:nvSpPr>
          <p:cNvPr id="19" name="object 19"/>
          <p:cNvSpPr/>
          <p:nvPr/>
        </p:nvSpPr>
        <p:spPr>
          <a:xfrm>
            <a:off x="6324600" y="1308200"/>
            <a:ext cx="2533650" cy="1385570"/>
          </a:xfrm>
          <a:custGeom>
            <a:avLst/>
            <a:gdLst/>
            <a:ahLst/>
            <a:cxnLst/>
            <a:rect l="l" t="t" r="r" b="b"/>
            <a:pathLst>
              <a:path w="2533650" h="1385570">
                <a:moveTo>
                  <a:pt x="0" y="0"/>
                </a:moveTo>
                <a:lnTo>
                  <a:pt x="2533651" y="0"/>
                </a:lnTo>
                <a:lnTo>
                  <a:pt x="2533651" y="1384995"/>
                </a:lnTo>
                <a:lnTo>
                  <a:pt x="0" y="138499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03340" y="1366519"/>
            <a:ext cx="2249170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400" b="1" i="1" spc="-15" dirty="0">
                <a:solidFill>
                  <a:srgbClr val="00B0F0"/>
                </a:solidFill>
                <a:latin typeface="Calibri"/>
                <a:cs typeface="Calibri"/>
              </a:rPr>
              <a:t>Ru</a:t>
            </a:r>
            <a:r>
              <a:rPr sz="1400" b="1" i="1" dirty="0">
                <a:solidFill>
                  <a:srgbClr val="00B0F0"/>
                </a:solidFill>
                <a:latin typeface="Calibri"/>
                <a:cs typeface="Calibri"/>
              </a:rPr>
              <a:t>l</a:t>
            </a:r>
            <a:r>
              <a:rPr sz="1400" b="1" i="1" spc="-5" dirty="0">
                <a:solidFill>
                  <a:srgbClr val="00B0F0"/>
                </a:solidFill>
                <a:latin typeface="Calibri"/>
                <a:cs typeface="Calibri"/>
              </a:rPr>
              <a:t>e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.</a:t>
            </a:r>
            <a:r>
              <a:rPr sz="1400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4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400" spc="-25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400" spc="-10" dirty="0">
                <a:solidFill>
                  <a:srgbClr val="002060"/>
                </a:solidFill>
                <a:latin typeface="Calibri"/>
                <a:cs typeface="Calibri"/>
              </a:rPr>
              <a:t>y</a:t>
            </a:r>
            <a:r>
              <a:rPr sz="14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hain</a:t>
            </a:r>
            <a:r>
              <a:rPr sz="1400" spc="-5" dirty="0">
                <a:solidFill>
                  <a:srgbClr val="002060"/>
                </a:solidFill>
                <a:latin typeface="Calibri"/>
                <a:cs typeface="Calibri"/>
              </a:rPr>
              <a:t> o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f</a:t>
            </a:r>
            <a:r>
              <a:rPr sz="1400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02060"/>
                </a:solidFill>
                <a:latin typeface="Calibri"/>
                <a:cs typeface="Calibri"/>
              </a:rPr>
              <a:t>m</a:t>
            </a:r>
            <a:r>
              <a:rPr sz="1400" spc="-10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400" spc="-1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ix </a:t>
            </a:r>
            <a:r>
              <a:rPr sz="1400" spc="-25" dirty="0">
                <a:solidFill>
                  <a:srgbClr val="002060"/>
                </a:solidFill>
                <a:latin typeface="Calibri"/>
                <a:cs typeface="Calibri"/>
              </a:rPr>
              <a:t>m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ultipli</a:t>
            </a:r>
            <a:r>
              <a:rPr sz="1400" spc="-30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1400" spc="-10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ti</a:t>
            </a:r>
            <a:r>
              <a:rPr sz="1400" spc="-5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002060"/>
                </a:solidFill>
                <a:latin typeface="Calibri"/>
                <a:cs typeface="Calibri"/>
              </a:rPr>
              <a:t>ns</a:t>
            </a:r>
            <a:r>
              <a:rPr sz="1400" spc="-5" dirty="0">
                <a:solidFill>
                  <a:srgbClr val="002060"/>
                </a:solidFill>
                <a:latin typeface="Calibri"/>
                <a:cs typeface="Calibri"/>
              </a:rPr>
              <a:t>,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th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FF0000"/>
                </a:solidFill>
                <a:latin typeface="Calibri"/>
                <a:cs typeface="Calibri"/>
              </a:rPr>
              <a:t>co</a:t>
            </a:r>
            <a:r>
              <a:rPr sz="1400" i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1400" i="1" spc="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1400" i="1" dirty="0">
                <a:solidFill>
                  <a:srgbClr val="FF0000"/>
                </a:solidFill>
                <a:latin typeface="Calibri"/>
                <a:cs typeface="Calibri"/>
              </a:rPr>
              <a:t>mn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di</a:t>
            </a:r>
            <a:r>
              <a:rPr sz="1400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ensi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o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ne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ix in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he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c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1400" spc="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th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400" i="1" spc="-2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400" i="1" spc="-10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400" i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di</a:t>
            </a:r>
            <a:r>
              <a:rPr sz="1400" spc="-25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ensi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o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he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ll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ing </a:t>
            </a: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ma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ix in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th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1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spc="-1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h</a:t>
            </a:r>
            <a:r>
              <a:rPr sz="1400" spc="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FF0000"/>
                </a:solidFill>
                <a:latin typeface="Calibri"/>
                <a:cs typeface="Calibri"/>
              </a:rPr>
              <a:t>in.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429AAFC-A8FB-484A-A517-7BDE0283B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222" y="2857505"/>
            <a:ext cx="2812405" cy="10267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94740"/>
            <a:ext cx="6410960" cy="949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66700"/>
              </a:lnSpc>
            </a:pP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4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a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ma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(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no</a:t>
            </a:r>
            <a:r>
              <a:rPr sz="1800" spc="-3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he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der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 of</a:t>
            </a:r>
            <a:r>
              <a:rPr sz="1800" spc="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1800" i="1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1800" i="1" spc="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1800" spc="-15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18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1800" spc="-4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180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1800" spc="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) 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4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a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f </a:t>
            </a:r>
            <a:r>
              <a:rPr sz="2400" i="1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i="1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2904" y="3147924"/>
            <a:ext cx="6063615" cy="90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03395" algn="l"/>
              </a:tabLst>
            </a:pP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Wh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do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g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if </a:t>
            </a:r>
            <a:r>
              <a:rPr sz="2400" spc="-45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ul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iply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	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y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ot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er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, 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h</a:t>
            </a: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do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s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𝑨𝒙</a:t>
            </a:r>
            <a:r>
              <a:rPr sz="2000" spc="-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L</a:t>
            </a:r>
            <a:r>
              <a:rPr spc="-5" dirty="0"/>
              <a:t>in</a:t>
            </a:r>
            <a:r>
              <a:rPr spc="-25" dirty="0"/>
              <a:t>ea</a:t>
            </a:r>
            <a:r>
              <a:rPr spc="-15" dirty="0"/>
              <a:t>r</a:t>
            </a:r>
            <a:r>
              <a:rPr spc="5" dirty="0"/>
              <a:t> t</a:t>
            </a:r>
            <a:r>
              <a:rPr spc="-15" dirty="0"/>
              <a:t>r</a:t>
            </a:r>
            <a:r>
              <a:rPr spc="-25" dirty="0"/>
              <a:t>a</a:t>
            </a:r>
            <a:r>
              <a:rPr spc="-5" dirty="0"/>
              <a:t>n</a:t>
            </a:r>
            <a:r>
              <a:rPr dirty="0"/>
              <a:t>s</a:t>
            </a:r>
            <a:r>
              <a:rPr spc="-15" dirty="0"/>
              <a:t>f</a:t>
            </a:r>
            <a:r>
              <a:rPr spc="-5" dirty="0"/>
              <a:t>o</a:t>
            </a:r>
            <a:r>
              <a:rPr spc="-25" dirty="0"/>
              <a:t>rma</a:t>
            </a:r>
            <a:r>
              <a:rPr spc="5" dirty="0"/>
              <a:t>t</a:t>
            </a:r>
            <a:r>
              <a:rPr spc="-5" dirty="0"/>
              <a:t>io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67460"/>
            <a:ext cx="189166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5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4" y="1840333"/>
            <a:ext cx="204279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buClr>
                <a:srgbClr val="A6A6A6"/>
              </a:buClr>
              <a:buSzPct val="91666"/>
              <a:buFont typeface="Arial"/>
              <a:buChar char="•"/>
              <a:tabLst>
                <a:tab pos="466725" algn="l"/>
              </a:tabLst>
            </a:pP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4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be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400" spc="14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4369" y="214947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68394" y="1883410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5976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14369" y="187769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10751" y="214947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23104" y="1883410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5975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0751" y="187769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70798" y="1834287"/>
            <a:ext cx="977900" cy="336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400" spc="-13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spc="10" dirty="0">
                <a:solidFill>
                  <a:srgbClr val="00026A"/>
                </a:solidFill>
                <a:latin typeface="Cambria Math"/>
                <a:cs typeface="Cambria Math"/>
              </a:rPr>
              <a:t>𝑦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400" spc="-13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𝑧 </a:t>
            </a:r>
            <a:r>
              <a:rPr sz="2400" spc="-17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baseline="24305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endParaRPr sz="2400" baseline="2430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710" y="2416203"/>
            <a:ext cx="4262755" cy="1025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buClr>
                <a:srgbClr val="A6A6A6"/>
              </a:buClr>
              <a:buSzPct val="91666"/>
              <a:buFont typeface="Arial"/>
              <a:buChar char="•"/>
              <a:tabLst>
                <a:tab pos="466725" algn="l"/>
              </a:tabLst>
            </a:pP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4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be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400" spc="13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6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ma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li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..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79781" y="4466590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>
                <a:moveTo>
                  <a:pt x="0" y="0"/>
                </a:moveTo>
                <a:lnTo>
                  <a:pt x="70843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36857" y="3986529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710"/>
                </a:lnTo>
              </a:path>
            </a:pathLst>
          </a:custGeom>
          <a:ln w="28803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79781" y="3980179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>
                <a:moveTo>
                  <a:pt x="0" y="0"/>
                </a:moveTo>
                <a:lnTo>
                  <a:pt x="70843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54115" y="4466590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>
                <a:moveTo>
                  <a:pt x="0" y="0"/>
                </a:moveTo>
                <a:lnTo>
                  <a:pt x="70842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67882" y="3986529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710"/>
                </a:lnTo>
              </a:path>
            </a:pathLst>
          </a:custGeom>
          <a:ln w="28803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54115" y="3980179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>
                <a:moveTo>
                  <a:pt x="0" y="0"/>
                </a:moveTo>
                <a:lnTo>
                  <a:pt x="70842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29164" y="4050606"/>
            <a:ext cx="1237293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68680" algn="l"/>
              </a:tabLst>
            </a:pPr>
            <a:r>
              <a:rPr sz="2400" spc="5" dirty="0">
                <a:solidFill>
                  <a:srgbClr val="00026A"/>
                </a:solidFill>
                <a:latin typeface="Cambria Math"/>
                <a:cs typeface="Cambria Math"/>
              </a:rPr>
              <a:t>𝐴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400" spc="204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=	</a:t>
            </a:r>
            <a:r>
              <a:rPr sz="3600" spc="-22" baseline="30092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endParaRPr sz="3600" baseline="30092" dirty="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18475" y="3924819"/>
            <a:ext cx="1367790" cy="720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5140">
              <a:lnSpc>
                <a:spcPts val="2855"/>
              </a:lnSpc>
              <a:tabLst>
                <a:tab pos="958215" algn="l"/>
              </a:tabLst>
            </a:pPr>
            <a:r>
              <a:rPr sz="2400" spc="-15" dirty="0">
                <a:solidFill>
                  <a:srgbClr val="00026A"/>
                </a:solidFill>
                <a:latin typeface="Cambria Math"/>
                <a:cs typeface="Cambria Math"/>
              </a:rPr>
              <a:t>0	</a:t>
            </a:r>
            <a:r>
              <a:rPr sz="2400" spc="-10" dirty="0">
                <a:solidFill>
                  <a:srgbClr val="00026A"/>
                </a:solidFill>
                <a:latin typeface="Cambria Math"/>
                <a:cs typeface="Cambria Math"/>
              </a:rPr>
              <a:t>−</a:t>
            </a:r>
            <a:r>
              <a:rPr sz="2400" spc="-15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endParaRPr sz="2400" dirty="0">
              <a:latin typeface="Cambria Math"/>
              <a:cs typeface="Cambria Math"/>
            </a:endParaRPr>
          </a:p>
          <a:p>
            <a:pPr marL="12700">
              <a:lnSpc>
                <a:spcPts val="2855"/>
              </a:lnSpc>
              <a:tabLst>
                <a:tab pos="485140" algn="l"/>
                <a:tab pos="1071880" algn="l"/>
              </a:tabLst>
            </a:pPr>
            <a:r>
              <a:rPr sz="2400" spc="-15" dirty="0">
                <a:solidFill>
                  <a:srgbClr val="00026A"/>
                </a:solidFill>
                <a:latin typeface="Cambria Math"/>
                <a:cs typeface="Cambria Math"/>
              </a:rPr>
              <a:t>3	1	2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51395" y="460057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498" y="0"/>
                </a:lnTo>
              </a:path>
            </a:pathLst>
          </a:custGeom>
          <a:ln w="1524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13383" y="3853179"/>
            <a:ext cx="0" cy="740410"/>
          </a:xfrm>
          <a:custGeom>
            <a:avLst/>
            <a:gdLst/>
            <a:ahLst/>
            <a:cxnLst/>
            <a:rect l="l" t="t" r="r" b="b"/>
            <a:pathLst>
              <a:path h="740410">
                <a:moveTo>
                  <a:pt x="0" y="0"/>
                </a:moveTo>
                <a:lnTo>
                  <a:pt x="0" y="740410"/>
                </a:lnTo>
              </a:path>
            </a:pathLst>
          </a:custGeom>
          <a:ln w="30292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51395" y="384619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498" y="0"/>
                </a:lnTo>
              </a:path>
            </a:pathLst>
          </a:custGeom>
          <a:ln w="15239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86447" y="460057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497" y="0"/>
                </a:lnTo>
              </a:path>
            </a:pathLst>
          </a:custGeom>
          <a:ln w="1524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00957" y="3853179"/>
            <a:ext cx="0" cy="740410"/>
          </a:xfrm>
          <a:custGeom>
            <a:avLst/>
            <a:gdLst/>
            <a:ahLst/>
            <a:cxnLst/>
            <a:rect l="l" t="t" r="r" b="b"/>
            <a:pathLst>
              <a:path h="740410">
                <a:moveTo>
                  <a:pt x="0" y="0"/>
                </a:moveTo>
                <a:lnTo>
                  <a:pt x="0" y="740410"/>
                </a:lnTo>
              </a:path>
            </a:pathLst>
          </a:custGeom>
          <a:ln w="3029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86447" y="384619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497" y="0"/>
                </a:lnTo>
              </a:path>
            </a:pathLst>
          </a:custGeom>
          <a:ln w="15239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56929" y="3678277"/>
            <a:ext cx="196215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2845"/>
              </a:lnSpc>
            </a:pP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20"/>
              </a:lnSpc>
            </a:pP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𝑦</a:t>
            </a:r>
            <a:endParaRPr sz="2400">
              <a:latin typeface="Cambria Math"/>
              <a:cs typeface="Cambria Math"/>
            </a:endParaRPr>
          </a:p>
          <a:p>
            <a:pPr marL="23495">
              <a:lnSpc>
                <a:spcPts val="2855"/>
              </a:lnSpc>
            </a:pP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𝑧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275886" y="435927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2699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29910" y="4093209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5975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75886" y="408749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91902" y="435927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2699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04255" y="4093209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5975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91902" y="408749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233611" y="4050133"/>
            <a:ext cx="99821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7205" algn="l"/>
              </a:tabLst>
            </a:pP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=	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r>
              <a:rPr sz="2400" spc="-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r>
              <a:rPr sz="2400" spc="-13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 Math"/>
                <a:cs typeface="Cambria Math"/>
              </a:rPr>
              <a:t>?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L</a:t>
            </a:r>
            <a:r>
              <a:rPr spc="-5" dirty="0"/>
              <a:t>in</a:t>
            </a:r>
            <a:r>
              <a:rPr spc="-25" dirty="0"/>
              <a:t>ea</a:t>
            </a:r>
            <a:r>
              <a:rPr spc="-15" dirty="0"/>
              <a:t>r</a:t>
            </a:r>
            <a:r>
              <a:rPr spc="5" dirty="0"/>
              <a:t> t</a:t>
            </a:r>
            <a:r>
              <a:rPr spc="-15" dirty="0"/>
              <a:t>r</a:t>
            </a:r>
            <a:r>
              <a:rPr spc="-25" dirty="0"/>
              <a:t>a</a:t>
            </a:r>
            <a:r>
              <a:rPr spc="-5" dirty="0"/>
              <a:t>n</a:t>
            </a:r>
            <a:r>
              <a:rPr dirty="0"/>
              <a:t>s</a:t>
            </a:r>
            <a:r>
              <a:rPr spc="-15" dirty="0"/>
              <a:t>f</a:t>
            </a:r>
            <a:r>
              <a:rPr spc="-5" dirty="0"/>
              <a:t>o</a:t>
            </a:r>
            <a:r>
              <a:rPr spc="-25" dirty="0"/>
              <a:t>rma</a:t>
            </a:r>
            <a:r>
              <a:rPr spc="5" dirty="0"/>
              <a:t>t</a:t>
            </a:r>
            <a:r>
              <a:rPr spc="-5" dirty="0"/>
              <a:t>io</a:t>
            </a:r>
            <a:r>
              <a:rPr dirty="0"/>
              <a:t>n</a:t>
            </a: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636857" y="2328976"/>
          <a:ext cx="1468974" cy="7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207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400" dirty="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2400" spc="-1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400" dirty="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2400" dirty="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67460"/>
            <a:ext cx="1891664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4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5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2904" y="1840333"/>
            <a:ext cx="2042795" cy="339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buClr>
                <a:srgbClr val="A6A6A6"/>
              </a:buClr>
              <a:buSzPct val="91666"/>
              <a:buFont typeface="Arial"/>
              <a:buChar char="•"/>
              <a:tabLst>
                <a:tab pos="466725" algn="l"/>
              </a:tabLst>
            </a:pP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400" spc="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be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400" spc="14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4369" y="214947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68394" y="1883410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5976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14369" y="187769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7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510751" y="214947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523104" y="1883410"/>
            <a:ext cx="0" cy="260350"/>
          </a:xfrm>
          <a:custGeom>
            <a:avLst/>
            <a:gdLst/>
            <a:ahLst/>
            <a:cxnLst/>
            <a:rect l="l" t="t" r="r" b="b"/>
            <a:pathLst>
              <a:path h="260350">
                <a:moveTo>
                  <a:pt x="0" y="0"/>
                </a:moveTo>
                <a:lnTo>
                  <a:pt x="0" y="260349"/>
                </a:lnTo>
              </a:path>
            </a:pathLst>
          </a:custGeom>
          <a:ln w="25975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10751" y="1877695"/>
            <a:ext cx="66675" cy="0"/>
          </a:xfrm>
          <a:custGeom>
            <a:avLst/>
            <a:gdLst/>
            <a:ahLst/>
            <a:cxnLst/>
            <a:rect l="l" t="t" r="r" b="b"/>
            <a:pathLst>
              <a:path w="66675">
                <a:moveTo>
                  <a:pt x="0" y="0"/>
                </a:moveTo>
                <a:lnTo>
                  <a:pt x="66376" y="0"/>
                </a:lnTo>
              </a:path>
            </a:pathLst>
          </a:custGeom>
          <a:ln w="1270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70798" y="1834287"/>
            <a:ext cx="977900" cy="336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7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400" spc="-13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spc="10" dirty="0">
                <a:solidFill>
                  <a:srgbClr val="00026A"/>
                </a:solidFill>
                <a:latin typeface="Cambria Math"/>
                <a:cs typeface="Cambria Math"/>
              </a:rPr>
              <a:t>𝑦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,</a:t>
            </a:r>
            <a:r>
              <a:rPr sz="2400" spc="-13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𝑧 </a:t>
            </a:r>
            <a:r>
              <a:rPr sz="2400" spc="-17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baseline="24305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endParaRPr sz="2400" baseline="24305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9373" y="2520037"/>
            <a:ext cx="4262755" cy="1025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725" indent="-454025">
              <a:lnSpc>
                <a:spcPct val="100000"/>
              </a:lnSpc>
              <a:buClr>
                <a:srgbClr val="A6A6A6"/>
              </a:buClr>
              <a:buSzPct val="91666"/>
              <a:buFont typeface="Arial"/>
              <a:buChar char="•"/>
              <a:tabLst>
                <a:tab pos="466725" algn="l"/>
              </a:tabLst>
            </a:pP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t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4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be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400" spc="13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endParaRPr sz="240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6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b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er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ma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x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u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p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li</a:t>
            </a:r>
            <a:r>
              <a:rPr sz="2400" spc="-4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4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400" spc="-5" dirty="0">
                <a:solidFill>
                  <a:srgbClr val="00026A"/>
                </a:solidFill>
                <a:latin typeface="Calibri"/>
                <a:cs typeface="Calibri"/>
              </a:rPr>
              <a:t>io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400" spc="-10" dirty="0">
                <a:solidFill>
                  <a:srgbClr val="00026A"/>
                </a:solidFill>
                <a:latin typeface="Calibri"/>
                <a:cs typeface="Calibri"/>
              </a:rPr>
              <a:t>..</a:t>
            </a:r>
            <a:r>
              <a:rPr sz="24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79781" y="4466590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>
                <a:moveTo>
                  <a:pt x="0" y="0"/>
                </a:moveTo>
                <a:lnTo>
                  <a:pt x="70843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36857" y="3986529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710"/>
                </a:lnTo>
              </a:path>
            </a:pathLst>
          </a:custGeom>
          <a:ln w="28803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579781" y="3980179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>
                <a:moveTo>
                  <a:pt x="0" y="0"/>
                </a:moveTo>
                <a:lnTo>
                  <a:pt x="70843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54115" y="4466590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>
                <a:moveTo>
                  <a:pt x="0" y="0"/>
                </a:moveTo>
                <a:lnTo>
                  <a:pt x="70842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67882" y="3986529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710"/>
                </a:lnTo>
              </a:path>
            </a:pathLst>
          </a:custGeom>
          <a:ln w="28803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54115" y="3980179"/>
            <a:ext cx="71120" cy="0"/>
          </a:xfrm>
          <a:custGeom>
            <a:avLst/>
            <a:gdLst/>
            <a:ahLst/>
            <a:cxnLst/>
            <a:rect l="l" t="t" r="r" b="b"/>
            <a:pathLst>
              <a:path w="71119">
                <a:moveTo>
                  <a:pt x="0" y="0"/>
                </a:moveTo>
                <a:lnTo>
                  <a:pt x="70842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2904" y="3885541"/>
            <a:ext cx="1050290" cy="495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68680" algn="l"/>
              </a:tabLst>
            </a:pPr>
            <a:r>
              <a:rPr sz="2400" spc="5" dirty="0">
                <a:solidFill>
                  <a:srgbClr val="00026A"/>
                </a:solidFill>
                <a:latin typeface="Cambria Math"/>
                <a:cs typeface="Cambria Math"/>
              </a:rPr>
              <a:t>𝐴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400" spc="204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=	</a:t>
            </a:r>
            <a:r>
              <a:rPr sz="3600" spc="-22" baseline="30092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endParaRPr sz="3600" baseline="30092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18947" y="3885541"/>
            <a:ext cx="1367790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5140">
              <a:lnSpc>
                <a:spcPts val="2855"/>
              </a:lnSpc>
              <a:tabLst>
                <a:tab pos="958215" algn="l"/>
              </a:tabLst>
            </a:pPr>
            <a:r>
              <a:rPr sz="2400" spc="-15" dirty="0">
                <a:solidFill>
                  <a:srgbClr val="00026A"/>
                </a:solidFill>
                <a:latin typeface="Cambria Math"/>
                <a:cs typeface="Cambria Math"/>
              </a:rPr>
              <a:t>0	</a:t>
            </a:r>
            <a:r>
              <a:rPr sz="2400" spc="-10" dirty="0">
                <a:solidFill>
                  <a:srgbClr val="00026A"/>
                </a:solidFill>
                <a:latin typeface="Cambria Math"/>
                <a:cs typeface="Cambria Math"/>
              </a:rPr>
              <a:t>−</a:t>
            </a:r>
            <a:r>
              <a:rPr sz="2400" spc="-15" dirty="0">
                <a:solidFill>
                  <a:srgbClr val="00026A"/>
                </a:solidFill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55"/>
              </a:lnSpc>
              <a:tabLst>
                <a:tab pos="485140" algn="l"/>
                <a:tab pos="1071880" algn="l"/>
              </a:tabLst>
            </a:pPr>
            <a:r>
              <a:rPr sz="2400" spc="-15" dirty="0">
                <a:solidFill>
                  <a:srgbClr val="00026A"/>
                </a:solidFill>
                <a:latin typeface="Cambria Math"/>
                <a:cs typeface="Cambria Math"/>
              </a:rPr>
              <a:t>3	1	2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51395" y="460057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498" y="0"/>
                </a:lnTo>
              </a:path>
            </a:pathLst>
          </a:custGeom>
          <a:ln w="1524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13383" y="3853179"/>
            <a:ext cx="0" cy="740410"/>
          </a:xfrm>
          <a:custGeom>
            <a:avLst/>
            <a:gdLst/>
            <a:ahLst/>
            <a:cxnLst/>
            <a:rect l="l" t="t" r="r" b="b"/>
            <a:pathLst>
              <a:path h="740410">
                <a:moveTo>
                  <a:pt x="0" y="0"/>
                </a:moveTo>
                <a:lnTo>
                  <a:pt x="0" y="740410"/>
                </a:lnTo>
              </a:path>
            </a:pathLst>
          </a:custGeom>
          <a:ln w="30292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51395" y="384619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498" y="0"/>
                </a:lnTo>
              </a:path>
            </a:pathLst>
          </a:custGeom>
          <a:ln w="15239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86447" y="460057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497" y="0"/>
                </a:lnTo>
              </a:path>
            </a:pathLst>
          </a:custGeom>
          <a:ln w="1524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00957" y="3853179"/>
            <a:ext cx="0" cy="740410"/>
          </a:xfrm>
          <a:custGeom>
            <a:avLst/>
            <a:gdLst/>
            <a:ahLst/>
            <a:cxnLst/>
            <a:rect l="l" t="t" r="r" b="b"/>
            <a:pathLst>
              <a:path h="740410">
                <a:moveTo>
                  <a:pt x="0" y="0"/>
                </a:moveTo>
                <a:lnTo>
                  <a:pt x="0" y="740410"/>
                </a:lnTo>
              </a:path>
            </a:pathLst>
          </a:custGeom>
          <a:ln w="3029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86447" y="3846195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>
                <a:moveTo>
                  <a:pt x="0" y="0"/>
                </a:moveTo>
                <a:lnTo>
                  <a:pt x="76497" y="0"/>
                </a:lnTo>
              </a:path>
            </a:pathLst>
          </a:custGeom>
          <a:ln w="15239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56929" y="3678277"/>
            <a:ext cx="196215" cy="104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604">
              <a:lnSpc>
                <a:spcPts val="2845"/>
              </a:lnSpc>
            </a:pP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20"/>
              </a:lnSpc>
            </a:pP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𝑦</a:t>
            </a:r>
            <a:endParaRPr sz="2400">
              <a:latin typeface="Cambria Math"/>
              <a:cs typeface="Cambria Math"/>
            </a:endParaRPr>
          </a:p>
          <a:p>
            <a:pPr marL="23495">
              <a:lnSpc>
                <a:spcPts val="2855"/>
              </a:lnSpc>
            </a:pP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𝑧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33611" y="4050133"/>
            <a:ext cx="25336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303296" y="4466590"/>
            <a:ext cx="71120" cy="0"/>
          </a:xfrm>
          <a:custGeom>
            <a:avLst/>
            <a:gdLst/>
            <a:ahLst/>
            <a:cxnLst/>
            <a:rect l="l" t="t" r="r" b="b"/>
            <a:pathLst>
              <a:path w="71120">
                <a:moveTo>
                  <a:pt x="0" y="0"/>
                </a:moveTo>
                <a:lnTo>
                  <a:pt x="70841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60372" y="3986529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710"/>
                </a:lnTo>
              </a:path>
            </a:pathLst>
          </a:custGeom>
          <a:ln w="28802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03296" y="3980179"/>
            <a:ext cx="71120" cy="0"/>
          </a:xfrm>
          <a:custGeom>
            <a:avLst/>
            <a:gdLst/>
            <a:ahLst/>
            <a:cxnLst/>
            <a:rect l="l" t="t" r="r" b="b"/>
            <a:pathLst>
              <a:path w="71120">
                <a:moveTo>
                  <a:pt x="0" y="0"/>
                </a:moveTo>
                <a:lnTo>
                  <a:pt x="70841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91754" y="4466590"/>
            <a:ext cx="71120" cy="0"/>
          </a:xfrm>
          <a:custGeom>
            <a:avLst/>
            <a:gdLst/>
            <a:ahLst/>
            <a:cxnLst/>
            <a:rect l="l" t="t" r="r" b="b"/>
            <a:pathLst>
              <a:path w="71120">
                <a:moveTo>
                  <a:pt x="0" y="0"/>
                </a:moveTo>
                <a:lnTo>
                  <a:pt x="70841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05520" y="3986529"/>
            <a:ext cx="0" cy="473709"/>
          </a:xfrm>
          <a:custGeom>
            <a:avLst/>
            <a:gdLst/>
            <a:ahLst/>
            <a:cxnLst/>
            <a:rect l="l" t="t" r="r" b="b"/>
            <a:pathLst>
              <a:path h="473710">
                <a:moveTo>
                  <a:pt x="0" y="0"/>
                </a:moveTo>
                <a:lnTo>
                  <a:pt x="0" y="473710"/>
                </a:lnTo>
              </a:path>
            </a:pathLst>
          </a:custGeom>
          <a:ln w="28802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91754" y="3980179"/>
            <a:ext cx="71120" cy="0"/>
          </a:xfrm>
          <a:custGeom>
            <a:avLst/>
            <a:gdLst/>
            <a:ahLst/>
            <a:cxnLst/>
            <a:rect l="l" t="t" r="r" b="b"/>
            <a:pathLst>
              <a:path w="71120">
                <a:moveTo>
                  <a:pt x="0" y="0"/>
                </a:moveTo>
                <a:lnTo>
                  <a:pt x="70841" y="0"/>
                </a:lnTo>
              </a:path>
            </a:pathLst>
          </a:custGeom>
          <a:ln w="13970">
            <a:solidFill>
              <a:srgbClr val="0002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309656" y="3810483"/>
            <a:ext cx="2601340" cy="7181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36880">
              <a:lnSpc>
                <a:spcPts val="2810"/>
              </a:lnSpc>
            </a:pP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400" spc="7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− 𝑧 </a:t>
            </a:r>
            <a:endParaRPr lang="en-US" sz="2400" dirty="0">
              <a:solidFill>
                <a:srgbClr val="00026A"/>
              </a:solidFill>
              <a:latin typeface="Cambria Math"/>
              <a:cs typeface="Cambria Math"/>
            </a:endParaRPr>
          </a:p>
          <a:p>
            <a:pPr marL="12700" marR="5080" indent="436880">
              <a:lnSpc>
                <a:spcPts val="2810"/>
              </a:lnSpc>
            </a:pPr>
            <a:r>
              <a:rPr sz="2400" spc="-20" dirty="0">
                <a:solidFill>
                  <a:srgbClr val="00026A"/>
                </a:solidFill>
                <a:latin typeface="Cambria Math"/>
                <a:cs typeface="Cambria Math"/>
              </a:rPr>
              <a:t>3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𝑥</a:t>
            </a:r>
            <a:r>
              <a:rPr sz="2400" spc="7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+ </a:t>
            </a:r>
            <a:r>
              <a:rPr sz="2400" spc="-25" dirty="0">
                <a:solidFill>
                  <a:srgbClr val="00026A"/>
                </a:solidFill>
                <a:latin typeface="Cambria Math"/>
                <a:cs typeface="Cambria Math"/>
              </a:rPr>
              <a:t>𝑦</a:t>
            </a:r>
            <a:r>
              <a:rPr sz="2400" spc="4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400" dirty="0">
                <a:solidFill>
                  <a:srgbClr val="00026A"/>
                </a:solidFill>
                <a:latin typeface="Cambria Math"/>
                <a:cs typeface="Cambria Math"/>
              </a:rPr>
              <a:t>+ </a:t>
            </a:r>
            <a:r>
              <a:rPr sz="2400" spc="-5" dirty="0">
                <a:solidFill>
                  <a:srgbClr val="00026A"/>
                </a:solidFill>
                <a:latin typeface="Cambria Math"/>
                <a:cs typeface="Cambria Math"/>
              </a:rPr>
              <a:t>2𝑧</a:t>
            </a:r>
            <a:endParaRPr sz="2400" dirty="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L</a:t>
            </a:r>
            <a:r>
              <a:rPr spc="-5" dirty="0"/>
              <a:t>in</a:t>
            </a:r>
            <a:r>
              <a:rPr spc="-25" dirty="0"/>
              <a:t>ea</a:t>
            </a:r>
            <a:r>
              <a:rPr spc="-15" dirty="0"/>
              <a:t>r</a:t>
            </a:r>
            <a:r>
              <a:rPr spc="5" dirty="0"/>
              <a:t> t</a:t>
            </a:r>
            <a:r>
              <a:rPr spc="-15" dirty="0"/>
              <a:t>r</a:t>
            </a:r>
            <a:r>
              <a:rPr spc="-25" dirty="0"/>
              <a:t>a</a:t>
            </a:r>
            <a:r>
              <a:rPr spc="-5" dirty="0"/>
              <a:t>n</a:t>
            </a:r>
            <a:r>
              <a:rPr dirty="0"/>
              <a:t>s</a:t>
            </a:r>
            <a:r>
              <a:rPr spc="-15" dirty="0"/>
              <a:t>f</a:t>
            </a:r>
            <a:r>
              <a:rPr spc="-5" dirty="0"/>
              <a:t>o</a:t>
            </a:r>
            <a:r>
              <a:rPr spc="-25" dirty="0"/>
              <a:t>rma</a:t>
            </a:r>
            <a:r>
              <a:rPr spc="5" dirty="0"/>
              <a:t>t</a:t>
            </a:r>
            <a:r>
              <a:rPr spc="-5" dirty="0"/>
              <a:t>io</a:t>
            </a:r>
            <a:r>
              <a:rPr dirty="0"/>
              <a:t>n</a:t>
            </a: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679464" y="2389126"/>
          <a:ext cx="1468974" cy="788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207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400" dirty="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0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2400" spc="-1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−</a:t>
                      </a: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8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3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1</a:t>
                      </a:r>
                      <a:endParaRPr sz="24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543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00026A"/>
                          </a:solidFill>
                          <a:latin typeface="Cambria Math"/>
                          <a:cs typeface="Cambria Math"/>
                        </a:rPr>
                        <a:t>2</a:t>
                      </a:r>
                      <a:endParaRPr sz="2400" dirty="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669B78AD-78B5-4F41-9EC3-667AD958173E}"/>
                  </a:ext>
                </a:extLst>
              </p14:cNvPr>
              <p14:cNvContentPartPr/>
              <p14:nvPr/>
            </p14:nvContentPartPr>
            <p14:xfrm>
              <a:off x="2994008" y="3818256"/>
              <a:ext cx="24120" cy="129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669B78AD-78B5-4F41-9EC3-667AD958173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985008" y="3809256"/>
                <a:ext cx="417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BA84CFF-744D-4453-8549-BB6DEE3D41DF}"/>
                  </a:ext>
                </a:extLst>
              </p14:cNvPr>
              <p14:cNvContentPartPr/>
              <p14:nvPr/>
            </p14:nvContentPartPr>
            <p14:xfrm>
              <a:off x="4623368" y="3908616"/>
              <a:ext cx="3960" cy="54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BA84CFF-744D-4453-8549-BB6DEE3D41D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614728" y="3899616"/>
                <a:ext cx="21600" cy="2304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19099EF1-1A1B-20AB-8C06-D6392CE9BDB0}"/>
              </a:ext>
            </a:extLst>
          </p:cNvPr>
          <p:cNvSpPr txBox="1"/>
          <p:nvPr/>
        </p:nvSpPr>
        <p:spPr>
          <a:xfrm>
            <a:off x="5791200" y="302895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result is a Vector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1778126-BD64-D4A0-2DD9-C2CB36157711}"/>
              </a:ext>
            </a:extLst>
          </p:cNvPr>
          <p:cNvCxnSpPr/>
          <p:nvPr/>
        </p:nvCxnSpPr>
        <p:spPr>
          <a:xfrm flipH="1">
            <a:off x="4953000" y="3409950"/>
            <a:ext cx="957996" cy="576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67246" y="2100986"/>
            <a:ext cx="312420" cy="235585"/>
          </a:xfrm>
          <a:custGeom>
            <a:avLst/>
            <a:gdLst/>
            <a:ahLst/>
            <a:cxnLst/>
            <a:rect l="l" t="t" r="r" b="b"/>
            <a:pathLst>
              <a:path w="312419" h="235585">
                <a:moveTo>
                  <a:pt x="237001" y="0"/>
                </a:moveTo>
                <a:lnTo>
                  <a:pt x="235276" y="10100"/>
                </a:lnTo>
                <a:lnTo>
                  <a:pt x="245906" y="14789"/>
                </a:lnTo>
                <a:lnTo>
                  <a:pt x="255571" y="21272"/>
                </a:lnTo>
                <a:lnTo>
                  <a:pt x="280425" y="55165"/>
                </a:lnTo>
                <a:lnTo>
                  <a:pt x="290162" y="104424"/>
                </a:lnTo>
                <a:lnTo>
                  <a:pt x="290559" y="119772"/>
                </a:lnTo>
                <a:lnTo>
                  <a:pt x="290005" y="133151"/>
                </a:lnTo>
                <a:lnTo>
                  <a:pt x="278873" y="182047"/>
                </a:lnTo>
                <a:lnTo>
                  <a:pt x="256678" y="213487"/>
                </a:lnTo>
                <a:lnTo>
                  <a:pt x="234026" y="225723"/>
                </a:lnTo>
                <a:lnTo>
                  <a:pt x="238736" y="234801"/>
                </a:lnTo>
                <a:lnTo>
                  <a:pt x="279737" y="209786"/>
                </a:lnTo>
                <a:lnTo>
                  <a:pt x="301844" y="175652"/>
                </a:lnTo>
                <a:lnTo>
                  <a:pt x="311504" y="124927"/>
                </a:lnTo>
                <a:lnTo>
                  <a:pt x="311838" y="108860"/>
                </a:lnTo>
                <a:lnTo>
                  <a:pt x="310769" y="96042"/>
                </a:lnTo>
                <a:lnTo>
                  <a:pt x="295963" y="47902"/>
                </a:lnTo>
                <a:lnTo>
                  <a:pt x="271767" y="17211"/>
                </a:lnTo>
                <a:lnTo>
                  <a:pt x="249721" y="4247"/>
                </a:lnTo>
                <a:lnTo>
                  <a:pt x="237001" y="0"/>
                </a:lnTo>
                <a:close/>
              </a:path>
              <a:path w="312419" h="235585">
                <a:moveTo>
                  <a:pt x="74839" y="0"/>
                </a:moveTo>
                <a:lnTo>
                  <a:pt x="32172" y="25558"/>
                </a:lnTo>
                <a:lnTo>
                  <a:pt x="10033" y="59781"/>
                </a:lnTo>
                <a:lnTo>
                  <a:pt x="335" y="110476"/>
                </a:lnTo>
                <a:lnTo>
                  <a:pt x="0" y="126503"/>
                </a:lnTo>
                <a:lnTo>
                  <a:pt x="1061" y="139355"/>
                </a:lnTo>
                <a:lnTo>
                  <a:pt x="15815" y="187494"/>
                </a:lnTo>
                <a:lnTo>
                  <a:pt x="39983" y="218090"/>
                </a:lnTo>
                <a:lnTo>
                  <a:pt x="74839" y="235272"/>
                </a:lnTo>
                <a:lnTo>
                  <a:pt x="76253" y="225184"/>
                </a:lnTo>
                <a:lnTo>
                  <a:pt x="65781" y="220476"/>
                </a:lnTo>
                <a:lnTo>
                  <a:pt x="56234" y="213939"/>
                </a:lnTo>
                <a:lnTo>
                  <a:pt x="31520" y="179680"/>
                </a:lnTo>
                <a:lnTo>
                  <a:pt x="21673" y="130234"/>
                </a:lnTo>
                <a:lnTo>
                  <a:pt x="21264" y="115291"/>
                </a:lnTo>
                <a:lnTo>
                  <a:pt x="21723" y="101929"/>
                </a:lnTo>
                <a:lnTo>
                  <a:pt x="32847" y="52974"/>
                </a:lnTo>
                <a:lnTo>
                  <a:pt x="55274" y="21701"/>
                </a:lnTo>
                <a:lnTo>
                  <a:pt x="78188" y="9550"/>
                </a:lnTo>
                <a:lnTo>
                  <a:pt x="74839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2905" y="1223138"/>
            <a:ext cx="4329430" cy="16440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89"/>
              </a:lnSpc>
            </a:pP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Gi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y </a:t>
            </a:r>
            <a:r>
              <a:rPr sz="2000" spc="30" dirty="0">
                <a:solidFill>
                  <a:srgbClr val="00026A"/>
                </a:solidFill>
                <a:latin typeface="Cambria Math"/>
                <a:cs typeface="Cambria Math"/>
              </a:rPr>
              <a:t>𝑚</a:t>
            </a:r>
            <a:r>
              <a:rPr sz="2000" spc="-5" dirty="0">
                <a:solidFill>
                  <a:srgbClr val="00026A"/>
                </a:solidFill>
                <a:latin typeface="Cambria Math"/>
                <a:cs typeface="Cambria Math"/>
              </a:rPr>
              <a:t>×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000" spc="4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rix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, </a:t>
            </a:r>
            <a:r>
              <a:rPr sz="2000" spc="-4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fi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a f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un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endParaRPr sz="2000">
              <a:latin typeface="Calibri"/>
              <a:cs typeface="Calibri"/>
            </a:endParaRPr>
          </a:p>
          <a:p>
            <a:pPr marL="273685" algn="ctr">
              <a:lnSpc>
                <a:spcPts val="2305"/>
              </a:lnSpc>
            </a:pPr>
            <a:r>
              <a:rPr sz="2000" spc="40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r>
              <a:rPr sz="2000" spc="-10" dirty="0">
                <a:solidFill>
                  <a:srgbClr val="00026A"/>
                </a:solidFill>
                <a:latin typeface="Cambria Math"/>
                <a:cs typeface="Cambria Math"/>
              </a:rPr>
              <a:t>:</a:t>
            </a:r>
            <a:r>
              <a:rPr sz="2000" spc="-1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spc="-22" baseline="25641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1950" baseline="25641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950" spc="44" baseline="25641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→</a:t>
            </a:r>
            <a:r>
              <a:rPr sz="2000" spc="1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baseline="25641" dirty="0">
                <a:solidFill>
                  <a:srgbClr val="00026A"/>
                </a:solidFill>
                <a:latin typeface="Cambria Math"/>
                <a:cs typeface="Cambria Math"/>
              </a:rPr>
              <a:t>𝑚</a:t>
            </a:r>
            <a:endParaRPr sz="1950" baseline="25641">
              <a:latin typeface="Cambria Math"/>
              <a:cs typeface="Cambria Math"/>
            </a:endParaRPr>
          </a:p>
          <a:p>
            <a:pPr marL="281305" algn="ctr">
              <a:lnSpc>
                <a:spcPct val="100000"/>
              </a:lnSpc>
              <a:tabLst>
                <a:tab pos="864869" algn="l"/>
              </a:tabLst>
            </a:pPr>
            <a:r>
              <a:rPr sz="2000" dirty="0">
                <a:solidFill>
                  <a:srgbClr val="00026A"/>
                </a:solidFill>
                <a:latin typeface="Cambria Math"/>
                <a:cs typeface="Cambria Math"/>
              </a:rPr>
              <a:t>𝑇 </a:t>
            </a:r>
            <a:r>
              <a:rPr sz="2000" spc="-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000" dirty="0">
                <a:solidFill>
                  <a:srgbClr val="00026A"/>
                </a:solidFill>
                <a:latin typeface="Cambria Math"/>
                <a:cs typeface="Cambria Math"/>
              </a:rPr>
              <a:t>	=</a:t>
            </a:r>
            <a:r>
              <a:rPr sz="2000" spc="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𝑨𝒙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wh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0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is an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-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al 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ec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in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spc="52" baseline="25641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L</a:t>
            </a:r>
            <a:r>
              <a:rPr spc="-5" dirty="0"/>
              <a:t>in</a:t>
            </a:r>
            <a:r>
              <a:rPr spc="-25" dirty="0"/>
              <a:t>ea</a:t>
            </a:r>
            <a:r>
              <a:rPr spc="-15" dirty="0"/>
              <a:t>r</a:t>
            </a:r>
            <a:r>
              <a:rPr spc="5" dirty="0"/>
              <a:t> t</a:t>
            </a:r>
            <a:r>
              <a:rPr spc="-15" dirty="0"/>
              <a:t>r</a:t>
            </a:r>
            <a:r>
              <a:rPr spc="-25" dirty="0"/>
              <a:t>a</a:t>
            </a:r>
            <a:r>
              <a:rPr spc="-5" dirty="0"/>
              <a:t>n</a:t>
            </a:r>
            <a:r>
              <a:rPr dirty="0"/>
              <a:t>s</a:t>
            </a:r>
            <a:r>
              <a:rPr spc="-15" dirty="0"/>
              <a:t>f</a:t>
            </a:r>
            <a:r>
              <a:rPr spc="-5" dirty="0"/>
              <a:t>o</a:t>
            </a:r>
            <a:r>
              <a:rPr spc="-25" dirty="0"/>
              <a:t>rma</a:t>
            </a:r>
            <a:r>
              <a:rPr spc="5" dirty="0"/>
              <a:t>t</a:t>
            </a:r>
            <a:r>
              <a:rPr spc="-5" dirty="0"/>
              <a:t>io</a:t>
            </a:r>
            <a:r>
              <a:rPr dirty="0"/>
              <a:t>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97423" y="1106423"/>
            <a:ext cx="3608831" cy="7033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67246" y="2100986"/>
            <a:ext cx="312420" cy="235585"/>
          </a:xfrm>
          <a:custGeom>
            <a:avLst/>
            <a:gdLst/>
            <a:ahLst/>
            <a:cxnLst/>
            <a:rect l="l" t="t" r="r" b="b"/>
            <a:pathLst>
              <a:path w="312419" h="235585">
                <a:moveTo>
                  <a:pt x="237001" y="0"/>
                </a:moveTo>
                <a:lnTo>
                  <a:pt x="235276" y="10100"/>
                </a:lnTo>
                <a:lnTo>
                  <a:pt x="245906" y="14789"/>
                </a:lnTo>
                <a:lnTo>
                  <a:pt x="255571" y="21272"/>
                </a:lnTo>
                <a:lnTo>
                  <a:pt x="280425" y="55165"/>
                </a:lnTo>
                <a:lnTo>
                  <a:pt x="290162" y="104424"/>
                </a:lnTo>
                <a:lnTo>
                  <a:pt x="290559" y="119772"/>
                </a:lnTo>
                <a:lnTo>
                  <a:pt x="290005" y="133151"/>
                </a:lnTo>
                <a:lnTo>
                  <a:pt x="278873" y="182047"/>
                </a:lnTo>
                <a:lnTo>
                  <a:pt x="256678" y="213487"/>
                </a:lnTo>
                <a:lnTo>
                  <a:pt x="234026" y="225723"/>
                </a:lnTo>
                <a:lnTo>
                  <a:pt x="238736" y="234801"/>
                </a:lnTo>
                <a:lnTo>
                  <a:pt x="279737" y="209786"/>
                </a:lnTo>
                <a:lnTo>
                  <a:pt x="301844" y="175652"/>
                </a:lnTo>
                <a:lnTo>
                  <a:pt x="311504" y="124927"/>
                </a:lnTo>
                <a:lnTo>
                  <a:pt x="311838" y="108860"/>
                </a:lnTo>
                <a:lnTo>
                  <a:pt x="310769" y="96042"/>
                </a:lnTo>
                <a:lnTo>
                  <a:pt x="295963" y="47902"/>
                </a:lnTo>
                <a:lnTo>
                  <a:pt x="271767" y="17211"/>
                </a:lnTo>
                <a:lnTo>
                  <a:pt x="249721" y="4247"/>
                </a:lnTo>
                <a:lnTo>
                  <a:pt x="237001" y="0"/>
                </a:lnTo>
                <a:close/>
              </a:path>
              <a:path w="312419" h="235585">
                <a:moveTo>
                  <a:pt x="74839" y="0"/>
                </a:moveTo>
                <a:lnTo>
                  <a:pt x="32172" y="25558"/>
                </a:lnTo>
                <a:lnTo>
                  <a:pt x="10033" y="59781"/>
                </a:lnTo>
                <a:lnTo>
                  <a:pt x="335" y="110476"/>
                </a:lnTo>
                <a:lnTo>
                  <a:pt x="0" y="126503"/>
                </a:lnTo>
                <a:lnTo>
                  <a:pt x="1061" y="139355"/>
                </a:lnTo>
                <a:lnTo>
                  <a:pt x="15815" y="187494"/>
                </a:lnTo>
                <a:lnTo>
                  <a:pt x="39983" y="218090"/>
                </a:lnTo>
                <a:lnTo>
                  <a:pt x="74839" y="235272"/>
                </a:lnTo>
                <a:lnTo>
                  <a:pt x="76253" y="225184"/>
                </a:lnTo>
                <a:lnTo>
                  <a:pt x="65781" y="220476"/>
                </a:lnTo>
                <a:lnTo>
                  <a:pt x="56234" y="213939"/>
                </a:lnTo>
                <a:lnTo>
                  <a:pt x="31520" y="179680"/>
                </a:lnTo>
                <a:lnTo>
                  <a:pt x="21673" y="130234"/>
                </a:lnTo>
                <a:lnTo>
                  <a:pt x="21264" y="115291"/>
                </a:lnTo>
                <a:lnTo>
                  <a:pt x="21723" y="101929"/>
                </a:lnTo>
                <a:lnTo>
                  <a:pt x="32847" y="52974"/>
                </a:lnTo>
                <a:lnTo>
                  <a:pt x="55274" y="21701"/>
                </a:lnTo>
                <a:lnTo>
                  <a:pt x="78188" y="9550"/>
                </a:lnTo>
                <a:lnTo>
                  <a:pt x="74839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2904" y="1223138"/>
            <a:ext cx="4472305" cy="2395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47955">
              <a:lnSpc>
                <a:spcPts val="1989"/>
              </a:lnSpc>
            </a:pP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Gi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y </a:t>
            </a:r>
            <a:r>
              <a:rPr sz="2000" spc="30" dirty="0">
                <a:solidFill>
                  <a:srgbClr val="00026A"/>
                </a:solidFill>
                <a:latin typeface="Cambria Math"/>
                <a:cs typeface="Cambria Math"/>
              </a:rPr>
              <a:t>𝑚</a:t>
            </a:r>
            <a:r>
              <a:rPr sz="2000" spc="-5" dirty="0">
                <a:solidFill>
                  <a:srgbClr val="00026A"/>
                </a:solidFill>
                <a:latin typeface="Cambria Math"/>
                <a:cs typeface="Cambria Math"/>
              </a:rPr>
              <a:t>×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000" spc="4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rix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, </a:t>
            </a:r>
            <a:r>
              <a:rPr sz="2000" spc="-4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fi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a f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un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endParaRPr sz="2000" dirty="0">
              <a:latin typeface="Calibri"/>
              <a:cs typeface="Calibri"/>
            </a:endParaRPr>
          </a:p>
          <a:p>
            <a:pPr marL="130810" algn="ctr">
              <a:lnSpc>
                <a:spcPts val="2305"/>
              </a:lnSpc>
            </a:pPr>
            <a:r>
              <a:rPr sz="2000" spc="40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r>
              <a:rPr sz="2000" spc="-10" dirty="0">
                <a:solidFill>
                  <a:srgbClr val="00026A"/>
                </a:solidFill>
                <a:latin typeface="Cambria Math"/>
                <a:cs typeface="Cambria Math"/>
              </a:rPr>
              <a:t>:</a:t>
            </a:r>
            <a:r>
              <a:rPr sz="2000" spc="-1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spc="-22" baseline="25641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1950" baseline="25641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950" spc="44" baseline="25641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→</a:t>
            </a:r>
            <a:r>
              <a:rPr sz="2000" spc="1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baseline="25641" dirty="0">
                <a:solidFill>
                  <a:srgbClr val="00026A"/>
                </a:solidFill>
                <a:latin typeface="Cambria Math"/>
                <a:cs typeface="Cambria Math"/>
              </a:rPr>
              <a:t>𝑚</a:t>
            </a:r>
            <a:endParaRPr sz="1950" baseline="25641" dirty="0">
              <a:latin typeface="Cambria Math"/>
              <a:cs typeface="Cambria Math"/>
            </a:endParaRPr>
          </a:p>
          <a:p>
            <a:pPr marL="138430" algn="ctr">
              <a:lnSpc>
                <a:spcPct val="100000"/>
              </a:lnSpc>
              <a:tabLst>
                <a:tab pos="721995" algn="l"/>
              </a:tabLst>
            </a:pPr>
            <a:r>
              <a:rPr sz="2000" dirty="0">
                <a:solidFill>
                  <a:srgbClr val="00026A"/>
                </a:solidFill>
                <a:latin typeface="Cambria Math"/>
                <a:cs typeface="Cambria Math"/>
              </a:rPr>
              <a:t>𝑇 </a:t>
            </a:r>
            <a:r>
              <a:rPr sz="2000" spc="-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000" dirty="0">
                <a:solidFill>
                  <a:srgbClr val="00026A"/>
                </a:solidFill>
                <a:latin typeface="Cambria Math"/>
                <a:cs typeface="Cambria Math"/>
              </a:rPr>
              <a:t>	=</a:t>
            </a:r>
            <a:r>
              <a:rPr sz="2000" spc="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𝑨𝒙</a:t>
            </a:r>
            <a:endParaRPr sz="20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wh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0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is an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-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al 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ec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in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spc="52" baseline="25641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00" dirty="0">
              <a:latin typeface="Times New Roman"/>
              <a:cs typeface="Times New Roman"/>
            </a:endParaRPr>
          </a:p>
          <a:p>
            <a:pPr marL="12700" marR="5080">
              <a:lnSpc>
                <a:spcPct val="102200"/>
              </a:lnSpc>
              <a:spcBef>
                <a:spcPts val="1385"/>
              </a:spcBef>
            </a:pPr>
            <a:endParaRPr sz="180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L</a:t>
            </a:r>
            <a:r>
              <a:rPr spc="-5" dirty="0"/>
              <a:t>in</a:t>
            </a:r>
            <a:r>
              <a:rPr spc="-25" dirty="0"/>
              <a:t>ea</a:t>
            </a:r>
            <a:r>
              <a:rPr spc="-15" dirty="0"/>
              <a:t>r</a:t>
            </a:r>
            <a:r>
              <a:rPr spc="5" dirty="0"/>
              <a:t> t</a:t>
            </a:r>
            <a:r>
              <a:rPr spc="-15" dirty="0"/>
              <a:t>r</a:t>
            </a:r>
            <a:r>
              <a:rPr spc="-25" dirty="0"/>
              <a:t>a</a:t>
            </a:r>
            <a:r>
              <a:rPr spc="-5" dirty="0"/>
              <a:t>n</a:t>
            </a:r>
            <a:r>
              <a:rPr dirty="0"/>
              <a:t>s</a:t>
            </a:r>
            <a:r>
              <a:rPr spc="-15" dirty="0"/>
              <a:t>f</a:t>
            </a:r>
            <a:r>
              <a:rPr spc="-5" dirty="0"/>
              <a:t>o</a:t>
            </a:r>
            <a:r>
              <a:rPr spc="-25" dirty="0"/>
              <a:t>rma</a:t>
            </a:r>
            <a:r>
              <a:rPr spc="5" dirty="0"/>
              <a:t>t</a:t>
            </a:r>
            <a:r>
              <a:rPr spc="-5" dirty="0"/>
              <a:t>io</a:t>
            </a:r>
            <a:r>
              <a:rPr dirty="0"/>
              <a:t>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61708" y="1159164"/>
            <a:ext cx="3496945" cy="551498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 marR="334645">
              <a:lnSpc>
                <a:spcPct val="100699"/>
              </a:lnSpc>
            </a:pPr>
            <a:r>
              <a:rPr sz="2000" i="1" spc="-5" dirty="0">
                <a:latin typeface="Calibri"/>
                <a:cs typeface="Calibri"/>
              </a:rPr>
              <a:t>Squa</a:t>
            </a:r>
            <a:r>
              <a:rPr sz="2000" i="1" spc="-10" dirty="0">
                <a:latin typeface="Calibri"/>
                <a:cs typeface="Calibri"/>
              </a:rPr>
              <a:t>re </a:t>
            </a:r>
            <a:r>
              <a:rPr sz="2000" i="1" spc="5" dirty="0">
                <a:latin typeface="Calibri"/>
                <a:cs typeface="Calibri"/>
              </a:rPr>
              <a:t>m</a:t>
            </a:r>
            <a:r>
              <a:rPr sz="2000" i="1" spc="-5" dirty="0">
                <a:latin typeface="Calibri"/>
                <a:cs typeface="Calibri"/>
              </a:rPr>
              <a:t>at</a:t>
            </a:r>
            <a:r>
              <a:rPr sz="2000" i="1" spc="-10" dirty="0">
                <a:latin typeface="Calibri"/>
                <a:cs typeface="Calibri"/>
              </a:rPr>
              <a:t>r</a:t>
            </a:r>
            <a:r>
              <a:rPr sz="2000" i="1" dirty="0">
                <a:latin typeface="Calibri"/>
                <a:cs typeface="Calibri"/>
              </a:rPr>
              <a:t>i</a:t>
            </a:r>
            <a:r>
              <a:rPr sz="2000" i="1" spc="-10" dirty="0">
                <a:latin typeface="Calibri"/>
                <a:cs typeface="Calibri"/>
              </a:rPr>
              <a:t>c</a:t>
            </a:r>
            <a:r>
              <a:rPr sz="2000" i="1" spc="-15" dirty="0">
                <a:latin typeface="Calibri"/>
                <a:cs typeface="Calibri"/>
              </a:rPr>
              <a:t>e</a:t>
            </a:r>
            <a:r>
              <a:rPr sz="2000" i="1" dirty="0">
                <a:latin typeface="Calibri"/>
                <a:cs typeface="Calibri"/>
              </a:rPr>
              <a:t>s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02060"/>
                </a:solidFill>
                <a:latin typeface="Calibri"/>
                <a:cs typeface="Calibri"/>
              </a:rPr>
              <a:t>are</a:t>
            </a:r>
            <a:r>
              <a:rPr sz="1600" i="1" spc="-5" dirty="0">
                <a:solidFill>
                  <a:srgbClr val="002060"/>
                </a:solidFill>
                <a:latin typeface="Calibri"/>
                <a:cs typeface="Calibri"/>
              </a:rPr>
              <a:t> im</a:t>
            </a:r>
            <a:r>
              <a:rPr sz="1600" i="1" dirty="0">
                <a:solidFill>
                  <a:srgbClr val="002060"/>
                </a:solidFill>
                <a:latin typeface="Calibri"/>
                <a:cs typeface="Calibri"/>
              </a:rPr>
              <a:t>po</a:t>
            </a:r>
            <a:r>
              <a:rPr sz="1600" i="1" spc="-1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i="1" spc="-3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i="1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600" i="1" spc="-15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600" i="1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i="1" spc="-5" dirty="0">
                <a:solidFill>
                  <a:srgbClr val="002060"/>
                </a:solidFill>
                <a:latin typeface="Calibri"/>
                <a:cs typeface="Calibri"/>
              </a:rPr>
              <a:t>..</a:t>
            </a:r>
            <a:r>
              <a:rPr sz="1600" i="1" dirty="0">
                <a:solidFill>
                  <a:srgbClr val="002060"/>
                </a:solidFill>
                <a:latin typeface="Calibri"/>
                <a:cs typeface="Calibri"/>
              </a:rPr>
              <a:t>. W</a:t>
            </a:r>
            <a:r>
              <a:rPr sz="1600" i="1" spc="-30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i="1" spc="-5" dirty="0">
                <a:solidFill>
                  <a:srgbClr val="002060"/>
                </a:solidFill>
                <a:latin typeface="Calibri"/>
                <a:cs typeface="Calibri"/>
              </a:rPr>
              <a:t>y</a:t>
            </a:r>
            <a:r>
              <a:rPr sz="1600" i="1" dirty="0">
                <a:solidFill>
                  <a:srgbClr val="002060"/>
                </a:solidFill>
                <a:latin typeface="Calibri"/>
                <a:cs typeface="Calibri"/>
              </a:rPr>
              <a:t>?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297423" y="1106423"/>
            <a:ext cx="3608831" cy="37856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267246" y="2100986"/>
            <a:ext cx="312420" cy="235585"/>
          </a:xfrm>
          <a:custGeom>
            <a:avLst/>
            <a:gdLst/>
            <a:ahLst/>
            <a:cxnLst/>
            <a:rect l="l" t="t" r="r" b="b"/>
            <a:pathLst>
              <a:path w="312419" h="235585">
                <a:moveTo>
                  <a:pt x="237001" y="0"/>
                </a:moveTo>
                <a:lnTo>
                  <a:pt x="235276" y="10100"/>
                </a:lnTo>
                <a:lnTo>
                  <a:pt x="245906" y="14789"/>
                </a:lnTo>
                <a:lnTo>
                  <a:pt x="255571" y="21272"/>
                </a:lnTo>
                <a:lnTo>
                  <a:pt x="280425" y="55165"/>
                </a:lnTo>
                <a:lnTo>
                  <a:pt x="290162" y="104424"/>
                </a:lnTo>
                <a:lnTo>
                  <a:pt x="290559" y="119772"/>
                </a:lnTo>
                <a:lnTo>
                  <a:pt x="290005" y="133151"/>
                </a:lnTo>
                <a:lnTo>
                  <a:pt x="278873" y="182047"/>
                </a:lnTo>
                <a:lnTo>
                  <a:pt x="256678" y="213487"/>
                </a:lnTo>
                <a:lnTo>
                  <a:pt x="234026" y="225723"/>
                </a:lnTo>
                <a:lnTo>
                  <a:pt x="238736" y="234801"/>
                </a:lnTo>
                <a:lnTo>
                  <a:pt x="279737" y="209786"/>
                </a:lnTo>
                <a:lnTo>
                  <a:pt x="301844" y="175652"/>
                </a:lnTo>
                <a:lnTo>
                  <a:pt x="311504" y="124927"/>
                </a:lnTo>
                <a:lnTo>
                  <a:pt x="311838" y="108860"/>
                </a:lnTo>
                <a:lnTo>
                  <a:pt x="310769" y="96042"/>
                </a:lnTo>
                <a:lnTo>
                  <a:pt x="295963" y="47902"/>
                </a:lnTo>
                <a:lnTo>
                  <a:pt x="271767" y="17211"/>
                </a:lnTo>
                <a:lnTo>
                  <a:pt x="249721" y="4247"/>
                </a:lnTo>
                <a:lnTo>
                  <a:pt x="237001" y="0"/>
                </a:lnTo>
                <a:close/>
              </a:path>
              <a:path w="312419" h="235585">
                <a:moveTo>
                  <a:pt x="74839" y="0"/>
                </a:moveTo>
                <a:lnTo>
                  <a:pt x="32172" y="25558"/>
                </a:lnTo>
                <a:lnTo>
                  <a:pt x="10033" y="59781"/>
                </a:lnTo>
                <a:lnTo>
                  <a:pt x="335" y="110476"/>
                </a:lnTo>
                <a:lnTo>
                  <a:pt x="0" y="126503"/>
                </a:lnTo>
                <a:lnTo>
                  <a:pt x="1061" y="139355"/>
                </a:lnTo>
                <a:lnTo>
                  <a:pt x="15815" y="187494"/>
                </a:lnTo>
                <a:lnTo>
                  <a:pt x="39983" y="218090"/>
                </a:lnTo>
                <a:lnTo>
                  <a:pt x="74839" y="235272"/>
                </a:lnTo>
                <a:lnTo>
                  <a:pt x="76253" y="225184"/>
                </a:lnTo>
                <a:lnTo>
                  <a:pt x="65781" y="220476"/>
                </a:lnTo>
                <a:lnTo>
                  <a:pt x="56234" y="213939"/>
                </a:lnTo>
                <a:lnTo>
                  <a:pt x="31520" y="179680"/>
                </a:lnTo>
                <a:lnTo>
                  <a:pt x="21673" y="130234"/>
                </a:lnTo>
                <a:lnTo>
                  <a:pt x="21264" y="115291"/>
                </a:lnTo>
                <a:lnTo>
                  <a:pt x="21723" y="101929"/>
                </a:lnTo>
                <a:lnTo>
                  <a:pt x="32847" y="52974"/>
                </a:lnTo>
                <a:lnTo>
                  <a:pt x="55274" y="21701"/>
                </a:lnTo>
                <a:lnTo>
                  <a:pt x="78188" y="9550"/>
                </a:lnTo>
                <a:lnTo>
                  <a:pt x="74839" y="0"/>
                </a:lnTo>
                <a:close/>
              </a:path>
            </a:pathLst>
          </a:custGeom>
          <a:solidFill>
            <a:srgbClr val="0002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2904" y="1223138"/>
            <a:ext cx="4472305" cy="19518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47955">
              <a:lnSpc>
                <a:spcPts val="1989"/>
              </a:lnSpc>
            </a:pP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Gi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y </a:t>
            </a:r>
            <a:r>
              <a:rPr sz="2000" spc="30" dirty="0">
                <a:solidFill>
                  <a:srgbClr val="00026A"/>
                </a:solidFill>
                <a:latin typeface="Cambria Math"/>
                <a:cs typeface="Cambria Math"/>
              </a:rPr>
              <a:t>𝑚</a:t>
            </a:r>
            <a:r>
              <a:rPr sz="2000" spc="-5" dirty="0">
                <a:solidFill>
                  <a:srgbClr val="00026A"/>
                </a:solidFill>
                <a:latin typeface="Cambria Math"/>
                <a:cs typeface="Cambria Math"/>
              </a:rPr>
              <a:t>×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000" spc="4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m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rix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𝑨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, </a:t>
            </a:r>
            <a:r>
              <a:rPr sz="2000" spc="-40" dirty="0">
                <a:solidFill>
                  <a:srgbClr val="00026A"/>
                </a:solidFill>
                <a:latin typeface="Calibri"/>
                <a:cs typeface="Calibri"/>
              </a:rPr>
              <a:t>w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fi</a:t>
            </a: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a f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un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c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endParaRPr sz="2000" dirty="0">
              <a:latin typeface="Calibri"/>
              <a:cs typeface="Calibri"/>
            </a:endParaRPr>
          </a:p>
          <a:p>
            <a:pPr marL="130810" algn="ctr">
              <a:lnSpc>
                <a:spcPts val="2305"/>
              </a:lnSpc>
            </a:pPr>
            <a:r>
              <a:rPr sz="2000" spc="40" dirty="0">
                <a:solidFill>
                  <a:srgbClr val="00026A"/>
                </a:solidFill>
                <a:latin typeface="Cambria Math"/>
                <a:cs typeface="Cambria Math"/>
              </a:rPr>
              <a:t>𝑇</a:t>
            </a:r>
            <a:r>
              <a:rPr sz="2000" spc="-10" dirty="0">
                <a:solidFill>
                  <a:srgbClr val="00026A"/>
                </a:solidFill>
                <a:latin typeface="Cambria Math"/>
                <a:cs typeface="Cambria Math"/>
              </a:rPr>
              <a:t>:</a:t>
            </a:r>
            <a:r>
              <a:rPr sz="2000" spc="-1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spc="-22" baseline="25641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1950" baseline="25641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1950" spc="44" baseline="25641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→</a:t>
            </a:r>
            <a:r>
              <a:rPr sz="2000" spc="1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baseline="25641" dirty="0">
                <a:solidFill>
                  <a:srgbClr val="00026A"/>
                </a:solidFill>
                <a:latin typeface="Cambria Math"/>
                <a:cs typeface="Cambria Math"/>
              </a:rPr>
              <a:t>𝑚</a:t>
            </a:r>
            <a:endParaRPr sz="1950" baseline="25641" dirty="0">
              <a:latin typeface="Cambria Math"/>
              <a:cs typeface="Cambria Math"/>
            </a:endParaRPr>
          </a:p>
          <a:p>
            <a:pPr marL="138430" algn="ctr">
              <a:lnSpc>
                <a:spcPct val="100000"/>
              </a:lnSpc>
              <a:tabLst>
                <a:tab pos="721995" algn="l"/>
              </a:tabLst>
            </a:pPr>
            <a:r>
              <a:rPr sz="2000" dirty="0">
                <a:solidFill>
                  <a:srgbClr val="00026A"/>
                </a:solidFill>
                <a:latin typeface="Cambria Math"/>
                <a:cs typeface="Cambria Math"/>
              </a:rPr>
              <a:t>𝑇 </a:t>
            </a:r>
            <a:r>
              <a:rPr sz="2000" spc="-1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000" dirty="0">
                <a:solidFill>
                  <a:srgbClr val="00026A"/>
                </a:solidFill>
                <a:latin typeface="Cambria Math"/>
                <a:cs typeface="Cambria Math"/>
              </a:rPr>
              <a:t>	=</a:t>
            </a:r>
            <a:r>
              <a:rPr sz="2000" spc="120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𝑨𝒙</a:t>
            </a:r>
            <a:endParaRPr sz="20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000" spc="-20" dirty="0">
                <a:solidFill>
                  <a:srgbClr val="00026A"/>
                </a:solidFill>
                <a:latin typeface="Calibri"/>
                <a:cs typeface="Calibri"/>
              </a:rPr>
              <a:t>wh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𝒙</a:t>
            </a:r>
            <a:r>
              <a:rPr sz="2000" spc="5" dirty="0">
                <a:solidFill>
                  <a:srgbClr val="00026A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is an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i="1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-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d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15" dirty="0">
                <a:solidFill>
                  <a:srgbClr val="00026A"/>
                </a:solidFill>
                <a:latin typeface="Calibri"/>
                <a:cs typeface="Calibri"/>
              </a:rPr>
              <a:t>me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n</a:t>
            </a:r>
            <a:r>
              <a:rPr sz="2000" spc="5" dirty="0">
                <a:solidFill>
                  <a:srgbClr val="00026A"/>
                </a:solidFill>
                <a:latin typeface="Calibri"/>
                <a:cs typeface="Calibri"/>
              </a:rPr>
              <a:t>s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i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on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al </a:t>
            </a:r>
            <a:r>
              <a:rPr sz="2000" spc="-35" dirty="0">
                <a:solidFill>
                  <a:srgbClr val="00026A"/>
                </a:solidFill>
                <a:latin typeface="Calibri"/>
                <a:cs typeface="Calibri"/>
              </a:rPr>
              <a:t>v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ec</a:t>
            </a:r>
            <a:r>
              <a:rPr sz="2000" spc="-25" dirty="0">
                <a:solidFill>
                  <a:srgbClr val="00026A"/>
                </a:solidFill>
                <a:latin typeface="Calibri"/>
                <a:cs typeface="Calibri"/>
              </a:rPr>
              <a:t>t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o</a:t>
            </a:r>
            <a:r>
              <a:rPr sz="2000" spc="-10" dirty="0">
                <a:solidFill>
                  <a:srgbClr val="00026A"/>
                </a:solidFill>
                <a:latin typeface="Calibri"/>
                <a:cs typeface="Calibri"/>
              </a:rPr>
              <a:t>r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 in</a:t>
            </a:r>
            <a:r>
              <a:rPr sz="20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026A"/>
                </a:solidFill>
                <a:latin typeface="Cambria Math"/>
                <a:cs typeface="Cambria Math"/>
              </a:rPr>
              <a:t>ℝ</a:t>
            </a:r>
            <a:r>
              <a:rPr sz="1950" spc="52" baseline="25641" dirty="0">
                <a:solidFill>
                  <a:srgbClr val="00026A"/>
                </a:solidFill>
                <a:latin typeface="Cambria Math"/>
                <a:cs typeface="Cambria Math"/>
              </a:rPr>
              <a:t>𝑛</a:t>
            </a:r>
            <a:r>
              <a:rPr sz="2000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5" dirty="0"/>
              <a:t>L</a:t>
            </a:r>
            <a:r>
              <a:rPr spc="-5" dirty="0"/>
              <a:t>in</a:t>
            </a:r>
            <a:r>
              <a:rPr spc="-25" dirty="0"/>
              <a:t>ea</a:t>
            </a:r>
            <a:r>
              <a:rPr spc="-15" dirty="0"/>
              <a:t>r</a:t>
            </a:r>
            <a:r>
              <a:rPr spc="5" dirty="0"/>
              <a:t> t</a:t>
            </a:r>
            <a:r>
              <a:rPr spc="-15" dirty="0"/>
              <a:t>r</a:t>
            </a:r>
            <a:r>
              <a:rPr spc="-25" dirty="0"/>
              <a:t>a</a:t>
            </a:r>
            <a:r>
              <a:rPr spc="-5" dirty="0"/>
              <a:t>n</a:t>
            </a:r>
            <a:r>
              <a:rPr dirty="0"/>
              <a:t>s</a:t>
            </a:r>
            <a:r>
              <a:rPr spc="-15" dirty="0"/>
              <a:t>f</a:t>
            </a:r>
            <a:r>
              <a:rPr spc="-5" dirty="0"/>
              <a:t>o</a:t>
            </a:r>
            <a:r>
              <a:rPr spc="-25" dirty="0"/>
              <a:t>rma</a:t>
            </a:r>
            <a:r>
              <a:rPr spc="5" dirty="0"/>
              <a:t>t</a:t>
            </a:r>
            <a:r>
              <a:rPr spc="-5" dirty="0"/>
              <a:t>io</a:t>
            </a:r>
            <a:r>
              <a:rPr dirty="0"/>
              <a:t>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361708" y="1159164"/>
            <a:ext cx="3496945" cy="3652667"/>
          </a:xfrm>
          <a:prstGeom prst="rect">
            <a:avLst/>
          </a:prstGeom>
          <a:solidFill>
            <a:srgbClr val="00B0F0"/>
          </a:solidFill>
        </p:spPr>
        <p:txBody>
          <a:bodyPr vert="horz" wrap="square" lIns="0" tIns="0" rIns="0" bIns="0" rtlCol="0">
            <a:spAutoFit/>
          </a:bodyPr>
          <a:lstStyle/>
          <a:p>
            <a:pPr marL="141605" marR="334645">
              <a:lnSpc>
                <a:spcPct val="100699"/>
              </a:lnSpc>
            </a:pPr>
            <a:r>
              <a:rPr sz="2000" i="1" spc="-5" dirty="0">
                <a:latin typeface="Calibri"/>
                <a:cs typeface="Calibri"/>
              </a:rPr>
              <a:t>Squa</a:t>
            </a:r>
            <a:r>
              <a:rPr sz="2000" i="1" spc="-10" dirty="0">
                <a:latin typeface="Calibri"/>
                <a:cs typeface="Calibri"/>
              </a:rPr>
              <a:t>re </a:t>
            </a:r>
            <a:r>
              <a:rPr sz="2000" i="1" spc="5" dirty="0">
                <a:latin typeface="Calibri"/>
                <a:cs typeface="Calibri"/>
              </a:rPr>
              <a:t>m</a:t>
            </a:r>
            <a:r>
              <a:rPr sz="2000" i="1" spc="-5" dirty="0">
                <a:latin typeface="Calibri"/>
                <a:cs typeface="Calibri"/>
              </a:rPr>
              <a:t>at</a:t>
            </a:r>
            <a:r>
              <a:rPr sz="2000" i="1" spc="-10" dirty="0">
                <a:latin typeface="Calibri"/>
                <a:cs typeface="Calibri"/>
              </a:rPr>
              <a:t>r</a:t>
            </a:r>
            <a:r>
              <a:rPr sz="2000" i="1" dirty="0">
                <a:latin typeface="Calibri"/>
                <a:cs typeface="Calibri"/>
              </a:rPr>
              <a:t>i</a:t>
            </a:r>
            <a:r>
              <a:rPr sz="2000" i="1" spc="-10" dirty="0">
                <a:latin typeface="Calibri"/>
                <a:cs typeface="Calibri"/>
              </a:rPr>
              <a:t>c</a:t>
            </a:r>
            <a:r>
              <a:rPr sz="2000" i="1" spc="-15" dirty="0">
                <a:latin typeface="Calibri"/>
                <a:cs typeface="Calibri"/>
              </a:rPr>
              <a:t>e</a:t>
            </a:r>
            <a:r>
              <a:rPr sz="2000" i="1" dirty="0">
                <a:latin typeface="Calibri"/>
                <a:cs typeface="Calibri"/>
              </a:rPr>
              <a:t>s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002060"/>
                </a:solidFill>
                <a:latin typeface="Calibri"/>
                <a:cs typeface="Calibri"/>
              </a:rPr>
              <a:t>are</a:t>
            </a:r>
            <a:r>
              <a:rPr sz="1600" i="1" spc="-5" dirty="0">
                <a:solidFill>
                  <a:srgbClr val="002060"/>
                </a:solidFill>
                <a:latin typeface="Calibri"/>
                <a:cs typeface="Calibri"/>
              </a:rPr>
              <a:t> im</a:t>
            </a:r>
            <a:r>
              <a:rPr sz="1600" i="1" dirty="0">
                <a:solidFill>
                  <a:srgbClr val="002060"/>
                </a:solidFill>
                <a:latin typeface="Calibri"/>
                <a:cs typeface="Calibri"/>
              </a:rPr>
              <a:t>po</a:t>
            </a:r>
            <a:r>
              <a:rPr sz="1600" i="1" spc="-1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i="1" spc="-3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i="1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600" i="1" spc="-15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600" i="1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i="1" spc="-5" dirty="0">
                <a:solidFill>
                  <a:srgbClr val="002060"/>
                </a:solidFill>
                <a:latin typeface="Calibri"/>
                <a:cs typeface="Calibri"/>
              </a:rPr>
              <a:t>..</a:t>
            </a:r>
            <a:r>
              <a:rPr sz="1600" i="1" dirty="0">
                <a:solidFill>
                  <a:srgbClr val="002060"/>
                </a:solidFill>
                <a:latin typeface="Calibri"/>
                <a:cs typeface="Calibri"/>
              </a:rPr>
              <a:t>. W</a:t>
            </a:r>
            <a:r>
              <a:rPr sz="1600" i="1" spc="-30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i="1" spc="-5" dirty="0">
                <a:solidFill>
                  <a:srgbClr val="002060"/>
                </a:solidFill>
                <a:latin typeface="Calibri"/>
                <a:cs typeface="Calibri"/>
              </a:rPr>
              <a:t>y</a:t>
            </a:r>
            <a:r>
              <a:rPr sz="1600" i="1" dirty="0">
                <a:solidFill>
                  <a:srgbClr val="002060"/>
                </a:solidFill>
                <a:latin typeface="Calibri"/>
                <a:cs typeface="Calibri"/>
              </a:rPr>
              <a:t>?</a:t>
            </a:r>
            <a:endParaRPr sz="1600" dirty="0">
              <a:latin typeface="Calibri"/>
              <a:cs typeface="Calibri"/>
            </a:endParaRPr>
          </a:p>
          <a:p>
            <a:pPr marL="141605" marR="1050290">
              <a:lnSpc>
                <a:spcPts val="1900"/>
              </a:lnSpc>
              <a:spcBef>
                <a:spcPts val="844"/>
              </a:spcBef>
            </a:pP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Be</a:t>
            </a:r>
            <a:r>
              <a:rPr sz="1600" spc="-30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aus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y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d</a:t>
            </a:r>
            <a:r>
              <a:rPr sz="1600" spc="-25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fin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lin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t</a:t>
            </a:r>
            <a:r>
              <a:rPr sz="1600" spc="-4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an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s</a:t>
            </a:r>
            <a:r>
              <a:rPr sz="1600" spc="-35" dirty="0">
                <a:solidFill>
                  <a:srgbClr val="002060"/>
                </a:solidFill>
                <a:latin typeface="Calibri"/>
                <a:cs typeface="Calibri"/>
              </a:rPr>
              <a:t>f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ma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30" dirty="0">
                <a:latin typeface="Cambria Math"/>
                <a:cs typeface="Cambria Math"/>
              </a:rPr>
              <a:t>𝑇</a:t>
            </a:r>
            <a:r>
              <a:rPr sz="1600" spc="-5" dirty="0">
                <a:latin typeface="Cambria Math"/>
                <a:cs typeface="Cambria Math"/>
              </a:rPr>
              <a:t>:</a:t>
            </a:r>
            <a:r>
              <a:rPr sz="1600" spc="-8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ℝ</a:t>
            </a:r>
            <a:r>
              <a:rPr sz="1650" spc="-22" baseline="25252" dirty="0">
                <a:latin typeface="Cambria Math"/>
                <a:cs typeface="Cambria Math"/>
              </a:rPr>
              <a:t>𝑛</a:t>
            </a:r>
            <a:r>
              <a:rPr sz="1650" baseline="25252" dirty="0">
                <a:latin typeface="Cambria Math"/>
                <a:cs typeface="Cambria Math"/>
              </a:rPr>
              <a:t> </a:t>
            </a:r>
            <a:r>
              <a:rPr sz="1650" spc="-52" baseline="25252" dirty="0">
                <a:latin typeface="Cambria Math"/>
                <a:cs typeface="Cambria Math"/>
              </a:rPr>
              <a:t> </a:t>
            </a:r>
            <a:r>
              <a:rPr sz="1600" spc="-15" dirty="0">
                <a:latin typeface="Cambria Math"/>
                <a:cs typeface="Cambria Math"/>
              </a:rPr>
              <a:t>→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ℝ</a:t>
            </a:r>
            <a:r>
              <a:rPr sz="1650" spc="-15" baseline="25252" dirty="0">
                <a:latin typeface="Cambria Math"/>
                <a:cs typeface="Cambria Math"/>
              </a:rPr>
              <a:t>𝑛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141605" marR="335915">
              <a:lnSpc>
                <a:spcPts val="1900"/>
              </a:lnSpc>
              <a:spcBef>
                <a:spcPts val="905"/>
              </a:spcBef>
            </a:pP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Th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is,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600" spc="-15" dirty="0">
                <a:solidFill>
                  <a:srgbClr val="002060"/>
                </a:solidFill>
                <a:latin typeface="Calibri"/>
                <a:cs typeface="Calibri"/>
              </a:rPr>
              <a:t>g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ina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l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an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d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4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an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s</a:t>
            </a:r>
            <a:r>
              <a:rPr sz="1600" spc="-35" dirty="0">
                <a:solidFill>
                  <a:srgbClr val="002060"/>
                </a:solidFill>
                <a:latin typeface="Calibri"/>
                <a:cs typeface="Calibri"/>
              </a:rPr>
              <a:t>f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m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d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spa</a:t>
            </a:r>
            <a:r>
              <a:rPr sz="1600" spc="-15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spc="-35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600" spc="-25" dirty="0">
                <a:solidFill>
                  <a:srgbClr val="002060"/>
                </a:solidFill>
                <a:latin typeface="Calibri"/>
                <a:cs typeface="Calibri"/>
              </a:rPr>
              <a:t>v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sa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m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di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m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nsi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nali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114" dirty="0">
                <a:solidFill>
                  <a:srgbClr val="002060"/>
                </a:solidFill>
                <a:latin typeface="Calibri"/>
                <a:cs typeface="Calibri"/>
              </a:rPr>
              <a:t>y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141605" marR="416559">
              <a:lnSpc>
                <a:spcPts val="1900"/>
              </a:lnSpc>
              <a:spcBef>
                <a:spcPts val="810"/>
              </a:spcBef>
            </a:pP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f </a:t>
            </a:r>
            <a:r>
              <a:rPr sz="1600" spc="-25" dirty="0">
                <a:solidFill>
                  <a:srgbClr val="002060"/>
                </a:solidFill>
                <a:latin typeface="Calibri"/>
                <a:cs typeface="Calibri"/>
              </a:rPr>
              <a:t>w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30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s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ric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u</a:t>
            </a:r>
            <a:r>
              <a:rPr sz="1600" spc="-25" dirty="0">
                <a:solidFill>
                  <a:srgbClr val="002060"/>
                </a:solidFill>
                <a:latin typeface="Calibri"/>
                <a:cs typeface="Calibri"/>
              </a:rPr>
              <a:t>r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s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l</a:t>
            </a:r>
            <a:r>
              <a:rPr sz="1600" spc="-15" dirty="0">
                <a:solidFill>
                  <a:srgbClr val="002060"/>
                </a:solidFill>
                <a:latin typeface="Calibri"/>
                <a:cs typeface="Calibri"/>
              </a:rPr>
              <a:t>v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s </a:t>
            </a:r>
            <a:r>
              <a:rPr sz="1600" spc="-25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mappings 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w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hi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sa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m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spa</a:t>
            </a:r>
            <a:r>
              <a:rPr sz="1600" spc="-15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e,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su</a:t>
            </a:r>
            <a:r>
              <a:rPr sz="1600" spc="-15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a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s</a:t>
            </a:r>
            <a:endParaRPr sz="1600" dirty="0">
              <a:latin typeface="Calibri"/>
              <a:cs typeface="Calibri"/>
            </a:endParaRPr>
          </a:p>
          <a:p>
            <a:pPr marL="141605" indent="1150620">
              <a:lnSpc>
                <a:spcPct val="100000"/>
              </a:lnSpc>
              <a:spcBef>
                <a:spcPts val="10"/>
              </a:spcBef>
            </a:pPr>
            <a:r>
              <a:rPr sz="1600" spc="30" dirty="0">
                <a:latin typeface="Cambria Math"/>
                <a:cs typeface="Cambria Math"/>
              </a:rPr>
              <a:t>𝑇</a:t>
            </a:r>
            <a:r>
              <a:rPr sz="1600" spc="-5" dirty="0">
                <a:latin typeface="Cambria Math"/>
                <a:cs typeface="Cambria Math"/>
              </a:rPr>
              <a:t>:</a:t>
            </a:r>
            <a:r>
              <a:rPr sz="1600" spc="-8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ℝ</a:t>
            </a:r>
            <a:r>
              <a:rPr sz="1650" spc="-22" baseline="25252" dirty="0">
                <a:latin typeface="Cambria Math"/>
                <a:cs typeface="Cambria Math"/>
              </a:rPr>
              <a:t>𝑛</a:t>
            </a:r>
            <a:r>
              <a:rPr sz="1650" baseline="25252" dirty="0">
                <a:latin typeface="Cambria Math"/>
                <a:cs typeface="Cambria Math"/>
              </a:rPr>
              <a:t> </a:t>
            </a:r>
            <a:r>
              <a:rPr sz="1650" spc="-52" baseline="25252" dirty="0">
                <a:latin typeface="Cambria Math"/>
                <a:cs typeface="Cambria Math"/>
              </a:rPr>
              <a:t> </a:t>
            </a:r>
            <a:r>
              <a:rPr sz="1600" spc="-15" dirty="0">
                <a:latin typeface="Cambria Math"/>
                <a:cs typeface="Cambria Math"/>
              </a:rPr>
              <a:t>→</a:t>
            </a:r>
            <a:r>
              <a:rPr sz="1600" spc="8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ℝ</a:t>
            </a:r>
            <a:r>
              <a:rPr sz="1650" spc="-22" baseline="25252" dirty="0">
                <a:latin typeface="Cambria Math"/>
                <a:cs typeface="Cambria Math"/>
              </a:rPr>
              <a:t>𝑛</a:t>
            </a:r>
            <a:endParaRPr sz="1650" baseline="25252" dirty="0">
              <a:latin typeface="Cambria Math"/>
              <a:cs typeface="Cambria Math"/>
            </a:endParaRPr>
          </a:p>
          <a:p>
            <a:pPr marL="141605">
              <a:lnSpc>
                <a:spcPts val="1910"/>
              </a:lnSpc>
              <a:spcBef>
                <a:spcPts val="695"/>
              </a:spcBef>
            </a:pP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h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n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𝑇</a:t>
            </a:r>
            <a:r>
              <a:rPr sz="1600" spc="40" dirty="0">
                <a:latin typeface="Cambria Math"/>
                <a:cs typeface="Cambria Math"/>
              </a:rPr>
              <a:t>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s 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ass</a:t>
            </a:r>
            <a:r>
              <a:rPr sz="1600" spc="5" dirty="0">
                <a:solidFill>
                  <a:srgbClr val="002060"/>
                </a:solidFill>
                <a:latin typeface="Calibri"/>
                <a:cs typeface="Calibri"/>
              </a:rPr>
              <a:t>o</a:t>
            </a:r>
            <a:r>
              <a:rPr sz="1600" spc="-15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600" spc="-20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r>
              <a:rPr sz="1600" spc="-25" dirty="0">
                <a:solidFill>
                  <a:srgbClr val="002060"/>
                </a:solidFill>
                <a:latin typeface="Calibri"/>
                <a:cs typeface="Calibri"/>
              </a:rPr>
              <a:t>t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e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d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2060"/>
                </a:solidFill>
                <a:latin typeface="Calibri"/>
                <a:cs typeface="Calibri"/>
              </a:rPr>
              <a:t>w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i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th</a:t>
            </a:r>
            <a:r>
              <a:rPr sz="1600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02060"/>
                </a:solidFill>
                <a:latin typeface="Calibri"/>
                <a:cs typeface="Calibri"/>
              </a:rPr>
              <a:t>a</a:t>
            </a:r>
            <a:endParaRPr sz="1600" dirty="0">
              <a:latin typeface="Calibri"/>
              <a:cs typeface="Calibri"/>
            </a:endParaRPr>
          </a:p>
          <a:p>
            <a:pPr marL="141605">
              <a:lnSpc>
                <a:spcPts val="1910"/>
              </a:lnSpc>
            </a:pPr>
            <a:r>
              <a:rPr sz="1600" i="1" dirty="0">
                <a:latin typeface="Calibri"/>
                <a:cs typeface="Calibri"/>
              </a:rPr>
              <a:t>squar</a:t>
            </a:r>
            <a:r>
              <a:rPr sz="1600" i="1" spc="-10" dirty="0">
                <a:latin typeface="Calibri"/>
                <a:cs typeface="Calibri"/>
              </a:rPr>
              <a:t>e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𝑛</a:t>
            </a:r>
            <a:r>
              <a:rPr sz="1600" spc="-10" dirty="0">
                <a:latin typeface="Cambria Math"/>
                <a:cs typeface="Cambria Math"/>
              </a:rPr>
              <a:t>×</a:t>
            </a:r>
            <a:r>
              <a:rPr sz="1600" spc="-20" dirty="0">
                <a:latin typeface="Cambria Math"/>
                <a:cs typeface="Cambria Math"/>
              </a:rPr>
              <a:t>𝑛</a:t>
            </a:r>
            <a:r>
              <a:rPr sz="1600" spc="-95" dirty="0">
                <a:latin typeface="Cambria Math"/>
                <a:cs typeface="Cambria Math"/>
              </a:rPr>
              <a:t> </a:t>
            </a:r>
            <a:r>
              <a:rPr sz="1600" i="1" spc="-5" dirty="0">
                <a:latin typeface="Calibri"/>
                <a:cs typeface="Calibri"/>
              </a:rPr>
              <a:t>m</a:t>
            </a:r>
            <a:r>
              <a:rPr sz="1600" i="1" dirty="0">
                <a:latin typeface="Calibri"/>
                <a:cs typeface="Calibri"/>
              </a:rPr>
              <a:t>a</a:t>
            </a:r>
            <a:r>
              <a:rPr sz="1600" i="1" spc="-10" dirty="0">
                <a:latin typeface="Calibri"/>
                <a:cs typeface="Calibri"/>
              </a:rPr>
              <a:t>trix</a:t>
            </a:r>
            <a:r>
              <a:rPr sz="1600" dirty="0">
                <a:latin typeface="Calibri"/>
                <a:cs typeface="Calibri"/>
              </a:rPr>
              <a:t>.</a:t>
            </a:r>
            <a:endParaRPr lang="en-US" sz="1600" dirty="0">
              <a:latin typeface="Calibri"/>
              <a:cs typeface="Calibri"/>
            </a:endParaRPr>
          </a:p>
          <a:p>
            <a:pPr marL="141605">
              <a:lnSpc>
                <a:spcPts val="1910"/>
              </a:lnSpc>
            </a:pPr>
            <a:endParaRPr lang="en-US" sz="1600" dirty="0">
              <a:latin typeface="Calibri"/>
              <a:cs typeface="Calibri"/>
            </a:endParaRPr>
          </a:p>
          <a:p>
            <a:pPr marL="141605">
              <a:lnSpc>
                <a:spcPts val="1910"/>
              </a:lnSpc>
            </a:pP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8DDE-0E69-A26F-A87B-10DC09FB8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Linear Combination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D7530-4CF7-9B2C-A19A-C8B261C39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70" y="1302704"/>
            <a:ext cx="8086829" cy="37327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1C9BEB-C401-4976-B838-10B4B79A134B}"/>
                  </a:ext>
                </a:extLst>
              </p:cNvPr>
              <p:cNvSpPr txBox="1"/>
              <p:nvPr/>
            </p:nvSpPr>
            <p:spPr>
              <a:xfrm>
                <a:off x="5410200" y="3348059"/>
                <a:ext cx="2133600" cy="404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1C9BEB-C401-4976-B838-10B4B79A1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3348059"/>
                <a:ext cx="2133600" cy="404791"/>
              </a:xfrm>
              <a:prstGeom prst="rect">
                <a:avLst/>
              </a:prstGeom>
              <a:blipFill>
                <a:blip r:embed="rId3"/>
                <a:stretch>
                  <a:fillRect t="-11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C92F794-FF13-547A-6DBD-85E7354ABFB5}"/>
              </a:ext>
            </a:extLst>
          </p:cNvPr>
          <p:cNvCxnSpPr/>
          <p:nvPr/>
        </p:nvCxnSpPr>
        <p:spPr>
          <a:xfrm flipH="1">
            <a:off x="3886200" y="3562350"/>
            <a:ext cx="18288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7826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746F-0340-58DD-E4CE-BA3C87BD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Vectors Linearly Independent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DCA3F-6721-1FD4-55FF-57F1FF92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1150"/>
            <a:ext cx="9144000" cy="3117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6C3133-ADDB-3443-A458-06AF71D621CD}"/>
                  </a:ext>
                </a:extLst>
              </p:cNvPr>
              <p:cNvSpPr txBox="1"/>
              <p:nvPr/>
            </p:nvSpPr>
            <p:spPr>
              <a:xfrm>
                <a:off x="5410200" y="3348059"/>
                <a:ext cx="2133600" cy="404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6C3133-ADDB-3443-A458-06AF71D62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3348059"/>
                <a:ext cx="2133600" cy="4047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70BD6E0-FB56-511E-16AB-6EF918483A81}"/>
              </a:ext>
            </a:extLst>
          </p:cNvPr>
          <p:cNvCxnSpPr>
            <a:cxnSpLocks/>
          </p:cNvCxnSpPr>
          <p:nvPr/>
        </p:nvCxnSpPr>
        <p:spPr>
          <a:xfrm flipH="1">
            <a:off x="3733800" y="3562350"/>
            <a:ext cx="1981200" cy="228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559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1202D-4CDD-AC43-9676-45BB5E82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257300"/>
            <a:ext cx="6972300" cy="26289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3F947AD-2B25-AE83-43AF-AB64BE3E4678}"/>
              </a:ext>
            </a:extLst>
          </p:cNvPr>
          <p:cNvSpPr txBox="1">
            <a:spLocks/>
          </p:cNvSpPr>
          <p:nvPr/>
        </p:nvSpPr>
        <p:spPr>
          <a:xfrm>
            <a:off x="362904" y="285750"/>
            <a:ext cx="8418191" cy="5847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kern="0" dirty="0">
                <a:solidFill>
                  <a:srgbClr val="002060"/>
                </a:solidFill>
              </a:rPr>
              <a:t>Diagonal Matrix</a:t>
            </a:r>
          </a:p>
        </p:txBody>
      </p:sp>
    </p:spTree>
    <p:extLst>
      <p:ext uri="{BB962C8B-B14F-4D97-AF65-F5344CB8AC3E}">
        <p14:creationId xmlns:p14="http://schemas.microsoft.com/office/powerpoint/2010/main" val="22634541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EF54-7A4C-13B6-072F-81CF5DB5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1018B1-370A-FF7B-ABFD-9FC32D9392C9}"/>
              </a:ext>
            </a:extLst>
          </p:cNvPr>
          <p:cNvSpPr txBox="1"/>
          <p:nvPr/>
        </p:nvSpPr>
        <p:spPr>
          <a:xfrm>
            <a:off x="362904" y="1291844"/>
            <a:ext cx="420909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Linear Algebra Basics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</a:rPr>
              <a:t>Dimensionality</a:t>
            </a:r>
            <a:r>
              <a:rPr lang="en-US" sz="2400" spc="-135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Calibri"/>
                <a:cs typeface="Calibri"/>
              </a:rPr>
              <a:t> Reduction</a:t>
            </a:r>
            <a:endParaRPr lang="en-US" sz="2400" dirty="0">
              <a:solidFill>
                <a:schemeClr val="tx2">
                  <a:lumMod val="75000"/>
                </a:schemeClr>
              </a:solidFill>
              <a:highlight>
                <a:srgbClr val="FFFF00"/>
              </a:highlight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Covariance Matrix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Eigenvalues and Eigenvectors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PCA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14E8EED-173E-8405-92EE-38518D0376BA}"/>
              </a:ext>
            </a:extLst>
          </p:cNvPr>
          <p:cNvSpPr txBox="1"/>
          <p:nvPr/>
        </p:nvSpPr>
        <p:spPr>
          <a:xfrm>
            <a:off x="362904" y="286781"/>
            <a:ext cx="5123496" cy="58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15" dirty="0">
                <a:solidFill>
                  <a:srgbClr val="00026A"/>
                </a:solidFill>
                <a:latin typeface="Corbel"/>
                <a:cs typeface="Corbel"/>
              </a:rPr>
              <a:t>In 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t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h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i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 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l</a:t>
            </a:r>
            <a:r>
              <a:rPr sz="3800" spc="-25" dirty="0">
                <a:solidFill>
                  <a:srgbClr val="00026A"/>
                </a:solidFill>
                <a:latin typeface="Corbel"/>
                <a:cs typeface="Corbel"/>
              </a:rPr>
              <a:t>e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ss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o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n</a:t>
            </a:r>
            <a:r>
              <a:rPr lang="en-US" sz="3800" dirty="0">
                <a:solidFill>
                  <a:srgbClr val="00026A"/>
                </a:solidFill>
                <a:latin typeface="Corbel"/>
                <a:cs typeface="Corbel"/>
              </a:rPr>
              <a:t> Part 1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 …</a:t>
            </a:r>
            <a:endParaRPr sz="3800" dirty="0">
              <a:latin typeface="Corbel"/>
              <a:cs typeface="Corbe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B3DFD2C-24D7-ECC6-FE69-5FF9C2C37DB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635742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E4F5-CF9D-40B9-BA01-43C1710B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615553"/>
          </a:xfrm>
        </p:spPr>
        <p:txBody>
          <a:bodyPr/>
          <a:lstStyle/>
          <a:p>
            <a:r>
              <a:rPr lang="en-US" sz="4000" dirty="0"/>
              <a:t>Dimensionality</a:t>
            </a:r>
            <a:r>
              <a:rPr lang="en-US" sz="4000" spc="-135" dirty="0">
                <a:latin typeface="Calibri"/>
                <a:cs typeface="Calibri"/>
              </a:rPr>
              <a:t> reduction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9D028-EE97-4DCE-A773-29C86B507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325255"/>
            <a:ext cx="4989189" cy="276998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10" dirty="0">
                <a:cs typeface="Calibri"/>
              </a:rPr>
              <a:t>Processing </a:t>
            </a:r>
            <a:r>
              <a:rPr lang="en-US" spc="-5" dirty="0">
                <a:cs typeface="Calibri"/>
              </a:rPr>
              <a:t>high dimensional </a:t>
            </a:r>
            <a:r>
              <a:rPr lang="en-US" spc="-15" dirty="0">
                <a:cs typeface="Calibri"/>
              </a:rPr>
              <a:t>data </a:t>
            </a:r>
            <a:r>
              <a:rPr lang="en-US" spc="-5" dirty="0">
                <a:solidFill>
                  <a:srgbClr val="00026A"/>
                </a:solidFill>
                <a:cs typeface="Calibri"/>
              </a:rPr>
              <a:t>is </a:t>
            </a:r>
            <a:r>
              <a:rPr lang="en-US" b="1" i="1" spc="-5" dirty="0">
                <a:solidFill>
                  <a:srgbClr val="FF0000"/>
                </a:solidFill>
                <a:cs typeface="Calibri"/>
              </a:rPr>
              <a:t>computationally</a:t>
            </a:r>
            <a:r>
              <a:rPr lang="en-US" b="1" i="1" spc="40" dirty="0">
                <a:solidFill>
                  <a:srgbClr val="FF0000"/>
                </a:solidFill>
                <a:cs typeface="Calibri"/>
              </a:rPr>
              <a:t> </a:t>
            </a:r>
            <a:r>
              <a:rPr lang="en-US" b="1" i="1" spc="-5" dirty="0">
                <a:solidFill>
                  <a:srgbClr val="FF0000"/>
                </a:solidFill>
                <a:cs typeface="Calibri"/>
              </a:rPr>
              <a:t>expensive </a:t>
            </a:r>
            <a:endParaRPr lang="en-US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i="1" dirty="0">
              <a:solidFill>
                <a:schemeClr val="tx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trick in dimensionality reduction is to trade a little </a:t>
            </a:r>
            <a:r>
              <a:rPr lang="en-US" dirty="0">
                <a:solidFill>
                  <a:srgbClr val="FF0000"/>
                </a:solidFill>
              </a:rPr>
              <a:t>accuracy for simplicity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Smaller data sets are easier to 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explore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and 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visualize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and make 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</a:rPr>
              <a:t>analyzing</a:t>
            </a:r>
            <a:r>
              <a:rPr lang="en-US" dirty="0"/>
              <a:t> data much easier and faster for machine learning algorithms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0C10E-FC04-4479-B017-8019CEFBBCA7}"/>
              </a:ext>
            </a:extLst>
          </p:cNvPr>
          <p:cNvSpPr/>
          <p:nvPr/>
        </p:nvSpPr>
        <p:spPr>
          <a:xfrm>
            <a:off x="5325908" y="1200150"/>
            <a:ext cx="3665692" cy="1745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lang="en-US" b="1" i="1" spc="-5" dirty="0">
                <a:solidFill>
                  <a:srgbClr val="00026A"/>
                </a:solidFill>
                <a:cs typeface="Calibri"/>
              </a:rPr>
              <a:t>Goa</a:t>
            </a:r>
            <a:r>
              <a:rPr lang="en-US" i="1" spc="-5" dirty="0">
                <a:solidFill>
                  <a:srgbClr val="00026A"/>
                </a:solidFill>
                <a:cs typeface="Calibri"/>
              </a:rPr>
              <a:t>l:</a:t>
            </a:r>
            <a:endParaRPr lang="en-US" dirty="0">
              <a:cs typeface="Calibri"/>
            </a:endParaRPr>
          </a:p>
          <a:p>
            <a:pPr marL="466725" indent="-454025">
              <a:lnSpc>
                <a:spcPct val="100000"/>
              </a:lnSpc>
              <a:spcBef>
                <a:spcPts val="360"/>
              </a:spcBef>
              <a:buClr>
                <a:srgbClr val="A6A6A6"/>
              </a:buClr>
              <a:buSzPct val="88235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lang="en-US" spc="-10" dirty="0">
                <a:solidFill>
                  <a:srgbClr val="00026A"/>
                </a:solidFill>
                <a:cs typeface="Calibri"/>
              </a:rPr>
              <a:t>Reduce </a:t>
            </a:r>
            <a:r>
              <a:rPr lang="en-US" spc="-5" dirty="0">
                <a:solidFill>
                  <a:srgbClr val="00026A"/>
                </a:solidFill>
                <a:cs typeface="Calibri"/>
              </a:rPr>
              <a:t>high dimensional </a:t>
            </a:r>
            <a:r>
              <a:rPr lang="en-US" spc="-15" dirty="0">
                <a:solidFill>
                  <a:srgbClr val="00026A"/>
                </a:solidFill>
                <a:cs typeface="Calibri"/>
              </a:rPr>
              <a:t>data </a:t>
            </a:r>
            <a:r>
              <a:rPr lang="en-US" spc="-5" dirty="0">
                <a:solidFill>
                  <a:srgbClr val="00026A"/>
                </a:solidFill>
                <a:cs typeface="Calibri"/>
              </a:rPr>
              <a:t>in </a:t>
            </a:r>
            <a:r>
              <a:rPr lang="en-US" i="1" spc="-5" dirty="0">
                <a:solidFill>
                  <a:srgbClr val="FF6600"/>
                </a:solidFill>
                <a:cs typeface="Calibri"/>
              </a:rPr>
              <a:t>lower</a:t>
            </a:r>
            <a:r>
              <a:rPr lang="en-US" i="1" spc="30" dirty="0">
                <a:solidFill>
                  <a:srgbClr val="FF6600"/>
                </a:solidFill>
                <a:cs typeface="Calibri"/>
              </a:rPr>
              <a:t> </a:t>
            </a:r>
            <a:r>
              <a:rPr lang="en-US" i="1" spc="-5" dirty="0">
                <a:solidFill>
                  <a:srgbClr val="FF6600"/>
                </a:solidFill>
                <a:cs typeface="Calibri"/>
              </a:rPr>
              <a:t>components</a:t>
            </a:r>
            <a:r>
              <a:rPr lang="en-US" spc="-5" dirty="0">
                <a:solidFill>
                  <a:srgbClr val="00026A"/>
                </a:solidFill>
                <a:cs typeface="Calibri"/>
              </a:rPr>
              <a:t>.</a:t>
            </a:r>
            <a:endParaRPr lang="en-US" dirty="0">
              <a:cs typeface="Calibri"/>
            </a:endParaRPr>
          </a:p>
          <a:p>
            <a:pPr marL="466725" marR="1135380" indent="-454025">
              <a:lnSpc>
                <a:spcPct val="77600"/>
              </a:lnSpc>
              <a:spcBef>
                <a:spcPts val="935"/>
              </a:spcBef>
              <a:buClr>
                <a:srgbClr val="A6A6A6"/>
              </a:buClr>
              <a:buSzPct val="88235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lang="en-US" spc="-5" dirty="0">
                <a:solidFill>
                  <a:srgbClr val="00026A"/>
                </a:solidFill>
                <a:cs typeface="Calibri"/>
              </a:rPr>
              <a:t>The </a:t>
            </a:r>
            <a:r>
              <a:rPr lang="en-US" spc="-10" dirty="0">
                <a:solidFill>
                  <a:srgbClr val="00026A"/>
                </a:solidFill>
                <a:cs typeface="Calibri"/>
              </a:rPr>
              <a:t>reduced </a:t>
            </a:r>
            <a:r>
              <a:rPr lang="en-US" spc="-5" dirty="0">
                <a:solidFill>
                  <a:srgbClr val="00026A"/>
                </a:solidFill>
                <a:cs typeface="Calibri"/>
              </a:rPr>
              <a:t>components  need </a:t>
            </a:r>
            <a:r>
              <a:rPr lang="en-US" spc="-10" dirty="0">
                <a:solidFill>
                  <a:srgbClr val="00026A"/>
                </a:solidFill>
                <a:cs typeface="Calibri"/>
              </a:rPr>
              <a:t>to </a:t>
            </a:r>
            <a:r>
              <a:rPr lang="en-US" spc="-5" dirty="0">
                <a:solidFill>
                  <a:srgbClr val="00026A"/>
                </a:solidFill>
                <a:cs typeface="Calibri"/>
              </a:rPr>
              <a:t>be </a:t>
            </a:r>
            <a:r>
              <a:rPr lang="en-US" i="1" spc="-5" dirty="0">
                <a:solidFill>
                  <a:srgbClr val="FF6600"/>
                </a:solidFill>
                <a:cs typeface="Calibri"/>
              </a:rPr>
              <a:t>independent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7791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4" y="1291844"/>
            <a:ext cx="4209096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rgbClr val="00026A"/>
                </a:solidFill>
                <a:latin typeface="Calibri"/>
                <a:cs typeface="Calibri"/>
              </a:rPr>
              <a:t>The intuition </a:t>
            </a:r>
            <a:r>
              <a:rPr lang="en-US" sz="2400" spc="-10" dirty="0">
                <a:solidFill>
                  <a:srgbClr val="000090"/>
                </a:solidFill>
                <a:cs typeface="Calibri"/>
              </a:rPr>
              <a:t>behind it</a:t>
            </a:r>
            <a:r>
              <a:rPr lang="en-US" sz="240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8C42A6-9377-4132-9DA6-ECC3CCD4E85C}"/>
              </a:ext>
            </a:extLst>
          </p:cNvPr>
          <p:cNvSpPr/>
          <p:nvPr/>
        </p:nvSpPr>
        <p:spPr>
          <a:xfrm>
            <a:off x="252812" y="285750"/>
            <a:ext cx="42236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dirty="0">
                <a:solidFill>
                  <a:srgbClr val="0070C0"/>
                </a:solidFill>
              </a:rPr>
              <a:t>Dimensionality</a:t>
            </a:r>
            <a:r>
              <a:rPr lang="en-US" sz="3200" spc="-135" dirty="0">
                <a:solidFill>
                  <a:srgbClr val="0070C0"/>
                </a:solidFill>
                <a:cs typeface="Calibri"/>
              </a:rPr>
              <a:t> reduction</a:t>
            </a:r>
            <a:endParaRPr lang="en-US" sz="3200" dirty="0">
              <a:solidFill>
                <a:srgbClr val="0070C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7804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457200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457200" y="4607020"/>
            <a:ext cx="2362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247117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234979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072869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066800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201398" y="223833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231675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196341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348741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217178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315835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306395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196341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196341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201399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327659" y="1249603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2D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3459481" y="1405259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5867400" y="1405259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Y-Projection</a:t>
            </a:r>
          </a:p>
        </p:txBody>
      </p:sp>
    </p:spTree>
    <p:extLst>
      <p:ext uri="{BB962C8B-B14F-4D97-AF65-F5344CB8AC3E}">
        <p14:creationId xmlns:p14="http://schemas.microsoft.com/office/powerpoint/2010/main" val="14116965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457200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457200" y="4607020"/>
            <a:ext cx="2362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247117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234979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072869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066800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201398" y="223833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231675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196341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348741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217178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315835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306395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196341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196341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201399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F39528-F4C1-4727-9FA9-37C804455393}"/>
              </a:ext>
            </a:extLst>
          </p:cNvPr>
          <p:cNvCxnSpPr/>
          <p:nvPr/>
        </p:nvCxnSpPr>
        <p:spPr>
          <a:xfrm>
            <a:off x="3505200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5C7494-DD5C-4171-866B-9C03F033FEF4}"/>
              </a:ext>
            </a:extLst>
          </p:cNvPr>
          <p:cNvCxnSpPr>
            <a:cxnSpLocks/>
          </p:cNvCxnSpPr>
          <p:nvPr/>
        </p:nvCxnSpPr>
        <p:spPr>
          <a:xfrm>
            <a:off x="3502503" y="4607020"/>
            <a:ext cx="1524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9763C06-9E53-412A-8D79-6B041975A7B5}"/>
              </a:ext>
            </a:extLst>
          </p:cNvPr>
          <p:cNvSpPr/>
          <p:nvPr/>
        </p:nvSpPr>
        <p:spPr>
          <a:xfrm>
            <a:off x="4063820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4A1F27-E147-4017-9BC8-F5BDAAC4E03B}"/>
              </a:ext>
            </a:extLst>
          </p:cNvPr>
          <p:cNvSpPr/>
          <p:nvPr/>
        </p:nvSpPr>
        <p:spPr>
          <a:xfrm>
            <a:off x="405168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AA1F4B-0811-4D84-AB42-653B41CC5A4F}"/>
              </a:ext>
            </a:extLst>
          </p:cNvPr>
          <p:cNvSpPr/>
          <p:nvPr/>
        </p:nvSpPr>
        <p:spPr>
          <a:xfrm>
            <a:off x="388957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9DA44F-0DCE-4F39-9634-62F549FB5ABF}"/>
              </a:ext>
            </a:extLst>
          </p:cNvPr>
          <p:cNvSpPr/>
          <p:nvPr/>
        </p:nvSpPr>
        <p:spPr>
          <a:xfrm>
            <a:off x="3883503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CA03B1-9D89-46A7-B83D-A7A3BEE672D6}"/>
              </a:ext>
            </a:extLst>
          </p:cNvPr>
          <p:cNvSpPr/>
          <p:nvPr/>
        </p:nvSpPr>
        <p:spPr>
          <a:xfrm>
            <a:off x="4018101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F1A667-A052-4553-BD9A-D359B2F305C5}"/>
              </a:ext>
            </a:extLst>
          </p:cNvPr>
          <p:cNvSpPr/>
          <p:nvPr/>
        </p:nvSpPr>
        <p:spPr>
          <a:xfrm>
            <a:off x="404837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0B39FA-ED64-46DB-B014-4DF661B7AB66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CEDC62-94F7-405B-B316-0AB94D1B36BD}"/>
              </a:ext>
            </a:extLst>
          </p:cNvPr>
          <p:cNvSpPr/>
          <p:nvPr/>
        </p:nvSpPr>
        <p:spPr>
          <a:xfrm>
            <a:off x="41654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16A019-97E9-4FF2-8BBF-2281C8F60287}"/>
              </a:ext>
            </a:extLst>
          </p:cNvPr>
          <p:cNvSpPr/>
          <p:nvPr/>
        </p:nvSpPr>
        <p:spPr>
          <a:xfrm>
            <a:off x="4033881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BE70F2-D559-4783-9BE5-711B9F4DFD06}"/>
              </a:ext>
            </a:extLst>
          </p:cNvPr>
          <p:cNvSpPr/>
          <p:nvPr/>
        </p:nvSpPr>
        <p:spPr>
          <a:xfrm>
            <a:off x="413253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D3646F3-1A5E-4AFE-A7B8-6813FA2142B5}"/>
              </a:ext>
            </a:extLst>
          </p:cNvPr>
          <p:cNvSpPr/>
          <p:nvPr/>
        </p:nvSpPr>
        <p:spPr>
          <a:xfrm>
            <a:off x="412309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7C128-D4DC-4049-B662-71E4C978C2FB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DDF984-8FC5-4A55-B816-0342BF87ABD1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1767C3-8044-45D5-9406-745F9B8D5E2F}"/>
              </a:ext>
            </a:extLst>
          </p:cNvPr>
          <p:cNvSpPr/>
          <p:nvPr/>
        </p:nvSpPr>
        <p:spPr>
          <a:xfrm>
            <a:off x="401810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362904" y="1403811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2D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3459481" y="1405259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5867400" y="1405259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Y-Projection</a:t>
            </a:r>
          </a:p>
        </p:txBody>
      </p:sp>
    </p:spTree>
    <p:extLst>
      <p:ext uri="{BB962C8B-B14F-4D97-AF65-F5344CB8AC3E}">
        <p14:creationId xmlns:p14="http://schemas.microsoft.com/office/powerpoint/2010/main" val="2278944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457200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457200" y="4607020"/>
            <a:ext cx="2362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247117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234979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072869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066800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201398" y="223833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231675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196341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348741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217178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315835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306395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196341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196341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201399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F39528-F4C1-4727-9FA9-37C804455393}"/>
              </a:ext>
            </a:extLst>
          </p:cNvPr>
          <p:cNvCxnSpPr/>
          <p:nvPr/>
        </p:nvCxnSpPr>
        <p:spPr>
          <a:xfrm>
            <a:off x="3505200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5C7494-DD5C-4171-866B-9C03F033FEF4}"/>
              </a:ext>
            </a:extLst>
          </p:cNvPr>
          <p:cNvCxnSpPr>
            <a:cxnSpLocks/>
          </p:cNvCxnSpPr>
          <p:nvPr/>
        </p:nvCxnSpPr>
        <p:spPr>
          <a:xfrm>
            <a:off x="3502503" y="4607020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9763C06-9E53-412A-8D79-6B041975A7B5}"/>
              </a:ext>
            </a:extLst>
          </p:cNvPr>
          <p:cNvSpPr/>
          <p:nvPr/>
        </p:nvSpPr>
        <p:spPr>
          <a:xfrm>
            <a:off x="4063820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4A1F27-E147-4017-9BC8-F5BDAAC4E03B}"/>
              </a:ext>
            </a:extLst>
          </p:cNvPr>
          <p:cNvSpPr/>
          <p:nvPr/>
        </p:nvSpPr>
        <p:spPr>
          <a:xfrm>
            <a:off x="405168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AA1F4B-0811-4D84-AB42-653B41CC5A4F}"/>
              </a:ext>
            </a:extLst>
          </p:cNvPr>
          <p:cNvSpPr/>
          <p:nvPr/>
        </p:nvSpPr>
        <p:spPr>
          <a:xfrm>
            <a:off x="388957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9DA44F-0DCE-4F39-9634-62F549FB5ABF}"/>
              </a:ext>
            </a:extLst>
          </p:cNvPr>
          <p:cNvSpPr/>
          <p:nvPr/>
        </p:nvSpPr>
        <p:spPr>
          <a:xfrm>
            <a:off x="3883503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CA03B1-9D89-46A7-B83D-A7A3BEE672D6}"/>
              </a:ext>
            </a:extLst>
          </p:cNvPr>
          <p:cNvSpPr/>
          <p:nvPr/>
        </p:nvSpPr>
        <p:spPr>
          <a:xfrm>
            <a:off x="4018101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F1A667-A052-4553-BD9A-D359B2F305C5}"/>
              </a:ext>
            </a:extLst>
          </p:cNvPr>
          <p:cNvSpPr/>
          <p:nvPr/>
        </p:nvSpPr>
        <p:spPr>
          <a:xfrm>
            <a:off x="404837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0B39FA-ED64-46DB-B014-4DF661B7AB66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CEDC62-94F7-405B-B316-0AB94D1B36BD}"/>
              </a:ext>
            </a:extLst>
          </p:cNvPr>
          <p:cNvSpPr/>
          <p:nvPr/>
        </p:nvSpPr>
        <p:spPr>
          <a:xfrm>
            <a:off x="41654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16A019-97E9-4FF2-8BBF-2281C8F60287}"/>
              </a:ext>
            </a:extLst>
          </p:cNvPr>
          <p:cNvSpPr/>
          <p:nvPr/>
        </p:nvSpPr>
        <p:spPr>
          <a:xfrm>
            <a:off x="4033881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BE70F2-D559-4783-9BE5-711B9F4DFD06}"/>
              </a:ext>
            </a:extLst>
          </p:cNvPr>
          <p:cNvSpPr/>
          <p:nvPr/>
        </p:nvSpPr>
        <p:spPr>
          <a:xfrm>
            <a:off x="413253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D3646F3-1A5E-4AFE-A7B8-6813FA2142B5}"/>
              </a:ext>
            </a:extLst>
          </p:cNvPr>
          <p:cNvSpPr/>
          <p:nvPr/>
        </p:nvSpPr>
        <p:spPr>
          <a:xfrm>
            <a:off x="412309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7C128-D4DC-4049-B662-71E4C978C2FB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DDF984-8FC5-4A55-B816-0342BF87ABD1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1767C3-8044-45D5-9406-745F9B8D5E2F}"/>
              </a:ext>
            </a:extLst>
          </p:cNvPr>
          <p:cNvSpPr/>
          <p:nvPr/>
        </p:nvSpPr>
        <p:spPr>
          <a:xfrm>
            <a:off x="401810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B4F32A5-2A24-4C56-9C22-F915679081EA}"/>
              </a:ext>
            </a:extLst>
          </p:cNvPr>
          <p:cNvCxnSpPr/>
          <p:nvPr/>
        </p:nvCxnSpPr>
        <p:spPr>
          <a:xfrm>
            <a:off x="5562600" y="1787620"/>
            <a:ext cx="0" cy="2819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0E6DD7-9B51-48CC-B4E6-87105073163F}"/>
              </a:ext>
            </a:extLst>
          </p:cNvPr>
          <p:cNvCxnSpPr/>
          <p:nvPr/>
        </p:nvCxnSpPr>
        <p:spPr>
          <a:xfrm>
            <a:off x="5562600" y="4607020"/>
            <a:ext cx="3124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B2C71967-1924-42F4-92FB-B144A9E4CDD1}"/>
              </a:ext>
            </a:extLst>
          </p:cNvPr>
          <p:cNvSpPr/>
          <p:nvPr/>
        </p:nvSpPr>
        <p:spPr>
          <a:xfrm>
            <a:off x="5562600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5689976-1A3A-4BFC-A9F9-1C6102CC8BC3}"/>
              </a:ext>
            </a:extLst>
          </p:cNvPr>
          <p:cNvSpPr/>
          <p:nvPr/>
        </p:nvSpPr>
        <p:spPr>
          <a:xfrm>
            <a:off x="5562600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837FD97-9EAD-433A-A10F-97CDD048A621}"/>
              </a:ext>
            </a:extLst>
          </p:cNvPr>
          <p:cNvSpPr/>
          <p:nvPr/>
        </p:nvSpPr>
        <p:spPr>
          <a:xfrm>
            <a:off x="5562600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515E54D-1389-489F-91D1-8E915E1FE608}"/>
              </a:ext>
            </a:extLst>
          </p:cNvPr>
          <p:cNvSpPr/>
          <p:nvPr/>
        </p:nvSpPr>
        <p:spPr>
          <a:xfrm>
            <a:off x="5562600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5F769E5-96E2-4434-8041-F06617AD9BA3}"/>
              </a:ext>
            </a:extLst>
          </p:cNvPr>
          <p:cNvSpPr/>
          <p:nvPr/>
        </p:nvSpPr>
        <p:spPr>
          <a:xfrm>
            <a:off x="5570828" y="225445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CE8D404-5171-41F8-8F20-6D3CC2E7AB66}"/>
              </a:ext>
            </a:extLst>
          </p:cNvPr>
          <p:cNvSpPr/>
          <p:nvPr/>
        </p:nvSpPr>
        <p:spPr>
          <a:xfrm>
            <a:off x="5562600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6D4C2BA-2EC1-488E-BB7D-9B3A52D2680C}"/>
              </a:ext>
            </a:extLst>
          </p:cNvPr>
          <p:cNvSpPr/>
          <p:nvPr/>
        </p:nvSpPr>
        <p:spPr>
          <a:xfrm>
            <a:off x="5562600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6FA4C9-9DE8-453E-980D-FADA71051E78}"/>
              </a:ext>
            </a:extLst>
          </p:cNvPr>
          <p:cNvSpPr/>
          <p:nvPr/>
        </p:nvSpPr>
        <p:spPr>
          <a:xfrm>
            <a:off x="5562600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58F074E-71CC-496F-90D8-1661022CD793}"/>
              </a:ext>
            </a:extLst>
          </p:cNvPr>
          <p:cNvSpPr/>
          <p:nvPr/>
        </p:nvSpPr>
        <p:spPr>
          <a:xfrm>
            <a:off x="5562600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D3C49A6-C3AC-40AB-94C2-2C6EE7775D8A}"/>
              </a:ext>
            </a:extLst>
          </p:cNvPr>
          <p:cNvSpPr/>
          <p:nvPr/>
        </p:nvSpPr>
        <p:spPr>
          <a:xfrm>
            <a:off x="5562600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0DD8B8-94F1-4436-9741-790149801B4E}"/>
              </a:ext>
            </a:extLst>
          </p:cNvPr>
          <p:cNvSpPr/>
          <p:nvPr/>
        </p:nvSpPr>
        <p:spPr>
          <a:xfrm>
            <a:off x="5562600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3AFEF2C-9385-4810-B4C1-E61EAA815F23}"/>
              </a:ext>
            </a:extLst>
          </p:cNvPr>
          <p:cNvSpPr/>
          <p:nvPr/>
        </p:nvSpPr>
        <p:spPr>
          <a:xfrm>
            <a:off x="5562600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ED4CDA3-AE9A-463D-B547-2CD29741367D}"/>
              </a:ext>
            </a:extLst>
          </p:cNvPr>
          <p:cNvSpPr/>
          <p:nvPr/>
        </p:nvSpPr>
        <p:spPr>
          <a:xfrm>
            <a:off x="5562600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E874CF6-7771-45A2-9F87-15D77D610D4D}"/>
              </a:ext>
            </a:extLst>
          </p:cNvPr>
          <p:cNvSpPr/>
          <p:nvPr/>
        </p:nvSpPr>
        <p:spPr>
          <a:xfrm>
            <a:off x="5562600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362904" y="1403811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2D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3459481" y="1405259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5867400" y="1405259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Y-Projection</a:t>
            </a:r>
          </a:p>
        </p:txBody>
      </p:sp>
    </p:spTree>
    <p:extLst>
      <p:ext uri="{BB962C8B-B14F-4D97-AF65-F5344CB8AC3E}">
        <p14:creationId xmlns:p14="http://schemas.microsoft.com/office/powerpoint/2010/main" val="2075140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457200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457200" y="4607020"/>
            <a:ext cx="2362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247117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234979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072869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066800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201398" y="223833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231675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196341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348741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217178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315835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306395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196341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196341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201399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2F39528-F4C1-4727-9FA9-37C804455393}"/>
              </a:ext>
            </a:extLst>
          </p:cNvPr>
          <p:cNvCxnSpPr/>
          <p:nvPr/>
        </p:nvCxnSpPr>
        <p:spPr>
          <a:xfrm>
            <a:off x="3505200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15C7494-DD5C-4171-866B-9C03F033FEF4}"/>
              </a:ext>
            </a:extLst>
          </p:cNvPr>
          <p:cNvCxnSpPr>
            <a:cxnSpLocks/>
          </p:cNvCxnSpPr>
          <p:nvPr/>
        </p:nvCxnSpPr>
        <p:spPr>
          <a:xfrm>
            <a:off x="3502503" y="4607020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9763C06-9E53-412A-8D79-6B041975A7B5}"/>
              </a:ext>
            </a:extLst>
          </p:cNvPr>
          <p:cNvSpPr/>
          <p:nvPr/>
        </p:nvSpPr>
        <p:spPr>
          <a:xfrm>
            <a:off x="4063820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4A1F27-E147-4017-9BC8-F5BDAAC4E03B}"/>
              </a:ext>
            </a:extLst>
          </p:cNvPr>
          <p:cNvSpPr/>
          <p:nvPr/>
        </p:nvSpPr>
        <p:spPr>
          <a:xfrm>
            <a:off x="405168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AA1F4B-0811-4D84-AB42-653B41CC5A4F}"/>
              </a:ext>
            </a:extLst>
          </p:cNvPr>
          <p:cNvSpPr/>
          <p:nvPr/>
        </p:nvSpPr>
        <p:spPr>
          <a:xfrm>
            <a:off x="388957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9DA44F-0DCE-4F39-9634-62F549FB5ABF}"/>
              </a:ext>
            </a:extLst>
          </p:cNvPr>
          <p:cNvSpPr/>
          <p:nvPr/>
        </p:nvSpPr>
        <p:spPr>
          <a:xfrm>
            <a:off x="3883503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CA03B1-9D89-46A7-B83D-A7A3BEE672D6}"/>
              </a:ext>
            </a:extLst>
          </p:cNvPr>
          <p:cNvSpPr/>
          <p:nvPr/>
        </p:nvSpPr>
        <p:spPr>
          <a:xfrm>
            <a:off x="4018101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F1A667-A052-4553-BD9A-D359B2F305C5}"/>
              </a:ext>
            </a:extLst>
          </p:cNvPr>
          <p:cNvSpPr/>
          <p:nvPr/>
        </p:nvSpPr>
        <p:spPr>
          <a:xfrm>
            <a:off x="404837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0B39FA-ED64-46DB-B014-4DF661B7AB66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CEDC62-94F7-405B-B316-0AB94D1B36BD}"/>
              </a:ext>
            </a:extLst>
          </p:cNvPr>
          <p:cNvSpPr/>
          <p:nvPr/>
        </p:nvSpPr>
        <p:spPr>
          <a:xfrm>
            <a:off x="41654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16A019-97E9-4FF2-8BBF-2281C8F60287}"/>
              </a:ext>
            </a:extLst>
          </p:cNvPr>
          <p:cNvSpPr/>
          <p:nvPr/>
        </p:nvSpPr>
        <p:spPr>
          <a:xfrm>
            <a:off x="4033881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BE70F2-D559-4783-9BE5-711B9F4DFD06}"/>
              </a:ext>
            </a:extLst>
          </p:cNvPr>
          <p:cNvSpPr/>
          <p:nvPr/>
        </p:nvSpPr>
        <p:spPr>
          <a:xfrm>
            <a:off x="413253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D3646F3-1A5E-4AFE-A7B8-6813FA2142B5}"/>
              </a:ext>
            </a:extLst>
          </p:cNvPr>
          <p:cNvSpPr/>
          <p:nvPr/>
        </p:nvSpPr>
        <p:spPr>
          <a:xfrm>
            <a:off x="4123098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7C128-D4DC-4049-B662-71E4C978C2FB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DDF984-8FC5-4A55-B816-0342BF87ABD1}"/>
              </a:ext>
            </a:extLst>
          </p:cNvPr>
          <p:cNvSpPr/>
          <p:nvPr/>
        </p:nvSpPr>
        <p:spPr>
          <a:xfrm>
            <a:off x="4013044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1767C3-8044-45D5-9406-745F9B8D5E2F}"/>
              </a:ext>
            </a:extLst>
          </p:cNvPr>
          <p:cNvSpPr/>
          <p:nvPr/>
        </p:nvSpPr>
        <p:spPr>
          <a:xfrm>
            <a:off x="4018102" y="45308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B4F32A5-2A24-4C56-9C22-F915679081EA}"/>
              </a:ext>
            </a:extLst>
          </p:cNvPr>
          <p:cNvCxnSpPr/>
          <p:nvPr/>
        </p:nvCxnSpPr>
        <p:spPr>
          <a:xfrm>
            <a:off x="5562600" y="1787620"/>
            <a:ext cx="0" cy="2819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0E6DD7-9B51-48CC-B4E6-87105073163F}"/>
              </a:ext>
            </a:extLst>
          </p:cNvPr>
          <p:cNvCxnSpPr/>
          <p:nvPr/>
        </p:nvCxnSpPr>
        <p:spPr>
          <a:xfrm>
            <a:off x="5562600" y="4607020"/>
            <a:ext cx="3124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B2C71967-1924-42F4-92FB-B144A9E4CDD1}"/>
              </a:ext>
            </a:extLst>
          </p:cNvPr>
          <p:cNvSpPr/>
          <p:nvPr/>
        </p:nvSpPr>
        <p:spPr>
          <a:xfrm>
            <a:off x="5562600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5689976-1A3A-4BFC-A9F9-1C6102CC8BC3}"/>
              </a:ext>
            </a:extLst>
          </p:cNvPr>
          <p:cNvSpPr/>
          <p:nvPr/>
        </p:nvSpPr>
        <p:spPr>
          <a:xfrm>
            <a:off x="5562600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837FD97-9EAD-433A-A10F-97CDD048A621}"/>
              </a:ext>
            </a:extLst>
          </p:cNvPr>
          <p:cNvSpPr/>
          <p:nvPr/>
        </p:nvSpPr>
        <p:spPr>
          <a:xfrm>
            <a:off x="5562600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515E54D-1389-489F-91D1-8E915E1FE608}"/>
              </a:ext>
            </a:extLst>
          </p:cNvPr>
          <p:cNvSpPr/>
          <p:nvPr/>
        </p:nvSpPr>
        <p:spPr>
          <a:xfrm>
            <a:off x="5562600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5F769E5-96E2-4434-8041-F06617AD9BA3}"/>
              </a:ext>
            </a:extLst>
          </p:cNvPr>
          <p:cNvSpPr/>
          <p:nvPr/>
        </p:nvSpPr>
        <p:spPr>
          <a:xfrm>
            <a:off x="5570828" y="225445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CE8D404-5171-41F8-8F20-6D3CC2E7AB66}"/>
              </a:ext>
            </a:extLst>
          </p:cNvPr>
          <p:cNvSpPr/>
          <p:nvPr/>
        </p:nvSpPr>
        <p:spPr>
          <a:xfrm>
            <a:off x="5562600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6D4C2BA-2EC1-488E-BB7D-9B3A52D2680C}"/>
              </a:ext>
            </a:extLst>
          </p:cNvPr>
          <p:cNvSpPr/>
          <p:nvPr/>
        </p:nvSpPr>
        <p:spPr>
          <a:xfrm>
            <a:off x="5562600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6FA4C9-9DE8-453E-980D-FADA71051E78}"/>
              </a:ext>
            </a:extLst>
          </p:cNvPr>
          <p:cNvSpPr/>
          <p:nvPr/>
        </p:nvSpPr>
        <p:spPr>
          <a:xfrm>
            <a:off x="5562600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58F074E-71CC-496F-90D8-1661022CD793}"/>
              </a:ext>
            </a:extLst>
          </p:cNvPr>
          <p:cNvSpPr/>
          <p:nvPr/>
        </p:nvSpPr>
        <p:spPr>
          <a:xfrm>
            <a:off x="5562600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D3C49A6-C3AC-40AB-94C2-2C6EE7775D8A}"/>
              </a:ext>
            </a:extLst>
          </p:cNvPr>
          <p:cNvSpPr/>
          <p:nvPr/>
        </p:nvSpPr>
        <p:spPr>
          <a:xfrm>
            <a:off x="5562600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0DD8B8-94F1-4436-9741-790149801B4E}"/>
              </a:ext>
            </a:extLst>
          </p:cNvPr>
          <p:cNvSpPr/>
          <p:nvPr/>
        </p:nvSpPr>
        <p:spPr>
          <a:xfrm>
            <a:off x="5562600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3AFEF2C-9385-4810-B4C1-E61EAA815F23}"/>
              </a:ext>
            </a:extLst>
          </p:cNvPr>
          <p:cNvSpPr/>
          <p:nvPr/>
        </p:nvSpPr>
        <p:spPr>
          <a:xfrm>
            <a:off x="5562600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ED4CDA3-AE9A-463D-B547-2CD29741367D}"/>
              </a:ext>
            </a:extLst>
          </p:cNvPr>
          <p:cNvSpPr/>
          <p:nvPr/>
        </p:nvSpPr>
        <p:spPr>
          <a:xfrm>
            <a:off x="5562600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E874CF6-7771-45A2-9F87-15D77D610D4D}"/>
              </a:ext>
            </a:extLst>
          </p:cNvPr>
          <p:cNvSpPr/>
          <p:nvPr/>
        </p:nvSpPr>
        <p:spPr>
          <a:xfrm>
            <a:off x="5562600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362904" y="1403811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2D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3459481" y="1405259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5867400" y="1405259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Y-Projection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9C365-A98E-4DED-A607-17673B7AED03}"/>
              </a:ext>
            </a:extLst>
          </p:cNvPr>
          <p:cNvSpPr txBox="1"/>
          <p:nvPr/>
        </p:nvSpPr>
        <p:spPr>
          <a:xfrm rot="587735">
            <a:off x="6705605" y="2748017"/>
            <a:ext cx="1828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Which projection is more representative of the original data?</a:t>
            </a:r>
          </a:p>
        </p:txBody>
      </p:sp>
    </p:spTree>
    <p:extLst>
      <p:ext uri="{BB962C8B-B14F-4D97-AF65-F5344CB8AC3E}">
        <p14:creationId xmlns:p14="http://schemas.microsoft.com/office/powerpoint/2010/main" val="3823623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94296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94296" y="4607020"/>
            <a:ext cx="2438400" cy="47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443441" y="386090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431303" y="368929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269193" y="334656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263124" y="315927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397722" y="23432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427999" y="345800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392665" y="29093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545065" y="325283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413502" y="327104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512159" y="290386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502719" y="265453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392665" y="302592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392665" y="27426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397723" y="25240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0" y="1280224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3D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2362200" y="1272378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X-Z 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6516212" y="1272378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X-Y Projection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42DFA4-1195-447D-A1B6-53715A4BB718}"/>
              </a:ext>
            </a:extLst>
          </p:cNvPr>
          <p:cNvCxnSpPr>
            <a:cxnSpLocks/>
          </p:cNvCxnSpPr>
          <p:nvPr/>
        </p:nvCxnSpPr>
        <p:spPr>
          <a:xfrm flipV="1">
            <a:off x="94296" y="3279759"/>
            <a:ext cx="1635604" cy="1327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3689774-17D3-47E1-A9AD-748AEBBF73F6}"/>
              </a:ext>
            </a:extLst>
          </p:cNvPr>
          <p:cNvSpPr txBox="1"/>
          <p:nvPr/>
        </p:nvSpPr>
        <p:spPr>
          <a:xfrm>
            <a:off x="4571999" y="1272378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Y-Z Projection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B45C1D-35C5-4F45-A132-7D469347453E}"/>
              </a:ext>
            </a:extLst>
          </p:cNvPr>
          <p:cNvGrpSpPr/>
          <p:nvPr/>
        </p:nvGrpSpPr>
        <p:grpSpPr>
          <a:xfrm>
            <a:off x="580145" y="4827696"/>
            <a:ext cx="199080" cy="111600"/>
            <a:chOff x="580145" y="4827696"/>
            <a:chExt cx="199080" cy="1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83A2434-130F-4B7F-8EC8-4BEC9C304352}"/>
                    </a:ext>
                  </a:extLst>
                </p14:cNvPr>
                <p14:cNvContentPartPr/>
                <p14:nvPr/>
              </p14:nvContentPartPr>
              <p14:xfrm>
                <a:off x="611465" y="4850736"/>
                <a:ext cx="99720" cy="78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83A2434-130F-4B7F-8EC8-4BEC9C30435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2825" y="4841736"/>
                  <a:ext cx="117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DC928D-056B-4956-84B3-D181B611DF74}"/>
                    </a:ext>
                  </a:extLst>
                </p14:cNvPr>
                <p14:cNvContentPartPr/>
                <p14:nvPr/>
              </p14:nvContentPartPr>
              <p14:xfrm>
                <a:off x="580145" y="4827696"/>
                <a:ext cx="199080" cy="11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DC928D-056B-4956-84B3-D181B611DF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1145" y="4818696"/>
                  <a:ext cx="21672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15E828-09D6-4623-9669-EE4E081AA35E}"/>
              </a:ext>
            </a:extLst>
          </p:cNvPr>
          <p:cNvGrpSpPr/>
          <p:nvPr/>
        </p:nvGrpSpPr>
        <p:grpSpPr>
          <a:xfrm>
            <a:off x="112505" y="2591016"/>
            <a:ext cx="204480" cy="288000"/>
            <a:chOff x="112505" y="2591016"/>
            <a:chExt cx="20448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BF7E488-11E8-4AB0-B7B2-7613E641E03C}"/>
                    </a:ext>
                  </a:extLst>
                </p14:cNvPr>
                <p14:cNvContentPartPr/>
                <p14:nvPr/>
              </p14:nvContentPartPr>
              <p14:xfrm>
                <a:off x="112505" y="2666976"/>
                <a:ext cx="172800" cy="56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BF7E488-11E8-4AB0-B7B2-7613E641E0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505" y="2657976"/>
                  <a:ext cx="190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66FD481-8A3C-4718-896E-7AE36D60BA0E}"/>
                    </a:ext>
                  </a:extLst>
                </p14:cNvPr>
                <p14:cNvContentPartPr/>
                <p14:nvPr/>
              </p14:nvContentPartPr>
              <p14:xfrm>
                <a:off x="278105" y="2591016"/>
                <a:ext cx="38880" cy="288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66FD481-8A3C-4718-896E-7AE36D60BA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9465" y="2582376"/>
                  <a:ext cx="56520" cy="30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DF197A5-18F6-478D-AEFE-20EB5A04764A}"/>
                  </a:ext>
                </a:extLst>
              </p14:cNvPr>
              <p14:cNvContentPartPr/>
              <p14:nvPr/>
            </p14:nvContentPartPr>
            <p14:xfrm>
              <a:off x="1009985" y="3502176"/>
              <a:ext cx="253440" cy="190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DF197A5-18F6-478D-AEFE-20EB5A0476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00985" y="3493536"/>
                <a:ext cx="271080" cy="20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7612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94296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94296" y="4607020"/>
            <a:ext cx="2438400" cy="47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443441" y="386090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431303" y="368929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269193" y="334656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263124" y="315927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397722" y="23432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427999" y="345800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392665" y="29093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545065" y="325283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413502" y="327104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512159" y="290386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502719" y="265453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392665" y="302592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392665" y="27426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397723" y="25240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763C06-9E53-412A-8D79-6B041975A7B5}"/>
              </a:ext>
            </a:extLst>
          </p:cNvPr>
          <p:cNvSpPr/>
          <p:nvPr/>
        </p:nvSpPr>
        <p:spPr>
          <a:xfrm>
            <a:off x="3699924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4A1F27-E147-4017-9BC8-F5BDAAC4E03B}"/>
              </a:ext>
            </a:extLst>
          </p:cNvPr>
          <p:cNvSpPr/>
          <p:nvPr/>
        </p:nvSpPr>
        <p:spPr>
          <a:xfrm>
            <a:off x="368778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AA1F4B-0811-4D84-AB42-653B41CC5A4F}"/>
              </a:ext>
            </a:extLst>
          </p:cNvPr>
          <p:cNvSpPr/>
          <p:nvPr/>
        </p:nvSpPr>
        <p:spPr>
          <a:xfrm>
            <a:off x="352567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9DA44F-0DCE-4F39-9634-62F549FB5ABF}"/>
              </a:ext>
            </a:extLst>
          </p:cNvPr>
          <p:cNvSpPr/>
          <p:nvPr/>
        </p:nvSpPr>
        <p:spPr>
          <a:xfrm>
            <a:off x="3519607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CA03B1-9D89-46A7-B83D-A7A3BEE672D6}"/>
              </a:ext>
            </a:extLst>
          </p:cNvPr>
          <p:cNvSpPr/>
          <p:nvPr/>
        </p:nvSpPr>
        <p:spPr>
          <a:xfrm>
            <a:off x="3654205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F1A667-A052-4553-BD9A-D359B2F305C5}"/>
              </a:ext>
            </a:extLst>
          </p:cNvPr>
          <p:cNvSpPr/>
          <p:nvPr/>
        </p:nvSpPr>
        <p:spPr>
          <a:xfrm>
            <a:off x="368448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0B39FA-ED64-46DB-B014-4DF661B7AB66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CEDC62-94F7-405B-B316-0AB94D1B36BD}"/>
              </a:ext>
            </a:extLst>
          </p:cNvPr>
          <p:cNvSpPr/>
          <p:nvPr/>
        </p:nvSpPr>
        <p:spPr>
          <a:xfrm>
            <a:off x="38015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16A019-97E9-4FF2-8BBF-2281C8F60287}"/>
              </a:ext>
            </a:extLst>
          </p:cNvPr>
          <p:cNvSpPr/>
          <p:nvPr/>
        </p:nvSpPr>
        <p:spPr>
          <a:xfrm>
            <a:off x="3669985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BE70F2-D559-4783-9BE5-711B9F4DFD06}"/>
              </a:ext>
            </a:extLst>
          </p:cNvPr>
          <p:cNvSpPr/>
          <p:nvPr/>
        </p:nvSpPr>
        <p:spPr>
          <a:xfrm>
            <a:off x="376864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D3646F3-1A5E-4AFE-A7B8-6813FA2142B5}"/>
              </a:ext>
            </a:extLst>
          </p:cNvPr>
          <p:cNvSpPr/>
          <p:nvPr/>
        </p:nvSpPr>
        <p:spPr>
          <a:xfrm>
            <a:off x="375920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7C128-D4DC-4049-B662-71E4C978C2FB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DDF984-8FC5-4A55-B816-0342BF87ABD1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1767C3-8044-45D5-9406-745F9B8D5E2F}"/>
              </a:ext>
            </a:extLst>
          </p:cNvPr>
          <p:cNvSpPr/>
          <p:nvPr/>
        </p:nvSpPr>
        <p:spPr>
          <a:xfrm>
            <a:off x="365420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0" y="1403811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3D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2389283" y="1299963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X-Z 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6516212" y="1272378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X-Y Projection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42DFA4-1195-447D-A1B6-53715A4BB718}"/>
              </a:ext>
            </a:extLst>
          </p:cNvPr>
          <p:cNvCxnSpPr>
            <a:cxnSpLocks/>
          </p:cNvCxnSpPr>
          <p:nvPr/>
        </p:nvCxnSpPr>
        <p:spPr>
          <a:xfrm flipV="1">
            <a:off x="94296" y="3279759"/>
            <a:ext cx="1635604" cy="1327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CFCA41E-A4B9-406F-873B-4EE6D659743F}"/>
              </a:ext>
            </a:extLst>
          </p:cNvPr>
          <p:cNvCxnSpPr/>
          <p:nvPr/>
        </p:nvCxnSpPr>
        <p:spPr>
          <a:xfrm>
            <a:off x="2514600" y="174315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B819E32-C57D-414F-804C-1647B957E69B}"/>
              </a:ext>
            </a:extLst>
          </p:cNvPr>
          <p:cNvCxnSpPr>
            <a:cxnSpLocks/>
          </p:cNvCxnSpPr>
          <p:nvPr/>
        </p:nvCxnSpPr>
        <p:spPr>
          <a:xfrm>
            <a:off x="2496504" y="4562550"/>
            <a:ext cx="2438400" cy="4793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C7C862F-1852-4F87-8AAA-F97FFF71BF81}"/>
              </a:ext>
            </a:extLst>
          </p:cNvPr>
          <p:cNvCxnSpPr>
            <a:cxnSpLocks/>
          </p:cNvCxnSpPr>
          <p:nvPr/>
        </p:nvCxnSpPr>
        <p:spPr>
          <a:xfrm flipV="1">
            <a:off x="2496504" y="3235289"/>
            <a:ext cx="1635604" cy="13272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3689774-17D3-47E1-A9AD-748AEBBF73F6}"/>
              </a:ext>
            </a:extLst>
          </p:cNvPr>
          <p:cNvSpPr txBox="1"/>
          <p:nvPr/>
        </p:nvSpPr>
        <p:spPr>
          <a:xfrm>
            <a:off x="4632959" y="1501047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Y-Z Projection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BC2BB63-F536-4C6E-9940-1A3C5F0F2F0A}"/>
              </a:ext>
            </a:extLst>
          </p:cNvPr>
          <p:cNvGrpSpPr/>
          <p:nvPr/>
        </p:nvGrpSpPr>
        <p:grpSpPr>
          <a:xfrm>
            <a:off x="2999345" y="2661576"/>
            <a:ext cx="725400" cy="641520"/>
            <a:chOff x="2999345" y="2661576"/>
            <a:chExt cx="725400" cy="64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E9A17F5-6F61-4CB1-A28F-D360A109A943}"/>
                    </a:ext>
                  </a:extLst>
                </p14:cNvPr>
                <p14:cNvContentPartPr/>
                <p14:nvPr/>
              </p14:nvContentPartPr>
              <p14:xfrm>
                <a:off x="2999345" y="2990976"/>
                <a:ext cx="289440" cy="312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E9A17F5-6F61-4CB1-A28F-D360A109A9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90345" y="2981976"/>
                  <a:ext cx="3070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444B889-E8BA-48F8-91CA-8E1CB394C072}"/>
                    </a:ext>
                  </a:extLst>
                </p14:cNvPr>
                <p14:cNvContentPartPr/>
                <p14:nvPr/>
              </p14:nvContentPartPr>
              <p14:xfrm>
                <a:off x="3322265" y="2822856"/>
                <a:ext cx="183960" cy="203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444B889-E8BA-48F8-91CA-8E1CB394C07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13265" y="2814216"/>
                  <a:ext cx="201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3706603-9588-4035-AF28-F5807FACDCFA}"/>
                    </a:ext>
                  </a:extLst>
                </p14:cNvPr>
                <p14:cNvContentPartPr/>
                <p14:nvPr/>
              </p14:nvContentPartPr>
              <p14:xfrm>
                <a:off x="3322265" y="2661576"/>
                <a:ext cx="402480" cy="358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3706603-9588-4035-AF28-F5807FACDCF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313265" y="2652936"/>
                  <a:ext cx="420120" cy="37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8708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94296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94296" y="4607020"/>
            <a:ext cx="2438400" cy="47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443441" y="386090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431303" y="368929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269193" y="334656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263124" y="315927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397722" y="23432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427999" y="345800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392665" y="29093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545065" y="325283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413502" y="327104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512159" y="290386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502719" y="265453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392665" y="302592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392665" y="27426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397723" y="25240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763C06-9E53-412A-8D79-6B041975A7B5}"/>
              </a:ext>
            </a:extLst>
          </p:cNvPr>
          <p:cNvSpPr/>
          <p:nvPr/>
        </p:nvSpPr>
        <p:spPr>
          <a:xfrm>
            <a:off x="3699924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4A1F27-E147-4017-9BC8-F5BDAAC4E03B}"/>
              </a:ext>
            </a:extLst>
          </p:cNvPr>
          <p:cNvSpPr/>
          <p:nvPr/>
        </p:nvSpPr>
        <p:spPr>
          <a:xfrm>
            <a:off x="368778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AA1F4B-0811-4D84-AB42-653B41CC5A4F}"/>
              </a:ext>
            </a:extLst>
          </p:cNvPr>
          <p:cNvSpPr/>
          <p:nvPr/>
        </p:nvSpPr>
        <p:spPr>
          <a:xfrm>
            <a:off x="352567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9DA44F-0DCE-4F39-9634-62F549FB5ABF}"/>
              </a:ext>
            </a:extLst>
          </p:cNvPr>
          <p:cNvSpPr/>
          <p:nvPr/>
        </p:nvSpPr>
        <p:spPr>
          <a:xfrm>
            <a:off x="3519607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CA03B1-9D89-46A7-B83D-A7A3BEE672D6}"/>
              </a:ext>
            </a:extLst>
          </p:cNvPr>
          <p:cNvSpPr/>
          <p:nvPr/>
        </p:nvSpPr>
        <p:spPr>
          <a:xfrm>
            <a:off x="3654205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F1A667-A052-4553-BD9A-D359B2F305C5}"/>
              </a:ext>
            </a:extLst>
          </p:cNvPr>
          <p:cNvSpPr/>
          <p:nvPr/>
        </p:nvSpPr>
        <p:spPr>
          <a:xfrm>
            <a:off x="368448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0B39FA-ED64-46DB-B014-4DF661B7AB66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CEDC62-94F7-405B-B316-0AB94D1B36BD}"/>
              </a:ext>
            </a:extLst>
          </p:cNvPr>
          <p:cNvSpPr/>
          <p:nvPr/>
        </p:nvSpPr>
        <p:spPr>
          <a:xfrm>
            <a:off x="38015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16A019-97E9-4FF2-8BBF-2281C8F60287}"/>
              </a:ext>
            </a:extLst>
          </p:cNvPr>
          <p:cNvSpPr/>
          <p:nvPr/>
        </p:nvSpPr>
        <p:spPr>
          <a:xfrm>
            <a:off x="3669985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BE70F2-D559-4783-9BE5-711B9F4DFD06}"/>
              </a:ext>
            </a:extLst>
          </p:cNvPr>
          <p:cNvSpPr/>
          <p:nvPr/>
        </p:nvSpPr>
        <p:spPr>
          <a:xfrm>
            <a:off x="376864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D3646F3-1A5E-4AFE-A7B8-6813FA2142B5}"/>
              </a:ext>
            </a:extLst>
          </p:cNvPr>
          <p:cNvSpPr/>
          <p:nvPr/>
        </p:nvSpPr>
        <p:spPr>
          <a:xfrm>
            <a:off x="375920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7C128-D4DC-4049-B662-71E4C978C2FB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DDF984-8FC5-4A55-B816-0342BF87ABD1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1767C3-8044-45D5-9406-745F9B8D5E2F}"/>
              </a:ext>
            </a:extLst>
          </p:cNvPr>
          <p:cNvSpPr/>
          <p:nvPr/>
        </p:nvSpPr>
        <p:spPr>
          <a:xfrm>
            <a:off x="365420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C71967-1924-42F4-92FB-B144A9E4CDD1}"/>
              </a:ext>
            </a:extLst>
          </p:cNvPr>
          <p:cNvSpPr/>
          <p:nvPr/>
        </p:nvSpPr>
        <p:spPr>
          <a:xfrm>
            <a:off x="4668002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5689976-1A3A-4BFC-A9F9-1C6102CC8BC3}"/>
              </a:ext>
            </a:extLst>
          </p:cNvPr>
          <p:cNvSpPr/>
          <p:nvPr/>
        </p:nvSpPr>
        <p:spPr>
          <a:xfrm>
            <a:off x="4668002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837FD97-9EAD-433A-A10F-97CDD048A621}"/>
              </a:ext>
            </a:extLst>
          </p:cNvPr>
          <p:cNvSpPr/>
          <p:nvPr/>
        </p:nvSpPr>
        <p:spPr>
          <a:xfrm>
            <a:off x="4668002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515E54D-1389-489F-91D1-8E915E1FE608}"/>
              </a:ext>
            </a:extLst>
          </p:cNvPr>
          <p:cNvSpPr/>
          <p:nvPr/>
        </p:nvSpPr>
        <p:spPr>
          <a:xfrm>
            <a:off x="4668002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5F769E5-96E2-4434-8041-F06617AD9BA3}"/>
              </a:ext>
            </a:extLst>
          </p:cNvPr>
          <p:cNvSpPr/>
          <p:nvPr/>
        </p:nvSpPr>
        <p:spPr>
          <a:xfrm>
            <a:off x="4676230" y="225445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CE8D404-5171-41F8-8F20-6D3CC2E7AB66}"/>
              </a:ext>
            </a:extLst>
          </p:cNvPr>
          <p:cNvSpPr/>
          <p:nvPr/>
        </p:nvSpPr>
        <p:spPr>
          <a:xfrm>
            <a:off x="4668002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6D4C2BA-2EC1-488E-BB7D-9B3A52D2680C}"/>
              </a:ext>
            </a:extLst>
          </p:cNvPr>
          <p:cNvSpPr/>
          <p:nvPr/>
        </p:nvSpPr>
        <p:spPr>
          <a:xfrm>
            <a:off x="4668002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6FA4C9-9DE8-453E-980D-FADA71051E78}"/>
              </a:ext>
            </a:extLst>
          </p:cNvPr>
          <p:cNvSpPr/>
          <p:nvPr/>
        </p:nvSpPr>
        <p:spPr>
          <a:xfrm>
            <a:off x="4668002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58F074E-71CC-496F-90D8-1661022CD793}"/>
              </a:ext>
            </a:extLst>
          </p:cNvPr>
          <p:cNvSpPr/>
          <p:nvPr/>
        </p:nvSpPr>
        <p:spPr>
          <a:xfrm>
            <a:off x="4668002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D3C49A6-C3AC-40AB-94C2-2C6EE7775D8A}"/>
              </a:ext>
            </a:extLst>
          </p:cNvPr>
          <p:cNvSpPr/>
          <p:nvPr/>
        </p:nvSpPr>
        <p:spPr>
          <a:xfrm>
            <a:off x="4668002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0DD8B8-94F1-4436-9741-790149801B4E}"/>
              </a:ext>
            </a:extLst>
          </p:cNvPr>
          <p:cNvSpPr/>
          <p:nvPr/>
        </p:nvSpPr>
        <p:spPr>
          <a:xfrm>
            <a:off x="4668002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3AFEF2C-9385-4810-B4C1-E61EAA815F23}"/>
              </a:ext>
            </a:extLst>
          </p:cNvPr>
          <p:cNvSpPr/>
          <p:nvPr/>
        </p:nvSpPr>
        <p:spPr>
          <a:xfrm>
            <a:off x="4668002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ED4CDA3-AE9A-463D-B547-2CD29741367D}"/>
              </a:ext>
            </a:extLst>
          </p:cNvPr>
          <p:cNvSpPr/>
          <p:nvPr/>
        </p:nvSpPr>
        <p:spPr>
          <a:xfrm>
            <a:off x="4668002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E874CF6-7771-45A2-9F87-15D77D610D4D}"/>
              </a:ext>
            </a:extLst>
          </p:cNvPr>
          <p:cNvSpPr/>
          <p:nvPr/>
        </p:nvSpPr>
        <p:spPr>
          <a:xfrm>
            <a:off x="4668002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0" y="1403811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3D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2389283" y="1299963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X-Z 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6516212" y="1272378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X-Y Projection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42DFA4-1195-447D-A1B6-53715A4BB718}"/>
              </a:ext>
            </a:extLst>
          </p:cNvPr>
          <p:cNvCxnSpPr>
            <a:cxnSpLocks/>
          </p:cNvCxnSpPr>
          <p:nvPr/>
        </p:nvCxnSpPr>
        <p:spPr>
          <a:xfrm flipV="1">
            <a:off x="94296" y="3279759"/>
            <a:ext cx="1635604" cy="1327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CFCA41E-A4B9-406F-873B-4EE6D659743F}"/>
              </a:ext>
            </a:extLst>
          </p:cNvPr>
          <p:cNvCxnSpPr/>
          <p:nvPr/>
        </p:nvCxnSpPr>
        <p:spPr>
          <a:xfrm>
            <a:off x="2514600" y="174315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B819E32-C57D-414F-804C-1647B957E69B}"/>
              </a:ext>
            </a:extLst>
          </p:cNvPr>
          <p:cNvCxnSpPr>
            <a:cxnSpLocks/>
          </p:cNvCxnSpPr>
          <p:nvPr/>
        </p:nvCxnSpPr>
        <p:spPr>
          <a:xfrm>
            <a:off x="2496504" y="4562550"/>
            <a:ext cx="2438400" cy="4793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C7C862F-1852-4F87-8AAA-F97FFF71BF81}"/>
              </a:ext>
            </a:extLst>
          </p:cNvPr>
          <p:cNvCxnSpPr>
            <a:cxnSpLocks/>
          </p:cNvCxnSpPr>
          <p:nvPr/>
        </p:nvCxnSpPr>
        <p:spPr>
          <a:xfrm flipV="1">
            <a:off x="2496504" y="3235289"/>
            <a:ext cx="1635604" cy="13272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9CD65B7-9E7F-4E04-BAD0-B6B9AE896974}"/>
              </a:ext>
            </a:extLst>
          </p:cNvPr>
          <p:cNvCxnSpPr/>
          <p:nvPr/>
        </p:nvCxnSpPr>
        <p:spPr>
          <a:xfrm>
            <a:off x="4574698" y="1740624"/>
            <a:ext cx="0" cy="2819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B2A6F2C-22AF-41F9-B464-724FE8F70121}"/>
              </a:ext>
            </a:extLst>
          </p:cNvPr>
          <p:cNvCxnSpPr>
            <a:cxnSpLocks/>
          </p:cNvCxnSpPr>
          <p:nvPr/>
        </p:nvCxnSpPr>
        <p:spPr>
          <a:xfrm>
            <a:off x="4572000" y="4560024"/>
            <a:ext cx="2438400" cy="47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89992FE-3182-4311-AC52-4183EA747D3B}"/>
              </a:ext>
            </a:extLst>
          </p:cNvPr>
          <p:cNvCxnSpPr>
            <a:cxnSpLocks/>
          </p:cNvCxnSpPr>
          <p:nvPr/>
        </p:nvCxnSpPr>
        <p:spPr>
          <a:xfrm flipV="1">
            <a:off x="4572000" y="3232763"/>
            <a:ext cx="1635604" cy="13272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3689774-17D3-47E1-A9AD-748AEBBF73F6}"/>
              </a:ext>
            </a:extLst>
          </p:cNvPr>
          <p:cNvSpPr txBox="1"/>
          <p:nvPr/>
        </p:nvSpPr>
        <p:spPr>
          <a:xfrm>
            <a:off x="4632959" y="1501047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Y-Z Projection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28021F0-B926-4DFF-97DF-83A0DA3A43F9}"/>
              </a:ext>
            </a:extLst>
          </p:cNvPr>
          <p:cNvGrpSpPr/>
          <p:nvPr/>
        </p:nvGrpSpPr>
        <p:grpSpPr>
          <a:xfrm>
            <a:off x="5201825" y="2553936"/>
            <a:ext cx="568080" cy="475560"/>
            <a:chOff x="5201825" y="2553936"/>
            <a:chExt cx="568080" cy="47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D40F650-E405-4DEC-AC92-B3EDFD63C9CD}"/>
                    </a:ext>
                  </a:extLst>
                </p14:cNvPr>
                <p14:cNvContentPartPr/>
                <p14:nvPr/>
              </p14:nvContentPartPr>
              <p14:xfrm>
                <a:off x="5201825" y="2764536"/>
                <a:ext cx="232200" cy="264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D40F650-E405-4DEC-AC92-B3EDFD63C9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193185" y="2755536"/>
                  <a:ext cx="24984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4D6FB2-30D6-4EA9-B15A-0CB955B4B675}"/>
                    </a:ext>
                  </a:extLst>
                </p14:cNvPr>
                <p14:cNvContentPartPr/>
                <p14:nvPr/>
              </p14:nvContentPartPr>
              <p14:xfrm>
                <a:off x="5478305" y="2711256"/>
                <a:ext cx="93240" cy="200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4D6FB2-30D6-4EA9-B15A-0CB955B4B6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69305" y="2702256"/>
                  <a:ext cx="110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22251AB-5E55-4F2A-80A5-1520DA2E0CCA}"/>
                    </a:ext>
                  </a:extLst>
                </p14:cNvPr>
                <p14:cNvContentPartPr/>
                <p14:nvPr/>
              </p14:nvContentPartPr>
              <p14:xfrm>
                <a:off x="5501705" y="2553936"/>
                <a:ext cx="268200" cy="324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22251AB-5E55-4F2A-80A5-1520DA2E0CC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92705" y="2544936"/>
                  <a:ext cx="285840" cy="34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48144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94296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94296" y="4607020"/>
            <a:ext cx="2438400" cy="47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443441" y="386090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431303" y="368929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269193" y="334656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263124" y="315927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397722" y="23432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427999" y="345800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392665" y="29093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545065" y="325283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413502" y="327104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512159" y="290386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502719" y="265453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392665" y="302592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392665" y="27426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397723" y="25240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763C06-9E53-412A-8D79-6B041975A7B5}"/>
              </a:ext>
            </a:extLst>
          </p:cNvPr>
          <p:cNvSpPr/>
          <p:nvPr/>
        </p:nvSpPr>
        <p:spPr>
          <a:xfrm>
            <a:off x="3699924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4A1F27-E147-4017-9BC8-F5BDAAC4E03B}"/>
              </a:ext>
            </a:extLst>
          </p:cNvPr>
          <p:cNvSpPr/>
          <p:nvPr/>
        </p:nvSpPr>
        <p:spPr>
          <a:xfrm>
            <a:off x="368778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AA1F4B-0811-4D84-AB42-653B41CC5A4F}"/>
              </a:ext>
            </a:extLst>
          </p:cNvPr>
          <p:cNvSpPr/>
          <p:nvPr/>
        </p:nvSpPr>
        <p:spPr>
          <a:xfrm>
            <a:off x="352567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9DA44F-0DCE-4F39-9634-62F549FB5ABF}"/>
              </a:ext>
            </a:extLst>
          </p:cNvPr>
          <p:cNvSpPr/>
          <p:nvPr/>
        </p:nvSpPr>
        <p:spPr>
          <a:xfrm>
            <a:off x="3519607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CA03B1-9D89-46A7-B83D-A7A3BEE672D6}"/>
              </a:ext>
            </a:extLst>
          </p:cNvPr>
          <p:cNvSpPr/>
          <p:nvPr/>
        </p:nvSpPr>
        <p:spPr>
          <a:xfrm>
            <a:off x="3654205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F1A667-A052-4553-BD9A-D359B2F305C5}"/>
              </a:ext>
            </a:extLst>
          </p:cNvPr>
          <p:cNvSpPr/>
          <p:nvPr/>
        </p:nvSpPr>
        <p:spPr>
          <a:xfrm>
            <a:off x="368448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0B39FA-ED64-46DB-B014-4DF661B7AB66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CEDC62-94F7-405B-B316-0AB94D1B36BD}"/>
              </a:ext>
            </a:extLst>
          </p:cNvPr>
          <p:cNvSpPr/>
          <p:nvPr/>
        </p:nvSpPr>
        <p:spPr>
          <a:xfrm>
            <a:off x="38015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16A019-97E9-4FF2-8BBF-2281C8F60287}"/>
              </a:ext>
            </a:extLst>
          </p:cNvPr>
          <p:cNvSpPr/>
          <p:nvPr/>
        </p:nvSpPr>
        <p:spPr>
          <a:xfrm>
            <a:off x="3669985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BE70F2-D559-4783-9BE5-711B9F4DFD06}"/>
              </a:ext>
            </a:extLst>
          </p:cNvPr>
          <p:cNvSpPr/>
          <p:nvPr/>
        </p:nvSpPr>
        <p:spPr>
          <a:xfrm>
            <a:off x="376864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D3646F3-1A5E-4AFE-A7B8-6813FA2142B5}"/>
              </a:ext>
            </a:extLst>
          </p:cNvPr>
          <p:cNvSpPr/>
          <p:nvPr/>
        </p:nvSpPr>
        <p:spPr>
          <a:xfrm>
            <a:off x="375920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7C128-D4DC-4049-B662-71E4C978C2FB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DDF984-8FC5-4A55-B816-0342BF87ABD1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1767C3-8044-45D5-9406-745F9B8D5E2F}"/>
              </a:ext>
            </a:extLst>
          </p:cNvPr>
          <p:cNvSpPr/>
          <p:nvPr/>
        </p:nvSpPr>
        <p:spPr>
          <a:xfrm>
            <a:off x="365420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C71967-1924-42F4-92FB-B144A9E4CDD1}"/>
              </a:ext>
            </a:extLst>
          </p:cNvPr>
          <p:cNvSpPr/>
          <p:nvPr/>
        </p:nvSpPr>
        <p:spPr>
          <a:xfrm>
            <a:off x="4668002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5689976-1A3A-4BFC-A9F9-1C6102CC8BC3}"/>
              </a:ext>
            </a:extLst>
          </p:cNvPr>
          <p:cNvSpPr/>
          <p:nvPr/>
        </p:nvSpPr>
        <p:spPr>
          <a:xfrm>
            <a:off x="4668002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837FD97-9EAD-433A-A10F-97CDD048A621}"/>
              </a:ext>
            </a:extLst>
          </p:cNvPr>
          <p:cNvSpPr/>
          <p:nvPr/>
        </p:nvSpPr>
        <p:spPr>
          <a:xfrm>
            <a:off x="4668002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515E54D-1389-489F-91D1-8E915E1FE608}"/>
              </a:ext>
            </a:extLst>
          </p:cNvPr>
          <p:cNvSpPr/>
          <p:nvPr/>
        </p:nvSpPr>
        <p:spPr>
          <a:xfrm>
            <a:off x="4668002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5F769E5-96E2-4434-8041-F06617AD9BA3}"/>
              </a:ext>
            </a:extLst>
          </p:cNvPr>
          <p:cNvSpPr/>
          <p:nvPr/>
        </p:nvSpPr>
        <p:spPr>
          <a:xfrm>
            <a:off x="4676230" y="225445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CE8D404-5171-41F8-8F20-6D3CC2E7AB66}"/>
              </a:ext>
            </a:extLst>
          </p:cNvPr>
          <p:cNvSpPr/>
          <p:nvPr/>
        </p:nvSpPr>
        <p:spPr>
          <a:xfrm>
            <a:off x="4668002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6D4C2BA-2EC1-488E-BB7D-9B3A52D2680C}"/>
              </a:ext>
            </a:extLst>
          </p:cNvPr>
          <p:cNvSpPr/>
          <p:nvPr/>
        </p:nvSpPr>
        <p:spPr>
          <a:xfrm>
            <a:off x="4668002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6FA4C9-9DE8-453E-980D-FADA71051E78}"/>
              </a:ext>
            </a:extLst>
          </p:cNvPr>
          <p:cNvSpPr/>
          <p:nvPr/>
        </p:nvSpPr>
        <p:spPr>
          <a:xfrm>
            <a:off x="4668002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58F074E-71CC-496F-90D8-1661022CD793}"/>
              </a:ext>
            </a:extLst>
          </p:cNvPr>
          <p:cNvSpPr/>
          <p:nvPr/>
        </p:nvSpPr>
        <p:spPr>
          <a:xfrm>
            <a:off x="4668002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D3C49A6-C3AC-40AB-94C2-2C6EE7775D8A}"/>
              </a:ext>
            </a:extLst>
          </p:cNvPr>
          <p:cNvSpPr/>
          <p:nvPr/>
        </p:nvSpPr>
        <p:spPr>
          <a:xfrm>
            <a:off x="4668002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0DD8B8-94F1-4436-9741-790149801B4E}"/>
              </a:ext>
            </a:extLst>
          </p:cNvPr>
          <p:cNvSpPr/>
          <p:nvPr/>
        </p:nvSpPr>
        <p:spPr>
          <a:xfrm>
            <a:off x="4668002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3AFEF2C-9385-4810-B4C1-E61EAA815F23}"/>
              </a:ext>
            </a:extLst>
          </p:cNvPr>
          <p:cNvSpPr/>
          <p:nvPr/>
        </p:nvSpPr>
        <p:spPr>
          <a:xfrm>
            <a:off x="4668002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ED4CDA3-AE9A-463D-B547-2CD29741367D}"/>
              </a:ext>
            </a:extLst>
          </p:cNvPr>
          <p:cNvSpPr/>
          <p:nvPr/>
        </p:nvSpPr>
        <p:spPr>
          <a:xfrm>
            <a:off x="4668002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E874CF6-7771-45A2-9F87-15D77D610D4D}"/>
              </a:ext>
            </a:extLst>
          </p:cNvPr>
          <p:cNvSpPr/>
          <p:nvPr/>
        </p:nvSpPr>
        <p:spPr>
          <a:xfrm>
            <a:off x="4668002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0" y="1403811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3D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2389283" y="1299963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X-Z 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6516212" y="1272378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X-Y Projection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42DFA4-1195-447D-A1B6-53715A4BB718}"/>
              </a:ext>
            </a:extLst>
          </p:cNvPr>
          <p:cNvCxnSpPr>
            <a:cxnSpLocks/>
          </p:cNvCxnSpPr>
          <p:nvPr/>
        </p:nvCxnSpPr>
        <p:spPr>
          <a:xfrm flipV="1">
            <a:off x="94296" y="3279759"/>
            <a:ext cx="1635604" cy="1327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CFCA41E-A4B9-406F-873B-4EE6D659743F}"/>
              </a:ext>
            </a:extLst>
          </p:cNvPr>
          <p:cNvCxnSpPr/>
          <p:nvPr/>
        </p:nvCxnSpPr>
        <p:spPr>
          <a:xfrm>
            <a:off x="2514600" y="174315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B819E32-C57D-414F-804C-1647B957E69B}"/>
              </a:ext>
            </a:extLst>
          </p:cNvPr>
          <p:cNvCxnSpPr>
            <a:cxnSpLocks/>
          </p:cNvCxnSpPr>
          <p:nvPr/>
        </p:nvCxnSpPr>
        <p:spPr>
          <a:xfrm>
            <a:off x="2496504" y="4562550"/>
            <a:ext cx="2438400" cy="4793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C7C862F-1852-4F87-8AAA-F97FFF71BF81}"/>
              </a:ext>
            </a:extLst>
          </p:cNvPr>
          <p:cNvCxnSpPr>
            <a:cxnSpLocks/>
          </p:cNvCxnSpPr>
          <p:nvPr/>
        </p:nvCxnSpPr>
        <p:spPr>
          <a:xfrm flipV="1">
            <a:off x="2496504" y="3235289"/>
            <a:ext cx="1635604" cy="13272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9CD65B7-9E7F-4E04-BAD0-B6B9AE896974}"/>
              </a:ext>
            </a:extLst>
          </p:cNvPr>
          <p:cNvCxnSpPr/>
          <p:nvPr/>
        </p:nvCxnSpPr>
        <p:spPr>
          <a:xfrm>
            <a:off x="4574698" y="1740624"/>
            <a:ext cx="0" cy="2819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B2A6F2C-22AF-41F9-B464-724FE8F70121}"/>
              </a:ext>
            </a:extLst>
          </p:cNvPr>
          <p:cNvCxnSpPr>
            <a:cxnSpLocks/>
          </p:cNvCxnSpPr>
          <p:nvPr/>
        </p:nvCxnSpPr>
        <p:spPr>
          <a:xfrm>
            <a:off x="4572000" y="4560024"/>
            <a:ext cx="2438400" cy="47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89992FE-3182-4311-AC52-4183EA747D3B}"/>
              </a:ext>
            </a:extLst>
          </p:cNvPr>
          <p:cNvCxnSpPr>
            <a:cxnSpLocks/>
          </p:cNvCxnSpPr>
          <p:nvPr/>
        </p:nvCxnSpPr>
        <p:spPr>
          <a:xfrm flipV="1">
            <a:off x="4572000" y="3232763"/>
            <a:ext cx="1635604" cy="13272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D840FBE-F704-4374-9FAE-EFFCE7BC8909}"/>
              </a:ext>
            </a:extLst>
          </p:cNvPr>
          <p:cNvCxnSpPr/>
          <p:nvPr/>
        </p:nvCxnSpPr>
        <p:spPr>
          <a:xfrm>
            <a:off x="6607653" y="1784627"/>
            <a:ext cx="0" cy="2819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F0CD41-821B-4853-8483-C2B53F2D4780}"/>
              </a:ext>
            </a:extLst>
          </p:cNvPr>
          <p:cNvCxnSpPr>
            <a:cxnSpLocks/>
          </p:cNvCxnSpPr>
          <p:nvPr/>
        </p:nvCxnSpPr>
        <p:spPr>
          <a:xfrm>
            <a:off x="6607653" y="4604027"/>
            <a:ext cx="2438400" cy="4793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0A46C9B-EE88-42BD-A269-D6A0059847E0}"/>
              </a:ext>
            </a:extLst>
          </p:cNvPr>
          <p:cNvCxnSpPr>
            <a:cxnSpLocks/>
          </p:cNvCxnSpPr>
          <p:nvPr/>
        </p:nvCxnSpPr>
        <p:spPr>
          <a:xfrm flipV="1">
            <a:off x="6607653" y="3276766"/>
            <a:ext cx="1635604" cy="1327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3689774-17D3-47E1-A9AD-748AEBBF73F6}"/>
              </a:ext>
            </a:extLst>
          </p:cNvPr>
          <p:cNvSpPr txBox="1"/>
          <p:nvPr/>
        </p:nvSpPr>
        <p:spPr>
          <a:xfrm>
            <a:off x="4632959" y="1501047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Y-Z Projection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40D546-E67A-4906-928E-DC66FF752BEF}"/>
              </a:ext>
            </a:extLst>
          </p:cNvPr>
          <p:cNvSpPr/>
          <p:nvPr/>
        </p:nvSpPr>
        <p:spPr>
          <a:xfrm>
            <a:off x="7159141" y="462714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5504CD5-AF25-4329-9A24-E8E6752D8DDF}"/>
              </a:ext>
            </a:extLst>
          </p:cNvPr>
          <p:cNvSpPr/>
          <p:nvPr/>
        </p:nvSpPr>
        <p:spPr>
          <a:xfrm>
            <a:off x="7147003" y="445554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AB62635-5EBB-4EB8-8C5F-685E27F144B8}"/>
              </a:ext>
            </a:extLst>
          </p:cNvPr>
          <p:cNvSpPr/>
          <p:nvPr/>
        </p:nvSpPr>
        <p:spPr>
          <a:xfrm>
            <a:off x="6984893" y="411281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500A52D-D9FA-4F45-AE44-DDB81170D51F}"/>
              </a:ext>
            </a:extLst>
          </p:cNvPr>
          <p:cNvSpPr/>
          <p:nvPr/>
        </p:nvSpPr>
        <p:spPr>
          <a:xfrm>
            <a:off x="6978824" y="3925517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6915C41-2E10-45C6-8218-9ADF27E8EA68}"/>
              </a:ext>
            </a:extLst>
          </p:cNvPr>
          <p:cNvSpPr/>
          <p:nvPr/>
        </p:nvSpPr>
        <p:spPr>
          <a:xfrm>
            <a:off x="7113422" y="31094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A60A8DD-FC16-4DA4-813A-1FAB372F9A23}"/>
              </a:ext>
            </a:extLst>
          </p:cNvPr>
          <p:cNvSpPr/>
          <p:nvPr/>
        </p:nvSpPr>
        <p:spPr>
          <a:xfrm>
            <a:off x="7143699" y="4224248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FB36688-CF58-4EAA-917E-B8BD83B5CFB9}"/>
              </a:ext>
            </a:extLst>
          </p:cNvPr>
          <p:cNvSpPr/>
          <p:nvPr/>
        </p:nvSpPr>
        <p:spPr>
          <a:xfrm>
            <a:off x="7108365" y="3675578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FBEE8D6-E3B5-49DB-BA5B-BF65E3863D64}"/>
              </a:ext>
            </a:extLst>
          </p:cNvPr>
          <p:cNvSpPr/>
          <p:nvPr/>
        </p:nvSpPr>
        <p:spPr>
          <a:xfrm>
            <a:off x="7260765" y="401908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98CE7C2-5E4B-40BE-9045-EF5F02417877}"/>
              </a:ext>
            </a:extLst>
          </p:cNvPr>
          <p:cNvSpPr/>
          <p:nvPr/>
        </p:nvSpPr>
        <p:spPr>
          <a:xfrm>
            <a:off x="7129202" y="4037288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3261BB3-110F-4F07-9EF3-2010765570A7}"/>
              </a:ext>
            </a:extLst>
          </p:cNvPr>
          <p:cNvSpPr/>
          <p:nvPr/>
        </p:nvSpPr>
        <p:spPr>
          <a:xfrm>
            <a:off x="7227859" y="36701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14310E3-6B9F-4C4D-B8A3-69475B145302}"/>
              </a:ext>
            </a:extLst>
          </p:cNvPr>
          <p:cNvSpPr/>
          <p:nvPr/>
        </p:nvSpPr>
        <p:spPr>
          <a:xfrm>
            <a:off x="7218419" y="342077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4B778E9-588E-455C-A8EE-BBABD96FCC61}"/>
              </a:ext>
            </a:extLst>
          </p:cNvPr>
          <p:cNvSpPr/>
          <p:nvPr/>
        </p:nvSpPr>
        <p:spPr>
          <a:xfrm>
            <a:off x="7108365" y="379216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B0CF96B-7D11-46D9-97D6-928C131E5F3D}"/>
              </a:ext>
            </a:extLst>
          </p:cNvPr>
          <p:cNvSpPr/>
          <p:nvPr/>
        </p:nvSpPr>
        <p:spPr>
          <a:xfrm>
            <a:off x="7108365" y="35089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62A49D2-0D27-4BD9-A118-B9DC9C4AE710}"/>
              </a:ext>
            </a:extLst>
          </p:cNvPr>
          <p:cNvSpPr/>
          <p:nvPr/>
        </p:nvSpPr>
        <p:spPr>
          <a:xfrm>
            <a:off x="7113423" y="32903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57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84A24-8E0E-458C-BC9A-02CDF149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Consider the following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0AA23D-961C-4EC8-9CBB-F2289B97C506}"/>
              </a:ext>
            </a:extLst>
          </p:cNvPr>
          <p:cNvCxnSpPr/>
          <p:nvPr/>
        </p:nvCxnSpPr>
        <p:spPr>
          <a:xfrm>
            <a:off x="94296" y="178762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00C09C-A143-4EC1-B2CA-A0C113196914}"/>
              </a:ext>
            </a:extLst>
          </p:cNvPr>
          <p:cNvCxnSpPr>
            <a:cxnSpLocks/>
          </p:cNvCxnSpPr>
          <p:nvPr/>
        </p:nvCxnSpPr>
        <p:spPr>
          <a:xfrm>
            <a:off x="94296" y="4607020"/>
            <a:ext cx="2438400" cy="47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7F2FD63-D4D1-43F2-AA0B-C69BB13904FB}"/>
              </a:ext>
            </a:extLst>
          </p:cNvPr>
          <p:cNvSpPr/>
          <p:nvPr/>
        </p:nvSpPr>
        <p:spPr>
          <a:xfrm>
            <a:off x="1443441" y="386090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739721-050B-4147-8395-675AF4D50E4C}"/>
              </a:ext>
            </a:extLst>
          </p:cNvPr>
          <p:cNvSpPr/>
          <p:nvPr/>
        </p:nvSpPr>
        <p:spPr>
          <a:xfrm>
            <a:off x="1431303" y="368929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9AB036-ADA3-48F0-8DCE-A9D2F466FD31}"/>
              </a:ext>
            </a:extLst>
          </p:cNvPr>
          <p:cNvSpPr/>
          <p:nvPr/>
        </p:nvSpPr>
        <p:spPr>
          <a:xfrm>
            <a:off x="1269193" y="334656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5074172-2650-4575-9DA7-AA402B72A3F2}"/>
              </a:ext>
            </a:extLst>
          </p:cNvPr>
          <p:cNvSpPr/>
          <p:nvPr/>
        </p:nvSpPr>
        <p:spPr>
          <a:xfrm>
            <a:off x="1263124" y="315927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4DC1AD-947E-4A9D-9253-9A5B3DEBBDBB}"/>
              </a:ext>
            </a:extLst>
          </p:cNvPr>
          <p:cNvSpPr/>
          <p:nvPr/>
        </p:nvSpPr>
        <p:spPr>
          <a:xfrm>
            <a:off x="1397722" y="23432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94B650-A846-437D-82E9-D8A539CFB6CD}"/>
              </a:ext>
            </a:extLst>
          </p:cNvPr>
          <p:cNvSpPr/>
          <p:nvPr/>
        </p:nvSpPr>
        <p:spPr>
          <a:xfrm>
            <a:off x="1427999" y="345800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40908-9B2B-410E-BABE-A8556EF14250}"/>
              </a:ext>
            </a:extLst>
          </p:cNvPr>
          <p:cNvSpPr/>
          <p:nvPr/>
        </p:nvSpPr>
        <p:spPr>
          <a:xfrm>
            <a:off x="1392665" y="29093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E05439-A502-4EF4-95E0-508ED103A569}"/>
              </a:ext>
            </a:extLst>
          </p:cNvPr>
          <p:cNvSpPr/>
          <p:nvPr/>
        </p:nvSpPr>
        <p:spPr>
          <a:xfrm>
            <a:off x="1545065" y="325283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A1BE9-91B6-475F-BEB2-340C8FC2B5BF}"/>
              </a:ext>
            </a:extLst>
          </p:cNvPr>
          <p:cNvSpPr/>
          <p:nvPr/>
        </p:nvSpPr>
        <p:spPr>
          <a:xfrm>
            <a:off x="1413502" y="327104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5BF530-82E2-44C5-9952-ACDE99C767CF}"/>
              </a:ext>
            </a:extLst>
          </p:cNvPr>
          <p:cNvSpPr/>
          <p:nvPr/>
        </p:nvSpPr>
        <p:spPr>
          <a:xfrm>
            <a:off x="1512159" y="290386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9B3744A-2DA1-4A86-8CC2-A1FB02A8EA17}"/>
              </a:ext>
            </a:extLst>
          </p:cNvPr>
          <p:cNvSpPr/>
          <p:nvPr/>
        </p:nvSpPr>
        <p:spPr>
          <a:xfrm>
            <a:off x="1502719" y="265453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4D4462-4A7E-4393-8F40-1581FBE114DC}"/>
              </a:ext>
            </a:extLst>
          </p:cNvPr>
          <p:cNvSpPr/>
          <p:nvPr/>
        </p:nvSpPr>
        <p:spPr>
          <a:xfrm>
            <a:off x="1392665" y="302592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16C90A9-E351-4135-A07A-B435C052D66A}"/>
              </a:ext>
            </a:extLst>
          </p:cNvPr>
          <p:cNvSpPr/>
          <p:nvPr/>
        </p:nvSpPr>
        <p:spPr>
          <a:xfrm>
            <a:off x="1392665" y="27426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76F0F36-FE80-4A27-A501-94F7388E5113}"/>
              </a:ext>
            </a:extLst>
          </p:cNvPr>
          <p:cNvSpPr/>
          <p:nvPr/>
        </p:nvSpPr>
        <p:spPr>
          <a:xfrm>
            <a:off x="1397723" y="252409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763C06-9E53-412A-8D79-6B041975A7B5}"/>
              </a:ext>
            </a:extLst>
          </p:cNvPr>
          <p:cNvSpPr/>
          <p:nvPr/>
        </p:nvSpPr>
        <p:spPr>
          <a:xfrm>
            <a:off x="3699924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44A1F27-E147-4017-9BC8-F5BDAAC4E03B}"/>
              </a:ext>
            </a:extLst>
          </p:cNvPr>
          <p:cNvSpPr/>
          <p:nvPr/>
        </p:nvSpPr>
        <p:spPr>
          <a:xfrm>
            <a:off x="368778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AA1F4B-0811-4D84-AB42-653B41CC5A4F}"/>
              </a:ext>
            </a:extLst>
          </p:cNvPr>
          <p:cNvSpPr/>
          <p:nvPr/>
        </p:nvSpPr>
        <p:spPr>
          <a:xfrm>
            <a:off x="352567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B9DA44F-0DCE-4F39-9634-62F549FB5ABF}"/>
              </a:ext>
            </a:extLst>
          </p:cNvPr>
          <p:cNvSpPr/>
          <p:nvPr/>
        </p:nvSpPr>
        <p:spPr>
          <a:xfrm>
            <a:off x="3519607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CA03B1-9D89-46A7-B83D-A7A3BEE672D6}"/>
              </a:ext>
            </a:extLst>
          </p:cNvPr>
          <p:cNvSpPr/>
          <p:nvPr/>
        </p:nvSpPr>
        <p:spPr>
          <a:xfrm>
            <a:off x="3654205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DF1A667-A052-4553-BD9A-D359B2F305C5}"/>
              </a:ext>
            </a:extLst>
          </p:cNvPr>
          <p:cNvSpPr/>
          <p:nvPr/>
        </p:nvSpPr>
        <p:spPr>
          <a:xfrm>
            <a:off x="368448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F0B39FA-ED64-46DB-B014-4DF661B7AB66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CEDC62-94F7-405B-B316-0AB94D1B36BD}"/>
              </a:ext>
            </a:extLst>
          </p:cNvPr>
          <p:cNvSpPr/>
          <p:nvPr/>
        </p:nvSpPr>
        <p:spPr>
          <a:xfrm>
            <a:off x="38015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16A019-97E9-4FF2-8BBF-2281C8F60287}"/>
              </a:ext>
            </a:extLst>
          </p:cNvPr>
          <p:cNvSpPr/>
          <p:nvPr/>
        </p:nvSpPr>
        <p:spPr>
          <a:xfrm>
            <a:off x="3669985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5BE70F2-D559-4783-9BE5-711B9F4DFD06}"/>
              </a:ext>
            </a:extLst>
          </p:cNvPr>
          <p:cNvSpPr/>
          <p:nvPr/>
        </p:nvSpPr>
        <p:spPr>
          <a:xfrm>
            <a:off x="376864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D3646F3-1A5E-4AFE-A7B8-6813FA2142B5}"/>
              </a:ext>
            </a:extLst>
          </p:cNvPr>
          <p:cNvSpPr/>
          <p:nvPr/>
        </p:nvSpPr>
        <p:spPr>
          <a:xfrm>
            <a:off x="3759202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D7C128-D4DC-4049-B662-71E4C978C2FB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ADDF984-8FC5-4A55-B816-0342BF87ABD1}"/>
              </a:ext>
            </a:extLst>
          </p:cNvPr>
          <p:cNvSpPr/>
          <p:nvPr/>
        </p:nvSpPr>
        <p:spPr>
          <a:xfrm>
            <a:off x="3649148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01767C3-8044-45D5-9406-745F9B8D5E2F}"/>
              </a:ext>
            </a:extLst>
          </p:cNvPr>
          <p:cNvSpPr/>
          <p:nvPr/>
        </p:nvSpPr>
        <p:spPr>
          <a:xfrm>
            <a:off x="3654206" y="432435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2C71967-1924-42F4-92FB-B144A9E4CDD1}"/>
              </a:ext>
            </a:extLst>
          </p:cNvPr>
          <p:cNvSpPr/>
          <p:nvPr/>
        </p:nvSpPr>
        <p:spPr>
          <a:xfrm>
            <a:off x="4668002" y="375599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5689976-1A3A-4BFC-A9F9-1C6102CC8BC3}"/>
              </a:ext>
            </a:extLst>
          </p:cNvPr>
          <p:cNvSpPr/>
          <p:nvPr/>
        </p:nvSpPr>
        <p:spPr>
          <a:xfrm>
            <a:off x="4668002" y="358438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837FD97-9EAD-433A-A10F-97CDD048A621}"/>
              </a:ext>
            </a:extLst>
          </p:cNvPr>
          <p:cNvSpPr/>
          <p:nvPr/>
        </p:nvSpPr>
        <p:spPr>
          <a:xfrm>
            <a:off x="4668002" y="324165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515E54D-1389-489F-91D1-8E915E1FE608}"/>
              </a:ext>
            </a:extLst>
          </p:cNvPr>
          <p:cNvSpPr/>
          <p:nvPr/>
        </p:nvSpPr>
        <p:spPr>
          <a:xfrm>
            <a:off x="4668002" y="3054362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5F769E5-96E2-4434-8041-F06617AD9BA3}"/>
              </a:ext>
            </a:extLst>
          </p:cNvPr>
          <p:cNvSpPr/>
          <p:nvPr/>
        </p:nvSpPr>
        <p:spPr>
          <a:xfrm>
            <a:off x="4676230" y="225445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CE8D404-5171-41F8-8F20-6D3CC2E7AB66}"/>
              </a:ext>
            </a:extLst>
          </p:cNvPr>
          <p:cNvSpPr/>
          <p:nvPr/>
        </p:nvSpPr>
        <p:spPr>
          <a:xfrm>
            <a:off x="4668002" y="335309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6D4C2BA-2EC1-488E-BB7D-9B3A52D2680C}"/>
              </a:ext>
            </a:extLst>
          </p:cNvPr>
          <p:cNvSpPr/>
          <p:nvPr/>
        </p:nvSpPr>
        <p:spPr>
          <a:xfrm>
            <a:off x="4668002" y="280442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36FA4C9-9DE8-453E-980D-FADA71051E78}"/>
              </a:ext>
            </a:extLst>
          </p:cNvPr>
          <p:cNvSpPr/>
          <p:nvPr/>
        </p:nvSpPr>
        <p:spPr>
          <a:xfrm>
            <a:off x="4668002" y="314792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58F074E-71CC-496F-90D8-1661022CD793}"/>
              </a:ext>
            </a:extLst>
          </p:cNvPr>
          <p:cNvSpPr/>
          <p:nvPr/>
        </p:nvSpPr>
        <p:spPr>
          <a:xfrm>
            <a:off x="4668002" y="3166133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D3C49A6-C3AC-40AB-94C2-2C6EE7775D8A}"/>
              </a:ext>
            </a:extLst>
          </p:cNvPr>
          <p:cNvSpPr/>
          <p:nvPr/>
        </p:nvSpPr>
        <p:spPr>
          <a:xfrm>
            <a:off x="4668002" y="279895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A0DD8B8-94F1-4436-9741-790149801B4E}"/>
              </a:ext>
            </a:extLst>
          </p:cNvPr>
          <p:cNvSpPr/>
          <p:nvPr/>
        </p:nvSpPr>
        <p:spPr>
          <a:xfrm>
            <a:off x="4668002" y="254962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3AFEF2C-9385-4810-B4C1-E61EAA815F23}"/>
              </a:ext>
            </a:extLst>
          </p:cNvPr>
          <p:cNvSpPr/>
          <p:nvPr/>
        </p:nvSpPr>
        <p:spPr>
          <a:xfrm>
            <a:off x="4668002" y="29210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ED4CDA3-AE9A-463D-B547-2CD29741367D}"/>
              </a:ext>
            </a:extLst>
          </p:cNvPr>
          <p:cNvSpPr/>
          <p:nvPr/>
        </p:nvSpPr>
        <p:spPr>
          <a:xfrm>
            <a:off x="4668002" y="26377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E874CF6-7771-45A2-9F87-15D77D610D4D}"/>
              </a:ext>
            </a:extLst>
          </p:cNvPr>
          <p:cNvSpPr/>
          <p:nvPr/>
        </p:nvSpPr>
        <p:spPr>
          <a:xfrm>
            <a:off x="4668002" y="24191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A310A85-10D8-47EC-8B73-5489A70C905F}"/>
              </a:ext>
            </a:extLst>
          </p:cNvPr>
          <p:cNvSpPr txBox="1"/>
          <p:nvPr/>
        </p:nvSpPr>
        <p:spPr>
          <a:xfrm>
            <a:off x="0" y="1403811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3D data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D0F3AEB-E2BB-4675-A5A7-C54DA9C9E061}"/>
              </a:ext>
            </a:extLst>
          </p:cNvPr>
          <p:cNvSpPr txBox="1"/>
          <p:nvPr/>
        </p:nvSpPr>
        <p:spPr>
          <a:xfrm>
            <a:off x="2389283" y="1299963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X-Z Projection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F8983D1-7DA1-4CF9-9527-C957507E1F70}"/>
              </a:ext>
            </a:extLst>
          </p:cNvPr>
          <p:cNvSpPr txBox="1"/>
          <p:nvPr/>
        </p:nvSpPr>
        <p:spPr>
          <a:xfrm>
            <a:off x="6516212" y="1272378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X-Y Projection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542DFA4-1195-447D-A1B6-53715A4BB718}"/>
              </a:ext>
            </a:extLst>
          </p:cNvPr>
          <p:cNvCxnSpPr>
            <a:cxnSpLocks/>
          </p:cNvCxnSpPr>
          <p:nvPr/>
        </p:nvCxnSpPr>
        <p:spPr>
          <a:xfrm flipV="1">
            <a:off x="94296" y="3279759"/>
            <a:ext cx="1635604" cy="1327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CFCA41E-A4B9-406F-873B-4EE6D659743F}"/>
              </a:ext>
            </a:extLst>
          </p:cNvPr>
          <p:cNvCxnSpPr/>
          <p:nvPr/>
        </p:nvCxnSpPr>
        <p:spPr>
          <a:xfrm>
            <a:off x="2514600" y="1743150"/>
            <a:ext cx="0" cy="2819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B819E32-C57D-414F-804C-1647B957E69B}"/>
              </a:ext>
            </a:extLst>
          </p:cNvPr>
          <p:cNvCxnSpPr>
            <a:cxnSpLocks/>
          </p:cNvCxnSpPr>
          <p:nvPr/>
        </p:nvCxnSpPr>
        <p:spPr>
          <a:xfrm>
            <a:off x="2496504" y="4562550"/>
            <a:ext cx="2438400" cy="4793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C7C862F-1852-4F87-8AAA-F97FFF71BF81}"/>
              </a:ext>
            </a:extLst>
          </p:cNvPr>
          <p:cNvCxnSpPr>
            <a:cxnSpLocks/>
          </p:cNvCxnSpPr>
          <p:nvPr/>
        </p:nvCxnSpPr>
        <p:spPr>
          <a:xfrm flipV="1">
            <a:off x="2496504" y="3235289"/>
            <a:ext cx="1635604" cy="13272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9CD65B7-9E7F-4E04-BAD0-B6B9AE896974}"/>
              </a:ext>
            </a:extLst>
          </p:cNvPr>
          <p:cNvCxnSpPr/>
          <p:nvPr/>
        </p:nvCxnSpPr>
        <p:spPr>
          <a:xfrm>
            <a:off x="4574698" y="1740624"/>
            <a:ext cx="0" cy="2819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B2A6F2C-22AF-41F9-B464-724FE8F70121}"/>
              </a:ext>
            </a:extLst>
          </p:cNvPr>
          <p:cNvCxnSpPr>
            <a:cxnSpLocks/>
          </p:cNvCxnSpPr>
          <p:nvPr/>
        </p:nvCxnSpPr>
        <p:spPr>
          <a:xfrm>
            <a:off x="4572000" y="4560024"/>
            <a:ext cx="2438400" cy="4793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89992FE-3182-4311-AC52-4183EA747D3B}"/>
              </a:ext>
            </a:extLst>
          </p:cNvPr>
          <p:cNvCxnSpPr>
            <a:cxnSpLocks/>
          </p:cNvCxnSpPr>
          <p:nvPr/>
        </p:nvCxnSpPr>
        <p:spPr>
          <a:xfrm flipV="1">
            <a:off x="4572000" y="3232763"/>
            <a:ext cx="1635604" cy="13272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D840FBE-F704-4374-9FAE-EFFCE7BC8909}"/>
              </a:ext>
            </a:extLst>
          </p:cNvPr>
          <p:cNvCxnSpPr/>
          <p:nvPr/>
        </p:nvCxnSpPr>
        <p:spPr>
          <a:xfrm>
            <a:off x="6607653" y="1784627"/>
            <a:ext cx="0" cy="2819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AF0CD41-821B-4853-8483-C2B53F2D4780}"/>
              </a:ext>
            </a:extLst>
          </p:cNvPr>
          <p:cNvCxnSpPr>
            <a:cxnSpLocks/>
          </p:cNvCxnSpPr>
          <p:nvPr/>
        </p:nvCxnSpPr>
        <p:spPr>
          <a:xfrm>
            <a:off x="6607653" y="4604027"/>
            <a:ext cx="2438400" cy="47933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0A46C9B-EE88-42BD-A269-D6A0059847E0}"/>
              </a:ext>
            </a:extLst>
          </p:cNvPr>
          <p:cNvCxnSpPr>
            <a:cxnSpLocks/>
          </p:cNvCxnSpPr>
          <p:nvPr/>
        </p:nvCxnSpPr>
        <p:spPr>
          <a:xfrm flipV="1">
            <a:off x="6607653" y="3276766"/>
            <a:ext cx="1635604" cy="1327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3689774-17D3-47E1-A9AD-748AEBBF73F6}"/>
              </a:ext>
            </a:extLst>
          </p:cNvPr>
          <p:cNvSpPr txBox="1"/>
          <p:nvPr/>
        </p:nvSpPr>
        <p:spPr>
          <a:xfrm>
            <a:off x="4632959" y="1501047"/>
            <a:ext cx="262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Y-Z Projection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40D546-E67A-4906-928E-DC66FF752BEF}"/>
              </a:ext>
            </a:extLst>
          </p:cNvPr>
          <p:cNvSpPr/>
          <p:nvPr/>
        </p:nvSpPr>
        <p:spPr>
          <a:xfrm>
            <a:off x="7159141" y="462714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5504CD5-AF25-4329-9A24-E8E6752D8DDF}"/>
              </a:ext>
            </a:extLst>
          </p:cNvPr>
          <p:cNvSpPr/>
          <p:nvPr/>
        </p:nvSpPr>
        <p:spPr>
          <a:xfrm>
            <a:off x="7147003" y="445554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AB62635-5EBB-4EB8-8C5F-685E27F144B8}"/>
              </a:ext>
            </a:extLst>
          </p:cNvPr>
          <p:cNvSpPr/>
          <p:nvPr/>
        </p:nvSpPr>
        <p:spPr>
          <a:xfrm>
            <a:off x="6984893" y="411281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500A52D-D9FA-4F45-AE44-DDB81170D51F}"/>
              </a:ext>
            </a:extLst>
          </p:cNvPr>
          <p:cNvSpPr/>
          <p:nvPr/>
        </p:nvSpPr>
        <p:spPr>
          <a:xfrm>
            <a:off x="6978824" y="3925517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36915C41-2E10-45C6-8218-9ADF27E8EA68}"/>
              </a:ext>
            </a:extLst>
          </p:cNvPr>
          <p:cNvSpPr/>
          <p:nvPr/>
        </p:nvSpPr>
        <p:spPr>
          <a:xfrm>
            <a:off x="7113422" y="3109489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A60A8DD-FC16-4DA4-813A-1FAB372F9A23}"/>
              </a:ext>
            </a:extLst>
          </p:cNvPr>
          <p:cNvSpPr/>
          <p:nvPr/>
        </p:nvSpPr>
        <p:spPr>
          <a:xfrm>
            <a:off x="7143699" y="4224248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CFB36688-CF58-4EAA-917E-B8BD83B5CFB9}"/>
              </a:ext>
            </a:extLst>
          </p:cNvPr>
          <p:cNvSpPr/>
          <p:nvPr/>
        </p:nvSpPr>
        <p:spPr>
          <a:xfrm>
            <a:off x="7108365" y="3675578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FBEE8D6-E3B5-49DB-BA5B-BF65E3863D64}"/>
              </a:ext>
            </a:extLst>
          </p:cNvPr>
          <p:cNvSpPr/>
          <p:nvPr/>
        </p:nvSpPr>
        <p:spPr>
          <a:xfrm>
            <a:off x="7260765" y="4019080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98CE7C2-5E4B-40BE-9045-EF5F02417877}"/>
              </a:ext>
            </a:extLst>
          </p:cNvPr>
          <p:cNvSpPr/>
          <p:nvPr/>
        </p:nvSpPr>
        <p:spPr>
          <a:xfrm>
            <a:off x="7129202" y="4037288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3261BB3-110F-4F07-9EF3-2010765570A7}"/>
              </a:ext>
            </a:extLst>
          </p:cNvPr>
          <p:cNvSpPr/>
          <p:nvPr/>
        </p:nvSpPr>
        <p:spPr>
          <a:xfrm>
            <a:off x="7227859" y="3670111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514310E3-6B9F-4C4D-B8A3-69475B145302}"/>
              </a:ext>
            </a:extLst>
          </p:cNvPr>
          <p:cNvSpPr/>
          <p:nvPr/>
        </p:nvSpPr>
        <p:spPr>
          <a:xfrm>
            <a:off x="7218419" y="3420775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4B778E9-588E-455C-A8EE-BBABD96FCC61}"/>
              </a:ext>
            </a:extLst>
          </p:cNvPr>
          <p:cNvSpPr/>
          <p:nvPr/>
        </p:nvSpPr>
        <p:spPr>
          <a:xfrm>
            <a:off x="7108365" y="3792166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B0CF96B-7D11-46D9-97D6-928C131E5F3D}"/>
              </a:ext>
            </a:extLst>
          </p:cNvPr>
          <p:cNvSpPr/>
          <p:nvPr/>
        </p:nvSpPr>
        <p:spPr>
          <a:xfrm>
            <a:off x="7108365" y="35089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62A49D2-0D27-4BD9-A118-B9DC9C4AE710}"/>
              </a:ext>
            </a:extLst>
          </p:cNvPr>
          <p:cNvSpPr/>
          <p:nvPr/>
        </p:nvSpPr>
        <p:spPr>
          <a:xfrm>
            <a:off x="7113423" y="3290344"/>
            <a:ext cx="45719" cy="76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EFC17C5-A031-482E-9154-AC0102DBCF9F}"/>
              </a:ext>
            </a:extLst>
          </p:cNvPr>
          <p:cNvSpPr txBox="1"/>
          <p:nvPr/>
        </p:nvSpPr>
        <p:spPr>
          <a:xfrm rot="587735">
            <a:off x="7111019" y="1810376"/>
            <a:ext cx="18287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Which projection is more representative of the original data?</a:t>
            </a:r>
          </a:p>
        </p:txBody>
      </p:sp>
    </p:spTree>
    <p:extLst>
      <p:ext uri="{BB962C8B-B14F-4D97-AF65-F5344CB8AC3E}">
        <p14:creationId xmlns:p14="http://schemas.microsoft.com/office/powerpoint/2010/main" val="3686673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A021-DD0A-4AD2-BBF1-09B4AC1D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70BA8-D2E4-41C5-B3D4-475D399A578F}"/>
              </a:ext>
            </a:extLst>
          </p:cNvPr>
          <p:cNvSpPr txBox="1"/>
          <p:nvPr/>
        </p:nvSpPr>
        <p:spPr>
          <a:xfrm>
            <a:off x="228600" y="1276350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 need to keep data with large variance (more information)</a:t>
            </a:r>
          </a:p>
        </p:txBody>
      </p:sp>
    </p:spTree>
    <p:extLst>
      <p:ext uri="{BB962C8B-B14F-4D97-AF65-F5344CB8AC3E}">
        <p14:creationId xmlns:p14="http://schemas.microsoft.com/office/powerpoint/2010/main" val="5007803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109085" cy="5435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6725" marR="5080" indent="-454025">
              <a:lnSpc>
                <a:spcPct val="78900"/>
              </a:lnSpc>
              <a:spcBef>
                <a:spcPts val="58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What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do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we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mean 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for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dimensionality  reduction?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304" y="1731264"/>
            <a:ext cx="4646930" cy="255428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520700" marR="68580" indent="-457200">
              <a:lnSpc>
                <a:spcPct val="78800"/>
              </a:lnSpc>
              <a:spcBef>
                <a:spcPts val="530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20065" algn="l"/>
                <a:tab pos="5207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Imagine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</a:t>
            </a:r>
            <a:r>
              <a:rPr sz="1700" spc="-20" dirty="0">
                <a:solidFill>
                  <a:srgbClr val="000090"/>
                </a:solidFill>
                <a:latin typeface="Calibri"/>
                <a:cs typeface="Calibri"/>
              </a:rPr>
              <a:t>have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data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right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plot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over 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two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variables, </a:t>
            </a:r>
            <a:r>
              <a:rPr sz="1700" i="1" dirty="0">
                <a:solidFill>
                  <a:srgbClr val="000090"/>
                </a:solidFill>
                <a:latin typeface="Calibri"/>
                <a:cs typeface="Calibri"/>
              </a:rPr>
              <a:t>v</a:t>
            </a:r>
            <a:r>
              <a:rPr sz="1650" i="1" baseline="-15151" dirty="0">
                <a:solidFill>
                  <a:srgbClr val="000090"/>
                </a:solidFill>
                <a:latin typeface="Calibri"/>
                <a:cs typeface="Calibri"/>
              </a:rPr>
              <a:t>1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and</a:t>
            </a:r>
            <a:r>
              <a:rPr sz="1700" spc="-8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i="1" spc="5" dirty="0">
                <a:solidFill>
                  <a:srgbClr val="000090"/>
                </a:solidFill>
                <a:latin typeface="Calibri"/>
                <a:cs typeface="Calibri"/>
              </a:rPr>
              <a:t>v</a:t>
            </a:r>
            <a:r>
              <a:rPr sz="1650" i="1" spc="7" baseline="-15151" dirty="0">
                <a:solidFill>
                  <a:srgbClr val="000090"/>
                </a:solidFill>
                <a:latin typeface="Calibri"/>
                <a:cs typeface="Calibri"/>
              </a:rPr>
              <a:t>2</a:t>
            </a:r>
            <a:r>
              <a:rPr sz="1700" spc="5" dirty="0">
                <a:solidFill>
                  <a:srgbClr val="000090"/>
                </a:solidFill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520700" marR="108585" indent="-457200">
              <a:lnSpc>
                <a:spcPts val="1700"/>
              </a:lnSpc>
              <a:spcBef>
                <a:spcPts val="509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20065" algn="l"/>
                <a:tab pos="5207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Imagine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we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want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reduce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our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problem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so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use only one</a:t>
            </a:r>
            <a:r>
              <a:rPr sz="1700" spc="2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variable.</a:t>
            </a:r>
            <a:endParaRPr sz="1700" dirty="0"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Data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right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plot has high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entropy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(</a:t>
            </a:r>
            <a:r>
              <a:rPr sz="1700" i="1" dirty="0">
                <a:solidFill>
                  <a:srgbClr val="3366FF"/>
                </a:solidFill>
                <a:latin typeface="Calibri"/>
                <a:cs typeface="Calibri"/>
              </a:rPr>
              <a:t>high  disorder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)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and it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cannot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be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compressed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into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a 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lower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dimensionality space without losing 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information.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0495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Dimensionality</a:t>
            </a:r>
            <a:r>
              <a:rPr spc="-60" dirty="0"/>
              <a:t> </a:t>
            </a:r>
            <a:r>
              <a:rPr spc="-5" dirty="0"/>
              <a:t>reduction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33410" y="1270131"/>
            <a:ext cx="2871470" cy="2506345"/>
            <a:chOff x="5933410" y="1270131"/>
            <a:chExt cx="2871470" cy="2506345"/>
          </a:xfrm>
        </p:grpSpPr>
        <p:sp>
          <p:nvSpPr>
            <p:cNvPr id="6" name="object 6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397781"/>
                  </a:moveTo>
                  <a:lnTo>
                    <a:pt x="2829810" y="2397781"/>
                  </a:lnTo>
                </a:path>
                <a:path w="2830195" h="2464435">
                  <a:moveTo>
                    <a:pt x="0" y="1668320"/>
                  </a:moveTo>
                  <a:lnTo>
                    <a:pt x="2829810" y="1668320"/>
                  </a:lnTo>
                </a:path>
                <a:path w="2830195" h="2464435">
                  <a:moveTo>
                    <a:pt x="0" y="938732"/>
                  </a:moveTo>
                  <a:lnTo>
                    <a:pt x="2829810" y="938732"/>
                  </a:lnTo>
                </a:path>
                <a:path w="2830195" h="2464435">
                  <a:moveTo>
                    <a:pt x="0" y="209144"/>
                  </a:moveTo>
                  <a:lnTo>
                    <a:pt x="2829810" y="209144"/>
                  </a:lnTo>
                </a:path>
                <a:path w="2830195" h="2464435">
                  <a:moveTo>
                    <a:pt x="315879" y="2464316"/>
                  </a:moveTo>
                  <a:lnTo>
                    <a:pt x="315879" y="0"/>
                  </a:lnTo>
                </a:path>
                <a:path w="2830195" h="2464435">
                  <a:moveTo>
                    <a:pt x="778312" y="2464316"/>
                  </a:moveTo>
                  <a:lnTo>
                    <a:pt x="778312" y="0"/>
                  </a:lnTo>
                </a:path>
                <a:path w="2830195" h="2464435">
                  <a:moveTo>
                    <a:pt x="1240618" y="2464316"/>
                  </a:moveTo>
                  <a:lnTo>
                    <a:pt x="1240618" y="0"/>
                  </a:lnTo>
                </a:path>
                <a:path w="2830195" h="2464435">
                  <a:moveTo>
                    <a:pt x="1703051" y="2464316"/>
                  </a:moveTo>
                  <a:lnTo>
                    <a:pt x="1703051" y="0"/>
                  </a:lnTo>
                </a:path>
                <a:path w="2830195" h="2464435">
                  <a:moveTo>
                    <a:pt x="2165484" y="2464316"/>
                  </a:moveTo>
                  <a:lnTo>
                    <a:pt x="2165484" y="0"/>
                  </a:lnTo>
                </a:path>
                <a:path w="2830195" h="2464435">
                  <a:moveTo>
                    <a:pt x="2627789" y="2464316"/>
                  </a:moveTo>
                  <a:lnTo>
                    <a:pt x="2627789" y="0"/>
                  </a:lnTo>
                </a:path>
              </a:pathLst>
            </a:custGeom>
            <a:ln w="3434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033051"/>
                  </a:moveTo>
                  <a:lnTo>
                    <a:pt x="2829810" y="2033051"/>
                  </a:lnTo>
                </a:path>
                <a:path w="2830195" h="2464435">
                  <a:moveTo>
                    <a:pt x="0" y="1303463"/>
                  </a:moveTo>
                  <a:lnTo>
                    <a:pt x="2829810" y="1303463"/>
                  </a:lnTo>
                </a:path>
                <a:path w="2830195" h="2464435">
                  <a:moveTo>
                    <a:pt x="0" y="574002"/>
                  </a:moveTo>
                  <a:lnTo>
                    <a:pt x="2829810" y="574002"/>
                  </a:lnTo>
                </a:path>
                <a:path w="2830195" h="2464435">
                  <a:moveTo>
                    <a:pt x="84726" y="2464316"/>
                  </a:moveTo>
                  <a:lnTo>
                    <a:pt x="84726" y="0"/>
                  </a:lnTo>
                </a:path>
                <a:path w="2830195" h="2464435">
                  <a:moveTo>
                    <a:pt x="547032" y="2464316"/>
                  </a:moveTo>
                  <a:lnTo>
                    <a:pt x="547032" y="0"/>
                  </a:lnTo>
                </a:path>
                <a:path w="2830195" h="2464435">
                  <a:moveTo>
                    <a:pt x="1009465" y="2464316"/>
                  </a:moveTo>
                  <a:lnTo>
                    <a:pt x="1009465" y="0"/>
                  </a:lnTo>
                </a:path>
                <a:path w="2830195" h="2464435">
                  <a:moveTo>
                    <a:pt x="1471898" y="2464316"/>
                  </a:moveTo>
                  <a:lnTo>
                    <a:pt x="1471898" y="0"/>
                  </a:lnTo>
                </a:path>
                <a:path w="2830195" h="2464435">
                  <a:moveTo>
                    <a:pt x="1934203" y="2464316"/>
                  </a:moveTo>
                  <a:lnTo>
                    <a:pt x="1934203" y="0"/>
                  </a:lnTo>
                </a:path>
                <a:path w="2830195" h="2464435">
                  <a:moveTo>
                    <a:pt x="2396636" y="2464316"/>
                  </a:moveTo>
                  <a:lnTo>
                    <a:pt x="2396636" y="0"/>
                  </a:lnTo>
                </a:path>
              </a:pathLst>
            </a:custGeom>
            <a:ln w="6742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50895" y="239530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50895" y="239530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93807" y="2625308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02" y="1427"/>
                  </a:lnTo>
                  <a:lnTo>
                    <a:pt x="5263" y="5311"/>
                  </a:lnTo>
                  <a:lnTo>
                    <a:pt x="1409" y="11055"/>
                  </a:lnTo>
                  <a:lnTo>
                    <a:pt x="0" y="18064"/>
                  </a:lnTo>
                  <a:lnTo>
                    <a:pt x="1409" y="25147"/>
                  </a:lnTo>
                  <a:lnTo>
                    <a:pt x="5263" y="30929"/>
                  </a:lnTo>
                  <a:lnTo>
                    <a:pt x="11002" y="34827"/>
                  </a:lnTo>
                  <a:lnTo>
                    <a:pt x="18064" y="36256"/>
                  </a:lnTo>
                  <a:lnTo>
                    <a:pt x="25073" y="34827"/>
                  </a:lnTo>
                  <a:lnTo>
                    <a:pt x="30818" y="30929"/>
                  </a:lnTo>
                  <a:lnTo>
                    <a:pt x="34702" y="25147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3807" y="2625308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064"/>
                  </a:moveTo>
                  <a:lnTo>
                    <a:pt x="1409" y="11055"/>
                  </a:lnTo>
                  <a:lnTo>
                    <a:pt x="5263" y="5311"/>
                  </a:lnTo>
                  <a:lnTo>
                    <a:pt x="11002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147"/>
                  </a:lnTo>
                  <a:lnTo>
                    <a:pt x="30818" y="30929"/>
                  </a:lnTo>
                  <a:lnTo>
                    <a:pt x="25073" y="34827"/>
                  </a:lnTo>
                  <a:lnTo>
                    <a:pt x="18064" y="36256"/>
                  </a:lnTo>
                  <a:lnTo>
                    <a:pt x="11002" y="34827"/>
                  </a:lnTo>
                  <a:lnTo>
                    <a:pt x="5263" y="30929"/>
                  </a:lnTo>
                  <a:lnTo>
                    <a:pt x="1409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4502" y="1591544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94502" y="1591544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22818" y="1370823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147"/>
                  </a:lnTo>
                  <a:lnTo>
                    <a:pt x="5311" y="30929"/>
                  </a:lnTo>
                  <a:lnTo>
                    <a:pt x="11055" y="34827"/>
                  </a:lnTo>
                  <a:lnTo>
                    <a:pt x="18064" y="36256"/>
                  </a:lnTo>
                  <a:lnTo>
                    <a:pt x="25073" y="34827"/>
                  </a:lnTo>
                  <a:lnTo>
                    <a:pt x="30818" y="30929"/>
                  </a:lnTo>
                  <a:lnTo>
                    <a:pt x="34702" y="25147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22818" y="1370823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147"/>
                  </a:lnTo>
                  <a:lnTo>
                    <a:pt x="30818" y="30929"/>
                  </a:lnTo>
                  <a:lnTo>
                    <a:pt x="25073" y="34827"/>
                  </a:lnTo>
                  <a:lnTo>
                    <a:pt x="18064" y="36256"/>
                  </a:lnTo>
                  <a:lnTo>
                    <a:pt x="11055" y="34827"/>
                  </a:lnTo>
                  <a:lnTo>
                    <a:pt x="5311" y="30929"/>
                  </a:lnTo>
                  <a:lnTo>
                    <a:pt x="1427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62840" y="3226025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62840" y="3226025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19841" y="33935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147"/>
                  </a:lnTo>
                  <a:lnTo>
                    <a:pt x="5311" y="30929"/>
                  </a:lnTo>
                  <a:lnTo>
                    <a:pt x="11055" y="34827"/>
                  </a:lnTo>
                  <a:lnTo>
                    <a:pt x="18064" y="36256"/>
                  </a:lnTo>
                  <a:lnTo>
                    <a:pt x="25147" y="34827"/>
                  </a:lnTo>
                  <a:lnTo>
                    <a:pt x="30929" y="30929"/>
                  </a:lnTo>
                  <a:lnTo>
                    <a:pt x="34827" y="25147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19841" y="33935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147"/>
                  </a:lnTo>
                  <a:lnTo>
                    <a:pt x="30929" y="30929"/>
                  </a:lnTo>
                  <a:lnTo>
                    <a:pt x="25147" y="34827"/>
                  </a:lnTo>
                  <a:lnTo>
                    <a:pt x="18064" y="36256"/>
                  </a:lnTo>
                  <a:lnTo>
                    <a:pt x="11055" y="34827"/>
                  </a:lnTo>
                  <a:lnTo>
                    <a:pt x="5311" y="30929"/>
                  </a:lnTo>
                  <a:lnTo>
                    <a:pt x="1427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64823" y="17045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64823" y="17045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14864" y="3373215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14864" y="3373215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43605" y="1805968"/>
              <a:ext cx="2078340" cy="14970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17819" y="312348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9"/>
                  </a:lnTo>
                  <a:lnTo>
                    <a:pt x="5311" y="5327"/>
                  </a:lnTo>
                  <a:lnTo>
                    <a:pt x="1427" y="11109"/>
                  </a:lnTo>
                  <a:lnTo>
                    <a:pt x="0" y="18192"/>
                  </a:lnTo>
                  <a:lnTo>
                    <a:pt x="1427" y="25200"/>
                  </a:lnTo>
                  <a:lnTo>
                    <a:pt x="5311" y="30945"/>
                  </a:lnTo>
                  <a:lnTo>
                    <a:pt x="11055" y="34829"/>
                  </a:lnTo>
                  <a:lnTo>
                    <a:pt x="18064" y="36256"/>
                  </a:lnTo>
                  <a:lnTo>
                    <a:pt x="25073" y="34829"/>
                  </a:lnTo>
                  <a:lnTo>
                    <a:pt x="30818" y="30945"/>
                  </a:lnTo>
                  <a:lnTo>
                    <a:pt x="34702" y="25200"/>
                  </a:lnTo>
                  <a:lnTo>
                    <a:pt x="36129" y="18192"/>
                  </a:lnTo>
                  <a:lnTo>
                    <a:pt x="34702" y="11109"/>
                  </a:lnTo>
                  <a:lnTo>
                    <a:pt x="30818" y="5327"/>
                  </a:lnTo>
                  <a:lnTo>
                    <a:pt x="25073" y="1429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17819" y="312348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192"/>
                  </a:moveTo>
                  <a:lnTo>
                    <a:pt x="1427" y="11109"/>
                  </a:lnTo>
                  <a:lnTo>
                    <a:pt x="5311" y="5327"/>
                  </a:lnTo>
                  <a:lnTo>
                    <a:pt x="11055" y="1429"/>
                  </a:lnTo>
                  <a:lnTo>
                    <a:pt x="18064" y="0"/>
                  </a:lnTo>
                  <a:lnTo>
                    <a:pt x="25073" y="1429"/>
                  </a:lnTo>
                  <a:lnTo>
                    <a:pt x="30818" y="5327"/>
                  </a:lnTo>
                  <a:lnTo>
                    <a:pt x="34702" y="11109"/>
                  </a:lnTo>
                  <a:lnTo>
                    <a:pt x="36129" y="18192"/>
                  </a:lnTo>
                  <a:lnTo>
                    <a:pt x="34702" y="25200"/>
                  </a:lnTo>
                  <a:lnTo>
                    <a:pt x="30818" y="30945"/>
                  </a:lnTo>
                  <a:lnTo>
                    <a:pt x="25073" y="34829"/>
                  </a:lnTo>
                  <a:lnTo>
                    <a:pt x="18064" y="36256"/>
                  </a:lnTo>
                  <a:lnTo>
                    <a:pt x="11055" y="34829"/>
                  </a:lnTo>
                  <a:lnTo>
                    <a:pt x="5311" y="30945"/>
                  </a:lnTo>
                  <a:lnTo>
                    <a:pt x="1427" y="25200"/>
                  </a:lnTo>
                  <a:lnTo>
                    <a:pt x="0" y="18192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51396" y="320439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9"/>
                  </a:lnTo>
                  <a:lnTo>
                    <a:pt x="5311" y="5327"/>
                  </a:lnTo>
                  <a:lnTo>
                    <a:pt x="1427" y="11109"/>
                  </a:lnTo>
                  <a:lnTo>
                    <a:pt x="0" y="18192"/>
                  </a:lnTo>
                  <a:lnTo>
                    <a:pt x="1427" y="25200"/>
                  </a:lnTo>
                  <a:lnTo>
                    <a:pt x="5311" y="30945"/>
                  </a:lnTo>
                  <a:lnTo>
                    <a:pt x="11055" y="34829"/>
                  </a:lnTo>
                  <a:lnTo>
                    <a:pt x="18064" y="36256"/>
                  </a:lnTo>
                  <a:lnTo>
                    <a:pt x="25073" y="34829"/>
                  </a:lnTo>
                  <a:lnTo>
                    <a:pt x="30818" y="30945"/>
                  </a:lnTo>
                  <a:lnTo>
                    <a:pt x="34702" y="25200"/>
                  </a:lnTo>
                  <a:lnTo>
                    <a:pt x="36129" y="18192"/>
                  </a:lnTo>
                  <a:lnTo>
                    <a:pt x="34702" y="11109"/>
                  </a:lnTo>
                  <a:lnTo>
                    <a:pt x="30818" y="5327"/>
                  </a:lnTo>
                  <a:lnTo>
                    <a:pt x="25073" y="1429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651396" y="320439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192"/>
                  </a:moveTo>
                  <a:lnTo>
                    <a:pt x="1427" y="11109"/>
                  </a:lnTo>
                  <a:lnTo>
                    <a:pt x="5311" y="5327"/>
                  </a:lnTo>
                  <a:lnTo>
                    <a:pt x="11055" y="1429"/>
                  </a:lnTo>
                  <a:lnTo>
                    <a:pt x="18064" y="0"/>
                  </a:lnTo>
                  <a:lnTo>
                    <a:pt x="25073" y="1429"/>
                  </a:lnTo>
                  <a:lnTo>
                    <a:pt x="30818" y="5327"/>
                  </a:lnTo>
                  <a:lnTo>
                    <a:pt x="34702" y="11109"/>
                  </a:lnTo>
                  <a:lnTo>
                    <a:pt x="36129" y="18192"/>
                  </a:lnTo>
                  <a:lnTo>
                    <a:pt x="34702" y="25200"/>
                  </a:lnTo>
                  <a:lnTo>
                    <a:pt x="30818" y="30945"/>
                  </a:lnTo>
                  <a:lnTo>
                    <a:pt x="25073" y="34829"/>
                  </a:lnTo>
                  <a:lnTo>
                    <a:pt x="18064" y="36256"/>
                  </a:lnTo>
                  <a:lnTo>
                    <a:pt x="11055" y="34829"/>
                  </a:lnTo>
                  <a:lnTo>
                    <a:pt x="5311" y="30945"/>
                  </a:lnTo>
                  <a:lnTo>
                    <a:pt x="1427" y="25200"/>
                  </a:lnTo>
                  <a:lnTo>
                    <a:pt x="0" y="18192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89533" y="341341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89533" y="341341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99553" y="1628437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192" y="0"/>
                  </a:moveTo>
                  <a:lnTo>
                    <a:pt x="11109" y="1427"/>
                  </a:lnTo>
                  <a:lnTo>
                    <a:pt x="5327" y="5311"/>
                  </a:lnTo>
                  <a:lnTo>
                    <a:pt x="1429" y="11055"/>
                  </a:lnTo>
                  <a:lnTo>
                    <a:pt x="0" y="18064"/>
                  </a:lnTo>
                  <a:lnTo>
                    <a:pt x="1429" y="25073"/>
                  </a:lnTo>
                  <a:lnTo>
                    <a:pt x="5327" y="30818"/>
                  </a:lnTo>
                  <a:lnTo>
                    <a:pt x="11109" y="34702"/>
                  </a:lnTo>
                  <a:lnTo>
                    <a:pt x="18192" y="36129"/>
                  </a:lnTo>
                  <a:lnTo>
                    <a:pt x="25200" y="34702"/>
                  </a:lnTo>
                  <a:lnTo>
                    <a:pt x="30945" y="30818"/>
                  </a:lnTo>
                  <a:lnTo>
                    <a:pt x="34829" y="25073"/>
                  </a:lnTo>
                  <a:lnTo>
                    <a:pt x="36256" y="18064"/>
                  </a:lnTo>
                  <a:lnTo>
                    <a:pt x="34829" y="11055"/>
                  </a:lnTo>
                  <a:lnTo>
                    <a:pt x="30945" y="5311"/>
                  </a:lnTo>
                  <a:lnTo>
                    <a:pt x="25200" y="1427"/>
                  </a:lnTo>
                  <a:lnTo>
                    <a:pt x="18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99553" y="1628437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9" y="11055"/>
                  </a:lnTo>
                  <a:lnTo>
                    <a:pt x="5327" y="5311"/>
                  </a:lnTo>
                  <a:lnTo>
                    <a:pt x="11109" y="1427"/>
                  </a:lnTo>
                  <a:lnTo>
                    <a:pt x="18192" y="0"/>
                  </a:lnTo>
                  <a:lnTo>
                    <a:pt x="25200" y="1427"/>
                  </a:lnTo>
                  <a:lnTo>
                    <a:pt x="30945" y="5311"/>
                  </a:lnTo>
                  <a:lnTo>
                    <a:pt x="34829" y="11055"/>
                  </a:lnTo>
                  <a:lnTo>
                    <a:pt x="36256" y="18064"/>
                  </a:lnTo>
                  <a:lnTo>
                    <a:pt x="34829" y="25073"/>
                  </a:lnTo>
                  <a:lnTo>
                    <a:pt x="30945" y="30818"/>
                  </a:lnTo>
                  <a:lnTo>
                    <a:pt x="25200" y="34702"/>
                  </a:lnTo>
                  <a:lnTo>
                    <a:pt x="18192" y="36129"/>
                  </a:lnTo>
                  <a:lnTo>
                    <a:pt x="11109" y="34702"/>
                  </a:lnTo>
                  <a:lnTo>
                    <a:pt x="5327" y="30818"/>
                  </a:lnTo>
                  <a:lnTo>
                    <a:pt x="1429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06646" y="3611111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18192" y="0"/>
                  </a:moveTo>
                  <a:lnTo>
                    <a:pt x="11109" y="1427"/>
                  </a:lnTo>
                  <a:lnTo>
                    <a:pt x="5327" y="5311"/>
                  </a:lnTo>
                  <a:lnTo>
                    <a:pt x="1429" y="11055"/>
                  </a:lnTo>
                  <a:lnTo>
                    <a:pt x="0" y="18064"/>
                  </a:lnTo>
                  <a:lnTo>
                    <a:pt x="1429" y="25127"/>
                  </a:lnTo>
                  <a:lnTo>
                    <a:pt x="5327" y="30865"/>
                  </a:lnTo>
                  <a:lnTo>
                    <a:pt x="11109" y="34720"/>
                  </a:lnTo>
                  <a:lnTo>
                    <a:pt x="18192" y="36129"/>
                  </a:lnTo>
                  <a:lnTo>
                    <a:pt x="25200" y="34720"/>
                  </a:lnTo>
                  <a:lnTo>
                    <a:pt x="30945" y="30865"/>
                  </a:lnTo>
                  <a:lnTo>
                    <a:pt x="34829" y="25127"/>
                  </a:lnTo>
                  <a:lnTo>
                    <a:pt x="36256" y="18064"/>
                  </a:lnTo>
                  <a:lnTo>
                    <a:pt x="34829" y="11055"/>
                  </a:lnTo>
                  <a:lnTo>
                    <a:pt x="30945" y="5311"/>
                  </a:lnTo>
                  <a:lnTo>
                    <a:pt x="25200" y="1427"/>
                  </a:lnTo>
                  <a:lnTo>
                    <a:pt x="18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206646" y="3611111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0" y="18064"/>
                  </a:moveTo>
                  <a:lnTo>
                    <a:pt x="1429" y="11055"/>
                  </a:lnTo>
                  <a:lnTo>
                    <a:pt x="5327" y="5311"/>
                  </a:lnTo>
                  <a:lnTo>
                    <a:pt x="11109" y="1427"/>
                  </a:lnTo>
                  <a:lnTo>
                    <a:pt x="18192" y="0"/>
                  </a:lnTo>
                  <a:lnTo>
                    <a:pt x="25200" y="1427"/>
                  </a:lnTo>
                  <a:lnTo>
                    <a:pt x="30945" y="5311"/>
                  </a:lnTo>
                  <a:lnTo>
                    <a:pt x="34829" y="11055"/>
                  </a:lnTo>
                  <a:lnTo>
                    <a:pt x="36256" y="18064"/>
                  </a:lnTo>
                  <a:lnTo>
                    <a:pt x="34829" y="25127"/>
                  </a:lnTo>
                  <a:lnTo>
                    <a:pt x="30945" y="30865"/>
                  </a:lnTo>
                  <a:lnTo>
                    <a:pt x="25200" y="34720"/>
                  </a:lnTo>
                  <a:lnTo>
                    <a:pt x="18192" y="36129"/>
                  </a:lnTo>
                  <a:lnTo>
                    <a:pt x="11109" y="34720"/>
                  </a:lnTo>
                  <a:lnTo>
                    <a:pt x="5327" y="30865"/>
                  </a:lnTo>
                  <a:lnTo>
                    <a:pt x="1429" y="2512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78819" y="3004796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78819" y="3004796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464316"/>
                  </a:moveTo>
                  <a:lnTo>
                    <a:pt x="2829810" y="2464316"/>
                  </a:lnTo>
                  <a:lnTo>
                    <a:pt x="2829810" y="0"/>
                  </a:lnTo>
                  <a:lnTo>
                    <a:pt x="0" y="0"/>
                  </a:lnTo>
                  <a:lnTo>
                    <a:pt x="0" y="2464316"/>
                  </a:lnTo>
                  <a:close/>
                </a:path>
              </a:pathLst>
            </a:custGeom>
            <a:ln w="13612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33410" y="1850939"/>
              <a:ext cx="2432050" cy="1925320"/>
            </a:xfrm>
            <a:custGeom>
              <a:avLst/>
              <a:gdLst/>
              <a:ahLst/>
              <a:cxnLst/>
              <a:rect l="l" t="t" r="r" b="b"/>
              <a:pathLst>
                <a:path w="2432050" h="1925320">
                  <a:moveTo>
                    <a:pt x="0" y="1459049"/>
                  </a:moveTo>
                  <a:lnTo>
                    <a:pt x="34857" y="1459049"/>
                  </a:lnTo>
                </a:path>
                <a:path w="2432050" h="1925320">
                  <a:moveTo>
                    <a:pt x="0" y="729461"/>
                  </a:moveTo>
                  <a:lnTo>
                    <a:pt x="34857" y="729461"/>
                  </a:lnTo>
                </a:path>
                <a:path w="2432050" h="1925320">
                  <a:moveTo>
                    <a:pt x="0" y="0"/>
                  </a:moveTo>
                  <a:lnTo>
                    <a:pt x="34857" y="0"/>
                  </a:lnTo>
                </a:path>
                <a:path w="2432050" h="1925320">
                  <a:moveTo>
                    <a:pt x="119583" y="1925171"/>
                  </a:moveTo>
                  <a:lnTo>
                    <a:pt x="119583" y="1890314"/>
                  </a:lnTo>
                </a:path>
                <a:path w="2432050" h="1925320">
                  <a:moveTo>
                    <a:pt x="581889" y="1925171"/>
                  </a:moveTo>
                  <a:lnTo>
                    <a:pt x="581889" y="1890314"/>
                  </a:lnTo>
                </a:path>
                <a:path w="2432050" h="1925320">
                  <a:moveTo>
                    <a:pt x="1044322" y="1925171"/>
                  </a:moveTo>
                  <a:lnTo>
                    <a:pt x="1044322" y="1890314"/>
                  </a:lnTo>
                </a:path>
                <a:path w="2432050" h="1925320">
                  <a:moveTo>
                    <a:pt x="1506755" y="1925171"/>
                  </a:moveTo>
                  <a:lnTo>
                    <a:pt x="1506755" y="1890314"/>
                  </a:lnTo>
                </a:path>
                <a:path w="2432050" h="1925320">
                  <a:moveTo>
                    <a:pt x="1969061" y="1925171"/>
                  </a:moveTo>
                  <a:lnTo>
                    <a:pt x="1969061" y="1890314"/>
                  </a:lnTo>
                </a:path>
                <a:path w="2432050" h="1925320">
                  <a:moveTo>
                    <a:pt x="2431494" y="1925171"/>
                  </a:moveTo>
                  <a:lnTo>
                    <a:pt x="2431494" y="1890314"/>
                  </a:lnTo>
                </a:path>
              </a:pathLst>
            </a:custGeom>
            <a:ln w="6742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762325" y="3223885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40" name="object 40"/>
          <p:cNvSpPr txBox="1"/>
          <p:nvPr/>
        </p:nvSpPr>
        <p:spPr>
          <a:xfrm>
            <a:off x="5829241" y="2494296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9241" y="1764835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75031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−3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7337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99771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857967" y="3758958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20400" y="3758958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296560" y="3758958"/>
            <a:ext cx="188595" cy="33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dirty="0">
                <a:latin typeface="Arial"/>
                <a:cs typeface="Arial"/>
              </a:rPr>
              <a:t>v1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87654" y="2422448"/>
            <a:ext cx="165735" cy="1733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70"/>
              </a:lnSpc>
            </a:pPr>
            <a:r>
              <a:rPr sz="1100" dirty="0">
                <a:latin typeface="Arial"/>
                <a:cs typeface="Arial"/>
              </a:rPr>
              <a:t>v2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109085" cy="5435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6725" marR="5080" indent="-454025">
              <a:lnSpc>
                <a:spcPct val="78900"/>
              </a:lnSpc>
              <a:spcBef>
                <a:spcPts val="58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What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do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we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mean 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for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dimensionality  reduction?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304" y="1731264"/>
            <a:ext cx="4646930" cy="255428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520700" marR="68580" indent="-457200">
              <a:lnSpc>
                <a:spcPct val="78800"/>
              </a:lnSpc>
              <a:spcBef>
                <a:spcPts val="530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20065" algn="l"/>
                <a:tab pos="5207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Imagine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</a:t>
            </a:r>
            <a:r>
              <a:rPr sz="1700" spc="-20" dirty="0">
                <a:solidFill>
                  <a:srgbClr val="000090"/>
                </a:solidFill>
                <a:latin typeface="Calibri"/>
                <a:cs typeface="Calibri"/>
              </a:rPr>
              <a:t>have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data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right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plot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over 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two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variables, </a:t>
            </a:r>
            <a:r>
              <a:rPr sz="1700" i="1" dirty="0">
                <a:solidFill>
                  <a:srgbClr val="000090"/>
                </a:solidFill>
                <a:latin typeface="Calibri"/>
                <a:cs typeface="Calibri"/>
              </a:rPr>
              <a:t>v</a:t>
            </a:r>
            <a:r>
              <a:rPr sz="1650" i="1" baseline="-15151" dirty="0">
                <a:solidFill>
                  <a:srgbClr val="000090"/>
                </a:solidFill>
                <a:latin typeface="Calibri"/>
                <a:cs typeface="Calibri"/>
              </a:rPr>
              <a:t>1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and</a:t>
            </a:r>
            <a:r>
              <a:rPr sz="1700" spc="-8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i="1" spc="5" dirty="0">
                <a:solidFill>
                  <a:srgbClr val="000090"/>
                </a:solidFill>
                <a:latin typeface="Calibri"/>
                <a:cs typeface="Calibri"/>
              </a:rPr>
              <a:t>v</a:t>
            </a:r>
            <a:r>
              <a:rPr sz="1650" i="1" spc="7" baseline="-15151" dirty="0">
                <a:solidFill>
                  <a:srgbClr val="000090"/>
                </a:solidFill>
                <a:latin typeface="Calibri"/>
                <a:cs typeface="Calibri"/>
              </a:rPr>
              <a:t>2</a:t>
            </a:r>
            <a:r>
              <a:rPr sz="1700" spc="5" dirty="0">
                <a:solidFill>
                  <a:srgbClr val="000090"/>
                </a:solidFill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520700" marR="108585" indent="-457200">
              <a:lnSpc>
                <a:spcPts val="1700"/>
              </a:lnSpc>
              <a:spcBef>
                <a:spcPts val="509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20065" algn="l"/>
                <a:tab pos="5207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Imagine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we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want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reduce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our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problem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so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use only one</a:t>
            </a:r>
            <a:r>
              <a:rPr sz="1700" spc="2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variable.</a:t>
            </a:r>
            <a:endParaRPr sz="1700" dirty="0"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Data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right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plot has high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entropy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(</a:t>
            </a:r>
            <a:r>
              <a:rPr sz="1700" i="1" dirty="0">
                <a:solidFill>
                  <a:srgbClr val="3366FF"/>
                </a:solidFill>
                <a:latin typeface="Calibri"/>
                <a:cs typeface="Calibri"/>
              </a:rPr>
              <a:t>high  disorder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)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and it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cannot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be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compressed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into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a 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lower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dimensionality space without losing 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information.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0495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Dimensionality</a:t>
            </a:r>
            <a:r>
              <a:rPr spc="-60" dirty="0"/>
              <a:t> </a:t>
            </a:r>
            <a:r>
              <a:rPr spc="-5" dirty="0"/>
              <a:t>reduction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33410" y="1276937"/>
            <a:ext cx="2865052" cy="2499322"/>
            <a:chOff x="5933410" y="1276937"/>
            <a:chExt cx="2865052" cy="2499322"/>
          </a:xfrm>
        </p:grpSpPr>
        <p:sp>
          <p:nvSpPr>
            <p:cNvPr id="6" name="object 6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397781"/>
                  </a:moveTo>
                  <a:lnTo>
                    <a:pt x="2829810" y="2397781"/>
                  </a:lnTo>
                </a:path>
                <a:path w="2830195" h="2464435">
                  <a:moveTo>
                    <a:pt x="0" y="1668320"/>
                  </a:moveTo>
                  <a:lnTo>
                    <a:pt x="2829810" y="1668320"/>
                  </a:lnTo>
                </a:path>
                <a:path w="2830195" h="2464435">
                  <a:moveTo>
                    <a:pt x="0" y="938732"/>
                  </a:moveTo>
                  <a:lnTo>
                    <a:pt x="2829810" y="938732"/>
                  </a:lnTo>
                </a:path>
                <a:path w="2830195" h="2464435">
                  <a:moveTo>
                    <a:pt x="0" y="209144"/>
                  </a:moveTo>
                  <a:lnTo>
                    <a:pt x="2829810" y="209144"/>
                  </a:lnTo>
                </a:path>
                <a:path w="2830195" h="2464435">
                  <a:moveTo>
                    <a:pt x="315879" y="2464316"/>
                  </a:moveTo>
                  <a:lnTo>
                    <a:pt x="315879" y="0"/>
                  </a:lnTo>
                </a:path>
                <a:path w="2830195" h="2464435">
                  <a:moveTo>
                    <a:pt x="778312" y="2464316"/>
                  </a:moveTo>
                  <a:lnTo>
                    <a:pt x="778312" y="0"/>
                  </a:lnTo>
                </a:path>
                <a:path w="2830195" h="2464435">
                  <a:moveTo>
                    <a:pt x="1240618" y="2464316"/>
                  </a:moveTo>
                  <a:lnTo>
                    <a:pt x="1240618" y="0"/>
                  </a:lnTo>
                </a:path>
                <a:path w="2830195" h="2464435">
                  <a:moveTo>
                    <a:pt x="1703051" y="2464316"/>
                  </a:moveTo>
                  <a:lnTo>
                    <a:pt x="1703051" y="0"/>
                  </a:lnTo>
                </a:path>
                <a:path w="2830195" h="2464435">
                  <a:moveTo>
                    <a:pt x="2165484" y="2464316"/>
                  </a:moveTo>
                  <a:lnTo>
                    <a:pt x="2165484" y="0"/>
                  </a:lnTo>
                </a:path>
                <a:path w="2830195" h="2464435">
                  <a:moveTo>
                    <a:pt x="2627789" y="2464316"/>
                  </a:moveTo>
                  <a:lnTo>
                    <a:pt x="2627789" y="0"/>
                  </a:lnTo>
                </a:path>
              </a:pathLst>
            </a:custGeom>
            <a:ln w="3434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033051"/>
                  </a:moveTo>
                  <a:lnTo>
                    <a:pt x="2829810" y="2033051"/>
                  </a:lnTo>
                </a:path>
                <a:path w="2830195" h="2464435">
                  <a:moveTo>
                    <a:pt x="0" y="1303463"/>
                  </a:moveTo>
                  <a:lnTo>
                    <a:pt x="2829810" y="1303463"/>
                  </a:lnTo>
                </a:path>
                <a:path w="2830195" h="2464435">
                  <a:moveTo>
                    <a:pt x="0" y="574002"/>
                  </a:moveTo>
                  <a:lnTo>
                    <a:pt x="2829810" y="574002"/>
                  </a:lnTo>
                </a:path>
                <a:path w="2830195" h="2464435">
                  <a:moveTo>
                    <a:pt x="84726" y="2464316"/>
                  </a:moveTo>
                  <a:lnTo>
                    <a:pt x="84726" y="0"/>
                  </a:lnTo>
                </a:path>
                <a:path w="2830195" h="2464435">
                  <a:moveTo>
                    <a:pt x="547032" y="2464316"/>
                  </a:moveTo>
                  <a:lnTo>
                    <a:pt x="547032" y="0"/>
                  </a:lnTo>
                </a:path>
                <a:path w="2830195" h="2464435">
                  <a:moveTo>
                    <a:pt x="1009465" y="2464316"/>
                  </a:moveTo>
                  <a:lnTo>
                    <a:pt x="1009465" y="0"/>
                  </a:lnTo>
                </a:path>
                <a:path w="2830195" h="2464435">
                  <a:moveTo>
                    <a:pt x="1471898" y="2464316"/>
                  </a:moveTo>
                  <a:lnTo>
                    <a:pt x="1471898" y="0"/>
                  </a:lnTo>
                </a:path>
                <a:path w="2830195" h="2464435">
                  <a:moveTo>
                    <a:pt x="1934203" y="2464316"/>
                  </a:moveTo>
                  <a:lnTo>
                    <a:pt x="1934203" y="0"/>
                  </a:lnTo>
                </a:path>
                <a:path w="2830195" h="2464435">
                  <a:moveTo>
                    <a:pt x="2396636" y="2464316"/>
                  </a:moveTo>
                  <a:lnTo>
                    <a:pt x="2396636" y="0"/>
                  </a:lnTo>
                </a:path>
              </a:pathLst>
            </a:custGeom>
            <a:ln w="6742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50895" y="239530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50895" y="239530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93807" y="2625308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02" y="1427"/>
                  </a:lnTo>
                  <a:lnTo>
                    <a:pt x="5263" y="5311"/>
                  </a:lnTo>
                  <a:lnTo>
                    <a:pt x="1409" y="11055"/>
                  </a:lnTo>
                  <a:lnTo>
                    <a:pt x="0" y="18064"/>
                  </a:lnTo>
                  <a:lnTo>
                    <a:pt x="1409" y="25147"/>
                  </a:lnTo>
                  <a:lnTo>
                    <a:pt x="5263" y="30929"/>
                  </a:lnTo>
                  <a:lnTo>
                    <a:pt x="11002" y="34827"/>
                  </a:lnTo>
                  <a:lnTo>
                    <a:pt x="18064" y="36256"/>
                  </a:lnTo>
                  <a:lnTo>
                    <a:pt x="25073" y="34827"/>
                  </a:lnTo>
                  <a:lnTo>
                    <a:pt x="30818" y="30929"/>
                  </a:lnTo>
                  <a:lnTo>
                    <a:pt x="34702" y="25147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3807" y="2625308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064"/>
                  </a:moveTo>
                  <a:lnTo>
                    <a:pt x="1409" y="11055"/>
                  </a:lnTo>
                  <a:lnTo>
                    <a:pt x="5263" y="5311"/>
                  </a:lnTo>
                  <a:lnTo>
                    <a:pt x="11002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147"/>
                  </a:lnTo>
                  <a:lnTo>
                    <a:pt x="30818" y="30929"/>
                  </a:lnTo>
                  <a:lnTo>
                    <a:pt x="25073" y="34827"/>
                  </a:lnTo>
                  <a:lnTo>
                    <a:pt x="18064" y="36256"/>
                  </a:lnTo>
                  <a:lnTo>
                    <a:pt x="11002" y="34827"/>
                  </a:lnTo>
                  <a:lnTo>
                    <a:pt x="5263" y="30929"/>
                  </a:lnTo>
                  <a:lnTo>
                    <a:pt x="1409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4502" y="1591544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94502" y="1591544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22818" y="1370823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147"/>
                  </a:lnTo>
                  <a:lnTo>
                    <a:pt x="5311" y="30929"/>
                  </a:lnTo>
                  <a:lnTo>
                    <a:pt x="11055" y="34827"/>
                  </a:lnTo>
                  <a:lnTo>
                    <a:pt x="18064" y="36256"/>
                  </a:lnTo>
                  <a:lnTo>
                    <a:pt x="25073" y="34827"/>
                  </a:lnTo>
                  <a:lnTo>
                    <a:pt x="30818" y="30929"/>
                  </a:lnTo>
                  <a:lnTo>
                    <a:pt x="34702" y="25147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22818" y="1370823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147"/>
                  </a:lnTo>
                  <a:lnTo>
                    <a:pt x="30818" y="30929"/>
                  </a:lnTo>
                  <a:lnTo>
                    <a:pt x="25073" y="34827"/>
                  </a:lnTo>
                  <a:lnTo>
                    <a:pt x="18064" y="36256"/>
                  </a:lnTo>
                  <a:lnTo>
                    <a:pt x="11055" y="34827"/>
                  </a:lnTo>
                  <a:lnTo>
                    <a:pt x="5311" y="30929"/>
                  </a:lnTo>
                  <a:lnTo>
                    <a:pt x="1427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62840" y="3226025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62840" y="3226025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19841" y="33935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147"/>
                  </a:lnTo>
                  <a:lnTo>
                    <a:pt x="5311" y="30929"/>
                  </a:lnTo>
                  <a:lnTo>
                    <a:pt x="11055" y="34827"/>
                  </a:lnTo>
                  <a:lnTo>
                    <a:pt x="18064" y="36256"/>
                  </a:lnTo>
                  <a:lnTo>
                    <a:pt x="25147" y="34827"/>
                  </a:lnTo>
                  <a:lnTo>
                    <a:pt x="30929" y="30929"/>
                  </a:lnTo>
                  <a:lnTo>
                    <a:pt x="34827" y="25147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19841" y="33935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147"/>
                  </a:lnTo>
                  <a:lnTo>
                    <a:pt x="30929" y="30929"/>
                  </a:lnTo>
                  <a:lnTo>
                    <a:pt x="25147" y="34827"/>
                  </a:lnTo>
                  <a:lnTo>
                    <a:pt x="18064" y="36256"/>
                  </a:lnTo>
                  <a:lnTo>
                    <a:pt x="11055" y="34827"/>
                  </a:lnTo>
                  <a:lnTo>
                    <a:pt x="5311" y="30929"/>
                  </a:lnTo>
                  <a:lnTo>
                    <a:pt x="1427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64823" y="17045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64823" y="17045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14864" y="3373215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14864" y="3373215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43605" y="1805968"/>
              <a:ext cx="2078340" cy="14970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8517819" y="312348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9"/>
                  </a:lnTo>
                  <a:lnTo>
                    <a:pt x="5311" y="5327"/>
                  </a:lnTo>
                  <a:lnTo>
                    <a:pt x="1427" y="11109"/>
                  </a:lnTo>
                  <a:lnTo>
                    <a:pt x="0" y="18192"/>
                  </a:lnTo>
                  <a:lnTo>
                    <a:pt x="1427" y="25200"/>
                  </a:lnTo>
                  <a:lnTo>
                    <a:pt x="5311" y="30945"/>
                  </a:lnTo>
                  <a:lnTo>
                    <a:pt x="11055" y="34829"/>
                  </a:lnTo>
                  <a:lnTo>
                    <a:pt x="18064" y="36256"/>
                  </a:lnTo>
                  <a:lnTo>
                    <a:pt x="25073" y="34829"/>
                  </a:lnTo>
                  <a:lnTo>
                    <a:pt x="30818" y="30945"/>
                  </a:lnTo>
                  <a:lnTo>
                    <a:pt x="34702" y="25200"/>
                  </a:lnTo>
                  <a:lnTo>
                    <a:pt x="36129" y="18192"/>
                  </a:lnTo>
                  <a:lnTo>
                    <a:pt x="34702" y="11109"/>
                  </a:lnTo>
                  <a:lnTo>
                    <a:pt x="30818" y="5327"/>
                  </a:lnTo>
                  <a:lnTo>
                    <a:pt x="25073" y="1429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17819" y="312348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192"/>
                  </a:moveTo>
                  <a:lnTo>
                    <a:pt x="1427" y="11109"/>
                  </a:lnTo>
                  <a:lnTo>
                    <a:pt x="5311" y="5327"/>
                  </a:lnTo>
                  <a:lnTo>
                    <a:pt x="11055" y="1429"/>
                  </a:lnTo>
                  <a:lnTo>
                    <a:pt x="18064" y="0"/>
                  </a:lnTo>
                  <a:lnTo>
                    <a:pt x="25073" y="1429"/>
                  </a:lnTo>
                  <a:lnTo>
                    <a:pt x="30818" y="5327"/>
                  </a:lnTo>
                  <a:lnTo>
                    <a:pt x="34702" y="11109"/>
                  </a:lnTo>
                  <a:lnTo>
                    <a:pt x="36129" y="18192"/>
                  </a:lnTo>
                  <a:lnTo>
                    <a:pt x="34702" y="25200"/>
                  </a:lnTo>
                  <a:lnTo>
                    <a:pt x="30818" y="30945"/>
                  </a:lnTo>
                  <a:lnTo>
                    <a:pt x="25073" y="34829"/>
                  </a:lnTo>
                  <a:lnTo>
                    <a:pt x="18064" y="36256"/>
                  </a:lnTo>
                  <a:lnTo>
                    <a:pt x="11055" y="34829"/>
                  </a:lnTo>
                  <a:lnTo>
                    <a:pt x="5311" y="30945"/>
                  </a:lnTo>
                  <a:lnTo>
                    <a:pt x="1427" y="25200"/>
                  </a:lnTo>
                  <a:lnTo>
                    <a:pt x="0" y="18192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51396" y="320439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9"/>
                  </a:lnTo>
                  <a:lnTo>
                    <a:pt x="5311" y="5327"/>
                  </a:lnTo>
                  <a:lnTo>
                    <a:pt x="1427" y="11109"/>
                  </a:lnTo>
                  <a:lnTo>
                    <a:pt x="0" y="18192"/>
                  </a:lnTo>
                  <a:lnTo>
                    <a:pt x="1427" y="25200"/>
                  </a:lnTo>
                  <a:lnTo>
                    <a:pt x="5311" y="30945"/>
                  </a:lnTo>
                  <a:lnTo>
                    <a:pt x="11055" y="34829"/>
                  </a:lnTo>
                  <a:lnTo>
                    <a:pt x="18064" y="36256"/>
                  </a:lnTo>
                  <a:lnTo>
                    <a:pt x="25073" y="34829"/>
                  </a:lnTo>
                  <a:lnTo>
                    <a:pt x="30818" y="30945"/>
                  </a:lnTo>
                  <a:lnTo>
                    <a:pt x="34702" y="25200"/>
                  </a:lnTo>
                  <a:lnTo>
                    <a:pt x="36129" y="18192"/>
                  </a:lnTo>
                  <a:lnTo>
                    <a:pt x="34702" y="11109"/>
                  </a:lnTo>
                  <a:lnTo>
                    <a:pt x="30818" y="5327"/>
                  </a:lnTo>
                  <a:lnTo>
                    <a:pt x="25073" y="1429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651396" y="320439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192"/>
                  </a:moveTo>
                  <a:lnTo>
                    <a:pt x="1427" y="11109"/>
                  </a:lnTo>
                  <a:lnTo>
                    <a:pt x="5311" y="5327"/>
                  </a:lnTo>
                  <a:lnTo>
                    <a:pt x="11055" y="1429"/>
                  </a:lnTo>
                  <a:lnTo>
                    <a:pt x="18064" y="0"/>
                  </a:lnTo>
                  <a:lnTo>
                    <a:pt x="25073" y="1429"/>
                  </a:lnTo>
                  <a:lnTo>
                    <a:pt x="30818" y="5327"/>
                  </a:lnTo>
                  <a:lnTo>
                    <a:pt x="34702" y="11109"/>
                  </a:lnTo>
                  <a:lnTo>
                    <a:pt x="36129" y="18192"/>
                  </a:lnTo>
                  <a:lnTo>
                    <a:pt x="34702" y="25200"/>
                  </a:lnTo>
                  <a:lnTo>
                    <a:pt x="30818" y="30945"/>
                  </a:lnTo>
                  <a:lnTo>
                    <a:pt x="25073" y="34829"/>
                  </a:lnTo>
                  <a:lnTo>
                    <a:pt x="18064" y="36256"/>
                  </a:lnTo>
                  <a:lnTo>
                    <a:pt x="11055" y="34829"/>
                  </a:lnTo>
                  <a:lnTo>
                    <a:pt x="5311" y="30945"/>
                  </a:lnTo>
                  <a:lnTo>
                    <a:pt x="1427" y="25200"/>
                  </a:lnTo>
                  <a:lnTo>
                    <a:pt x="0" y="18192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89533" y="341341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89533" y="341341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99553" y="1628437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192" y="0"/>
                  </a:moveTo>
                  <a:lnTo>
                    <a:pt x="11109" y="1427"/>
                  </a:lnTo>
                  <a:lnTo>
                    <a:pt x="5327" y="5311"/>
                  </a:lnTo>
                  <a:lnTo>
                    <a:pt x="1429" y="11055"/>
                  </a:lnTo>
                  <a:lnTo>
                    <a:pt x="0" y="18064"/>
                  </a:lnTo>
                  <a:lnTo>
                    <a:pt x="1429" y="25073"/>
                  </a:lnTo>
                  <a:lnTo>
                    <a:pt x="5327" y="30818"/>
                  </a:lnTo>
                  <a:lnTo>
                    <a:pt x="11109" y="34702"/>
                  </a:lnTo>
                  <a:lnTo>
                    <a:pt x="18192" y="36129"/>
                  </a:lnTo>
                  <a:lnTo>
                    <a:pt x="25200" y="34702"/>
                  </a:lnTo>
                  <a:lnTo>
                    <a:pt x="30945" y="30818"/>
                  </a:lnTo>
                  <a:lnTo>
                    <a:pt x="34829" y="25073"/>
                  </a:lnTo>
                  <a:lnTo>
                    <a:pt x="36256" y="18064"/>
                  </a:lnTo>
                  <a:lnTo>
                    <a:pt x="34829" y="11055"/>
                  </a:lnTo>
                  <a:lnTo>
                    <a:pt x="30945" y="5311"/>
                  </a:lnTo>
                  <a:lnTo>
                    <a:pt x="25200" y="1427"/>
                  </a:lnTo>
                  <a:lnTo>
                    <a:pt x="18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99553" y="1628437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9" y="11055"/>
                  </a:lnTo>
                  <a:lnTo>
                    <a:pt x="5327" y="5311"/>
                  </a:lnTo>
                  <a:lnTo>
                    <a:pt x="11109" y="1427"/>
                  </a:lnTo>
                  <a:lnTo>
                    <a:pt x="18192" y="0"/>
                  </a:lnTo>
                  <a:lnTo>
                    <a:pt x="25200" y="1427"/>
                  </a:lnTo>
                  <a:lnTo>
                    <a:pt x="30945" y="5311"/>
                  </a:lnTo>
                  <a:lnTo>
                    <a:pt x="34829" y="11055"/>
                  </a:lnTo>
                  <a:lnTo>
                    <a:pt x="36256" y="18064"/>
                  </a:lnTo>
                  <a:lnTo>
                    <a:pt x="34829" y="25073"/>
                  </a:lnTo>
                  <a:lnTo>
                    <a:pt x="30945" y="30818"/>
                  </a:lnTo>
                  <a:lnTo>
                    <a:pt x="25200" y="34702"/>
                  </a:lnTo>
                  <a:lnTo>
                    <a:pt x="18192" y="36129"/>
                  </a:lnTo>
                  <a:lnTo>
                    <a:pt x="11109" y="34702"/>
                  </a:lnTo>
                  <a:lnTo>
                    <a:pt x="5327" y="30818"/>
                  </a:lnTo>
                  <a:lnTo>
                    <a:pt x="1429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06646" y="3611111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18192" y="0"/>
                  </a:moveTo>
                  <a:lnTo>
                    <a:pt x="11109" y="1427"/>
                  </a:lnTo>
                  <a:lnTo>
                    <a:pt x="5327" y="5311"/>
                  </a:lnTo>
                  <a:lnTo>
                    <a:pt x="1429" y="11055"/>
                  </a:lnTo>
                  <a:lnTo>
                    <a:pt x="0" y="18064"/>
                  </a:lnTo>
                  <a:lnTo>
                    <a:pt x="1429" y="25127"/>
                  </a:lnTo>
                  <a:lnTo>
                    <a:pt x="5327" y="30865"/>
                  </a:lnTo>
                  <a:lnTo>
                    <a:pt x="11109" y="34720"/>
                  </a:lnTo>
                  <a:lnTo>
                    <a:pt x="18192" y="36129"/>
                  </a:lnTo>
                  <a:lnTo>
                    <a:pt x="25200" y="34720"/>
                  </a:lnTo>
                  <a:lnTo>
                    <a:pt x="30945" y="30865"/>
                  </a:lnTo>
                  <a:lnTo>
                    <a:pt x="34829" y="25127"/>
                  </a:lnTo>
                  <a:lnTo>
                    <a:pt x="36256" y="18064"/>
                  </a:lnTo>
                  <a:lnTo>
                    <a:pt x="34829" y="11055"/>
                  </a:lnTo>
                  <a:lnTo>
                    <a:pt x="30945" y="5311"/>
                  </a:lnTo>
                  <a:lnTo>
                    <a:pt x="25200" y="1427"/>
                  </a:lnTo>
                  <a:lnTo>
                    <a:pt x="18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206646" y="3611111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0" y="18064"/>
                  </a:moveTo>
                  <a:lnTo>
                    <a:pt x="1429" y="11055"/>
                  </a:lnTo>
                  <a:lnTo>
                    <a:pt x="5327" y="5311"/>
                  </a:lnTo>
                  <a:lnTo>
                    <a:pt x="11109" y="1427"/>
                  </a:lnTo>
                  <a:lnTo>
                    <a:pt x="18192" y="0"/>
                  </a:lnTo>
                  <a:lnTo>
                    <a:pt x="25200" y="1427"/>
                  </a:lnTo>
                  <a:lnTo>
                    <a:pt x="30945" y="5311"/>
                  </a:lnTo>
                  <a:lnTo>
                    <a:pt x="34829" y="11055"/>
                  </a:lnTo>
                  <a:lnTo>
                    <a:pt x="36256" y="18064"/>
                  </a:lnTo>
                  <a:lnTo>
                    <a:pt x="34829" y="25127"/>
                  </a:lnTo>
                  <a:lnTo>
                    <a:pt x="30945" y="30865"/>
                  </a:lnTo>
                  <a:lnTo>
                    <a:pt x="25200" y="34720"/>
                  </a:lnTo>
                  <a:lnTo>
                    <a:pt x="18192" y="36129"/>
                  </a:lnTo>
                  <a:lnTo>
                    <a:pt x="11109" y="34720"/>
                  </a:lnTo>
                  <a:lnTo>
                    <a:pt x="5327" y="30865"/>
                  </a:lnTo>
                  <a:lnTo>
                    <a:pt x="1429" y="2512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78819" y="3004796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78819" y="3004796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464316"/>
                  </a:moveTo>
                  <a:lnTo>
                    <a:pt x="2829810" y="2464316"/>
                  </a:lnTo>
                  <a:lnTo>
                    <a:pt x="2829810" y="0"/>
                  </a:lnTo>
                  <a:lnTo>
                    <a:pt x="0" y="0"/>
                  </a:lnTo>
                  <a:lnTo>
                    <a:pt x="0" y="2464316"/>
                  </a:lnTo>
                  <a:close/>
                </a:path>
              </a:pathLst>
            </a:custGeom>
            <a:ln w="13612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33410" y="1850939"/>
              <a:ext cx="2432050" cy="1925320"/>
            </a:xfrm>
            <a:custGeom>
              <a:avLst/>
              <a:gdLst/>
              <a:ahLst/>
              <a:cxnLst/>
              <a:rect l="l" t="t" r="r" b="b"/>
              <a:pathLst>
                <a:path w="2432050" h="1925320">
                  <a:moveTo>
                    <a:pt x="0" y="1459049"/>
                  </a:moveTo>
                  <a:lnTo>
                    <a:pt x="34857" y="1459049"/>
                  </a:lnTo>
                </a:path>
                <a:path w="2432050" h="1925320">
                  <a:moveTo>
                    <a:pt x="0" y="729461"/>
                  </a:moveTo>
                  <a:lnTo>
                    <a:pt x="34857" y="729461"/>
                  </a:lnTo>
                </a:path>
                <a:path w="2432050" h="1925320">
                  <a:moveTo>
                    <a:pt x="0" y="0"/>
                  </a:moveTo>
                  <a:lnTo>
                    <a:pt x="34857" y="0"/>
                  </a:lnTo>
                </a:path>
                <a:path w="2432050" h="1925320">
                  <a:moveTo>
                    <a:pt x="119583" y="1925171"/>
                  </a:moveTo>
                  <a:lnTo>
                    <a:pt x="119583" y="1890314"/>
                  </a:lnTo>
                </a:path>
                <a:path w="2432050" h="1925320">
                  <a:moveTo>
                    <a:pt x="581889" y="1925171"/>
                  </a:moveTo>
                  <a:lnTo>
                    <a:pt x="581889" y="1890314"/>
                  </a:lnTo>
                </a:path>
                <a:path w="2432050" h="1925320">
                  <a:moveTo>
                    <a:pt x="1044322" y="1925171"/>
                  </a:moveTo>
                  <a:lnTo>
                    <a:pt x="1044322" y="1890314"/>
                  </a:lnTo>
                </a:path>
                <a:path w="2432050" h="1925320">
                  <a:moveTo>
                    <a:pt x="1506755" y="1925171"/>
                  </a:moveTo>
                  <a:lnTo>
                    <a:pt x="1506755" y="1890314"/>
                  </a:lnTo>
                </a:path>
                <a:path w="2432050" h="1925320">
                  <a:moveTo>
                    <a:pt x="1969061" y="1925171"/>
                  </a:moveTo>
                  <a:lnTo>
                    <a:pt x="1969061" y="1890314"/>
                  </a:lnTo>
                </a:path>
                <a:path w="2432050" h="1925320">
                  <a:moveTo>
                    <a:pt x="2431494" y="1925171"/>
                  </a:moveTo>
                  <a:lnTo>
                    <a:pt x="2431494" y="1890314"/>
                  </a:lnTo>
                </a:path>
              </a:pathLst>
            </a:custGeom>
            <a:ln w="6742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762325" y="3223885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40" name="object 40"/>
          <p:cNvSpPr txBox="1"/>
          <p:nvPr/>
        </p:nvSpPr>
        <p:spPr>
          <a:xfrm>
            <a:off x="5829241" y="2494296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9241" y="1764835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75031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−3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7337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99771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857967" y="3758958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20400" y="3758958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296560" y="3758958"/>
            <a:ext cx="188595" cy="33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dirty="0">
                <a:latin typeface="Arial"/>
                <a:cs typeface="Arial"/>
              </a:rPr>
              <a:t>v1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87654" y="2422448"/>
            <a:ext cx="165735" cy="1733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70"/>
              </a:lnSpc>
            </a:pPr>
            <a:r>
              <a:rPr sz="1100" dirty="0">
                <a:latin typeface="Arial"/>
                <a:cs typeface="Arial"/>
              </a:rPr>
              <a:t>v2</a:t>
            </a:r>
            <a:endParaRPr sz="1100">
              <a:latin typeface="Arial"/>
              <a:cs typeface="Arial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3A2485-D130-4E04-BEE8-E135D003F1E1}"/>
              </a:ext>
            </a:extLst>
          </p:cNvPr>
          <p:cNvCxnSpPr/>
          <p:nvPr/>
        </p:nvCxnSpPr>
        <p:spPr>
          <a:xfrm>
            <a:off x="7425728" y="1407653"/>
            <a:ext cx="0" cy="23337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62EFE47-ACB6-42C7-83B6-6C98AF99127E}"/>
              </a:ext>
            </a:extLst>
          </p:cNvPr>
          <p:cNvCxnSpPr/>
          <p:nvPr/>
        </p:nvCxnSpPr>
        <p:spPr>
          <a:xfrm>
            <a:off x="6078819" y="2571750"/>
            <a:ext cx="25725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0784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109085" cy="5435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6725" marR="5080" indent="-454025">
              <a:lnSpc>
                <a:spcPct val="78900"/>
              </a:lnSpc>
              <a:spcBef>
                <a:spcPts val="58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What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do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we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mean 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for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dimensionality  reduction?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304" y="1731264"/>
            <a:ext cx="4646930" cy="255428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520700" marR="68580" indent="-457200">
              <a:lnSpc>
                <a:spcPct val="78800"/>
              </a:lnSpc>
              <a:spcBef>
                <a:spcPts val="530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20065" algn="l"/>
                <a:tab pos="5207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Imagine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</a:t>
            </a:r>
            <a:r>
              <a:rPr sz="1700" spc="-20" dirty="0">
                <a:solidFill>
                  <a:srgbClr val="000090"/>
                </a:solidFill>
                <a:latin typeface="Calibri"/>
                <a:cs typeface="Calibri"/>
              </a:rPr>
              <a:t>have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data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right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plot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over 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two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variables, </a:t>
            </a:r>
            <a:r>
              <a:rPr sz="1700" i="1" dirty="0">
                <a:solidFill>
                  <a:srgbClr val="000090"/>
                </a:solidFill>
                <a:latin typeface="Calibri"/>
                <a:cs typeface="Calibri"/>
              </a:rPr>
              <a:t>v</a:t>
            </a:r>
            <a:r>
              <a:rPr sz="1650" i="1" baseline="-15151" dirty="0">
                <a:solidFill>
                  <a:srgbClr val="000090"/>
                </a:solidFill>
                <a:latin typeface="Calibri"/>
                <a:cs typeface="Calibri"/>
              </a:rPr>
              <a:t>1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and</a:t>
            </a:r>
            <a:r>
              <a:rPr sz="1700" spc="-8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i="1" spc="5" dirty="0">
                <a:solidFill>
                  <a:srgbClr val="000090"/>
                </a:solidFill>
                <a:latin typeface="Calibri"/>
                <a:cs typeface="Calibri"/>
              </a:rPr>
              <a:t>v</a:t>
            </a:r>
            <a:r>
              <a:rPr sz="1650" i="1" spc="7" baseline="-15151" dirty="0">
                <a:solidFill>
                  <a:srgbClr val="000090"/>
                </a:solidFill>
                <a:latin typeface="Calibri"/>
                <a:cs typeface="Calibri"/>
              </a:rPr>
              <a:t>2</a:t>
            </a:r>
            <a:r>
              <a:rPr sz="1700" spc="5" dirty="0">
                <a:solidFill>
                  <a:srgbClr val="000090"/>
                </a:solidFill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520700" marR="108585" indent="-457200">
              <a:lnSpc>
                <a:spcPts val="1700"/>
              </a:lnSpc>
              <a:spcBef>
                <a:spcPts val="509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20065" algn="l"/>
                <a:tab pos="5207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Imagine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we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want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reduce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our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problem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so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use only one</a:t>
            </a:r>
            <a:r>
              <a:rPr sz="1700" spc="2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variable.</a:t>
            </a:r>
            <a:endParaRPr sz="1700" dirty="0"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Data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right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plot has high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entropy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(</a:t>
            </a:r>
            <a:r>
              <a:rPr sz="1700" i="1" dirty="0">
                <a:solidFill>
                  <a:srgbClr val="3366FF"/>
                </a:solidFill>
                <a:latin typeface="Calibri"/>
                <a:cs typeface="Calibri"/>
              </a:rPr>
              <a:t>high  disorder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)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and it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cannot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be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compressed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into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a 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lower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dimensionality space without losing 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information.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0495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Dimensionality</a:t>
            </a:r>
            <a:r>
              <a:rPr spc="-60" dirty="0"/>
              <a:t> </a:t>
            </a:r>
            <a:r>
              <a:rPr spc="-5" dirty="0"/>
              <a:t>reduction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18776" y="1322089"/>
            <a:ext cx="2865052" cy="2499322"/>
            <a:chOff x="5933410" y="1276937"/>
            <a:chExt cx="2865052" cy="2499322"/>
          </a:xfrm>
        </p:grpSpPr>
        <p:sp>
          <p:nvSpPr>
            <p:cNvPr id="6" name="object 6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397781"/>
                  </a:moveTo>
                  <a:lnTo>
                    <a:pt x="2829810" y="2397781"/>
                  </a:lnTo>
                </a:path>
                <a:path w="2830195" h="2464435">
                  <a:moveTo>
                    <a:pt x="0" y="1668320"/>
                  </a:moveTo>
                  <a:lnTo>
                    <a:pt x="2829810" y="1668320"/>
                  </a:lnTo>
                </a:path>
                <a:path w="2830195" h="2464435">
                  <a:moveTo>
                    <a:pt x="0" y="938732"/>
                  </a:moveTo>
                  <a:lnTo>
                    <a:pt x="2829810" y="938732"/>
                  </a:lnTo>
                </a:path>
                <a:path w="2830195" h="2464435">
                  <a:moveTo>
                    <a:pt x="0" y="209144"/>
                  </a:moveTo>
                  <a:lnTo>
                    <a:pt x="2829810" y="209144"/>
                  </a:lnTo>
                </a:path>
                <a:path w="2830195" h="2464435">
                  <a:moveTo>
                    <a:pt x="315879" y="2464316"/>
                  </a:moveTo>
                  <a:lnTo>
                    <a:pt x="315879" y="0"/>
                  </a:lnTo>
                </a:path>
                <a:path w="2830195" h="2464435">
                  <a:moveTo>
                    <a:pt x="778312" y="2464316"/>
                  </a:moveTo>
                  <a:lnTo>
                    <a:pt x="778312" y="0"/>
                  </a:lnTo>
                </a:path>
                <a:path w="2830195" h="2464435">
                  <a:moveTo>
                    <a:pt x="1240618" y="2464316"/>
                  </a:moveTo>
                  <a:lnTo>
                    <a:pt x="1240618" y="0"/>
                  </a:lnTo>
                </a:path>
                <a:path w="2830195" h="2464435">
                  <a:moveTo>
                    <a:pt x="1703051" y="2464316"/>
                  </a:moveTo>
                  <a:lnTo>
                    <a:pt x="1703051" y="0"/>
                  </a:lnTo>
                </a:path>
                <a:path w="2830195" h="2464435">
                  <a:moveTo>
                    <a:pt x="2165484" y="2464316"/>
                  </a:moveTo>
                  <a:lnTo>
                    <a:pt x="2165484" y="0"/>
                  </a:lnTo>
                </a:path>
                <a:path w="2830195" h="2464435">
                  <a:moveTo>
                    <a:pt x="2627789" y="2464316"/>
                  </a:moveTo>
                  <a:lnTo>
                    <a:pt x="2627789" y="0"/>
                  </a:lnTo>
                </a:path>
              </a:pathLst>
            </a:custGeom>
            <a:ln w="3434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033051"/>
                  </a:moveTo>
                  <a:lnTo>
                    <a:pt x="2829810" y="2033051"/>
                  </a:lnTo>
                </a:path>
                <a:path w="2830195" h="2464435">
                  <a:moveTo>
                    <a:pt x="0" y="1303463"/>
                  </a:moveTo>
                  <a:lnTo>
                    <a:pt x="2829810" y="1303463"/>
                  </a:lnTo>
                </a:path>
                <a:path w="2830195" h="2464435">
                  <a:moveTo>
                    <a:pt x="0" y="574002"/>
                  </a:moveTo>
                  <a:lnTo>
                    <a:pt x="2829810" y="574002"/>
                  </a:lnTo>
                </a:path>
                <a:path w="2830195" h="2464435">
                  <a:moveTo>
                    <a:pt x="84726" y="2464316"/>
                  </a:moveTo>
                  <a:lnTo>
                    <a:pt x="84726" y="0"/>
                  </a:lnTo>
                </a:path>
                <a:path w="2830195" h="2464435">
                  <a:moveTo>
                    <a:pt x="547032" y="2464316"/>
                  </a:moveTo>
                  <a:lnTo>
                    <a:pt x="547032" y="0"/>
                  </a:lnTo>
                </a:path>
                <a:path w="2830195" h="2464435">
                  <a:moveTo>
                    <a:pt x="1009465" y="2464316"/>
                  </a:moveTo>
                  <a:lnTo>
                    <a:pt x="1009465" y="0"/>
                  </a:lnTo>
                </a:path>
                <a:path w="2830195" h="2464435">
                  <a:moveTo>
                    <a:pt x="1471898" y="2464316"/>
                  </a:moveTo>
                  <a:lnTo>
                    <a:pt x="1471898" y="0"/>
                  </a:lnTo>
                </a:path>
                <a:path w="2830195" h="2464435">
                  <a:moveTo>
                    <a:pt x="1934203" y="2464316"/>
                  </a:moveTo>
                  <a:lnTo>
                    <a:pt x="1934203" y="0"/>
                  </a:lnTo>
                </a:path>
                <a:path w="2830195" h="2464435">
                  <a:moveTo>
                    <a:pt x="2396636" y="2464316"/>
                  </a:moveTo>
                  <a:lnTo>
                    <a:pt x="2396636" y="0"/>
                  </a:lnTo>
                </a:path>
              </a:pathLst>
            </a:custGeom>
            <a:ln w="6742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50895" y="239530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50895" y="239530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93807" y="2625308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02" y="1427"/>
                  </a:lnTo>
                  <a:lnTo>
                    <a:pt x="5263" y="5311"/>
                  </a:lnTo>
                  <a:lnTo>
                    <a:pt x="1409" y="11055"/>
                  </a:lnTo>
                  <a:lnTo>
                    <a:pt x="0" y="18064"/>
                  </a:lnTo>
                  <a:lnTo>
                    <a:pt x="1409" y="25147"/>
                  </a:lnTo>
                  <a:lnTo>
                    <a:pt x="5263" y="30929"/>
                  </a:lnTo>
                  <a:lnTo>
                    <a:pt x="11002" y="34827"/>
                  </a:lnTo>
                  <a:lnTo>
                    <a:pt x="18064" y="36256"/>
                  </a:lnTo>
                  <a:lnTo>
                    <a:pt x="25073" y="34827"/>
                  </a:lnTo>
                  <a:lnTo>
                    <a:pt x="30818" y="30929"/>
                  </a:lnTo>
                  <a:lnTo>
                    <a:pt x="34702" y="25147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3807" y="2625308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064"/>
                  </a:moveTo>
                  <a:lnTo>
                    <a:pt x="1409" y="11055"/>
                  </a:lnTo>
                  <a:lnTo>
                    <a:pt x="5263" y="5311"/>
                  </a:lnTo>
                  <a:lnTo>
                    <a:pt x="11002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147"/>
                  </a:lnTo>
                  <a:lnTo>
                    <a:pt x="30818" y="30929"/>
                  </a:lnTo>
                  <a:lnTo>
                    <a:pt x="25073" y="34827"/>
                  </a:lnTo>
                  <a:lnTo>
                    <a:pt x="18064" y="36256"/>
                  </a:lnTo>
                  <a:lnTo>
                    <a:pt x="11002" y="34827"/>
                  </a:lnTo>
                  <a:lnTo>
                    <a:pt x="5263" y="30929"/>
                  </a:lnTo>
                  <a:lnTo>
                    <a:pt x="1409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4502" y="1591544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94502" y="1591544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22818" y="1370823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147"/>
                  </a:lnTo>
                  <a:lnTo>
                    <a:pt x="5311" y="30929"/>
                  </a:lnTo>
                  <a:lnTo>
                    <a:pt x="11055" y="34827"/>
                  </a:lnTo>
                  <a:lnTo>
                    <a:pt x="18064" y="36256"/>
                  </a:lnTo>
                  <a:lnTo>
                    <a:pt x="25073" y="34827"/>
                  </a:lnTo>
                  <a:lnTo>
                    <a:pt x="30818" y="30929"/>
                  </a:lnTo>
                  <a:lnTo>
                    <a:pt x="34702" y="25147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62840" y="3226025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62840" y="3226025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19841" y="33935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147"/>
                  </a:lnTo>
                  <a:lnTo>
                    <a:pt x="5311" y="30929"/>
                  </a:lnTo>
                  <a:lnTo>
                    <a:pt x="11055" y="34827"/>
                  </a:lnTo>
                  <a:lnTo>
                    <a:pt x="18064" y="36256"/>
                  </a:lnTo>
                  <a:lnTo>
                    <a:pt x="25147" y="34827"/>
                  </a:lnTo>
                  <a:lnTo>
                    <a:pt x="30929" y="30929"/>
                  </a:lnTo>
                  <a:lnTo>
                    <a:pt x="34827" y="25147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19841" y="33935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147"/>
                  </a:lnTo>
                  <a:lnTo>
                    <a:pt x="30929" y="30929"/>
                  </a:lnTo>
                  <a:lnTo>
                    <a:pt x="25147" y="34827"/>
                  </a:lnTo>
                  <a:lnTo>
                    <a:pt x="18064" y="36256"/>
                  </a:lnTo>
                  <a:lnTo>
                    <a:pt x="11055" y="34827"/>
                  </a:lnTo>
                  <a:lnTo>
                    <a:pt x="5311" y="30929"/>
                  </a:lnTo>
                  <a:lnTo>
                    <a:pt x="1427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64823" y="17045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64823" y="17045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14864" y="3373215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14864" y="3373215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78967" y="2509907"/>
              <a:ext cx="2078340" cy="7499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8517819" y="312348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9"/>
                  </a:lnTo>
                  <a:lnTo>
                    <a:pt x="5311" y="5327"/>
                  </a:lnTo>
                  <a:lnTo>
                    <a:pt x="1427" y="11109"/>
                  </a:lnTo>
                  <a:lnTo>
                    <a:pt x="0" y="18192"/>
                  </a:lnTo>
                  <a:lnTo>
                    <a:pt x="1427" y="25200"/>
                  </a:lnTo>
                  <a:lnTo>
                    <a:pt x="5311" y="30945"/>
                  </a:lnTo>
                  <a:lnTo>
                    <a:pt x="11055" y="34829"/>
                  </a:lnTo>
                  <a:lnTo>
                    <a:pt x="18064" y="36256"/>
                  </a:lnTo>
                  <a:lnTo>
                    <a:pt x="25073" y="34829"/>
                  </a:lnTo>
                  <a:lnTo>
                    <a:pt x="30818" y="30945"/>
                  </a:lnTo>
                  <a:lnTo>
                    <a:pt x="34702" y="25200"/>
                  </a:lnTo>
                  <a:lnTo>
                    <a:pt x="36129" y="18192"/>
                  </a:lnTo>
                  <a:lnTo>
                    <a:pt x="34702" y="11109"/>
                  </a:lnTo>
                  <a:lnTo>
                    <a:pt x="30818" y="5327"/>
                  </a:lnTo>
                  <a:lnTo>
                    <a:pt x="25073" y="1429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17819" y="312348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192"/>
                  </a:moveTo>
                  <a:lnTo>
                    <a:pt x="1427" y="11109"/>
                  </a:lnTo>
                  <a:lnTo>
                    <a:pt x="5311" y="5327"/>
                  </a:lnTo>
                  <a:lnTo>
                    <a:pt x="11055" y="1429"/>
                  </a:lnTo>
                  <a:lnTo>
                    <a:pt x="18064" y="0"/>
                  </a:lnTo>
                  <a:lnTo>
                    <a:pt x="25073" y="1429"/>
                  </a:lnTo>
                  <a:lnTo>
                    <a:pt x="30818" y="5327"/>
                  </a:lnTo>
                  <a:lnTo>
                    <a:pt x="34702" y="11109"/>
                  </a:lnTo>
                  <a:lnTo>
                    <a:pt x="36129" y="18192"/>
                  </a:lnTo>
                  <a:lnTo>
                    <a:pt x="34702" y="25200"/>
                  </a:lnTo>
                  <a:lnTo>
                    <a:pt x="30818" y="30945"/>
                  </a:lnTo>
                  <a:lnTo>
                    <a:pt x="25073" y="34829"/>
                  </a:lnTo>
                  <a:lnTo>
                    <a:pt x="18064" y="36256"/>
                  </a:lnTo>
                  <a:lnTo>
                    <a:pt x="11055" y="34829"/>
                  </a:lnTo>
                  <a:lnTo>
                    <a:pt x="5311" y="30945"/>
                  </a:lnTo>
                  <a:lnTo>
                    <a:pt x="1427" y="25200"/>
                  </a:lnTo>
                  <a:lnTo>
                    <a:pt x="0" y="18192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51396" y="320439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9"/>
                  </a:lnTo>
                  <a:lnTo>
                    <a:pt x="5311" y="5327"/>
                  </a:lnTo>
                  <a:lnTo>
                    <a:pt x="1427" y="11109"/>
                  </a:lnTo>
                  <a:lnTo>
                    <a:pt x="0" y="18192"/>
                  </a:lnTo>
                  <a:lnTo>
                    <a:pt x="1427" y="25200"/>
                  </a:lnTo>
                  <a:lnTo>
                    <a:pt x="5311" y="30945"/>
                  </a:lnTo>
                  <a:lnTo>
                    <a:pt x="11055" y="34829"/>
                  </a:lnTo>
                  <a:lnTo>
                    <a:pt x="18064" y="36256"/>
                  </a:lnTo>
                  <a:lnTo>
                    <a:pt x="25073" y="34829"/>
                  </a:lnTo>
                  <a:lnTo>
                    <a:pt x="30818" y="30945"/>
                  </a:lnTo>
                  <a:lnTo>
                    <a:pt x="34702" y="25200"/>
                  </a:lnTo>
                  <a:lnTo>
                    <a:pt x="36129" y="18192"/>
                  </a:lnTo>
                  <a:lnTo>
                    <a:pt x="34702" y="11109"/>
                  </a:lnTo>
                  <a:lnTo>
                    <a:pt x="30818" y="5327"/>
                  </a:lnTo>
                  <a:lnTo>
                    <a:pt x="25073" y="1429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651396" y="320439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192"/>
                  </a:moveTo>
                  <a:lnTo>
                    <a:pt x="1427" y="11109"/>
                  </a:lnTo>
                  <a:lnTo>
                    <a:pt x="5311" y="5327"/>
                  </a:lnTo>
                  <a:lnTo>
                    <a:pt x="11055" y="1429"/>
                  </a:lnTo>
                  <a:lnTo>
                    <a:pt x="18064" y="0"/>
                  </a:lnTo>
                  <a:lnTo>
                    <a:pt x="25073" y="1429"/>
                  </a:lnTo>
                  <a:lnTo>
                    <a:pt x="30818" y="5327"/>
                  </a:lnTo>
                  <a:lnTo>
                    <a:pt x="34702" y="11109"/>
                  </a:lnTo>
                  <a:lnTo>
                    <a:pt x="36129" y="18192"/>
                  </a:lnTo>
                  <a:lnTo>
                    <a:pt x="34702" y="25200"/>
                  </a:lnTo>
                  <a:lnTo>
                    <a:pt x="30818" y="30945"/>
                  </a:lnTo>
                  <a:lnTo>
                    <a:pt x="25073" y="34829"/>
                  </a:lnTo>
                  <a:lnTo>
                    <a:pt x="18064" y="36256"/>
                  </a:lnTo>
                  <a:lnTo>
                    <a:pt x="11055" y="34829"/>
                  </a:lnTo>
                  <a:lnTo>
                    <a:pt x="5311" y="30945"/>
                  </a:lnTo>
                  <a:lnTo>
                    <a:pt x="1427" y="25200"/>
                  </a:lnTo>
                  <a:lnTo>
                    <a:pt x="0" y="18192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89533" y="341341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89533" y="341341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99553" y="1628437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192" y="0"/>
                  </a:moveTo>
                  <a:lnTo>
                    <a:pt x="11109" y="1427"/>
                  </a:lnTo>
                  <a:lnTo>
                    <a:pt x="5327" y="5311"/>
                  </a:lnTo>
                  <a:lnTo>
                    <a:pt x="1429" y="11055"/>
                  </a:lnTo>
                  <a:lnTo>
                    <a:pt x="0" y="18064"/>
                  </a:lnTo>
                  <a:lnTo>
                    <a:pt x="1429" y="25073"/>
                  </a:lnTo>
                  <a:lnTo>
                    <a:pt x="5327" y="30818"/>
                  </a:lnTo>
                  <a:lnTo>
                    <a:pt x="11109" y="34702"/>
                  </a:lnTo>
                  <a:lnTo>
                    <a:pt x="18192" y="36129"/>
                  </a:lnTo>
                  <a:lnTo>
                    <a:pt x="25200" y="34702"/>
                  </a:lnTo>
                  <a:lnTo>
                    <a:pt x="30945" y="30818"/>
                  </a:lnTo>
                  <a:lnTo>
                    <a:pt x="34829" y="25073"/>
                  </a:lnTo>
                  <a:lnTo>
                    <a:pt x="36256" y="18064"/>
                  </a:lnTo>
                  <a:lnTo>
                    <a:pt x="34829" y="11055"/>
                  </a:lnTo>
                  <a:lnTo>
                    <a:pt x="30945" y="5311"/>
                  </a:lnTo>
                  <a:lnTo>
                    <a:pt x="25200" y="1427"/>
                  </a:lnTo>
                  <a:lnTo>
                    <a:pt x="18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99553" y="1628437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9" y="11055"/>
                  </a:lnTo>
                  <a:lnTo>
                    <a:pt x="5327" y="5311"/>
                  </a:lnTo>
                  <a:lnTo>
                    <a:pt x="11109" y="1427"/>
                  </a:lnTo>
                  <a:lnTo>
                    <a:pt x="18192" y="0"/>
                  </a:lnTo>
                  <a:lnTo>
                    <a:pt x="25200" y="1427"/>
                  </a:lnTo>
                  <a:lnTo>
                    <a:pt x="30945" y="5311"/>
                  </a:lnTo>
                  <a:lnTo>
                    <a:pt x="34829" y="11055"/>
                  </a:lnTo>
                  <a:lnTo>
                    <a:pt x="36256" y="18064"/>
                  </a:lnTo>
                  <a:lnTo>
                    <a:pt x="34829" y="25073"/>
                  </a:lnTo>
                  <a:lnTo>
                    <a:pt x="30945" y="30818"/>
                  </a:lnTo>
                  <a:lnTo>
                    <a:pt x="25200" y="34702"/>
                  </a:lnTo>
                  <a:lnTo>
                    <a:pt x="18192" y="36129"/>
                  </a:lnTo>
                  <a:lnTo>
                    <a:pt x="11109" y="34702"/>
                  </a:lnTo>
                  <a:lnTo>
                    <a:pt x="5327" y="30818"/>
                  </a:lnTo>
                  <a:lnTo>
                    <a:pt x="1429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06646" y="3611111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18192" y="0"/>
                  </a:moveTo>
                  <a:lnTo>
                    <a:pt x="11109" y="1427"/>
                  </a:lnTo>
                  <a:lnTo>
                    <a:pt x="5327" y="5311"/>
                  </a:lnTo>
                  <a:lnTo>
                    <a:pt x="1429" y="11055"/>
                  </a:lnTo>
                  <a:lnTo>
                    <a:pt x="0" y="18064"/>
                  </a:lnTo>
                  <a:lnTo>
                    <a:pt x="1429" y="25127"/>
                  </a:lnTo>
                  <a:lnTo>
                    <a:pt x="5327" y="30865"/>
                  </a:lnTo>
                  <a:lnTo>
                    <a:pt x="11109" y="34720"/>
                  </a:lnTo>
                  <a:lnTo>
                    <a:pt x="18192" y="36129"/>
                  </a:lnTo>
                  <a:lnTo>
                    <a:pt x="25200" y="34720"/>
                  </a:lnTo>
                  <a:lnTo>
                    <a:pt x="30945" y="30865"/>
                  </a:lnTo>
                  <a:lnTo>
                    <a:pt x="34829" y="25127"/>
                  </a:lnTo>
                  <a:lnTo>
                    <a:pt x="36256" y="18064"/>
                  </a:lnTo>
                  <a:lnTo>
                    <a:pt x="34829" y="11055"/>
                  </a:lnTo>
                  <a:lnTo>
                    <a:pt x="30945" y="5311"/>
                  </a:lnTo>
                  <a:lnTo>
                    <a:pt x="25200" y="1427"/>
                  </a:lnTo>
                  <a:lnTo>
                    <a:pt x="18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206646" y="3611111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0" y="18064"/>
                  </a:moveTo>
                  <a:lnTo>
                    <a:pt x="1429" y="11055"/>
                  </a:lnTo>
                  <a:lnTo>
                    <a:pt x="5327" y="5311"/>
                  </a:lnTo>
                  <a:lnTo>
                    <a:pt x="11109" y="1427"/>
                  </a:lnTo>
                  <a:lnTo>
                    <a:pt x="18192" y="0"/>
                  </a:lnTo>
                  <a:lnTo>
                    <a:pt x="25200" y="1427"/>
                  </a:lnTo>
                  <a:lnTo>
                    <a:pt x="30945" y="5311"/>
                  </a:lnTo>
                  <a:lnTo>
                    <a:pt x="34829" y="11055"/>
                  </a:lnTo>
                  <a:lnTo>
                    <a:pt x="36256" y="18064"/>
                  </a:lnTo>
                  <a:lnTo>
                    <a:pt x="34829" y="25127"/>
                  </a:lnTo>
                  <a:lnTo>
                    <a:pt x="30945" y="30865"/>
                  </a:lnTo>
                  <a:lnTo>
                    <a:pt x="25200" y="34720"/>
                  </a:lnTo>
                  <a:lnTo>
                    <a:pt x="18192" y="36129"/>
                  </a:lnTo>
                  <a:lnTo>
                    <a:pt x="11109" y="34720"/>
                  </a:lnTo>
                  <a:lnTo>
                    <a:pt x="5327" y="30865"/>
                  </a:lnTo>
                  <a:lnTo>
                    <a:pt x="1429" y="2512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78819" y="3004796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78819" y="3004796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464316"/>
                  </a:moveTo>
                  <a:lnTo>
                    <a:pt x="2829810" y="2464316"/>
                  </a:lnTo>
                  <a:lnTo>
                    <a:pt x="2829810" y="0"/>
                  </a:lnTo>
                  <a:lnTo>
                    <a:pt x="0" y="0"/>
                  </a:lnTo>
                  <a:lnTo>
                    <a:pt x="0" y="2464316"/>
                  </a:lnTo>
                  <a:close/>
                </a:path>
              </a:pathLst>
            </a:custGeom>
            <a:ln w="13612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33410" y="1850939"/>
              <a:ext cx="2432050" cy="1925320"/>
            </a:xfrm>
            <a:custGeom>
              <a:avLst/>
              <a:gdLst/>
              <a:ahLst/>
              <a:cxnLst/>
              <a:rect l="l" t="t" r="r" b="b"/>
              <a:pathLst>
                <a:path w="2432050" h="1925320">
                  <a:moveTo>
                    <a:pt x="0" y="1459049"/>
                  </a:moveTo>
                  <a:lnTo>
                    <a:pt x="34857" y="1459049"/>
                  </a:lnTo>
                </a:path>
                <a:path w="2432050" h="1925320">
                  <a:moveTo>
                    <a:pt x="0" y="729461"/>
                  </a:moveTo>
                  <a:lnTo>
                    <a:pt x="34857" y="729461"/>
                  </a:lnTo>
                </a:path>
                <a:path w="2432050" h="1925320">
                  <a:moveTo>
                    <a:pt x="0" y="0"/>
                  </a:moveTo>
                  <a:lnTo>
                    <a:pt x="34857" y="0"/>
                  </a:lnTo>
                </a:path>
                <a:path w="2432050" h="1925320">
                  <a:moveTo>
                    <a:pt x="119583" y="1925171"/>
                  </a:moveTo>
                  <a:lnTo>
                    <a:pt x="119583" y="1890314"/>
                  </a:lnTo>
                </a:path>
                <a:path w="2432050" h="1925320">
                  <a:moveTo>
                    <a:pt x="581889" y="1925171"/>
                  </a:moveTo>
                  <a:lnTo>
                    <a:pt x="581889" y="1890314"/>
                  </a:lnTo>
                </a:path>
                <a:path w="2432050" h="1925320">
                  <a:moveTo>
                    <a:pt x="1044322" y="1925171"/>
                  </a:moveTo>
                  <a:lnTo>
                    <a:pt x="1044322" y="1890314"/>
                  </a:lnTo>
                </a:path>
                <a:path w="2432050" h="1925320">
                  <a:moveTo>
                    <a:pt x="1506755" y="1925171"/>
                  </a:moveTo>
                  <a:lnTo>
                    <a:pt x="1506755" y="1890314"/>
                  </a:lnTo>
                </a:path>
                <a:path w="2432050" h="1925320">
                  <a:moveTo>
                    <a:pt x="1969061" y="1925171"/>
                  </a:moveTo>
                  <a:lnTo>
                    <a:pt x="1969061" y="1890314"/>
                  </a:lnTo>
                </a:path>
                <a:path w="2432050" h="1925320">
                  <a:moveTo>
                    <a:pt x="2431494" y="1925171"/>
                  </a:moveTo>
                  <a:lnTo>
                    <a:pt x="2431494" y="1890314"/>
                  </a:lnTo>
                </a:path>
              </a:pathLst>
            </a:custGeom>
            <a:ln w="6742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829241" y="2494296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9241" y="1764835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87654" y="2422448"/>
            <a:ext cx="165735" cy="1733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70"/>
              </a:lnSpc>
            </a:pPr>
            <a:r>
              <a:rPr sz="1100" dirty="0">
                <a:latin typeface="Arial"/>
                <a:cs typeface="Arial"/>
              </a:rPr>
              <a:t>v2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3A2485-D130-4E04-BEE8-E135D003F1E1}"/>
              </a:ext>
            </a:extLst>
          </p:cNvPr>
          <p:cNvCxnSpPr/>
          <p:nvPr/>
        </p:nvCxnSpPr>
        <p:spPr>
          <a:xfrm>
            <a:off x="7425728" y="1407653"/>
            <a:ext cx="0" cy="23337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62EFE47-ACB6-42C7-83B6-6C98AF99127E}"/>
              </a:ext>
            </a:extLst>
          </p:cNvPr>
          <p:cNvCxnSpPr/>
          <p:nvPr/>
        </p:nvCxnSpPr>
        <p:spPr>
          <a:xfrm>
            <a:off x="6078819" y="2571750"/>
            <a:ext cx="25725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bject 48">
            <a:extLst>
              <a:ext uri="{FF2B5EF4-FFF2-40B4-BE49-F238E27FC236}">
                <a16:creationId xmlns:a16="http://schemas.microsoft.com/office/drawing/2014/main" id="{DE1DB600-6C08-4CA8-BC3B-66281222B04D}"/>
              </a:ext>
            </a:extLst>
          </p:cNvPr>
          <p:cNvSpPr txBox="1"/>
          <p:nvPr/>
        </p:nvSpPr>
        <p:spPr>
          <a:xfrm rot="5400000">
            <a:off x="7160567" y="4094003"/>
            <a:ext cx="153888" cy="1733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70"/>
              </a:lnSpc>
            </a:pPr>
            <a:r>
              <a:rPr lang="en-US" sz="1100" dirty="0">
                <a:latin typeface="Arial"/>
                <a:cs typeface="Arial"/>
              </a:rPr>
              <a:t>v1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EACE6F9-E849-4739-8856-9E7CC5F4C26D}"/>
              </a:ext>
            </a:extLst>
          </p:cNvPr>
          <p:cNvSpPr/>
          <p:nvPr/>
        </p:nvSpPr>
        <p:spPr>
          <a:xfrm>
            <a:off x="6047621" y="3033043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A88E973-D839-41E3-8928-6D2BECCF1706}"/>
              </a:ext>
            </a:extLst>
          </p:cNvPr>
          <p:cNvSpPr/>
          <p:nvPr/>
        </p:nvSpPr>
        <p:spPr>
          <a:xfrm>
            <a:off x="6307353" y="2681982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F28460E-B697-48F3-A482-E2E7A1289A35}"/>
              </a:ext>
            </a:extLst>
          </p:cNvPr>
          <p:cNvSpPr/>
          <p:nvPr/>
        </p:nvSpPr>
        <p:spPr>
          <a:xfrm>
            <a:off x="7007934" y="3272186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B532CB7-59B1-4384-A9B4-F0A96D4942F7}"/>
              </a:ext>
            </a:extLst>
          </p:cNvPr>
          <p:cNvSpPr/>
          <p:nvPr/>
        </p:nvSpPr>
        <p:spPr>
          <a:xfrm>
            <a:off x="6986696" y="3435468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4D728B-1C26-4F29-A821-56FA67FFBDB0}"/>
              </a:ext>
            </a:extLst>
          </p:cNvPr>
          <p:cNvSpPr/>
          <p:nvPr/>
        </p:nvSpPr>
        <p:spPr>
          <a:xfrm>
            <a:off x="7153416" y="3378362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BDD64D6-EDA9-4378-ADB2-59888C5B0D41}"/>
              </a:ext>
            </a:extLst>
          </p:cNvPr>
          <p:cNvSpPr/>
          <p:nvPr/>
        </p:nvSpPr>
        <p:spPr>
          <a:xfrm>
            <a:off x="7291890" y="3423681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F0B60F2-BBE9-485D-88A7-C3E28FCB4FAB}"/>
              </a:ext>
            </a:extLst>
          </p:cNvPr>
          <p:cNvSpPr/>
          <p:nvPr/>
        </p:nvSpPr>
        <p:spPr>
          <a:xfrm>
            <a:off x="8156419" y="3618163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27B5884-F291-4767-92A7-9BDB70FEF57E}"/>
              </a:ext>
            </a:extLst>
          </p:cNvPr>
          <p:cNvSpPr/>
          <p:nvPr/>
        </p:nvSpPr>
        <p:spPr>
          <a:xfrm>
            <a:off x="8440978" y="3132855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1CDA203-906A-4EFC-B731-026279913B7E}"/>
              </a:ext>
            </a:extLst>
          </p:cNvPr>
          <p:cNvSpPr/>
          <p:nvPr/>
        </p:nvSpPr>
        <p:spPr>
          <a:xfrm>
            <a:off x="8590853" y="3229866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D88D547-17D6-4698-A215-7F42FBA43E43}"/>
              </a:ext>
            </a:extLst>
          </p:cNvPr>
          <p:cNvSpPr/>
          <p:nvPr/>
        </p:nvSpPr>
        <p:spPr>
          <a:xfrm>
            <a:off x="7225860" y="1646045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84EC721-78DC-4564-A9F6-0581BA2B46FB}"/>
              </a:ext>
            </a:extLst>
          </p:cNvPr>
          <p:cNvSpPr/>
          <p:nvPr/>
        </p:nvSpPr>
        <p:spPr>
          <a:xfrm>
            <a:off x="7784919" y="1653586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D689007-687D-4818-A7A6-2B6E8F813FB4}"/>
              </a:ext>
            </a:extLst>
          </p:cNvPr>
          <p:cNvSpPr/>
          <p:nvPr/>
        </p:nvSpPr>
        <p:spPr>
          <a:xfrm>
            <a:off x="7664892" y="1709660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0F9B4F9-0290-4944-ADB3-F4E8BDDEBEAB}"/>
              </a:ext>
            </a:extLst>
          </p:cNvPr>
          <p:cNvSpPr/>
          <p:nvPr/>
        </p:nvSpPr>
        <p:spPr>
          <a:xfrm>
            <a:off x="7954176" y="1408403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4D6DC55-6ACF-4F21-B735-1713B2C6DA1A}"/>
              </a:ext>
            </a:extLst>
          </p:cNvPr>
          <p:cNvSpPr/>
          <p:nvPr/>
        </p:nvSpPr>
        <p:spPr>
          <a:xfrm>
            <a:off x="8482838" y="2398452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694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109085" cy="54356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6725" marR="5080" indent="-454025">
              <a:lnSpc>
                <a:spcPct val="78900"/>
              </a:lnSpc>
              <a:spcBef>
                <a:spcPts val="58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What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do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we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mean </a:t>
            </a:r>
            <a:r>
              <a:rPr sz="1900" spc="-20" dirty="0">
                <a:solidFill>
                  <a:srgbClr val="00026A"/>
                </a:solidFill>
                <a:latin typeface="Calibri"/>
                <a:cs typeface="Calibri"/>
              </a:rPr>
              <a:t>for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dimensionality  reduction?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9304" y="1731264"/>
            <a:ext cx="4646930" cy="255428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520700" marR="68580" indent="-457200">
              <a:lnSpc>
                <a:spcPct val="78800"/>
              </a:lnSpc>
              <a:spcBef>
                <a:spcPts val="530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20065" algn="l"/>
                <a:tab pos="5207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Imagine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</a:t>
            </a:r>
            <a:r>
              <a:rPr sz="1700" spc="-20" dirty="0">
                <a:solidFill>
                  <a:srgbClr val="000090"/>
                </a:solidFill>
                <a:latin typeface="Calibri"/>
                <a:cs typeface="Calibri"/>
              </a:rPr>
              <a:t>have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data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right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plot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over 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two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variables, </a:t>
            </a:r>
            <a:r>
              <a:rPr sz="1700" i="1" dirty="0">
                <a:solidFill>
                  <a:srgbClr val="000090"/>
                </a:solidFill>
                <a:latin typeface="Calibri"/>
                <a:cs typeface="Calibri"/>
              </a:rPr>
              <a:t>v</a:t>
            </a:r>
            <a:r>
              <a:rPr sz="1650" i="1" baseline="-15151" dirty="0">
                <a:solidFill>
                  <a:srgbClr val="000090"/>
                </a:solidFill>
                <a:latin typeface="Calibri"/>
                <a:cs typeface="Calibri"/>
              </a:rPr>
              <a:t>1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and</a:t>
            </a:r>
            <a:r>
              <a:rPr sz="1700" spc="-8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i="1" spc="5" dirty="0">
                <a:solidFill>
                  <a:srgbClr val="000090"/>
                </a:solidFill>
                <a:latin typeface="Calibri"/>
                <a:cs typeface="Calibri"/>
              </a:rPr>
              <a:t>v</a:t>
            </a:r>
            <a:r>
              <a:rPr sz="1650" i="1" spc="7" baseline="-15151" dirty="0">
                <a:solidFill>
                  <a:srgbClr val="000090"/>
                </a:solidFill>
                <a:latin typeface="Calibri"/>
                <a:cs typeface="Calibri"/>
              </a:rPr>
              <a:t>2</a:t>
            </a:r>
            <a:r>
              <a:rPr sz="1700" spc="5" dirty="0">
                <a:solidFill>
                  <a:srgbClr val="000090"/>
                </a:solidFill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520700" marR="108585" indent="-457200">
              <a:lnSpc>
                <a:spcPts val="1700"/>
              </a:lnSpc>
              <a:spcBef>
                <a:spcPts val="509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20065" algn="l"/>
                <a:tab pos="5207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Imagine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we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want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reduce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our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problem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so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to 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use only one</a:t>
            </a:r>
            <a:r>
              <a:rPr sz="1700" spc="20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variable.</a:t>
            </a:r>
            <a:endParaRPr sz="1700" dirty="0"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endParaRPr lang="en-US" sz="1700" spc="-10" dirty="0">
              <a:solidFill>
                <a:srgbClr val="000090"/>
              </a:solidFill>
              <a:latin typeface="Calibri"/>
              <a:cs typeface="Calibri"/>
            </a:endParaRPr>
          </a:p>
          <a:p>
            <a:pPr marL="520700" marR="204470">
              <a:lnSpc>
                <a:spcPct val="80000"/>
              </a:lnSpc>
              <a:spcBef>
                <a:spcPts val="240"/>
              </a:spcBef>
            </a:pP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Data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of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right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plot has high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entropy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(</a:t>
            </a:r>
            <a:r>
              <a:rPr sz="1700" i="1" dirty="0">
                <a:solidFill>
                  <a:srgbClr val="3366FF"/>
                </a:solidFill>
                <a:latin typeface="Calibri"/>
                <a:cs typeface="Calibri"/>
              </a:rPr>
              <a:t>high  disorder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)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and it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cannot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be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compressed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into 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a 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lower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dimensionality space without losing 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information.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0495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Dimensionality</a:t>
            </a:r>
            <a:r>
              <a:rPr spc="-60" dirty="0"/>
              <a:t> </a:t>
            </a:r>
            <a:r>
              <a:rPr spc="-5" dirty="0"/>
              <a:t>reduction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33410" y="1276937"/>
            <a:ext cx="2865052" cy="2499322"/>
            <a:chOff x="5933410" y="1276937"/>
            <a:chExt cx="2865052" cy="2499322"/>
          </a:xfrm>
        </p:grpSpPr>
        <p:sp>
          <p:nvSpPr>
            <p:cNvPr id="6" name="object 6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397781"/>
                  </a:moveTo>
                  <a:lnTo>
                    <a:pt x="2829810" y="2397781"/>
                  </a:lnTo>
                </a:path>
                <a:path w="2830195" h="2464435">
                  <a:moveTo>
                    <a:pt x="0" y="1668320"/>
                  </a:moveTo>
                  <a:lnTo>
                    <a:pt x="2829810" y="1668320"/>
                  </a:lnTo>
                </a:path>
                <a:path w="2830195" h="2464435">
                  <a:moveTo>
                    <a:pt x="0" y="938732"/>
                  </a:moveTo>
                  <a:lnTo>
                    <a:pt x="2829810" y="938732"/>
                  </a:lnTo>
                </a:path>
                <a:path w="2830195" h="2464435">
                  <a:moveTo>
                    <a:pt x="0" y="209144"/>
                  </a:moveTo>
                  <a:lnTo>
                    <a:pt x="2829810" y="209144"/>
                  </a:lnTo>
                </a:path>
                <a:path w="2830195" h="2464435">
                  <a:moveTo>
                    <a:pt x="315879" y="2464316"/>
                  </a:moveTo>
                  <a:lnTo>
                    <a:pt x="315879" y="0"/>
                  </a:lnTo>
                </a:path>
                <a:path w="2830195" h="2464435">
                  <a:moveTo>
                    <a:pt x="778312" y="2464316"/>
                  </a:moveTo>
                  <a:lnTo>
                    <a:pt x="778312" y="0"/>
                  </a:lnTo>
                </a:path>
                <a:path w="2830195" h="2464435">
                  <a:moveTo>
                    <a:pt x="1240618" y="2464316"/>
                  </a:moveTo>
                  <a:lnTo>
                    <a:pt x="1240618" y="0"/>
                  </a:lnTo>
                </a:path>
                <a:path w="2830195" h="2464435">
                  <a:moveTo>
                    <a:pt x="1703051" y="2464316"/>
                  </a:moveTo>
                  <a:lnTo>
                    <a:pt x="1703051" y="0"/>
                  </a:lnTo>
                </a:path>
                <a:path w="2830195" h="2464435">
                  <a:moveTo>
                    <a:pt x="2165484" y="2464316"/>
                  </a:moveTo>
                  <a:lnTo>
                    <a:pt x="2165484" y="0"/>
                  </a:lnTo>
                </a:path>
                <a:path w="2830195" h="2464435">
                  <a:moveTo>
                    <a:pt x="2627789" y="2464316"/>
                  </a:moveTo>
                  <a:lnTo>
                    <a:pt x="2627789" y="0"/>
                  </a:lnTo>
                </a:path>
              </a:pathLst>
            </a:custGeom>
            <a:ln w="3434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033051"/>
                  </a:moveTo>
                  <a:lnTo>
                    <a:pt x="2829810" y="2033051"/>
                  </a:lnTo>
                </a:path>
                <a:path w="2830195" h="2464435">
                  <a:moveTo>
                    <a:pt x="0" y="1303463"/>
                  </a:moveTo>
                  <a:lnTo>
                    <a:pt x="2829810" y="1303463"/>
                  </a:lnTo>
                </a:path>
                <a:path w="2830195" h="2464435">
                  <a:moveTo>
                    <a:pt x="0" y="574002"/>
                  </a:moveTo>
                  <a:lnTo>
                    <a:pt x="2829810" y="574002"/>
                  </a:lnTo>
                </a:path>
                <a:path w="2830195" h="2464435">
                  <a:moveTo>
                    <a:pt x="84726" y="2464316"/>
                  </a:moveTo>
                  <a:lnTo>
                    <a:pt x="84726" y="0"/>
                  </a:lnTo>
                </a:path>
                <a:path w="2830195" h="2464435">
                  <a:moveTo>
                    <a:pt x="547032" y="2464316"/>
                  </a:moveTo>
                  <a:lnTo>
                    <a:pt x="547032" y="0"/>
                  </a:lnTo>
                </a:path>
                <a:path w="2830195" h="2464435">
                  <a:moveTo>
                    <a:pt x="1009465" y="2464316"/>
                  </a:moveTo>
                  <a:lnTo>
                    <a:pt x="1009465" y="0"/>
                  </a:lnTo>
                </a:path>
                <a:path w="2830195" h="2464435">
                  <a:moveTo>
                    <a:pt x="1471898" y="2464316"/>
                  </a:moveTo>
                  <a:lnTo>
                    <a:pt x="1471898" y="0"/>
                  </a:lnTo>
                </a:path>
                <a:path w="2830195" h="2464435">
                  <a:moveTo>
                    <a:pt x="1934203" y="2464316"/>
                  </a:moveTo>
                  <a:lnTo>
                    <a:pt x="1934203" y="0"/>
                  </a:lnTo>
                </a:path>
                <a:path w="2830195" h="2464435">
                  <a:moveTo>
                    <a:pt x="2396636" y="2464316"/>
                  </a:moveTo>
                  <a:lnTo>
                    <a:pt x="2396636" y="0"/>
                  </a:lnTo>
                </a:path>
              </a:pathLst>
            </a:custGeom>
            <a:ln w="6742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50895" y="239530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50895" y="2395300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93807" y="2625308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02" y="1427"/>
                  </a:lnTo>
                  <a:lnTo>
                    <a:pt x="5263" y="5311"/>
                  </a:lnTo>
                  <a:lnTo>
                    <a:pt x="1409" y="11055"/>
                  </a:lnTo>
                  <a:lnTo>
                    <a:pt x="0" y="18064"/>
                  </a:lnTo>
                  <a:lnTo>
                    <a:pt x="1409" y="25147"/>
                  </a:lnTo>
                  <a:lnTo>
                    <a:pt x="5263" y="30929"/>
                  </a:lnTo>
                  <a:lnTo>
                    <a:pt x="11002" y="34827"/>
                  </a:lnTo>
                  <a:lnTo>
                    <a:pt x="18064" y="36256"/>
                  </a:lnTo>
                  <a:lnTo>
                    <a:pt x="25073" y="34827"/>
                  </a:lnTo>
                  <a:lnTo>
                    <a:pt x="30818" y="30929"/>
                  </a:lnTo>
                  <a:lnTo>
                    <a:pt x="34702" y="25147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3807" y="2625308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064"/>
                  </a:moveTo>
                  <a:lnTo>
                    <a:pt x="1409" y="11055"/>
                  </a:lnTo>
                  <a:lnTo>
                    <a:pt x="5263" y="5311"/>
                  </a:lnTo>
                  <a:lnTo>
                    <a:pt x="11002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147"/>
                  </a:lnTo>
                  <a:lnTo>
                    <a:pt x="30818" y="30929"/>
                  </a:lnTo>
                  <a:lnTo>
                    <a:pt x="25073" y="34827"/>
                  </a:lnTo>
                  <a:lnTo>
                    <a:pt x="18064" y="36256"/>
                  </a:lnTo>
                  <a:lnTo>
                    <a:pt x="11002" y="34827"/>
                  </a:lnTo>
                  <a:lnTo>
                    <a:pt x="5263" y="30929"/>
                  </a:lnTo>
                  <a:lnTo>
                    <a:pt x="1409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94502" y="1591544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94502" y="1591544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22818" y="1370823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147"/>
                  </a:lnTo>
                  <a:lnTo>
                    <a:pt x="5311" y="30929"/>
                  </a:lnTo>
                  <a:lnTo>
                    <a:pt x="11055" y="34827"/>
                  </a:lnTo>
                  <a:lnTo>
                    <a:pt x="18064" y="36256"/>
                  </a:lnTo>
                  <a:lnTo>
                    <a:pt x="25073" y="34827"/>
                  </a:lnTo>
                  <a:lnTo>
                    <a:pt x="30818" y="30929"/>
                  </a:lnTo>
                  <a:lnTo>
                    <a:pt x="34702" y="25147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022818" y="1370823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147"/>
                  </a:lnTo>
                  <a:lnTo>
                    <a:pt x="30818" y="30929"/>
                  </a:lnTo>
                  <a:lnTo>
                    <a:pt x="25073" y="34827"/>
                  </a:lnTo>
                  <a:lnTo>
                    <a:pt x="18064" y="36256"/>
                  </a:lnTo>
                  <a:lnTo>
                    <a:pt x="11055" y="34827"/>
                  </a:lnTo>
                  <a:lnTo>
                    <a:pt x="5311" y="30929"/>
                  </a:lnTo>
                  <a:lnTo>
                    <a:pt x="1427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62840" y="3226025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62840" y="3226025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19841" y="33935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147"/>
                  </a:lnTo>
                  <a:lnTo>
                    <a:pt x="5311" y="30929"/>
                  </a:lnTo>
                  <a:lnTo>
                    <a:pt x="11055" y="34827"/>
                  </a:lnTo>
                  <a:lnTo>
                    <a:pt x="18064" y="36256"/>
                  </a:lnTo>
                  <a:lnTo>
                    <a:pt x="25147" y="34827"/>
                  </a:lnTo>
                  <a:lnTo>
                    <a:pt x="30929" y="30929"/>
                  </a:lnTo>
                  <a:lnTo>
                    <a:pt x="34827" y="25147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019841" y="3393570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29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147"/>
                  </a:lnTo>
                  <a:lnTo>
                    <a:pt x="30929" y="30929"/>
                  </a:lnTo>
                  <a:lnTo>
                    <a:pt x="25147" y="34827"/>
                  </a:lnTo>
                  <a:lnTo>
                    <a:pt x="18064" y="36256"/>
                  </a:lnTo>
                  <a:lnTo>
                    <a:pt x="11055" y="34827"/>
                  </a:lnTo>
                  <a:lnTo>
                    <a:pt x="5311" y="30929"/>
                  </a:lnTo>
                  <a:lnTo>
                    <a:pt x="1427" y="2514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64823" y="17045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64823" y="17045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14864" y="3373215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14864" y="3373215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361078" y="1831220"/>
              <a:ext cx="124077" cy="149708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8517819" y="312348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9"/>
                  </a:lnTo>
                  <a:lnTo>
                    <a:pt x="5311" y="5327"/>
                  </a:lnTo>
                  <a:lnTo>
                    <a:pt x="1427" y="11109"/>
                  </a:lnTo>
                  <a:lnTo>
                    <a:pt x="0" y="18192"/>
                  </a:lnTo>
                  <a:lnTo>
                    <a:pt x="1427" y="25200"/>
                  </a:lnTo>
                  <a:lnTo>
                    <a:pt x="5311" y="30945"/>
                  </a:lnTo>
                  <a:lnTo>
                    <a:pt x="11055" y="34829"/>
                  </a:lnTo>
                  <a:lnTo>
                    <a:pt x="18064" y="36256"/>
                  </a:lnTo>
                  <a:lnTo>
                    <a:pt x="25073" y="34829"/>
                  </a:lnTo>
                  <a:lnTo>
                    <a:pt x="30818" y="30945"/>
                  </a:lnTo>
                  <a:lnTo>
                    <a:pt x="34702" y="25200"/>
                  </a:lnTo>
                  <a:lnTo>
                    <a:pt x="36129" y="18192"/>
                  </a:lnTo>
                  <a:lnTo>
                    <a:pt x="34702" y="11109"/>
                  </a:lnTo>
                  <a:lnTo>
                    <a:pt x="30818" y="5327"/>
                  </a:lnTo>
                  <a:lnTo>
                    <a:pt x="25073" y="1429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17819" y="312348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192"/>
                  </a:moveTo>
                  <a:lnTo>
                    <a:pt x="1427" y="11109"/>
                  </a:lnTo>
                  <a:lnTo>
                    <a:pt x="5311" y="5327"/>
                  </a:lnTo>
                  <a:lnTo>
                    <a:pt x="11055" y="1429"/>
                  </a:lnTo>
                  <a:lnTo>
                    <a:pt x="18064" y="0"/>
                  </a:lnTo>
                  <a:lnTo>
                    <a:pt x="25073" y="1429"/>
                  </a:lnTo>
                  <a:lnTo>
                    <a:pt x="30818" y="5327"/>
                  </a:lnTo>
                  <a:lnTo>
                    <a:pt x="34702" y="11109"/>
                  </a:lnTo>
                  <a:lnTo>
                    <a:pt x="36129" y="18192"/>
                  </a:lnTo>
                  <a:lnTo>
                    <a:pt x="34702" y="25200"/>
                  </a:lnTo>
                  <a:lnTo>
                    <a:pt x="30818" y="30945"/>
                  </a:lnTo>
                  <a:lnTo>
                    <a:pt x="25073" y="34829"/>
                  </a:lnTo>
                  <a:lnTo>
                    <a:pt x="18064" y="36256"/>
                  </a:lnTo>
                  <a:lnTo>
                    <a:pt x="11055" y="34829"/>
                  </a:lnTo>
                  <a:lnTo>
                    <a:pt x="5311" y="30945"/>
                  </a:lnTo>
                  <a:lnTo>
                    <a:pt x="1427" y="25200"/>
                  </a:lnTo>
                  <a:lnTo>
                    <a:pt x="0" y="18192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51396" y="320439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18064" y="0"/>
                  </a:moveTo>
                  <a:lnTo>
                    <a:pt x="11055" y="1429"/>
                  </a:lnTo>
                  <a:lnTo>
                    <a:pt x="5311" y="5327"/>
                  </a:lnTo>
                  <a:lnTo>
                    <a:pt x="1427" y="11109"/>
                  </a:lnTo>
                  <a:lnTo>
                    <a:pt x="0" y="18192"/>
                  </a:lnTo>
                  <a:lnTo>
                    <a:pt x="1427" y="25200"/>
                  </a:lnTo>
                  <a:lnTo>
                    <a:pt x="5311" y="30945"/>
                  </a:lnTo>
                  <a:lnTo>
                    <a:pt x="11055" y="34829"/>
                  </a:lnTo>
                  <a:lnTo>
                    <a:pt x="18064" y="36256"/>
                  </a:lnTo>
                  <a:lnTo>
                    <a:pt x="25073" y="34829"/>
                  </a:lnTo>
                  <a:lnTo>
                    <a:pt x="30818" y="30945"/>
                  </a:lnTo>
                  <a:lnTo>
                    <a:pt x="34702" y="25200"/>
                  </a:lnTo>
                  <a:lnTo>
                    <a:pt x="36129" y="18192"/>
                  </a:lnTo>
                  <a:lnTo>
                    <a:pt x="34702" y="11109"/>
                  </a:lnTo>
                  <a:lnTo>
                    <a:pt x="30818" y="5327"/>
                  </a:lnTo>
                  <a:lnTo>
                    <a:pt x="25073" y="1429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651396" y="3204399"/>
              <a:ext cx="36195" cy="36830"/>
            </a:xfrm>
            <a:custGeom>
              <a:avLst/>
              <a:gdLst/>
              <a:ahLst/>
              <a:cxnLst/>
              <a:rect l="l" t="t" r="r" b="b"/>
              <a:pathLst>
                <a:path w="36195" h="36830">
                  <a:moveTo>
                    <a:pt x="0" y="18192"/>
                  </a:moveTo>
                  <a:lnTo>
                    <a:pt x="1427" y="11109"/>
                  </a:lnTo>
                  <a:lnTo>
                    <a:pt x="5311" y="5327"/>
                  </a:lnTo>
                  <a:lnTo>
                    <a:pt x="11055" y="1429"/>
                  </a:lnTo>
                  <a:lnTo>
                    <a:pt x="18064" y="0"/>
                  </a:lnTo>
                  <a:lnTo>
                    <a:pt x="25073" y="1429"/>
                  </a:lnTo>
                  <a:lnTo>
                    <a:pt x="30818" y="5327"/>
                  </a:lnTo>
                  <a:lnTo>
                    <a:pt x="34702" y="11109"/>
                  </a:lnTo>
                  <a:lnTo>
                    <a:pt x="36129" y="18192"/>
                  </a:lnTo>
                  <a:lnTo>
                    <a:pt x="34702" y="25200"/>
                  </a:lnTo>
                  <a:lnTo>
                    <a:pt x="30818" y="30945"/>
                  </a:lnTo>
                  <a:lnTo>
                    <a:pt x="25073" y="34829"/>
                  </a:lnTo>
                  <a:lnTo>
                    <a:pt x="18064" y="36256"/>
                  </a:lnTo>
                  <a:lnTo>
                    <a:pt x="11055" y="34829"/>
                  </a:lnTo>
                  <a:lnTo>
                    <a:pt x="5311" y="30945"/>
                  </a:lnTo>
                  <a:lnTo>
                    <a:pt x="1427" y="25200"/>
                  </a:lnTo>
                  <a:lnTo>
                    <a:pt x="0" y="18192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389533" y="341341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073" y="34702"/>
                  </a:lnTo>
                  <a:lnTo>
                    <a:pt x="30818" y="30818"/>
                  </a:lnTo>
                  <a:lnTo>
                    <a:pt x="34702" y="25073"/>
                  </a:lnTo>
                  <a:lnTo>
                    <a:pt x="36129" y="18064"/>
                  </a:lnTo>
                  <a:lnTo>
                    <a:pt x="34702" y="11055"/>
                  </a:lnTo>
                  <a:lnTo>
                    <a:pt x="30818" y="5311"/>
                  </a:lnTo>
                  <a:lnTo>
                    <a:pt x="25073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89533" y="341341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073" y="1427"/>
                  </a:lnTo>
                  <a:lnTo>
                    <a:pt x="30818" y="5311"/>
                  </a:lnTo>
                  <a:lnTo>
                    <a:pt x="34702" y="11055"/>
                  </a:lnTo>
                  <a:lnTo>
                    <a:pt x="36129" y="18064"/>
                  </a:lnTo>
                  <a:lnTo>
                    <a:pt x="34702" y="25073"/>
                  </a:lnTo>
                  <a:lnTo>
                    <a:pt x="30818" y="30818"/>
                  </a:lnTo>
                  <a:lnTo>
                    <a:pt x="25073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99553" y="1628437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192" y="0"/>
                  </a:moveTo>
                  <a:lnTo>
                    <a:pt x="11109" y="1427"/>
                  </a:lnTo>
                  <a:lnTo>
                    <a:pt x="5327" y="5311"/>
                  </a:lnTo>
                  <a:lnTo>
                    <a:pt x="1429" y="11055"/>
                  </a:lnTo>
                  <a:lnTo>
                    <a:pt x="0" y="18064"/>
                  </a:lnTo>
                  <a:lnTo>
                    <a:pt x="1429" y="25073"/>
                  </a:lnTo>
                  <a:lnTo>
                    <a:pt x="5327" y="30818"/>
                  </a:lnTo>
                  <a:lnTo>
                    <a:pt x="11109" y="34702"/>
                  </a:lnTo>
                  <a:lnTo>
                    <a:pt x="18192" y="36129"/>
                  </a:lnTo>
                  <a:lnTo>
                    <a:pt x="25200" y="34702"/>
                  </a:lnTo>
                  <a:lnTo>
                    <a:pt x="30945" y="30818"/>
                  </a:lnTo>
                  <a:lnTo>
                    <a:pt x="34829" y="25073"/>
                  </a:lnTo>
                  <a:lnTo>
                    <a:pt x="36256" y="18064"/>
                  </a:lnTo>
                  <a:lnTo>
                    <a:pt x="34829" y="11055"/>
                  </a:lnTo>
                  <a:lnTo>
                    <a:pt x="30945" y="5311"/>
                  </a:lnTo>
                  <a:lnTo>
                    <a:pt x="25200" y="1427"/>
                  </a:lnTo>
                  <a:lnTo>
                    <a:pt x="18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99553" y="1628437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9" y="11055"/>
                  </a:lnTo>
                  <a:lnTo>
                    <a:pt x="5327" y="5311"/>
                  </a:lnTo>
                  <a:lnTo>
                    <a:pt x="11109" y="1427"/>
                  </a:lnTo>
                  <a:lnTo>
                    <a:pt x="18192" y="0"/>
                  </a:lnTo>
                  <a:lnTo>
                    <a:pt x="25200" y="1427"/>
                  </a:lnTo>
                  <a:lnTo>
                    <a:pt x="30945" y="5311"/>
                  </a:lnTo>
                  <a:lnTo>
                    <a:pt x="34829" y="11055"/>
                  </a:lnTo>
                  <a:lnTo>
                    <a:pt x="36256" y="18064"/>
                  </a:lnTo>
                  <a:lnTo>
                    <a:pt x="34829" y="25073"/>
                  </a:lnTo>
                  <a:lnTo>
                    <a:pt x="30945" y="30818"/>
                  </a:lnTo>
                  <a:lnTo>
                    <a:pt x="25200" y="34702"/>
                  </a:lnTo>
                  <a:lnTo>
                    <a:pt x="18192" y="36129"/>
                  </a:lnTo>
                  <a:lnTo>
                    <a:pt x="11109" y="34702"/>
                  </a:lnTo>
                  <a:lnTo>
                    <a:pt x="5327" y="30818"/>
                  </a:lnTo>
                  <a:lnTo>
                    <a:pt x="1429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206646" y="3611111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18192" y="0"/>
                  </a:moveTo>
                  <a:lnTo>
                    <a:pt x="11109" y="1427"/>
                  </a:lnTo>
                  <a:lnTo>
                    <a:pt x="5327" y="5311"/>
                  </a:lnTo>
                  <a:lnTo>
                    <a:pt x="1429" y="11055"/>
                  </a:lnTo>
                  <a:lnTo>
                    <a:pt x="0" y="18064"/>
                  </a:lnTo>
                  <a:lnTo>
                    <a:pt x="1429" y="25127"/>
                  </a:lnTo>
                  <a:lnTo>
                    <a:pt x="5327" y="30865"/>
                  </a:lnTo>
                  <a:lnTo>
                    <a:pt x="11109" y="34720"/>
                  </a:lnTo>
                  <a:lnTo>
                    <a:pt x="18192" y="36129"/>
                  </a:lnTo>
                  <a:lnTo>
                    <a:pt x="25200" y="34720"/>
                  </a:lnTo>
                  <a:lnTo>
                    <a:pt x="30945" y="30865"/>
                  </a:lnTo>
                  <a:lnTo>
                    <a:pt x="34829" y="25127"/>
                  </a:lnTo>
                  <a:lnTo>
                    <a:pt x="36256" y="18064"/>
                  </a:lnTo>
                  <a:lnTo>
                    <a:pt x="34829" y="11055"/>
                  </a:lnTo>
                  <a:lnTo>
                    <a:pt x="30945" y="5311"/>
                  </a:lnTo>
                  <a:lnTo>
                    <a:pt x="25200" y="1427"/>
                  </a:lnTo>
                  <a:lnTo>
                    <a:pt x="181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206646" y="3611111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5">
                  <a:moveTo>
                    <a:pt x="0" y="18064"/>
                  </a:moveTo>
                  <a:lnTo>
                    <a:pt x="1429" y="11055"/>
                  </a:lnTo>
                  <a:lnTo>
                    <a:pt x="5327" y="5311"/>
                  </a:lnTo>
                  <a:lnTo>
                    <a:pt x="11109" y="1427"/>
                  </a:lnTo>
                  <a:lnTo>
                    <a:pt x="18192" y="0"/>
                  </a:lnTo>
                  <a:lnTo>
                    <a:pt x="25200" y="1427"/>
                  </a:lnTo>
                  <a:lnTo>
                    <a:pt x="30945" y="5311"/>
                  </a:lnTo>
                  <a:lnTo>
                    <a:pt x="34829" y="11055"/>
                  </a:lnTo>
                  <a:lnTo>
                    <a:pt x="36256" y="18064"/>
                  </a:lnTo>
                  <a:lnTo>
                    <a:pt x="34829" y="25127"/>
                  </a:lnTo>
                  <a:lnTo>
                    <a:pt x="30945" y="30865"/>
                  </a:lnTo>
                  <a:lnTo>
                    <a:pt x="25200" y="34720"/>
                  </a:lnTo>
                  <a:lnTo>
                    <a:pt x="18192" y="36129"/>
                  </a:lnTo>
                  <a:lnTo>
                    <a:pt x="11109" y="34720"/>
                  </a:lnTo>
                  <a:lnTo>
                    <a:pt x="5327" y="30865"/>
                  </a:lnTo>
                  <a:lnTo>
                    <a:pt x="1429" y="25127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078819" y="3004796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18064" y="0"/>
                  </a:moveTo>
                  <a:lnTo>
                    <a:pt x="11055" y="1427"/>
                  </a:lnTo>
                  <a:lnTo>
                    <a:pt x="5311" y="5311"/>
                  </a:lnTo>
                  <a:lnTo>
                    <a:pt x="1427" y="11055"/>
                  </a:lnTo>
                  <a:lnTo>
                    <a:pt x="0" y="18064"/>
                  </a:lnTo>
                  <a:lnTo>
                    <a:pt x="1427" y="25073"/>
                  </a:lnTo>
                  <a:lnTo>
                    <a:pt x="5311" y="30818"/>
                  </a:lnTo>
                  <a:lnTo>
                    <a:pt x="11055" y="34702"/>
                  </a:lnTo>
                  <a:lnTo>
                    <a:pt x="18064" y="36129"/>
                  </a:lnTo>
                  <a:lnTo>
                    <a:pt x="25147" y="34702"/>
                  </a:lnTo>
                  <a:lnTo>
                    <a:pt x="30929" y="30818"/>
                  </a:lnTo>
                  <a:lnTo>
                    <a:pt x="34827" y="25073"/>
                  </a:lnTo>
                  <a:lnTo>
                    <a:pt x="36256" y="18064"/>
                  </a:lnTo>
                  <a:lnTo>
                    <a:pt x="34827" y="11055"/>
                  </a:lnTo>
                  <a:lnTo>
                    <a:pt x="30929" y="5311"/>
                  </a:lnTo>
                  <a:lnTo>
                    <a:pt x="25147" y="1427"/>
                  </a:lnTo>
                  <a:lnTo>
                    <a:pt x="180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78819" y="3004796"/>
              <a:ext cx="36830" cy="36195"/>
            </a:xfrm>
            <a:custGeom>
              <a:avLst/>
              <a:gdLst/>
              <a:ahLst/>
              <a:cxnLst/>
              <a:rect l="l" t="t" r="r" b="b"/>
              <a:pathLst>
                <a:path w="36829" h="36194">
                  <a:moveTo>
                    <a:pt x="0" y="18064"/>
                  </a:moveTo>
                  <a:lnTo>
                    <a:pt x="1427" y="11055"/>
                  </a:lnTo>
                  <a:lnTo>
                    <a:pt x="5311" y="5311"/>
                  </a:lnTo>
                  <a:lnTo>
                    <a:pt x="11055" y="1427"/>
                  </a:lnTo>
                  <a:lnTo>
                    <a:pt x="18064" y="0"/>
                  </a:lnTo>
                  <a:lnTo>
                    <a:pt x="25147" y="1427"/>
                  </a:lnTo>
                  <a:lnTo>
                    <a:pt x="30929" y="5311"/>
                  </a:lnTo>
                  <a:lnTo>
                    <a:pt x="34827" y="11055"/>
                  </a:lnTo>
                  <a:lnTo>
                    <a:pt x="36256" y="18064"/>
                  </a:lnTo>
                  <a:lnTo>
                    <a:pt x="34827" y="25073"/>
                  </a:lnTo>
                  <a:lnTo>
                    <a:pt x="30929" y="30818"/>
                  </a:lnTo>
                  <a:lnTo>
                    <a:pt x="25147" y="34702"/>
                  </a:lnTo>
                  <a:lnTo>
                    <a:pt x="18064" y="36129"/>
                  </a:lnTo>
                  <a:lnTo>
                    <a:pt x="11055" y="34702"/>
                  </a:lnTo>
                  <a:lnTo>
                    <a:pt x="5311" y="30818"/>
                  </a:lnTo>
                  <a:lnTo>
                    <a:pt x="1427" y="25073"/>
                  </a:lnTo>
                  <a:lnTo>
                    <a:pt x="0" y="18064"/>
                  </a:lnTo>
                </a:path>
              </a:pathLst>
            </a:custGeom>
            <a:ln w="90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68267" y="1276937"/>
              <a:ext cx="2830195" cy="2464435"/>
            </a:xfrm>
            <a:custGeom>
              <a:avLst/>
              <a:gdLst/>
              <a:ahLst/>
              <a:cxnLst/>
              <a:rect l="l" t="t" r="r" b="b"/>
              <a:pathLst>
                <a:path w="2830195" h="2464435">
                  <a:moveTo>
                    <a:pt x="0" y="2464316"/>
                  </a:moveTo>
                  <a:lnTo>
                    <a:pt x="2829810" y="2464316"/>
                  </a:lnTo>
                  <a:lnTo>
                    <a:pt x="2829810" y="0"/>
                  </a:lnTo>
                  <a:lnTo>
                    <a:pt x="0" y="0"/>
                  </a:lnTo>
                  <a:lnTo>
                    <a:pt x="0" y="2464316"/>
                  </a:lnTo>
                  <a:close/>
                </a:path>
              </a:pathLst>
            </a:custGeom>
            <a:ln w="13612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33410" y="1850939"/>
              <a:ext cx="2432050" cy="1925320"/>
            </a:xfrm>
            <a:custGeom>
              <a:avLst/>
              <a:gdLst/>
              <a:ahLst/>
              <a:cxnLst/>
              <a:rect l="l" t="t" r="r" b="b"/>
              <a:pathLst>
                <a:path w="2432050" h="1925320">
                  <a:moveTo>
                    <a:pt x="0" y="1459049"/>
                  </a:moveTo>
                  <a:lnTo>
                    <a:pt x="34857" y="1459049"/>
                  </a:lnTo>
                </a:path>
                <a:path w="2432050" h="1925320">
                  <a:moveTo>
                    <a:pt x="0" y="729461"/>
                  </a:moveTo>
                  <a:lnTo>
                    <a:pt x="34857" y="729461"/>
                  </a:lnTo>
                </a:path>
                <a:path w="2432050" h="1925320">
                  <a:moveTo>
                    <a:pt x="0" y="0"/>
                  </a:moveTo>
                  <a:lnTo>
                    <a:pt x="34857" y="0"/>
                  </a:lnTo>
                </a:path>
                <a:path w="2432050" h="1925320">
                  <a:moveTo>
                    <a:pt x="119583" y="1925171"/>
                  </a:moveTo>
                  <a:lnTo>
                    <a:pt x="119583" y="1890314"/>
                  </a:lnTo>
                </a:path>
                <a:path w="2432050" h="1925320">
                  <a:moveTo>
                    <a:pt x="581889" y="1925171"/>
                  </a:moveTo>
                  <a:lnTo>
                    <a:pt x="581889" y="1890314"/>
                  </a:lnTo>
                </a:path>
                <a:path w="2432050" h="1925320">
                  <a:moveTo>
                    <a:pt x="1044322" y="1925171"/>
                  </a:moveTo>
                  <a:lnTo>
                    <a:pt x="1044322" y="1890314"/>
                  </a:lnTo>
                </a:path>
                <a:path w="2432050" h="1925320">
                  <a:moveTo>
                    <a:pt x="1506755" y="1925171"/>
                  </a:moveTo>
                  <a:lnTo>
                    <a:pt x="1506755" y="1890314"/>
                  </a:lnTo>
                </a:path>
                <a:path w="2432050" h="1925320">
                  <a:moveTo>
                    <a:pt x="1969061" y="1925171"/>
                  </a:moveTo>
                  <a:lnTo>
                    <a:pt x="1969061" y="1890314"/>
                  </a:lnTo>
                </a:path>
                <a:path w="2432050" h="1925320">
                  <a:moveTo>
                    <a:pt x="2431494" y="1925171"/>
                  </a:moveTo>
                  <a:lnTo>
                    <a:pt x="2431494" y="1890314"/>
                  </a:lnTo>
                </a:path>
              </a:pathLst>
            </a:custGeom>
            <a:ln w="6742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762325" y="3223885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40" name="object 40"/>
          <p:cNvSpPr txBox="1"/>
          <p:nvPr/>
        </p:nvSpPr>
        <p:spPr>
          <a:xfrm>
            <a:off x="5829241" y="2494296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9241" y="1764835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975031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−3</a:t>
            </a:r>
            <a:endParaRPr sz="9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437337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99771" y="3758958"/>
            <a:ext cx="1562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857967" y="3758958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20400" y="3758958"/>
            <a:ext cx="8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296560" y="3758958"/>
            <a:ext cx="188595" cy="335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dirty="0">
                <a:latin typeface="Arial"/>
                <a:cs typeface="Arial"/>
              </a:rPr>
              <a:t>v1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87654" y="2422448"/>
            <a:ext cx="165735" cy="1733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70"/>
              </a:lnSpc>
            </a:pPr>
            <a:r>
              <a:rPr sz="1100" dirty="0">
                <a:latin typeface="Arial"/>
                <a:cs typeface="Arial"/>
              </a:rPr>
              <a:t>v2</a:t>
            </a:r>
            <a:endParaRPr sz="1100">
              <a:latin typeface="Arial"/>
              <a:cs typeface="Arial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03A2485-D130-4E04-BEE8-E135D003F1E1}"/>
              </a:ext>
            </a:extLst>
          </p:cNvPr>
          <p:cNvCxnSpPr/>
          <p:nvPr/>
        </p:nvCxnSpPr>
        <p:spPr>
          <a:xfrm>
            <a:off x="7425728" y="1407653"/>
            <a:ext cx="0" cy="23337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62EFE47-ACB6-42C7-83B6-6C98AF99127E}"/>
              </a:ext>
            </a:extLst>
          </p:cNvPr>
          <p:cNvCxnSpPr/>
          <p:nvPr/>
        </p:nvCxnSpPr>
        <p:spPr>
          <a:xfrm>
            <a:off x="6078819" y="2571750"/>
            <a:ext cx="257257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F96FB270-5E20-4113-A79E-6250AA3AD49B}"/>
              </a:ext>
            </a:extLst>
          </p:cNvPr>
          <p:cNvSpPr/>
          <p:nvPr/>
        </p:nvSpPr>
        <p:spPr>
          <a:xfrm>
            <a:off x="6321987" y="2625308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AD4727-544D-4F15-88D9-BA3A2216D0A5}"/>
              </a:ext>
            </a:extLst>
          </p:cNvPr>
          <p:cNvSpPr/>
          <p:nvPr/>
        </p:nvSpPr>
        <p:spPr>
          <a:xfrm>
            <a:off x="6073327" y="2976937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25997AE-E66E-4827-9225-259DB020F7AC}"/>
              </a:ext>
            </a:extLst>
          </p:cNvPr>
          <p:cNvSpPr/>
          <p:nvPr/>
        </p:nvSpPr>
        <p:spPr>
          <a:xfrm>
            <a:off x="7059729" y="3114938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FE28D8B-DC7B-4A78-BDCA-DD2A17AFBAB1}"/>
              </a:ext>
            </a:extLst>
          </p:cNvPr>
          <p:cNvSpPr/>
          <p:nvPr/>
        </p:nvSpPr>
        <p:spPr>
          <a:xfrm>
            <a:off x="7059125" y="3207940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5D8445E-B04B-482E-8C06-F7C01264C023}"/>
              </a:ext>
            </a:extLst>
          </p:cNvPr>
          <p:cNvSpPr/>
          <p:nvPr/>
        </p:nvSpPr>
        <p:spPr>
          <a:xfrm>
            <a:off x="7020517" y="3363451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F654F83-890C-4AF1-93D9-2D9EF9A9796A}"/>
              </a:ext>
            </a:extLst>
          </p:cNvPr>
          <p:cNvSpPr/>
          <p:nvPr/>
        </p:nvSpPr>
        <p:spPr>
          <a:xfrm>
            <a:off x="7149074" y="3338281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CAA24D-4B41-4A0A-A7EE-BE7737EC0EBE}"/>
              </a:ext>
            </a:extLst>
          </p:cNvPr>
          <p:cNvSpPr/>
          <p:nvPr/>
        </p:nvSpPr>
        <p:spPr>
          <a:xfrm>
            <a:off x="7277324" y="1540218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1F3D8FF-5E04-4896-AF0F-EE32DB7D63B4}"/>
              </a:ext>
            </a:extLst>
          </p:cNvPr>
          <p:cNvSpPr/>
          <p:nvPr/>
        </p:nvSpPr>
        <p:spPr>
          <a:xfrm>
            <a:off x="7769890" y="1681524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172D789-1B25-4001-9BE4-4EC08C2CFBE8}"/>
              </a:ext>
            </a:extLst>
          </p:cNvPr>
          <p:cNvSpPr/>
          <p:nvPr/>
        </p:nvSpPr>
        <p:spPr>
          <a:xfrm>
            <a:off x="7778580" y="1628313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CDD3A8-6DAD-4313-8F45-6DB22D3A34C9}"/>
              </a:ext>
            </a:extLst>
          </p:cNvPr>
          <p:cNvSpPr/>
          <p:nvPr/>
        </p:nvSpPr>
        <p:spPr>
          <a:xfrm>
            <a:off x="8022818" y="1364029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5ABAF67-2DCA-4BF7-A767-AAA59238CEDB}"/>
              </a:ext>
            </a:extLst>
          </p:cNvPr>
          <p:cNvSpPr/>
          <p:nvPr/>
        </p:nvSpPr>
        <p:spPr>
          <a:xfrm>
            <a:off x="8491473" y="3091431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52C9DD1-7C47-4E9E-BFFB-39DD5DE137EA}"/>
              </a:ext>
            </a:extLst>
          </p:cNvPr>
          <p:cNvSpPr/>
          <p:nvPr/>
        </p:nvSpPr>
        <p:spPr>
          <a:xfrm>
            <a:off x="8491473" y="2357200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0F3E2F4-DBC7-48D2-8A2A-D8DDF8000295}"/>
              </a:ext>
            </a:extLst>
          </p:cNvPr>
          <p:cNvSpPr/>
          <p:nvPr/>
        </p:nvSpPr>
        <p:spPr>
          <a:xfrm>
            <a:off x="8216439" y="3613295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D97450A-6733-45F5-8EC6-F72914622E4D}"/>
              </a:ext>
            </a:extLst>
          </p:cNvPr>
          <p:cNvSpPr/>
          <p:nvPr/>
        </p:nvSpPr>
        <p:spPr>
          <a:xfrm>
            <a:off x="8629509" y="3184133"/>
            <a:ext cx="108015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943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A021-DD0A-4AD2-BBF1-09B4AC1D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70BA8-D2E4-41C5-B3D4-475D399A578F}"/>
              </a:ext>
            </a:extLst>
          </p:cNvPr>
          <p:cNvSpPr txBox="1"/>
          <p:nvPr/>
        </p:nvSpPr>
        <p:spPr>
          <a:xfrm>
            <a:off x="228600" y="127635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We need to keep as much data as possible (more information)</a:t>
            </a:r>
          </a:p>
          <a:p>
            <a:pPr marL="342900" indent="-342900">
              <a:buFont typeface="+mj-lt"/>
              <a:buAutoNum type="arabicPeriod"/>
            </a:pP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When we have high disorder data, dropping one dimension will cause information lost. </a:t>
            </a:r>
          </a:p>
        </p:txBody>
      </p:sp>
    </p:spTree>
    <p:extLst>
      <p:ext uri="{BB962C8B-B14F-4D97-AF65-F5344CB8AC3E}">
        <p14:creationId xmlns:p14="http://schemas.microsoft.com/office/powerpoint/2010/main" val="11043283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453255" cy="175394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6725" marR="140335" indent="-454025">
              <a:lnSpc>
                <a:spcPct val="78900"/>
              </a:lnSpc>
              <a:spcBef>
                <a:spcPts val="58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Let's consider now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the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of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right  plot.</a:t>
            </a:r>
            <a:endParaRPr sz="1900" dirty="0">
              <a:latin typeface="Calibri"/>
              <a:cs typeface="Calibri"/>
            </a:endParaRPr>
          </a:p>
          <a:p>
            <a:pPr marL="466725" marR="5080" indent="-454025">
              <a:lnSpc>
                <a:spcPct val="78900"/>
              </a:lnSpc>
              <a:spcBef>
                <a:spcPts val="1995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What's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difference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between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this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and  the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one visualised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before?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Arial"/>
              <a:buChar char="•"/>
            </a:pPr>
            <a:endParaRPr sz="1700" dirty="0">
              <a:latin typeface="Calibri"/>
              <a:cs typeface="Calibri"/>
            </a:endParaRPr>
          </a:p>
          <a:p>
            <a:pPr marL="466725" marR="476250" indent="-454025">
              <a:lnSpc>
                <a:spcPct val="78900"/>
              </a:lnSpc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This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lang="en-US" sz="1900" spc="-15" dirty="0">
                <a:solidFill>
                  <a:srgbClr val="00026A"/>
                </a:solidFill>
                <a:latin typeface="Calibri"/>
                <a:cs typeface="Calibri"/>
              </a:rPr>
              <a:t>has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more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i="1" spc="-5" dirty="0">
                <a:solidFill>
                  <a:srgbClr val="3366FF"/>
                </a:solidFill>
                <a:latin typeface="Calibri"/>
                <a:cs typeface="Calibri"/>
              </a:rPr>
              <a:t>order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.</a:t>
            </a:r>
            <a:endParaRPr sz="19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0495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Dimensionality</a:t>
            </a:r>
            <a:r>
              <a:rPr spc="-60" dirty="0"/>
              <a:t> </a:t>
            </a:r>
            <a:r>
              <a:rPr spc="-5" dirty="0"/>
              <a:t>reduction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938394" y="1270042"/>
            <a:ext cx="2867025" cy="2501900"/>
            <a:chOff x="5938394" y="1270042"/>
            <a:chExt cx="2867025" cy="2501900"/>
          </a:xfrm>
        </p:grpSpPr>
        <p:sp>
          <p:nvSpPr>
            <p:cNvPr id="5" name="object 5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338832"/>
                  </a:moveTo>
                  <a:lnTo>
                    <a:pt x="2824988" y="2338832"/>
                  </a:lnTo>
                </a:path>
                <a:path w="2825115" h="2460625">
                  <a:moveTo>
                    <a:pt x="0" y="1944370"/>
                  </a:moveTo>
                  <a:lnTo>
                    <a:pt x="2824988" y="1944370"/>
                  </a:lnTo>
                </a:path>
                <a:path w="2825115" h="2460625">
                  <a:moveTo>
                    <a:pt x="0" y="1550035"/>
                  </a:moveTo>
                  <a:lnTo>
                    <a:pt x="2824988" y="1550035"/>
                  </a:lnTo>
                </a:path>
                <a:path w="2825115" h="2460625">
                  <a:moveTo>
                    <a:pt x="0" y="1155573"/>
                  </a:moveTo>
                  <a:lnTo>
                    <a:pt x="2824988" y="1155573"/>
                  </a:lnTo>
                </a:path>
                <a:path w="2825115" h="2460625">
                  <a:moveTo>
                    <a:pt x="0" y="761111"/>
                  </a:moveTo>
                  <a:lnTo>
                    <a:pt x="2824988" y="761111"/>
                  </a:lnTo>
                </a:path>
                <a:path w="2825115" h="2460625">
                  <a:moveTo>
                    <a:pt x="0" y="366649"/>
                  </a:moveTo>
                  <a:lnTo>
                    <a:pt x="2824988" y="366649"/>
                  </a:lnTo>
                </a:path>
                <a:path w="2825115" h="2460625">
                  <a:moveTo>
                    <a:pt x="315341" y="2460117"/>
                  </a:moveTo>
                  <a:lnTo>
                    <a:pt x="315341" y="0"/>
                  </a:lnTo>
                </a:path>
                <a:path w="2825115" h="2460625">
                  <a:moveTo>
                    <a:pt x="776986" y="2460117"/>
                  </a:moveTo>
                  <a:lnTo>
                    <a:pt x="776986" y="0"/>
                  </a:lnTo>
                </a:path>
                <a:path w="2825115" h="2460625">
                  <a:moveTo>
                    <a:pt x="1238504" y="2460117"/>
                  </a:moveTo>
                  <a:lnTo>
                    <a:pt x="1238504" y="0"/>
                  </a:lnTo>
                </a:path>
                <a:path w="2825115" h="2460625">
                  <a:moveTo>
                    <a:pt x="1700149" y="2460117"/>
                  </a:moveTo>
                  <a:lnTo>
                    <a:pt x="1700149" y="0"/>
                  </a:lnTo>
                </a:path>
                <a:path w="2825115" h="2460625">
                  <a:moveTo>
                    <a:pt x="2161794" y="2460117"/>
                  </a:moveTo>
                  <a:lnTo>
                    <a:pt x="2161794" y="0"/>
                  </a:lnTo>
                </a:path>
                <a:path w="2825115" h="2460625">
                  <a:moveTo>
                    <a:pt x="2623312" y="2460117"/>
                  </a:moveTo>
                  <a:lnTo>
                    <a:pt x="2623312" y="0"/>
                  </a:lnTo>
                </a:path>
              </a:pathLst>
            </a:custGeom>
            <a:ln w="3429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141601"/>
                  </a:moveTo>
                  <a:lnTo>
                    <a:pt x="2824988" y="2141601"/>
                  </a:lnTo>
                </a:path>
                <a:path w="2825115" h="2460625">
                  <a:moveTo>
                    <a:pt x="0" y="1747266"/>
                  </a:moveTo>
                  <a:lnTo>
                    <a:pt x="2824988" y="1747266"/>
                  </a:lnTo>
                </a:path>
                <a:path w="2825115" h="2460625">
                  <a:moveTo>
                    <a:pt x="0" y="1352804"/>
                  </a:moveTo>
                  <a:lnTo>
                    <a:pt x="2824988" y="1352804"/>
                  </a:lnTo>
                </a:path>
                <a:path w="2825115" h="2460625">
                  <a:moveTo>
                    <a:pt x="0" y="958342"/>
                  </a:moveTo>
                  <a:lnTo>
                    <a:pt x="2824988" y="958342"/>
                  </a:lnTo>
                </a:path>
                <a:path w="2825115" h="2460625">
                  <a:moveTo>
                    <a:pt x="0" y="563880"/>
                  </a:moveTo>
                  <a:lnTo>
                    <a:pt x="2824988" y="563880"/>
                  </a:lnTo>
                </a:path>
                <a:path w="2825115" h="2460625">
                  <a:moveTo>
                    <a:pt x="0" y="169545"/>
                  </a:moveTo>
                  <a:lnTo>
                    <a:pt x="2824988" y="169545"/>
                  </a:lnTo>
                </a:path>
                <a:path w="2825115" h="2460625">
                  <a:moveTo>
                    <a:pt x="84582" y="2460117"/>
                  </a:moveTo>
                  <a:lnTo>
                    <a:pt x="84582" y="0"/>
                  </a:lnTo>
                </a:path>
                <a:path w="2825115" h="2460625">
                  <a:moveTo>
                    <a:pt x="546100" y="2460117"/>
                  </a:moveTo>
                  <a:lnTo>
                    <a:pt x="546100" y="0"/>
                  </a:lnTo>
                </a:path>
                <a:path w="2825115" h="2460625">
                  <a:moveTo>
                    <a:pt x="1007745" y="2460117"/>
                  </a:moveTo>
                  <a:lnTo>
                    <a:pt x="1007745" y="0"/>
                  </a:lnTo>
                </a:path>
                <a:path w="2825115" h="2460625">
                  <a:moveTo>
                    <a:pt x="1469390" y="2460117"/>
                  </a:moveTo>
                  <a:lnTo>
                    <a:pt x="1469390" y="0"/>
                  </a:lnTo>
                </a:path>
                <a:path w="2825115" h="2460625">
                  <a:moveTo>
                    <a:pt x="1930908" y="2460117"/>
                  </a:moveTo>
                  <a:lnTo>
                    <a:pt x="1930908" y="0"/>
                  </a:lnTo>
                </a:path>
                <a:path w="2825115" h="2460625">
                  <a:moveTo>
                    <a:pt x="2392553" y="2460117"/>
                  </a:moveTo>
                  <a:lnTo>
                    <a:pt x="2392553" y="0"/>
                  </a:lnTo>
                </a:path>
              </a:pathLst>
            </a:custGeom>
            <a:ln w="6731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0983" y="1424"/>
                  </a:lnTo>
                  <a:lnTo>
                    <a:pt x="5254" y="5302"/>
                  </a:lnTo>
                  <a:lnTo>
                    <a:pt x="1406" y="11037"/>
                  </a:lnTo>
                  <a:lnTo>
                    <a:pt x="0" y="18034"/>
                  </a:lnTo>
                  <a:lnTo>
                    <a:pt x="1406" y="25104"/>
                  </a:lnTo>
                  <a:lnTo>
                    <a:pt x="5254" y="30876"/>
                  </a:lnTo>
                  <a:lnTo>
                    <a:pt x="10983" y="34768"/>
                  </a:lnTo>
                  <a:lnTo>
                    <a:pt x="18034" y="36195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06" y="11037"/>
                  </a:lnTo>
                  <a:lnTo>
                    <a:pt x="5254" y="5302"/>
                  </a:lnTo>
                  <a:lnTo>
                    <a:pt x="10983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4" y="36195"/>
                  </a:lnTo>
                  <a:lnTo>
                    <a:pt x="10983" y="34768"/>
                  </a:lnTo>
                  <a:lnTo>
                    <a:pt x="5254" y="30876"/>
                  </a:lnTo>
                  <a:lnTo>
                    <a:pt x="1406" y="2510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85268" y="1699175"/>
              <a:ext cx="1973707" cy="17378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104"/>
                  </a:lnTo>
                  <a:lnTo>
                    <a:pt x="5302" y="30876"/>
                  </a:lnTo>
                  <a:lnTo>
                    <a:pt x="11037" y="34768"/>
                  </a:lnTo>
                  <a:lnTo>
                    <a:pt x="18033" y="36194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3" y="36194"/>
                  </a:lnTo>
                  <a:lnTo>
                    <a:pt x="11037" y="34768"/>
                  </a:lnTo>
                  <a:lnTo>
                    <a:pt x="5302" y="30876"/>
                  </a:lnTo>
                  <a:lnTo>
                    <a:pt x="1424" y="25104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84"/>
                  </a:lnTo>
                  <a:lnTo>
                    <a:pt x="5302" y="30813"/>
                  </a:lnTo>
                  <a:lnTo>
                    <a:pt x="11037" y="34661"/>
                  </a:lnTo>
                  <a:lnTo>
                    <a:pt x="18034" y="36068"/>
                  </a:lnTo>
                  <a:lnTo>
                    <a:pt x="25104" y="34661"/>
                  </a:lnTo>
                  <a:lnTo>
                    <a:pt x="30876" y="30813"/>
                  </a:lnTo>
                  <a:lnTo>
                    <a:pt x="34768" y="25084"/>
                  </a:lnTo>
                  <a:lnTo>
                    <a:pt x="36195" y="18034"/>
                  </a:lnTo>
                  <a:lnTo>
                    <a:pt x="34768" y="11037"/>
                  </a:lnTo>
                  <a:lnTo>
                    <a:pt x="30876" y="5302"/>
                  </a:lnTo>
                  <a:lnTo>
                    <a:pt x="25104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104" y="1424"/>
                  </a:lnTo>
                  <a:lnTo>
                    <a:pt x="30876" y="5302"/>
                  </a:lnTo>
                  <a:lnTo>
                    <a:pt x="34768" y="11037"/>
                  </a:lnTo>
                  <a:lnTo>
                    <a:pt x="36195" y="18034"/>
                  </a:lnTo>
                  <a:lnTo>
                    <a:pt x="34768" y="25084"/>
                  </a:lnTo>
                  <a:lnTo>
                    <a:pt x="30876" y="30813"/>
                  </a:lnTo>
                  <a:lnTo>
                    <a:pt x="25104" y="34661"/>
                  </a:lnTo>
                  <a:lnTo>
                    <a:pt x="18034" y="36068"/>
                  </a:lnTo>
                  <a:lnTo>
                    <a:pt x="11037" y="34661"/>
                  </a:lnTo>
                  <a:lnTo>
                    <a:pt x="5302" y="30813"/>
                  </a:lnTo>
                  <a:lnTo>
                    <a:pt x="1424" y="2508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7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7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460117"/>
                  </a:moveTo>
                  <a:lnTo>
                    <a:pt x="2824988" y="2460117"/>
                  </a:lnTo>
                  <a:lnTo>
                    <a:pt x="2824988" y="0"/>
                  </a:lnTo>
                  <a:lnTo>
                    <a:pt x="0" y="0"/>
                  </a:lnTo>
                  <a:lnTo>
                    <a:pt x="0" y="2460117"/>
                  </a:lnTo>
                  <a:close/>
                </a:path>
              </a:pathLst>
            </a:custGeom>
            <a:ln w="1358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38394" y="1446381"/>
              <a:ext cx="2427605" cy="2325370"/>
            </a:xfrm>
            <a:custGeom>
              <a:avLst/>
              <a:gdLst/>
              <a:ahLst/>
              <a:cxnLst/>
              <a:rect l="l" t="t" r="r" b="b"/>
              <a:pathLst>
                <a:path w="2427604" h="2325370">
                  <a:moveTo>
                    <a:pt x="0" y="1972056"/>
                  </a:moveTo>
                  <a:lnTo>
                    <a:pt x="34798" y="1972056"/>
                  </a:lnTo>
                </a:path>
                <a:path w="2427604" h="2325370">
                  <a:moveTo>
                    <a:pt x="0" y="1577721"/>
                  </a:moveTo>
                  <a:lnTo>
                    <a:pt x="34798" y="1577721"/>
                  </a:lnTo>
                </a:path>
                <a:path w="2427604" h="2325370">
                  <a:moveTo>
                    <a:pt x="0" y="1183259"/>
                  </a:moveTo>
                  <a:lnTo>
                    <a:pt x="34798" y="1183259"/>
                  </a:lnTo>
                </a:path>
                <a:path w="2427604" h="2325370">
                  <a:moveTo>
                    <a:pt x="0" y="788797"/>
                  </a:moveTo>
                  <a:lnTo>
                    <a:pt x="34798" y="788797"/>
                  </a:lnTo>
                </a:path>
                <a:path w="2427604" h="2325370">
                  <a:moveTo>
                    <a:pt x="0" y="394335"/>
                  </a:moveTo>
                  <a:lnTo>
                    <a:pt x="34798" y="394335"/>
                  </a:lnTo>
                </a:path>
                <a:path w="2427604" h="2325370">
                  <a:moveTo>
                    <a:pt x="0" y="0"/>
                  </a:moveTo>
                  <a:lnTo>
                    <a:pt x="34798" y="0"/>
                  </a:lnTo>
                </a:path>
                <a:path w="2427604" h="2325370">
                  <a:moveTo>
                    <a:pt x="119380" y="2325370"/>
                  </a:moveTo>
                  <a:lnTo>
                    <a:pt x="119380" y="2290572"/>
                  </a:lnTo>
                </a:path>
                <a:path w="2427604" h="2325370">
                  <a:moveTo>
                    <a:pt x="580898" y="2325370"/>
                  </a:moveTo>
                  <a:lnTo>
                    <a:pt x="580898" y="2290572"/>
                  </a:lnTo>
                </a:path>
                <a:path w="2427604" h="2325370">
                  <a:moveTo>
                    <a:pt x="1042543" y="2325370"/>
                  </a:moveTo>
                  <a:lnTo>
                    <a:pt x="1042543" y="2290572"/>
                  </a:lnTo>
                </a:path>
                <a:path w="2427604" h="2325370">
                  <a:moveTo>
                    <a:pt x="1504188" y="2325370"/>
                  </a:moveTo>
                  <a:lnTo>
                    <a:pt x="1504188" y="2290572"/>
                  </a:lnTo>
                </a:path>
                <a:path w="2427604" h="2325370">
                  <a:moveTo>
                    <a:pt x="1965706" y="2325370"/>
                  </a:moveTo>
                  <a:lnTo>
                    <a:pt x="1965706" y="2290572"/>
                  </a:lnTo>
                </a:path>
                <a:path w="2427604" h="2325370">
                  <a:moveTo>
                    <a:pt x="2427351" y="2325370"/>
                  </a:moveTo>
                  <a:lnTo>
                    <a:pt x="2427351" y="2290572"/>
                  </a:lnTo>
                </a:path>
              </a:pathLst>
            </a:custGeom>
            <a:ln w="6731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767579" y="3332458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5767579" y="2938123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34381" y="254366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34381" y="2149199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34381" y="175473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34381" y="136040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79923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−3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41441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03086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59650" y="375460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21295" y="375460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299199" y="3754606"/>
            <a:ext cx="187960" cy="335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v1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93205" y="2420374"/>
            <a:ext cx="165100" cy="1733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</a:pPr>
            <a:r>
              <a:rPr sz="1100" dirty="0">
                <a:latin typeface="Arial"/>
                <a:cs typeface="Arial"/>
              </a:rPr>
              <a:t>v2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453255" cy="175394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6725" marR="140335" indent="-454025">
              <a:lnSpc>
                <a:spcPct val="78900"/>
              </a:lnSpc>
              <a:spcBef>
                <a:spcPts val="58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Let's consider now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the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of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right  plot.</a:t>
            </a:r>
            <a:endParaRPr sz="1900" dirty="0">
              <a:latin typeface="Calibri"/>
              <a:cs typeface="Calibri"/>
            </a:endParaRPr>
          </a:p>
          <a:p>
            <a:pPr marL="466725" marR="5080" indent="-454025">
              <a:lnSpc>
                <a:spcPct val="78900"/>
              </a:lnSpc>
              <a:spcBef>
                <a:spcPts val="1995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What's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difference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between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this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and  the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one visualised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before?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Arial"/>
              <a:buChar char="•"/>
            </a:pPr>
            <a:endParaRPr sz="1700" dirty="0">
              <a:latin typeface="Calibri"/>
              <a:cs typeface="Calibri"/>
            </a:endParaRPr>
          </a:p>
          <a:p>
            <a:pPr marL="466725" marR="476250" indent="-454025">
              <a:lnSpc>
                <a:spcPct val="78900"/>
              </a:lnSpc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lang="en-US" sz="1900" spc="-5" dirty="0">
                <a:solidFill>
                  <a:srgbClr val="00026A"/>
                </a:solidFill>
                <a:cs typeface="Calibri"/>
              </a:rPr>
              <a:t>This </a:t>
            </a:r>
            <a:r>
              <a:rPr lang="en-US" sz="1900" spc="-15" dirty="0">
                <a:solidFill>
                  <a:srgbClr val="00026A"/>
                </a:solidFill>
                <a:cs typeface="Calibri"/>
              </a:rPr>
              <a:t>data has </a:t>
            </a:r>
            <a:r>
              <a:rPr lang="en-US" sz="1900" spc="-10" dirty="0">
                <a:solidFill>
                  <a:srgbClr val="00026A"/>
                </a:solidFill>
                <a:cs typeface="Calibri"/>
              </a:rPr>
              <a:t>more</a:t>
            </a:r>
            <a:r>
              <a:rPr lang="en-US" sz="1900" spc="-5" dirty="0">
                <a:solidFill>
                  <a:srgbClr val="00026A"/>
                </a:solidFill>
                <a:cs typeface="Calibri"/>
              </a:rPr>
              <a:t> </a:t>
            </a:r>
            <a:r>
              <a:rPr lang="en-US" sz="1900" i="1" spc="-5" dirty="0">
                <a:solidFill>
                  <a:srgbClr val="3366FF"/>
                </a:solidFill>
                <a:cs typeface="Calibri"/>
              </a:rPr>
              <a:t>order</a:t>
            </a:r>
            <a:r>
              <a:rPr lang="en-US" sz="1900" spc="-5" dirty="0">
                <a:solidFill>
                  <a:srgbClr val="00026A"/>
                </a:solidFill>
                <a:cs typeface="Calibri"/>
              </a:rPr>
              <a:t>.</a:t>
            </a:r>
            <a:endParaRPr lang="en-US" sz="1900" dirty="0"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4704" y="3166872"/>
            <a:ext cx="4048760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825"/>
              </a:lnSpc>
              <a:spcBef>
                <a:spcPts val="100"/>
              </a:spcBef>
              <a:tabLst>
                <a:tab pos="494665" algn="l"/>
              </a:tabLst>
            </a:pPr>
            <a:r>
              <a:rPr sz="1500" dirty="0">
                <a:solidFill>
                  <a:srgbClr val="404040"/>
                </a:solidFill>
                <a:latin typeface="Lucida Sans Unicode"/>
                <a:cs typeface="Lucida Sans Unicode"/>
              </a:rPr>
              <a:t>-	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new </a:t>
            </a:r>
            <a:r>
              <a:rPr sz="1700" spc="-20" dirty="0">
                <a:solidFill>
                  <a:srgbClr val="000090"/>
                </a:solidFill>
                <a:latin typeface="Calibri"/>
                <a:cs typeface="Calibri"/>
              </a:rPr>
              <a:t>axes </a:t>
            </a:r>
            <a:r>
              <a:rPr sz="1700" dirty="0">
                <a:solidFill>
                  <a:srgbClr val="000090"/>
                </a:solidFill>
                <a:latin typeface="Courier New"/>
                <a:cs typeface="Courier New"/>
              </a:rPr>
              <a:t>x</a:t>
            </a:r>
            <a:r>
              <a:rPr sz="1650" baseline="-15151" dirty="0">
                <a:solidFill>
                  <a:srgbClr val="000090"/>
                </a:solidFill>
                <a:latin typeface="Courier New"/>
                <a:cs typeface="Courier New"/>
              </a:rPr>
              <a:t>1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, </a:t>
            </a:r>
            <a:r>
              <a:rPr sz="1700" dirty="0">
                <a:solidFill>
                  <a:srgbClr val="000090"/>
                </a:solidFill>
                <a:latin typeface="Courier New"/>
                <a:cs typeface="Courier New"/>
              </a:rPr>
              <a:t>x</a:t>
            </a:r>
            <a:r>
              <a:rPr sz="1650" baseline="-15151" dirty="0">
                <a:solidFill>
                  <a:srgbClr val="000090"/>
                </a:solidFill>
                <a:latin typeface="Courier New"/>
                <a:cs typeface="Courier New"/>
              </a:rPr>
              <a:t>2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can be chosen</a:t>
            </a:r>
            <a:r>
              <a:rPr sz="1700" spc="-26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over</a:t>
            </a:r>
            <a:endParaRPr sz="1700">
              <a:latin typeface="Calibri"/>
              <a:cs typeface="Calibri"/>
            </a:endParaRPr>
          </a:p>
          <a:p>
            <a:pPr marL="495300">
              <a:lnSpc>
                <a:spcPts val="1825"/>
              </a:lnSpc>
            </a:pPr>
            <a:r>
              <a:rPr sz="1700" dirty="0">
                <a:solidFill>
                  <a:srgbClr val="000090"/>
                </a:solidFill>
                <a:latin typeface="Courier New"/>
                <a:cs typeface="Courier New"/>
              </a:rPr>
              <a:t>v</a:t>
            </a:r>
            <a:r>
              <a:rPr sz="1650" baseline="-15151" dirty="0">
                <a:solidFill>
                  <a:srgbClr val="000090"/>
                </a:solidFill>
                <a:latin typeface="Courier New"/>
                <a:cs typeface="Courier New"/>
              </a:rPr>
              <a:t>1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,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90"/>
                </a:solidFill>
                <a:latin typeface="Courier New"/>
                <a:cs typeface="Courier New"/>
              </a:rPr>
              <a:t>v</a:t>
            </a:r>
            <a:r>
              <a:rPr sz="1650" baseline="-15151" dirty="0">
                <a:solidFill>
                  <a:srgbClr val="000090"/>
                </a:solidFill>
                <a:latin typeface="Courier New"/>
                <a:cs typeface="Courier New"/>
              </a:rPr>
              <a:t>2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0495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Dimensionality</a:t>
            </a:r>
            <a:r>
              <a:rPr spc="-60" dirty="0"/>
              <a:t> </a:t>
            </a:r>
            <a:r>
              <a:rPr spc="-5" dirty="0"/>
              <a:t>reduction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934901" y="1269851"/>
            <a:ext cx="2870835" cy="2505710"/>
            <a:chOff x="5934901" y="1269851"/>
            <a:chExt cx="2870835" cy="2505710"/>
          </a:xfrm>
        </p:grpSpPr>
        <p:sp>
          <p:nvSpPr>
            <p:cNvPr id="6" name="object 6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338832"/>
                  </a:moveTo>
                  <a:lnTo>
                    <a:pt x="2824988" y="2338832"/>
                  </a:lnTo>
                </a:path>
                <a:path w="2825115" h="2460625">
                  <a:moveTo>
                    <a:pt x="0" y="1944370"/>
                  </a:moveTo>
                  <a:lnTo>
                    <a:pt x="2824988" y="1944370"/>
                  </a:lnTo>
                </a:path>
                <a:path w="2825115" h="2460625">
                  <a:moveTo>
                    <a:pt x="0" y="1550035"/>
                  </a:moveTo>
                  <a:lnTo>
                    <a:pt x="2824988" y="1550035"/>
                  </a:lnTo>
                </a:path>
                <a:path w="2825115" h="2460625">
                  <a:moveTo>
                    <a:pt x="0" y="1155573"/>
                  </a:moveTo>
                  <a:lnTo>
                    <a:pt x="2824988" y="1155573"/>
                  </a:lnTo>
                </a:path>
                <a:path w="2825115" h="2460625">
                  <a:moveTo>
                    <a:pt x="0" y="761111"/>
                  </a:moveTo>
                  <a:lnTo>
                    <a:pt x="2824988" y="761111"/>
                  </a:lnTo>
                </a:path>
                <a:path w="2825115" h="2460625">
                  <a:moveTo>
                    <a:pt x="0" y="366649"/>
                  </a:moveTo>
                  <a:lnTo>
                    <a:pt x="2824988" y="366649"/>
                  </a:lnTo>
                </a:path>
                <a:path w="2825115" h="2460625">
                  <a:moveTo>
                    <a:pt x="315341" y="2460117"/>
                  </a:moveTo>
                  <a:lnTo>
                    <a:pt x="315341" y="0"/>
                  </a:lnTo>
                </a:path>
                <a:path w="2825115" h="2460625">
                  <a:moveTo>
                    <a:pt x="776986" y="2460117"/>
                  </a:moveTo>
                  <a:lnTo>
                    <a:pt x="776986" y="0"/>
                  </a:lnTo>
                </a:path>
                <a:path w="2825115" h="2460625">
                  <a:moveTo>
                    <a:pt x="1238504" y="2460117"/>
                  </a:moveTo>
                  <a:lnTo>
                    <a:pt x="1238504" y="0"/>
                  </a:lnTo>
                </a:path>
                <a:path w="2825115" h="2460625">
                  <a:moveTo>
                    <a:pt x="1700149" y="2460117"/>
                  </a:moveTo>
                  <a:lnTo>
                    <a:pt x="1700149" y="0"/>
                  </a:lnTo>
                </a:path>
                <a:path w="2825115" h="2460625">
                  <a:moveTo>
                    <a:pt x="2161794" y="2460117"/>
                  </a:moveTo>
                  <a:lnTo>
                    <a:pt x="2161794" y="0"/>
                  </a:lnTo>
                </a:path>
                <a:path w="2825115" h="2460625">
                  <a:moveTo>
                    <a:pt x="2623312" y="2460117"/>
                  </a:moveTo>
                  <a:lnTo>
                    <a:pt x="2623312" y="0"/>
                  </a:lnTo>
                </a:path>
              </a:pathLst>
            </a:custGeom>
            <a:ln w="3429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141601"/>
                  </a:moveTo>
                  <a:lnTo>
                    <a:pt x="2824988" y="2141601"/>
                  </a:lnTo>
                </a:path>
                <a:path w="2825115" h="2460625">
                  <a:moveTo>
                    <a:pt x="0" y="1747266"/>
                  </a:moveTo>
                  <a:lnTo>
                    <a:pt x="2824988" y="1747266"/>
                  </a:lnTo>
                </a:path>
                <a:path w="2825115" h="2460625">
                  <a:moveTo>
                    <a:pt x="0" y="1352804"/>
                  </a:moveTo>
                  <a:lnTo>
                    <a:pt x="2824988" y="1352804"/>
                  </a:lnTo>
                </a:path>
                <a:path w="2825115" h="2460625">
                  <a:moveTo>
                    <a:pt x="0" y="958342"/>
                  </a:moveTo>
                  <a:lnTo>
                    <a:pt x="2824988" y="958342"/>
                  </a:lnTo>
                </a:path>
                <a:path w="2825115" h="2460625">
                  <a:moveTo>
                    <a:pt x="0" y="563880"/>
                  </a:moveTo>
                  <a:lnTo>
                    <a:pt x="2824988" y="563880"/>
                  </a:lnTo>
                </a:path>
                <a:path w="2825115" h="2460625">
                  <a:moveTo>
                    <a:pt x="0" y="169545"/>
                  </a:moveTo>
                  <a:lnTo>
                    <a:pt x="2824988" y="169545"/>
                  </a:lnTo>
                </a:path>
                <a:path w="2825115" h="2460625">
                  <a:moveTo>
                    <a:pt x="84582" y="2460117"/>
                  </a:moveTo>
                  <a:lnTo>
                    <a:pt x="84582" y="0"/>
                  </a:lnTo>
                </a:path>
                <a:path w="2825115" h="2460625">
                  <a:moveTo>
                    <a:pt x="546100" y="2460117"/>
                  </a:moveTo>
                  <a:lnTo>
                    <a:pt x="546100" y="0"/>
                  </a:lnTo>
                </a:path>
                <a:path w="2825115" h="2460625">
                  <a:moveTo>
                    <a:pt x="1007745" y="2460117"/>
                  </a:moveTo>
                  <a:lnTo>
                    <a:pt x="1007745" y="0"/>
                  </a:lnTo>
                </a:path>
                <a:path w="2825115" h="2460625">
                  <a:moveTo>
                    <a:pt x="1469390" y="2460117"/>
                  </a:moveTo>
                  <a:lnTo>
                    <a:pt x="1469390" y="0"/>
                  </a:lnTo>
                </a:path>
                <a:path w="2825115" h="2460625">
                  <a:moveTo>
                    <a:pt x="1930908" y="2460117"/>
                  </a:moveTo>
                  <a:lnTo>
                    <a:pt x="1930908" y="0"/>
                  </a:lnTo>
                </a:path>
                <a:path w="2825115" h="2460625">
                  <a:moveTo>
                    <a:pt x="2392553" y="2460117"/>
                  </a:moveTo>
                  <a:lnTo>
                    <a:pt x="2392553" y="0"/>
                  </a:lnTo>
                </a:path>
              </a:pathLst>
            </a:custGeom>
            <a:ln w="6731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0983" y="1424"/>
                  </a:lnTo>
                  <a:lnTo>
                    <a:pt x="5254" y="5302"/>
                  </a:lnTo>
                  <a:lnTo>
                    <a:pt x="1406" y="11037"/>
                  </a:lnTo>
                  <a:lnTo>
                    <a:pt x="0" y="18034"/>
                  </a:lnTo>
                  <a:lnTo>
                    <a:pt x="1406" y="25104"/>
                  </a:lnTo>
                  <a:lnTo>
                    <a:pt x="5254" y="30876"/>
                  </a:lnTo>
                  <a:lnTo>
                    <a:pt x="10983" y="34768"/>
                  </a:lnTo>
                  <a:lnTo>
                    <a:pt x="18034" y="36195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06" y="11037"/>
                  </a:lnTo>
                  <a:lnTo>
                    <a:pt x="5254" y="5302"/>
                  </a:lnTo>
                  <a:lnTo>
                    <a:pt x="10983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4" y="36195"/>
                  </a:lnTo>
                  <a:lnTo>
                    <a:pt x="10983" y="34768"/>
                  </a:lnTo>
                  <a:lnTo>
                    <a:pt x="5254" y="30876"/>
                  </a:lnTo>
                  <a:lnTo>
                    <a:pt x="1406" y="2510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85268" y="1699175"/>
              <a:ext cx="1973707" cy="17378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104"/>
                  </a:lnTo>
                  <a:lnTo>
                    <a:pt x="5302" y="30876"/>
                  </a:lnTo>
                  <a:lnTo>
                    <a:pt x="11037" y="34768"/>
                  </a:lnTo>
                  <a:lnTo>
                    <a:pt x="18033" y="36194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3" y="36194"/>
                  </a:lnTo>
                  <a:lnTo>
                    <a:pt x="11037" y="34768"/>
                  </a:lnTo>
                  <a:lnTo>
                    <a:pt x="5302" y="30876"/>
                  </a:lnTo>
                  <a:lnTo>
                    <a:pt x="1424" y="25104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84"/>
                  </a:lnTo>
                  <a:lnTo>
                    <a:pt x="5302" y="30813"/>
                  </a:lnTo>
                  <a:lnTo>
                    <a:pt x="11037" y="34661"/>
                  </a:lnTo>
                  <a:lnTo>
                    <a:pt x="18034" y="36068"/>
                  </a:lnTo>
                  <a:lnTo>
                    <a:pt x="25104" y="34661"/>
                  </a:lnTo>
                  <a:lnTo>
                    <a:pt x="30876" y="30813"/>
                  </a:lnTo>
                  <a:lnTo>
                    <a:pt x="34768" y="25084"/>
                  </a:lnTo>
                  <a:lnTo>
                    <a:pt x="36195" y="18034"/>
                  </a:lnTo>
                  <a:lnTo>
                    <a:pt x="34768" y="11037"/>
                  </a:lnTo>
                  <a:lnTo>
                    <a:pt x="30876" y="5302"/>
                  </a:lnTo>
                  <a:lnTo>
                    <a:pt x="25104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104" y="1424"/>
                  </a:lnTo>
                  <a:lnTo>
                    <a:pt x="30876" y="5302"/>
                  </a:lnTo>
                  <a:lnTo>
                    <a:pt x="34768" y="11037"/>
                  </a:lnTo>
                  <a:lnTo>
                    <a:pt x="36195" y="18034"/>
                  </a:lnTo>
                  <a:lnTo>
                    <a:pt x="34768" y="25084"/>
                  </a:lnTo>
                  <a:lnTo>
                    <a:pt x="30876" y="30813"/>
                  </a:lnTo>
                  <a:lnTo>
                    <a:pt x="25104" y="34661"/>
                  </a:lnTo>
                  <a:lnTo>
                    <a:pt x="18034" y="36068"/>
                  </a:lnTo>
                  <a:lnTo>
                    <a:pt x="11037" y="34661"/>
                  </a:lnTo>
                  <a:lnTo>
                    <a:pt x="5302" y="30813"/>
                  </a:lnTo>
                  <a:lnTo>
                    <a:pt x="1424" y="2508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7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7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460117"/>
                  </a:moveTo>
                  <a:lnTo>
                    <a:pt x="2824988" y="2460117"/>
                  </a:lnTo>
                  <a:lnTo>
                    <a:pt x="2824988" y="0"/>
                  </a:lnTo>
                  <a:lnTo>
                    <a:pt x="0" y="0"/>
                  </a:lnTo>
                  <a:lnTo>
                    <a:pt x="0" y="2460117"/>
                  </a:lnTo>
                  <a:close/>
                </a:path>
              </a:pathLst>
            </a:custGeom>
            <a:ln w="1358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38394" y="1446381"/>
              <a:ext cx="2427605" cy="2325370"/>
            </a:xfrm>
            <a:custGeom>
              <a:avLst/>
              <a:gdLst/>
              <a:ahLst/>
              <a:cxnLst/>
              <a:rect l="l" t="t" r="r" b="b"/>
              <a:pathLst>
                <a:path w="2427604" h="2325370">
                  <a:moveTo>
                    <a:pt x="0" y="1972056"/>
                  </a:moveTo>
                  <a:lnTo>
                    <a:pt x="34798" y="1972056"/>
                  </a:lnTo>
                </a:path>
                <a:path w="2427604" h="2325370">
                  <a:moveTo>
                    <a:pt x="0" y="1577721"/>
                  </a:moveTo>
                  <a:lnTo>
                    <a:pt x="34798" y="1577721"/>
                  </a:lnTo>
                </a:path>
                <a:path w="2427604" h="2325370">
                  <a:moveTo>
                    <a:pt x="0" y="1183259"/>
                  </a:moveTo>
                  <a:lnTo>
                    <a:pt x="34798" y="1183259"/>
                  </a:lnTo>
                </a:path>
                <a:path w="2427604" h="2325370">
                  <a:moveTo>
                    <a:pt x="0" y="788797"/>
                  </a:moveTo>
                  <a:lnTo>
                    <a:pt x="34798" y="788797"/>
                  </a:lnTo>
                </a:path>
                <a:path w="2427604" h="2325370">
                  <a:moveTo>
                    <a:pt x="0" y="394335"/>
                  </a:moveTo>
                  <a:lnTo>
                    <a:pt x="34798" y="394335"/>
                  </a:lnTo>
                </a:path>
                <a:path w="2427604" h="2325370">
                  <a:moveTo>
                    <a:pt x="0" y="0"/>
                  </a:moveTo>
                  <a:lnTo>
                    <a:pt x="34798" y="0"/>
                  </a:lnTo>
                </a:path>
                <a:path w="2427604" h="2325370">
                  <a:moveTo>
                    <a:pt x="119380" y="2325370"/>
                  </a:moveTo>
                  <a:lnTo>
                    <a:pt x="119380" y="2290572"/>
                  </a:lnTo>
                </a:path>
                <a:path w="2427604" h="2325370">
                  <a:moveTo>
                    <a:pt x="580898" y="2325370"/>
                  </a:moveTo>
                  <a:lnTo>
                    <a:pt x="580898" y="2290572"/>
                  </a:lnTo>
                </a:path>
                <a:path w="2427604" h="2325370">
                  <a:moveTo>
                    <a:pt x="1042543" y="2325370"/>
                  </a:moveTo>
                  <a:lnTo>
                    <a:pt x="1042543" y="2290572"/>
                  </a:lnTo>
                </a:path>
                <a:path w="2427604" h="2325370">
                  <a:moveTo>
                    <a:pt x="1504188" y="2325370"/>
                  </a:moveTo>
                  <a:lnTo>
                    <a:pt x="1504188" y="2290572"/>
                  </a:lnTo>
                </a:path>
                <a:path w="2427604" h="2325370">
                  <a:moveTo>
                    <a:pt x="1965706" y="2325370"/>
                  </a:moveTo>
                  <a:lnTo>
                    <a:pt x="1965706" y="2290572"/>
                  </a:lnTo>
                </a:path>
                <a:path w="2427604" h="2325370">
                  <a:moveTo>
                    <a:pt x="2427351" y="2325370"/>
                  </a:moveTo>
                  <a:lnTo>
                    <a:pt x="2427351" y="2290572"/>
                  </a:lnTo>
                </a:path>
              </a:pathLst>
            </a:custGeom>
            <a:ln w="6731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67579" y="3332458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67579" y="2938123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34381" y="254366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34381" y="2149199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34381" y="175473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34381" y="136040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79923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−3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41441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903086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59650" y="375460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321295" y="375460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99199" y="3754606"/>
            <a:ext cx="187960" cy="335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v1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593205" y="2420374"/>
            <a:ext cx="165100" cy="1733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</a:pPr>
            <a:r>
              <a:rPr sz="1100" dirty="0">
                <a:latin typeface="Arial"/>
                <a:cs typeface="Arial"/>
              </a:rPr>
              <a:t>v2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303772" y="1450352"/>
            <a:ext cx="2486660" cy="2196465"/>
          </a:xfrm>
          <a:custGeom>
            <a:avLst/>
            <a:gdLst/>
            <a:ahLst/>
            <a:cxnLst/>
            <a:rect l="l" t="t" r="r" b="b"/>
            <a:pathLst>
              <a:path w="2486659" h="2196465">
                <a:moveTo>
                  <a:pt x="2486329" y="0"/>
                </a:moveTo>
                <a:lnTo>
                  <a:pt x="2371547" y="22682"/>
                </a:lnTo>
                <a:lnTo>
                  <a:pt x="2367064" y="29375"/>
                </a:lnTo>
                <a:lnTo>
                  <a:pt x="2369794" y="43129"/>
                </a:lnTo>
                <a:lnTo>
                  <a:pt x="2376474" y="47612"/>
                </a:lnTo>
                <a:lnTo>
                  <a:pt x="2423807" y="38252"/>
                </a:lnTo>
                <a:lnTo>
                  <a:pt x="1150988" y="1161859"/>
                </a:lnTo>
                <a:lnTo>
                  <a:pt x="59486" y="42799"/>
                </a:lnTo>
                <a:lnTo>
                  <a:pt x="105994" y="55664"/>
                </a:lnTo>
                <a:lnTo>
                  <a:pt x="112991" y="51701"/>
                </a:lnTo>
                <a:lnTo>
                  <a:pt x="116725" y="38176"/>
                </a:lnTo>
                <a:lnTo>
                  <a:pt x="112763" y="31178"/>
                </a:lnTo>
                <a:lnTo>
                  <a:pt x="33121" y="9156"/>
                </a:lnTo>
                <a:lnTo>
                  <a:pt x="0" y="0"/>
                </a:lnTo>
                <a:lnTo>
                  <a:pt x="28359" y="113512"/>
                </a:lnTo>
                <a:lnTo>
                  <a:pt x="35255" y="117652"/>
                </a:lnTo>
                <a:lnTo>
                  <a:pt x="48869" y="114249"/>
                </a:lnTo>
                <a:lnTo>
                  <a:pt x="52997" y="107353"/>
                </a:lnTo>
                <a:lnTo>
                  <a:pt x="41300" y="60540"/>
                </a:lnTo>
                <a:lnTo>
                  <a:pt x="1131925" y="1178699"/>
                </a:lnTo>
                <a:lnTo>
                  <a:pt x="56870" y="2127732"/>
                </a:lnTo>
                <a:lnTo>
                  <a:pt x="73685" y="2146770"/>
                </a:lnTo>
                <a:lnTo>
                  <a:pt x="1149680" y="1196898"/>
                </a:lnTo>
                <a:lnTo>
                  <a:pt x="2124202" y="2195995"/>
                </a:lnTo>
                <a:lnTo>
                  <a:pt x="2142388" y="2178266"/>
                </a:lnTo>
                <a:lnTo>
                  <a:pt x="1168755" y="1180071"/>
                </a:lnTo>
                <a:lnTo>
                  <a:pt x="2440622" y="57289"/>
                </a:lnTo>
                <a:lnTo>
                  <a:pt x="2425458" y="103098"/>
                </a:lnTo>
                <a:lnTo>
                  <a:pt x="2429078" y="110286"/>
                </a:lnTo>
                <a:lnTo>
                  <a:pt x="2442387" y="114693"/>
                </a:lnTo>
                <a:lnTo>
                  <a:pt x="2449576" y="111086"/>
                </a:lnTo>
                <a:lnTo>
                  <a:pt x="2483942" y="7188"/>
                </a:lnTo>
                <a:lnTo>
                  <a:pt x="2486329" y="0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653720" y="1516379"/>
            <a:ext cx="1327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x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0" name="object 40"/>
          <p:cNvSpPr txBox="1"/>
          <p:nvPr/>
        </p:nvSpPr>
        <p:spPr>
          <a:xfrm>
            <a:off x="8760083" y="1619503"/>
            <a:ext cx="94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00000"/>
                </a:solidFill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25426" y="1595628"/>
            <a:ext cx="251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800000"/>
                </a:solidFill>
                <a:latin typeface="Courier New"/>
                <a:cs typeface="Courier New"/>
              </a:rPr>
              <a:t>x</a:t>
            </a:r>
            <a:r>
              <a:rPr sz="1350" spc="-7" baseline="-18518" dirty="0">
                <a:solidFill>
                  <a:srgbClr val="800000"/>
                </a:solidFill>
                <a:latin typeface="Courier New"/>
                <a:cs typeface="Courier New"/>
              </a:rPr>
              <a:t>2</a:t>
            </a:r>
            <a:endParaRPr sz="1350" baseline="-18518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5" y="1187703"/>
            <a:ext cx="4453255" cy="175394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6725" marR="140335" indent="-454025">
              <a:lnSpc>
                <a:spcPct val="78900"/>
              </a:lnSpc>
              <a:spcBef>
                <a:spcPts val="58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Let's consider now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the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of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right  plot.</a:t>
            </a:r>
            <a:endParaRPr sz="1900" dirty="0">
              <a:latin typeface="Calibri"/>
              <a:cs typeface="Calibri"/>
            </a:endParaRPr>
          </a:p>
          <a:p>
            <a:pPr marL="466725" marR="5080" indent="-454025">
              <a:lnSpc>
                <a:spcPct val="78900"/>
              </a:lnSpc>
              <a:spcBef>
                <a:spcPts val="1995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What's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difference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between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this 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data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and  the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one visualised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15" dirty="0">
                <a:solidFill>
                  <a:srgbClr val="00026A"/>
                </a:solidFill>
                <a:latin typeface="Calibri"/>
                <a:cs typeface="Calibri"/>
              </a:rPr>
              <a:t>before?</a:t>
            </a:r>
            <a:endParaRPr sz="19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A6A6A6"/>
              </a:buClr>
              <a:buFont typeface="Arial"/>
              <a:buChar char="•"/>
            </a:pPr>
            <a:endParaRPr sz="1700" dirty="0">
              <a:latin typeface="Calibri"/>
              <a:cs typeface="Calibri"/>
            </a:endParaRPr>
          </a:p>
          <a:p>
            <a:pPr marL="466725" marR="476250" indent="-454025">
              <a:lnSpc>
                <a:spcPct val="78900"/>
              </a:lnSpc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lang="en-US" sz="1900" spc="-5" dirty="0">
                <a:solidFill>
                  <a:srgbClr val="00026A"/>
                </a:solidFill>
                <a:cs typeface="Calibri"/>
              </a:rPr>
              <a:t>This </a:t>
            </a:r>
            <a:r>
              <a:rPr lang="en-US" sz="1900" spc="-15" dirty="0">
                <a:solidFill>
                  <a:srgbClr val="00026A"/>
                </a:solidFill>
                <a:cs typeface="Calibri"/>
              </a:rPr>
              <a:t>data has </a:t>
            </a:r>
            <a:r>
              <a:rPr lang="en-US" sz="1900" spc="-10" dirty="0">
                <a:solidFill>
                  <a:srgbClr val="00026A"/>
                </a:solidFill>
                <a:cs typeface="Calibri"/>
              </a:rPr>
              <a:t>more</a:t>
            </a:r>
            <a:r>
              <a:rPr lang="en-US" sz="1900" spc="-5" dirty="0">
                <a:solidFill>
                  <a:srgbClr val="00026A"/>
                </a:solidFill>
                <a:cs typeface="Calibri"/>
              </a:rPr>
              <a:t> </a:t>
            </a:r>
            <a:r>
              <a:rPr lang="en-US" sz="1900" i="1" spc="-5" dirty="0">
                <a:solidFill>
                  <a:srgbClr val="3366FF"/>
                </a:solidFill>
                <a:cs typeface="Calibri"/>
              </a:rPr>
              <a:t>order</a:t>
            </a:r>
            <a:r>
              <a:rPr lang="en-US" sz="1900" spc="-5" dirty="0">
                <a:solidFill>
                  <a:srgbClr val="00026A"/>
                </a:solidFill>
                <a:cs typeface="Calibri"/>
              </a:rPr>
              <a:t>.</a:t>
            </a:r>
            <a:endParaRPr lang="en-US" sz="1900" dirty="0"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2004" y="3166872"/>
            <a:ext cx="4074160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 indent="-457200">
              <a:lnSpc>
                <a:spcPts val="1825"/>
              </a:lnSpc>
              <a:spcBef>
                <a:spcPts val="100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07365" algn="l"/>
                <a:tab pos="5080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new </a:t>
            </a:r>
            <a:r>
              <a:rPr sz="1700" spc="-20" dirty="0">
                <a:solidFill>
                  <a:srgbClr val="000090"/>
                </a:solidFill>
                <a:latin typeface="Calibri"/>
                <a:cs typeface="Calibri"/>
              </a:rPr>
              <a:t>axes </a:t>
            </a:r>
            <a:r>
              <a:rPr sz="1700" dirty="0">
                <a:solidFill>
                  <a:srgbClr val="000090"/>
                </a:solidFill>
                <a:latin typeface="Courier New"/>
                <a:cs typeface="Courier New"/>
              </a:rPr>
              <a:t>x</a:t>
            </a:r>
            <a:r>
              <a:rPr sz="1650" baseline="-15151" dirty="0">
                <a:solidFill>
                  <a:srgbClr val="000090"/>
                </a:solidFill>
                <a:latin typeface="Courier New"/>
                <a:cs typeface="Courier New"/>
              </a:rPr>
              <a:t>1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, </a:t>
            </a:r>
            <a:r>
              <a:rPr sz="1700" dirty="0">
                <a:solidFill>
                  <a:srgbClr val="000090"/>
                </a:solidFill>
                <a:latin typeface="Courier New"/>
                <a:cs typeface="Courier New"/>
              </a:rPr>
              <a:t>x</a:t>
            </a:r>
            <a:r>
              <a:rPr sz="1650" baseline="-15151" dirty="0">
                <a:solidFill>
                  <a:srgbClr val="000090"/>
                </a:solidFill>
                <a:latin typeface="Courier New"/>
                <a:cs typeface="Courier New"/>
              </a:rPr>
              <a:t>2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can be chosen</a:t>
            </a:r>
            <a:r>
              <a:rPr sz="1700" spc="-26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over</a:t>
            </a:r>
            <a:endParaRPr sz="1700" dirty="0">
              <a:latin typeface="Calibri"/>
              <a:cs typeface="Calibri"/>
            </a:endParaRPr>
          </a:p>
          <a:p>
            <a:pPr marL="508000">
              <a:lnSpc>
                <a:spcPts val="1825"/>
              </a:lnSpc>
            </a:pPr>
            <a:r>
              <a:rPr sz="1700" dirty="0">
                <a:solidFill>
                  <a:srgbClr val="000090"/>
                </a:solidFill>
                <a:latin typeface="Courier New"/>
                <a:cs typeface="Courier New"/>
              </a:rPr>
              <a:t>v</a:t>
            </a:r>
            <a:r>
              <a:rPr sz="1650" baseline="-15151" dirty="0">
                <a:solidFill>
                  <a:srgbClr val="000090"/>
                </a:solidFill>
                <a:latin typeface="Courier New"/>
                <a:cs typeface="Courier New"/>
              </a:rPr>
              <a:t>1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,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000090"/>
                </a:solidFill>
                <a:latin typeface="Courier New"/>
                <a:cs typeface="Courier New"/>
              </a:rPr>
              <a:t>v</a:t>
            </a:r>
            <a:r>
              <a:rPr sz="1650" baseline="-15151" dirty="0">
                <a:solidFill>
                  <a:srgbClr val="000090"/>
                </a:solidFill>
                <a:latin typeface="Courier New"/>
                <a:cs typeface="Courier New"/>
              </a:rPr>
              <a:t>2</a:t>
            </a:r>
            <a:r>
              <a:rPr sz="1700" dirty="0">
                <a:solidFill>
                  <a:srgbClr val="000090"/>
                </a:solidFill>
                <a:latin typeface="Calibri"/>
                <a:cs typeface="Calibri"/>
              </a:rPr>
              <a:t>.</a:t>
            </a:r>
            <a:endParaRPr sz="1700" dirty="0">
              <a:latin typeface="Calibri"/>
              <a:cs typeface="Calibri"/>
            </a:endParaRPr>
          </a:p>
          <a:p>
            <a:pPr marL="508000" marR="91440" indent="-457200">
              <a:lnSpc>
                <a:spcPts val="1680"/>
              </a:lnSpc>
              <a:spcBef>
                <a:spcPts val="520"/>
              </a:spcBef>
              <a:buClr>
                <a:srgbClr val="404040"/>
              </a:buClr>
              <a:buSzPct val="88235"/>
              <a:buFont typeface="Lucida Sans Unicode"/>
              <a:buChar char="-"/>
              <a:tabLst>
                <a:tab pos="507365" algn="l"/>
                <a:tab pos="508000" algn="l"/>
              </a:tabLst>
            </a:pP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Under this </a:t>
            </a:r>
            <a:r>
              <a:rPr sz="1700" spc="-15" dirty="0">
                <a:solidFill>
                  <a:srgbClr val="000090"/>
                </a:solidFill>
                <a:latin typeface="Calibri"/>
                <a:cs typeface="Calibri"/>
              </a:rPr>
              <a:t>reference,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the </a:t>
            </a:r>
            <a:r>
              <a:rPr sz="1700" spc="-10" dirty="0">
                <a:solidFill>
                  <a:srgbClr val="000090"/>
                </a:solidFill>
                <a:latin typeface="Calibri"/>
                <a:cs typeface="Calibri"/>
              </a:rPr>
              <a:t>axis </a:t>
            </a:r>
            <a:r>
              <a:rPr sz="1700" dirty="0">
                <a:solidFill>
                  <a:srgbClr val="3366FF"/>
                </a:solidFill>
                <a:latin typeface="Courier New"/>
                <a:cs typeface="Courier New"/>
              </a:rPr>
              <a:t>x</a:t>
            </a:r>
            <a:r>
              <a:rPr sz="1650" baseline="-15151" dirty="0">
                <a:solidFill>
                  <a:srgbClr val="3366FF"/>
                </a:solidFill>
                <a:latin typeface="Courier New"/>
                <a:cs typeface="Courier New"/>
              </a:rPr>
              <a:t>2 </a:t>
            </a:r>
            <a:r>
              <a:rPr sz="1700" i="1" spc="-5" dirty="0">
                <a:solidFill>
                  <a:srgbClr val="3366FF"/>
                </a:solidFill>
                <a:latin typeface="Calibri"/>
                <a:cs typeface="Calibri"/>
              </a:rPr>
              <a:t>can</a:t>
            </a:r>
            <a:r>
              <a:rPr sz="1700" i="1" spc="-250" dirty="0">
                <a:solidFill>
                  <a:srgbClr val="3366FF"/>
                </a:solidFill>
                <a:latin typeface="Calibri"/>
                <a:cs typeface="Calibri"/>
              </a:rPr>
              <a:t> </a:t>
            </a:r>
            <a:r>
              <a:rPr sz="1700" i="1" dirty="0">
                <a:solidFill>
                  <a:srgbClr val="3366FF"/>
                </a:solidFill>
                <a:latin typeface="Calibri"/>
                <a:cs typeface="Calibri"/>
              </a:rPr>
              <a:t>be  </a:t>
            </a:r>
            <a:r>
              <a:rPr sz="1700" i="1" spc="-5" dirty="0">
                <a:solidFill>
                  <a:srgbClr val="3366FF"/>
                </a:solidFill>
                <a:latin typeface="Calibri"/>
                <a:cs typeface="Calibri"/>
              </a:rPr>
              <a:t>removed </a:t>
            </a:r>
            <a:r>
              <a:rPr sz="1700" spc="-5" dirty="0">
                <a:solidFill>
                  <a:srgbClr val="000090"/>
                </a:solidFill>
                <a:latin typeface="Calibri"/>
                <a:cs typeface="Calibri"/>
              </a:rPr>
              <a:t>as </a:t>
            </a:r>
            <a:r>
              <a:rPr sz="1700" spc="-5" dirty="0">
                <a:solidFill>
                  <a:srgbClr val="FF0000"/>
                </a:solidFill>
                <a:latin typeface="Calibri"/>
                <a:cs typeface="Calibri"/>
              </a:rPr>
              <a:t>it is not so</a:t>
            </a:r>
            <a:r>
              <a:rPr sz="17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libri"/>
                <a:cs typeface="Calibri"/>
              </a:rPr>
              <a:t>informative.</a:t>
            </a:r>
            <a:endParaRPr sz="17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2905" y="4311903"/>
            <a:ext cx="3783329" cy="5562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466725" marR="5080" indent="-454025">
              <a:lnSpc>
                <a:spcPts val="1900"/>
              </a:lnSpc>
              <a:spcBef>
                <a:spcPts val="480"/>
              </a:spcBef>
              <a:buClr>
                <a:srgbClr val="A6A6A6"/>
              </a:buClr>
              <a:buSzPct val="89473"/>
              <a:buFont typeface="Arial"/>
              <a:buChar char="•"/>
              <a:tabLst>
                <a:tab pos="466090" algn="l"/>
                <a:tab pos="466725" algn="l"/>
              </a:tabLst>
            </a:pP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This </a:t>
            </a:r>
            <a:r>
              <a:rPr sz="1900" dirty="0">
                <a:solidFill>
                  <a:srgbClr val="00026A"/>
                </a:solidFill>
                <a:latin typeface="Calibri"/>
                <a:cs typeface="Calibri"/>
              </a:rPr>
              <a:t>is the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intuitive explanation</a:t>
            </a:r>
            <a:r>
              <a:rPr sz="1900" spc="-105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of  dimensionality</a:t>
            </a:r>
            <a:r>
              <a:rPr sz="1900" spc="-10" dirty="0">
                <a:solidFill>
                  <a:srgbClr val="00026A"/>
                </a:solidFill>
                <a:latin typeface="Calibri"/>
                <a:cs typeface="Calibri"/>
              </a:rPr>
              <a:t> </a:t>
            </a:r>
            <a:r>
              <a:rPr sz="1900" spc="-5" dirty="0">
                <a:solidFill>
                  <a:srgbClr val="00026A"/>
                </a:solidFill>
                <a:latin typeface="Calibri"/>
                <a:cs typeface="Calibri"/>
              </a:rPr>
              <a:t>reduction.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04952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Dimensionality</a:t>
            </a:r>
            <a:r>
              <a:rPr spc="-60" dirty="0"/>
              <a:t> </a:t>
            </a:r>
            <a:r>
              <a:rPr spc="-5" dirty="0"/>
              <a:t>reduction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934901" y="1269851"/>
            <a:ext cx="2870835" cy="2505710"/>
            <a:chOff x="5934901" y="1269851"/>
            <a:chExt cx="2870835" cy="2505710"/>
          </a:xfrm>
        </p:grpSpPr>
        <p:sp>
          <p:nvSpPr>
            <p:cNvPr id="7" name="object 7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338832"/>
                  </a:moveTo>
                  <a:lnTo>
                    <a:pt x="2824988" y="2338832"/>
                  </a:lnTo>
                </a:path>
                <a:path w="2825115" h="2460625">
                  <a:moveTo>
                    <a:pt x="0" y="1944370"/>
                  </a:moveTo>
                  <a:lnTo>
                    <a:pt x="2824988" y="1944370"/>
                  </a:lnTo>
                </a:path>
                <a:path w="2825115" h="2460625">
                  <a:moveTo>
                    <a:pt x="0" y="1550035"/>
                  </a:moveTo>
                  <a:lnTo>
                    <a:pt x="2824988" y="1550035"/>
                  </a:lnTo>
                </a:path>
                <a:path w="2825115" h="2460625">
                  <a:moveTo>
                    <a:pt x="0" y="1155573"/>
                  </a:moveTo>
                  <a:lnTo>
                    <a:pt x="2824988" y="1155573"/>
                  </a:lnTo>
                </a:path>
                <a:path w="2825115" h="2460625">
                  <a:moveTo>
                    <a:pt x="0" y="761111"/>
                  </a:moveTo>
                  <a:lnTo>
                    <a:pt x="2824988" y="761111"/>
                  </a:lnTo>
                </a:path>
                <a:path w="2825115" h="2460625">
                  <a:moveTo>
                    <a:pt x="0" y="366649"/>
                  </a:moveTo>
                  <a:lnTo>
                    <a:pt x="2824988" y="366649"/>
                  </a:lnTo>
                </a:path>
                <a:path w="2825115" h="2460625">
                  <a:moveTo>
                    <a:pt x="315341" y="2460117"/>
                  </a:moveTo>
                  <a:lnTo>
                    <a:pt x="315341" y="0"/>
                  </a:lnTo>
                </a:path>
                <a:path w="2825115" h="2460625">
                  <a:moveTo>
                    <a:pt x="776986" y="2460117"/>
                  </a:moveTo>
                  <a:lnTo>
                    <a:pt x="776986" y="0"/>
                  </a:lnTo>
                </a:path>
                <a:path w="2825115" h="2460625">
                  <a:moveTo>
                    <a:pt x="1238504" y="2460117"/>
                  </a:moveTo>
                  <a:lnTo>
                    <a:pt x="1238504" y="0"/>
                  </a:lnTo>
                </a:path>
                <a:path w="2825115" h="2460625">
                  <a:moveTo>
                    <a:pt x="1700149" y="2460117"/>
                  </a:moveTo>
                  <a:lnTo>
                    <a:pt x="1700149" y="0"/>
                  </a:lnTo>
                </a:path>
                <a:path w="2825115" h="2460625">
                  <a:moveTo>
                    <a:pt x="2161794" y="2460117"/>
                  </a:moveTo>
                  <a:lnTo>
                    <a:pt x="2161794" y="0"/>
                  </a:lnTo>
                </a:path>
                <a:path w="2825115" h="2460625">
                  <a:moveTo>
                    <a:pt x="2623312" y="2460117"/>
                  </a:moveTo>
                  <a:lnTo>
                    <a:pt x="2623312" y="0"/>
                  </a:lnTo>
                </a:path>
              </a:pathLst>
            </a:custGeom>
            <a:ln w="3429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141601"/>
                  </a:moveTo>
                  <a:lnTo>
                    <a:pt x="2824988" y="2141601"/>
                  </a:lnTo>
                </a:path>
                <a:path w="2825115" h="2460625">
                  <a:moveTo>
                    <a:pt x="0" y="1747266"/>
                  </a:moveTo>
                  <a:lnTo>
                    <a:pt x="2824988" y="1747266"/>
                  </a:lnTo>
                </a:path>
                <a:path w="2825115" h="2460625">
                  <a:moveTo>
                    <a:pt x="0" y="1352804"/>
                  </a:moveTo>
                  <a:lnTo>
                    <a:pt x="2824988" y="1352804"/>
                  </a:lnTo>
                </a:path>
                <a:path w="2825115" h="2460625">
                  <a:moveTo>
                    <a:pt x="0" y="958342"/>
                  </a:moveTo>
                  <a:lnTo>
                    <a:pt x="2824988" y="958342"/>
                  </a:lnTo>
                </a:path>
                <a:path w="2825115" h="2460625">
                  <a:moveTo>
                    <a:pt x="0" y="563880"/>
                  </a:moveTo>
                  <a:lnTo>
                    <a:pt x="2824988" y="563880"/>
                  </a:lnTo>
                </a:path>
                <a:path w="2825115" h="2460625">
                  <a:moveTo>
                    <a:pt x="0" y="169545"/>
                  </a:moveTo>
                  <a:lnTo>
                    <a:pt x="2824988" y="169545"/>
                  </a:lnTo>
                </a:path>
                <a:path w="2825115" h="2460625">
                  <a:moveTo>
                    <a:pt x="84582" y="2460117"/>
                  </a:moveTo>
                  <a:lnTo>
                    <a:pt x="84582" y="0"/>
                  </a:lnTo>
                </a:path>
                <a:path w="2825115" h="2460625">
                  <a:moveTo>
                    <a:pt x="546100" y="2460117"/>
                  </a:moveTo>
                  <a:lnTo>
                    <a:pt x="546100" y="0"/>
                  </a:lnTo>
                </a:path>
                <a:path w="2825115" h="2460625">
                  <a:moveTo>
                    <a:pt x="1007745" y="2460117"/>
                  </a:moveTo>
                  <a:lnTo>
                    <a:pt x="1007745" y="0"/>
                  </a:lnTo>
                </a:path>
                <a:path w="2825115" h="2460625">
                  <a:moveTo>
                    <a:pt x="1469390" y="2460117"/>
                  </a:moveTo>
                  <a:lnTo>
                    <a:pt x="1469390" y="0"/>
                  </a:lnTo>
                </a:path>
                <a:path w="2825115" h="2460625">
                  <a:moveTo>
                    <a:pt x="1930908" y="2460117"/>
                  </a:moveTo>
                  <a:lnTo>
                    <a:pt x="1930908" y="0"/>
                  </a:lnTo>
                </a:path>
                <a:path w="2825115" h="2460625">
                  <a:moveTo>
                    <a:pt x="2392553" y="2460117"/>
                  </a:moveTo>
                  <a:lnTo>
                    <a:pt x="2392553" y="0"/>
                  </a:lnTo>
                </a:path>
              </a:pathLst>
            </a:custGeom>
            <a:ln w="6731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0983" y="1424"/>
                  </a:lnTo>
                  <a:lnTo>
                    <a:pt x="5254" y="5302"/>
                  </a:lnTo>
                  <a:lnTo>
                    <a:pt x="1406" y="11037"/>
                  </a:lnTo>
                  <a:lnTo>
                    <a:pt x="0" y="18034"/>
                  </a:lnTo>
                  <a:lnTo>
                    <a:pt x="1406" y="25104"/>
                  </a:lnTo>
                  <a:lnTo>
                    <a:pt x="5254" y="30876"/>
                  </a:lnTo>
                  <a:lnTo>
                    <a:pt x="10983" y="34768"/>
                  </a:lnTo>
                  <a:lnTo>
                    <a:pt x="18034" y="36195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06" y="11037"/>
                  </a:lnTo>
                  <a:lnTo>
                    <a:pt x="5254" y="5302"/>
                  </a:lnTo>
                  <a:lnTo>
                    <a:pt x="10983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4" y="36195"/>
                  </a:lnTo>
                  <a:lnTo>
                    <a:pt x="10983" y="34768"/>
                  </a:lnTo>
                  <a:lnTo>
                    <a:pt x="5254" y="30876"/>
                  </a:lnTo>
                  <a:lnTo>
                    <a:pt x="1406" y="2510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85268" y="1699175"/>
              <a:ext cx="1973707" cy="17378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104"/>
                  </a:lnTo>
                  <a:lnTo>
                    <a:pt x="5302" y="30876"/>
                  </a:lnTo>
                  <a:lnTo>
                    <a:pt x="11037" y="34768"/>
                  </a:lnTo>
                  <a:lnTo>
                    <a:pt x="18033" y="36194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3" y="36194"/>
                  </a:lnTo>
                  <a:lnTo>
                    <a:pt x="11037" y="34768"/>
                  </a:lnTo>
                  <a:lnTo>
                    <a:pt x="5302" y="30876"/>
                  </a:lnTo>
                  <a:lnTo>
                    <a:pt x="1424" y="25104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84"/>
                  </a:lnTo>
                  <a:lnTo>
                    <a:pt x="5302" y="30813"/>
                  </a:lnTo>
                  <a:lnTo>
                    <a:pt x="11037" y="34661"/>
                  </a:lnTo>
                  <a:lnTo>
                    <a:pt x="18034" y="36068"/>
                  </a:lnTo>
                  <a:lnTo>
                    <a:pt x="25104" y="34661"/>
                  </a:lnTo>
                  <a:lnTo>
                    <a:pt x="30876" y="30813"/>
                  </a:lnTo>
                  <a:lnTo>
                    <a:pt x="34768" y="25084"/>
                  </a:lnTo>
                  <a:lnTo>
                    <a:pt x="36195" y="18034"/>
                  </a:lnTo>
                  <a:lnTo>
                    <a:pt x="34768" y="11037"/>
                  </a:lnTo>
                  <a:lnTo>
                    <a:pt x="30876" y="5302"/>
                  </a:lnTo>
                  <a:lnTo>
                    <a:pt x="25104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104" y="1424"/>
                  </a:lnTo>
                  <a:lnTo>
                    <a:pt x="30876" y="5302"/>
                  </a:lnTo>
                  <a:lnTo>
                    <a:pt x="34768" y="11037"/>
                  </a:lnTo>
                  <a:lnTo>
                    <a:pt x="36195" y="18034"/>
                  </a:lnTo>
                  <a:lnTo>
                    <a:pt x="34768" y="25084"/>
                  </a:lnTo>
                  <a:lnTo>
                    <a:pt x="30876" y="30813"/>
                  </a:lnTo>
                  <a:lnTo>
                    <a:pt x="25104" y="34661"/>
                  </a:lnTo>
                  <a:lnTo>
                    <a:pt x="18034" y="36068"/>
                  </a:lnTo>
                  <a:lnTo>
                    <a:pt x="11037" y="34661"/>
                  </a:lnTo>
                  <a:lnTo>
                    <a:pt x="5302" y="30813"/>
                  </a:lnTo>
                  <a:lnTo>
                    <a:pt x="1424" y="2508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7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7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460117"/>
                  </a:moveTo>
                  <a:lnTo>
                    <a:pt x="2824988" y="2460117"/>
                  </a:lnTo>
                  <a:lnTo>
                    <a:pt x="2824988" y="0"/>
                  </a:lnTo>
                  <a:lnTo>
                    <a:pt x="0" y="0"/>
                  </a:lnTo>
                  <a:lnTo>
                    <a:pt x="0" y="2460117"/>
                  </a:lnTo>
                  <a:close/>
                </a:path>
              </a:pathLst>
            </a:custGeom>
            <a:ln w="1358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38394" y="1446381"/>
              <a:ext cx="2427605" cy="2325370"/>
            </a:xfrm>
            <a:custGeom>
              <a:avLst/>
              <a:gdLst/>
              <a:ahLst/>
              <a:cxnLst/>
              <a:rect l="l" t="t" r="r" b="b"/>
              <a:pathLst>
                <a:path w="2427604" h="2325370">
                  <a:moveTo>
                    <a:pt x="0" y="1972056"/>
                  </a:moveTo>
                  <a:lnTo>
                    <a:pt x="34798" y="1972056"/>
                  </a:lnTo>
                </a:path>
                <a:path w="2427604" h="2325370">
                  <a:moveTo>
                    <a:pt x="0" y="1577721"/>
                  </a:moveTo>
                  <a:lnTo>
                    <a:pt x="34798" y="1577721"/>
                  </a:lnTo>
                </a:path>
                <a:path w="2427604" h="2325370">
                  <a:moveTo>
                    <a:pt x="0" y="1183259"/>
                  </a:moveTo>
                  <a:lnTo>
                    <a:pt x="34798" y="1183259"/>
                  </a:lnTo>
                </a:path>
                <a:path w="2427604" h="2325370">
                  <a:moveTo>
                    <a:pt x="0" y="788797"/>
                  </a:moveTo>
                  <a:lnTo>
                    <a:pt x="34798" y="788797"/>
                  </a:lnTo>
                </a:path>
                <a:path w="2427604" h="2325370">
                  <a:moveTo>
                    <a:pt x="0" y="394335"/>
                  </a:moveTo>
                  <a:lnTo>
                    <a:pt x="34798" y="394335"/>
                  </a:lnTo>
                </a:path>
                <a:path w="2427604" h="2325370">
                  <a:moveTo>
                    <a:pt x="0" y="0"/>
                  </a:moveTo>
                  <a:lnTo>
                    <a:pt x="34798" y="0"/>
                  </a:lnTo>
                </a:path>
                <a:path w="2427604" h="2325370">
                  <a:moveTo>
                    <a:pt x="119380" y="2325370"/>
                  </a:moveTo>
                  <a:lnTo>
                    <a:pt x="119380" y="2290572"/>
                  </a:lnTo>
                </a:path>
                <a:path w="2427604" h="2325370">
                  <a:moveTo>
                    <a:pt x="580898" y="2325370"/>
                  </a:moveTo>
                  <a:lnTo>
                    <a:pt x="580898" y="2290572"/>
                  </a:lnTo>
                </a:path>
                <a:path w="2427604" h="2325370">
                  <a:moveTo>
                    <a:pt x="1042543" y="2325370"/>
                  </a:moveTo>
                  <a:lnTo>
                    <a:pt x="1042543" y="2290572"/>
                  </a:lnTo>
                </a:path>
                <a:path w="2427604" h="2325370">
                  <a:moveTo>
                    <a:pt x="1504188" y="2325370"/>
                  </a:moveTo>
                  <a:lnTo>
                    <a:pt x="1504188" y="2290572"/>
                  </a:lnTo>
                </a:path>
                <a:path w="2427604" h="2325370">
                  <a:moveTo>
                    <a:pt x="1965706" y="2325370"/>
                  </a:moveTo>
                  <a:lnTo>
                    <a:pt x="1965706" y="2290572"/>
                  </a:lnTo>
                </a:path>
                <a:path w="2427604" h="2325370">
                  <a:moveTo>
                    <a:pt x="2427351" y="2325370"/>
                  </a:moveTo>
                  <a:lnTo>
                    <a:pt x="2427351" y="2290572"/>
                  </a:lnTo>
                </a:path>
              </a:pathLst>
            </a:custGeom>
            <a:ln w="6731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767579" y="3332458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67579" y="2938123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34381" y="2543661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34381" y="2149199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834381" y="1754737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34381" y="1360402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79923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−3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41441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−2</a:t>
            </a:r>
            <a:endParaRPr sz="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03086" y="3754606"/>
            <a:ext cx="1562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−1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859650" y="375460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21295" y="3754606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99199" y="3754606"/>
            <a:ext cx="187960" cy="335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4D4D4D"/>
                </a:solidFill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v1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93205" y="2420374"/>
            <a:ext cx="165100" cy="1733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165"/>
              </a:lnSpc>
            </a:pPr>
            <a:r>
              <a:rPr sz="1100" dirty="0">
                <a:latin typeface="Arial"/>
                <a:cs typeface="Arial"/>
              </a:rPr>
              <a:t>v2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360648" y="1450347"/>
            <a:ext cx="2429510" cy="2146935"/>
          </a:xfrm>
          <a:custGeom>
            <a:avLst/>
            <a:gdLst/>
            <a:ahLst/>
            <a:cxnLst/>
            <a:rect l="l" t="t" r="r" b="b"/>
            <a:pathLst>
              <a:path w="2429509" h="2146935">
                <a:moveTo>
                  <a:pt x="2391663" y="33361"/>
                </a:moveTo>
                <a:lnTo>
                  <a:pt x="2366936" y="38249"/>
                </a:lnTo>
                <a:lnTo>
                  <a:pt x="0" y="2127727"/>
                </a:lnTo>
                <a:lnTo>
                  <a:pt x="16809" y="2146769"/>
                </a:lnTo>
                <a:lnTo>
                  <a:pt x="2383746" y="57291"/>
                </a:lnTo>
                <a:lnTo>
                  <a:pt x="2391663" y="33361"/>
                </a:lnTo>
                <a:close/>
              </a:path>
              <a:path w="2429509" h="2146935">
                <a:moveTo>
                  <a:pt x="2427077" y="7186"/>
                </a:moveTo>
                <a:lnTo>
                  <a:pt x="2402123" y="7186"/>
                </a:lnTo>
                <a:lnTo>
                  <a:pt x="2418933" y="26229"/>
                </a:lnTo>
                <a:lnTo>
                  <a:pt x="2383746" y="57291"/>
                </a:lnTo>
                <a:lnTo>
                  <a:pt x="2368590" y="103103"/>
                </a:lnTo>
                <a:lnTo>
                  <a:pt x="2372202" y="110288"/>
                </a:lnTo>
                <a:lnTo>
                  <a:pt x="2385521" y="114693"/>
                </a:lnTo>
                <a:lnTo>
                  <a:pt x="2392705" y="111081"/>
                </a:lnTo>
                <a:lnTo>
                  <a:pt x="2427077" y="7186"/>
                </a:lnTo>
                <a:close/>
              </a:path>
              <a:path w="2429509" h="2146935">
                <a:moveTo>
                  <a:pt x="2406983" y="12692"/>
                </a:moveTo>
                <a:lnTo>
                  <a:pt x="2398501" y="12692"/>
                </a:lnTo>
                <a:lnTo>
                  <a:pt x="2413021" y="29140"/>
                </a:lnTo>
                <a:lnTo>
                  <a:pt x="2391663" y="33361"/>
                </a:lnTo>
                <a:lnTo>
                  <a:pt x="2383746" y="57291"/>
                </a:lnTo>
                <a:lnTo>
                  <a:pt x="2418933" y="26229"/>
                </a:lnTo>
                <a:lnTo>
                  <a:pt x="2406983" y="12692"/>
                </a:lnTo>
                <a:close/>
              </a:path>
              <a:path w="2429509" h="2146935">
                <a:moveTo>
                  <a:pt x="2429455" y="0"/>
                </a:moveTo>
                <a:lnTo>
                  <a:pt x="2314672" y="22687"/>
                </a:lnTo>
                <a:lnTo>
                  <a:pt x="2310197" y="29368"/>
                </a:lnTo>
                <a:lnTo>
                  <a:pt x="2312917" y="43130"/>
                </a:lnTo>
                <a:lnTo>
                  <a:pt x="2319599" y="47605"/>
                </a:lnTo>
                <a:lnTo>
                  <a:pt x="2366936" y="38249"/>
                </a:lnTo>
                <a:lnTo>
                  <a:pt x="2402123" y="7186"/>
                </a:lnTo>
                <a:lnTo>
                  <a:pt x="2427077" y="7186"/>
                </a:lnTo>
                <a:lnTo>
                  <a:pt x="2429455" y="0"/>
                </a:lnTo>
                <a:close/>
              </a:path>
              <a:path w="2429509" h="2146935">
                <a:moveTo>
                  <a:pt x="2402123" y="7186"/>
                </a:moveTo>
                <a:lnTo>
                  <a:pt x="2366936" y="38249"/>
                </a:lnTo>
                <a:lnTo>
                  <a:pt x="2391663" y="33361"/>
                </a:lnTo>
                <a:lnTo>
                  <a:pt x="2398501" y="12692"/>
                </a:lnTo>
                <a:lnTo>
                  <a:pt x="2406983" y="12692"/>
                </a:lnTo>
                <a:lnTo>
                  <a:pt x="2402123" y="7186"/>
                </a:lnTo>
                <a:close/>
              </a:path>
              <a:path w="2429509" h="2146935">
                <a:moveTo>
                  <a:pt x="2398501" y="12692"/>
                </a:moveTo>
                <a:lnTo>
                  <a:pt x="2391663" y="33361"/>
                </a:lnTo>
                <a:lnTo>
                  <a:pt x="2413021" y="29140"/>
                </a:lnTo>
                <a:lnTo>
                  <a:pt x="2398501" y="12692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653720" y="1516379"/>
            <a:ext cx="1327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800000"/>
                </a:solidFill>
                <a:latin typeface="Courier New"/>
                <a:cs typeface="Courier New"/>
              </a:rPr>
              <a:t>x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dirty="0"/>
              <a:t>48</a:t>
            </a:fld>
            <a:endParaRPr dirty="0"/>
          </a:p>
        </p:txBody>
      </p:sp>
      <p:sp>
        <p:nvSpPr>
          <p:cNvPr id="41" name="object 41"/>
          <p:cNvSpPr txBox="1"/>
          <p:nvPr/>
        </p:nvSpPr>
        <p:spPr>
          <a:xfrm>
            <a:off x="8760083" y="1619503"/>
            <a:ext cx="94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800000"/>
                </a:solidFill>
                <a:latin typeface="Courier New"/>
                <a:cs typeface="Courier New"/>
              </a:rPr>
              <a:t>1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A021-DD0A-4AD2-BBF1-09B4AC1D6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270BA8-D2E4-41C5-B3D4-475D399A578F}"/>
              </a:ext>
            </a:extLst>
          </p:cNvPr>
          <p:cNvSpPr txBox="1"/>
          <p:nvPr/>
        </p:nvSpPr>
        <p:spPr>
          <a:xfrm>
            <a:off x="228600" y="1276350"/>
            <a:ext cx="7848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We need to keep as much data as possible (more information)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When we have high disorder data, dropping one dimension will cause information lost. </a:t>
            </a:r>
          </a:p>
          <a:p>
            <a:pPr marL="342900" indent="-342900">
              <a:buFont typeface="+mj-lt"/>
              <a:buAutoNum type="arabicPeriod"/>
            </a:pP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When we have more ordered data, the </a:t>
            </a:r>
            <a:r>
              <a:rPr lang="en-US" b="1" i="1" dirty="0">
                <a:solidFill>
                  <a:srgbClr val="FF0000"/>
                </a:solidFill>
              </a:rPr>
              <a:t>direction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can help here to reduce the dimension.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and remember, we need to keep as much data as possible (</a:t>
            </a:r>
            <a:r>
              <a:rPr lang="en-US" b="1" i="1" dirty="0">
                <a:solidFill>
                  <a:srgbClr val="FF0000"/>
                </a:solidFill>
              </a:rPr>
              <a:t>variance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) Covariance matrix can be helpful here</a:t>
            </a:r>
          </a:p>
        </p:txBody>
      </p:sp>
    </p:spTree>
    <p:extLst>
      <p:ext uri="{BB962C8B-B14F-4D97-AF65-F5344CB8AC3E}">
        <p14:creationId xmlns:p14="http://schemas.microsoft.com/office/powerpoint/2010/main" val="33122043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8053-166C-7424-FBCD-05BA2506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8A90A1-4077-26D0-ACA2-A760D8E13FA0}"/>
              </a:ext>
            </a:extLst>
          </p:cNvPr>
          <p:cNvSpPr txBox="1"/>
          <p:nvPr/>
        </p:nvSpPr>
        <p:spPr>
          <a:xfrm>
            <a:off x="362904" y="1291844"/>
            <a:ext cx="420909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Linear Algebra Basics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Dimensionality</a:t>
            </a:r>
            <a:r>
              <a:rPr lang="en-US" sz="2400" spc="-135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 Reduction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Calibri"/>
                <a:cs typeface="Calibri"/>
              </a:rPr>
              <a:t>Covariance Matrix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Eigenvalues and Eigenvectors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PCA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DB81596-6113-C022-74F3-38C8F1BD112A}"/>
              </a:ext>
            </a:extLst>
          </p:cNvPr>
          <p:cNvSpPr txBox="1"/>
          <p:nvPr/>
        </p:nvSpPr>
        <p:spPr>
          <a:xfrm>
            <a:off x="362904" y="286781"/>
            <a:ext cx="5123496" cy="58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15" dirty="0">
                <a:solidFill>
                  <a:srgbClr val="00026A"/>
                </a:solidFill>
                <a:latin typeface="Corbel"/>
                <a:cs typeface="Corbel"/>
              </a:rPr>
              <a:t>In 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t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h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i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 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l</a:t>
            </a:r>
            <a:r>
              <a:rPr sz="3800" spc="-25" dirty="0">
                <a:solidFill>
                  <a:srgbClr val="00026A"/>
                </a:solidFill>
                <a:latin typeface="Corbel"/>
                <a:cs typeface="Corbel"/>
              </a:rPr>
              <a:t>e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ss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o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n</a:t>
            </a:r>
            <a:r>
              <a:rPr lang="en-US" sz="3800" dirty="0">
                <a:solidFill>
                  <a:srgbClr val="00026A"/>
                </a:solidFill>
                <a:latin typeface="Corbel"/>
                <a:cs typeface="Corbel"/>
              </a:rPr>
              <a:t> Part 1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 …</a:t>
            </a:r>
            <a:endParaRPr sz="3800" dirty="0">
              <a:latin typeface="Corbel"/>
              <a:cs typeface="Corbe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565C34F-6EBE-ED06-C719-699CF4C2869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9725010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16DE4-47AD-4E93-8425-5D78EFDE1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492443"/>
          </a:xfrm>
        </p:spPr>
        <p:txBody>
          <a:bodyPr/>
          <a:lstStyle/>
          <a:p>
            <a:r>
              <a:rPr lang="en-US" sz="3200" dirty="0"/>
              <a:t>Covariance matrix and dimensionality reduction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612DD0-7D06-44C9-A30A-0A07A0EB2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399" y="1127015"/>
            <a:ext cx="8839200" cy="38779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+mn-lt"/>
              </a:rPr>
              <a:t>Let's say you want to reduce the dimensionality of your data set, say down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just one dimension.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+mn-lt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+mn-lt"/>
              </a:rPr>
              <a:t>In general, this means picking a unit vector u, and replacing each data point, xi, with its projection along this vector, 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u</a:t>
            </a:r>
            <a:r>
              <a:rPr kumimoji="0" lang="en-US" altLang="en-US" b="1" i="1" u="none" strike="noStrike" cap="none" normalizeH="0" baseline="3000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T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xi.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+mn-lt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+mn-lt"/>
              </a:rPr>
              <a:t>Of course, you should </a:t>
            </a: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+mn-lt"/>
              </a:rPr>
              <a:t>choose u so that you retain as much of the variation of the data points as possible.</a:t>
            </a:r>
          </a:p>
          <a:p>
            <a:pPr marL="1200150" lvl="2" indent="-285750" algn="l" rtl="0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+mn-lt"/>
              </a:rPr>
              <a:t> if your data points lay along a line and you picked u orthogonal to that line, all the data points would project onto the same value, and you would lose almost all the information in the data set! </a:t>
            </a:r>
          </a:p>
          <a:p>
            <a:pPr marL="1200150" lvl="2" indent="-285750" algn="l" rtl="0"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+mn-lt"/>
              </a:rPr>
              <a:t>So you would like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maximize the 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variance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 of the new data values 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 u</a:t>
            </a:r>
            <a:r>
              <a:rPr lang="en-US" altLang="en-US" baseline="30000" dirty="0">
                <a:solidFill>
                  <a:srgbClr val="FF0000"/>
                </a:solidFill>
                <a:latin typeface="+mn-lt"/>
              </a:rPr>
              <a:t>T</a:t>
            </a:r>
            <a:r>
              <a:rPr lang="en-US" altLang="en-US" dirty="0">
                <a:solidFill>
                  <a:srgbClr val="FF0000"/>
                </a:solidFill>
                <a:latin typeface="+mn-lt"/>
              </a:rPr>
              <a:t>xi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42729"/>
                </a:solidFill>
                <a:effectLst/>
                <a:latin typeface="+mn-lt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242729"/>
              </a:solidFill>
              <a:latin typeface="+mn-lt"/>
            </a:endParaRP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kumimoji="0" lang="en-US" altLang="en-US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</a:rPr>
              <a:t>So the unit vector that we are looking for is the vector in the direction 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of the axes where there is the most variance (most information), </a:t>
            </a:r>
          </a:p>
          <a:p>
            <a:pPr lvl="0" algn="l" rtl="0"/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40003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08E5-01E5-7E2A-1452-739E8309A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5" y="286781"/>
            <a:ext cx="8171496" cy="492443"/>
          </a:xfrm>
        </p:spPr>
        <p:txBody>
          <a:bodyPr/>
          <a:lstStyle/>
          <a:p>
            <a:r>
              <a:rPr lang="en-US" sz="3200" dirty="0"/>
              <a:t>Covariance matrix and dimensionality reduction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5C80E-7558-6216-9802-F5340B123127}"/>
              </a:ext>
            </a:extLst>
          </p:cNvPr>
          <p:cNvSpPr txBox="1"/>
          <p:nvPr/>
        </p:nvSpPr>
        <p:spPr>
          <a:xfrm>
            <a:off x="990600" y="1809750"/>
            <a:ext cx="670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relationship between variance and information here, is that, </a:t>
            </a:r>
            <a:r>
              <a:rPr lang="en-US" b="1" i="1" dirty="0">
                <a:solidFill>
                  <a:srgbClr val="0070C0"/>
                </a:solidFill>
              </a:rPr>
              <a:t>the larger the variance carried by a line, the larger the dispersion of the data points along it</a:t>
            </a:r>
            <a:r>
              <a:rPr lang="en-US" dirty="0"/>
              <a:t>, and the </a:t>
            </a:r>
            <a:r>
              <a:rPr lang="en-US" b="1" i="1" dirty="0">
                <a:solidFill>
                  <a:srgbClr val="0070C0"/>
                </a:solidFill>
              </a:rPr>
              <a:t>larger the dispersion along a line, the more the information it has.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A764A-4FD9-BB03-0C64-2EE41FBC2425}"/>
              </a:ext>
            </a:extLst>
          </p:cNvPr>
          <p:cNvSpPr txBox="1"/>
          <p:nvPr/>
        </p:nvSpPr>
        <p:spPr>
          <a:xfrm>
            <a:off x="990600" y="3409091"/>
            <a:ext cx="458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 rtl="0"/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Covariance matrix can tell us this information</a:t>
            </a:r>
            <a:endParaRPr kumimoji="0" lang="en-US" altLang="en-US" b="1" i="1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399438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4E6F-722B-422C-93E0-7FD437F45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Covariance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A9A-D643-480B-A648-18B1711D9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1938992"/>
          </a:xfrm>
        </p:spPr>
        <p:txBody>
          <a:bodyPr/>
          <a:lstStyle/>
          <a:p>
            <a:r>
              <a:rPr lang="en-US" dirty="0"/>
              <a:t>Used to understand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how the variables of the input dataset are varying from the mean with respect to each other</a:t>
            </a:r>
            <a:r>
              <a:rPr lang="en-US" dirty="0"/>
              <a:t>, or in other words,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to see if there is any relationship between them.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So, in order to identify these correlations, we compute the covariance matrix.</a:t>
            </a:r>
          </a:p>
        </p:txBody>
      </p:sp>
    </p:spTree>
    <p:extLst>
      <p:ext uri="{BB962C8B-B14F-4D97-AF65-F5344CB8AC3E}">
        <p14:creationId xmlns:p14="http://schemas.microsoft.com/office/powerpoint/2010/main" val="1325079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7911-F9EF-487D-A8D3-8917D946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Covariance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AEBAD-D87D-4461-A037-D04946A9E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2769989"/>
          </a:xfrm>
        </p:spPr>
        <p:txBody>
          <a:bodyPr/>
          <a:lstStyle/>
          <a:p>
            <a:r>
              <a:rPr lang="en-US" dirty="0"/>
              <a:t>Variance measures the variation of a single random variable (like the height of a person in a population).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Covariance is a measure of how much </a:t>
            </a:r>
            <a:r>
              <a:rPr lang="en-US" dirty="0">
                <a:solidFill>
                  <a:srgbClr val="FF0000"/>
                </a:solidFill>
              </a:rPr>
              <a:t>two random variables vary together </a:t>
            </a:r>
            <a:r>
              <a:rPr lang="en-US" dirty="0"/>
              <a:t>(like the height of a person and the weight of a person in a population). 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5EA0CCEA-7AB6-4D44-8A9A-9110BF2A9207}"/>
              </a:ext>
            </a:extLst>
          </p:cNvPr>
          <p:cNvSpPr/>
          <p:nvPr/>
        </p:nvSpPr>
        <p:spPr>
          <a:xfrm>
            <a:off x="4681002" y="2202418"/>
            <a:ext cx="1075944" cy="585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285F41AC-F256-4176-AB71-F764B5A31B45}"/>
              </a:ext>
            </a:extLst>
          </p:cNvPr>
          <p:cNvSpPr/>
          <p:nvPr/>
        </p:nvSpPr>
        <p:spPr>
          <a:xfrm>
            <a:off x="4737864" y="2231577"/>
            <a:ext cx="978535" cy="485140"/>
          </a:xfrm>
          <a:custGeom>
            <a:avLst/>
            <a:gdLst/>
            <a:ahLst/>
            <a:cxnLst/>
            <a:rect l="l" t="t" r="r" b="b"/>
            <a:pathLst>
              <a:path w="978534" h="485139">
                <a:moveTo>
                  <a:pt x="15144" y="121158"/>
                </a:moveTo>
                <a:lnTo>
                  <a:pt x="0" y="121158"/>
                </a:lnTo>
                <a:lnTo>
                  <a:pt x="0" y="363474"/>
                </a:lnTo>
                <a:lnTo>
                  <a:pt x="15144" y="363474"/>
                </a:lnTo>
                <a:lnTo>
                  <a:pt x="15144" y="121158"/>
                </a:lnTo>
                <a:close/>
              </a:path>
              <a:path w="978534" h="485139">
                <a:moveTo>
                  <a:pt x="60579" y="121158"/>
                </a:moveTo>
                <a:lnTo>
                  <a:pt x="30289" y="121158"/>
                </a:lnTo>
                <a:lnTo>
                  <a:pt x="30289" y="363474"/>
                </a:lnTo>
                <a:lnTo>
                  <a:pt x="60579" y="363474"/>
                </a:lnTo>
                <a:lnTo>
                  <a:pt x="60579" y="121158"/>
                </a:lnTo>
                <a:close/>
              </a:path>
              <a:path w="978534" h="485139">
                <a:moveTo>
                  <a:pt x="736093" y="0"/>
                </a:moveTo>
                <a:lnTo>
                  <a:pt x="736093" y="121158"/>
                </a:lnTo>
                <a:lnTo>
                  <a:pt x="75723" y="121158"/>
                </a:lnTo>
                <a:lnTo>
                  <a:pt x="75723" y="363474"/>
                </a:lnTo>
                <a:lnTo>
                  <a:pt x="736093" y="363474"/>
                </a:lnTo>
                <a:lnTo>
                  <a:pt x="736093" y="484632"/>
                </a:lnTo>
                <a:lnTo>
                  <a:pt x="978407" y="242317"/>
                </a:lnTo>
                <a:lnTo>
                  <a:pt x="736093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3DD6CB98-C7B2-4655-98EA-74BF00B5F299}"/>
              </a:ext>
            </a:extLst>
          </p:cNvPr>
          <p:cNvSpPr/>
          <p:nvPr/>
        </p:nvSpPr>
        <p:spPr>
          <a:xfrm>
            <a:off x="4745437" y="2349560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0"/>
                </a:moveTo>
                <a:lnTo>
                  <a:pt x="0" y="248665"/>
                </a:lnTo>
              </a:path>
            </a:pathLst>
          </a:custGeom>
          <a:ln w="2276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FB1B7569-DAAE-41ED-B665-12419F439446}"/>
              </a:ext>
            </a:extLst>
          </p:cNvPr>
          <p:cNvSpPr/>
          <p:nvPr/>
        </p:nvSpPr>
        <p:spPr>
          <a:xfrm>
            <a:off x="4783299" y="2349560"/>
            <a:ext cx="0" cy="248920"/>
          </a:xfrm>
          <a:custGeom>
            <a:avLst/>
            <a:gdLst/>
            <a:ahLst/>
            <a:cxnLst/>
            <a:rect l="l" t="t" r="r" b="b"/>
            <a:pathLst>
              <a:path h="248920">
                <a:moveTo>
                  <a:pt x="0" y="0"/>
                </a:moveTo>
                <a:lnTo>
                  <a:pt x="0" y="248665"/>
                </a:lnTo>
              </a:path>
            </a:pathLst>
          </a:custGeom>
          <a:ln w="3790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D886C753-86CE-4996-901C-E663ABBFA32E}"/>
              </a:ext>
            </a:extLst>
          </p:cNvPr>
          <p:cNvSpPr/>
          <p:nvPr/>
        </p:nvSpPr>
        <p:spPr>
          <a:xfrm>
            <a:off x="4813588" y="2231577"/>
            <a:ext cx="902969" cy="485140"/>
          </a:xfrm>
          <a:custGeom>
            <a:avLst/>
            <a:gdLst/>
            <a:ahLst/>
            <a:cxnLst/>
            <a:rect l="l" t="t" r="r" b="b"/>
            <a:pathLst>
              <a:path w="902970" h="485139">
                <a:moveTo>
                  <a:pt x="0" y="121158"/>
                </a:moveTo>
                <a:lnTo>
                  <a:pt x="660368" y="121158"/>
                </a:lnTo>
                <a:lnTo>
                  <a:pt x="660368" y="0"/>
                </a:lnTo>
                <a:lnTo>
                  <a:pt x="902684" y="242316"/>
                </a:lnTo>
                <a:lnTo>
                  <a:pt x="660368" y="484632"/>
                </a:lnTo>
                <a:lnTo>
                  <a:pt x="660368" y="363473"/>
                </a:lnTo>
                <a:lnTo>
                  <a:pt x="0" y="363473"/>
                </a:lnTo>
                <a:lnTo>
                  <a:pt x="0" y="121158"/>
                </a:lnTo>
                <a:close/>
              </a:path>
            </a:pathLst>
          </a:custGeom>
          <a:ln w="6350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3">
            <a:extLst>
              <a:ext uri="{FF2B5EF4-FFF2-40B4-BE49-F238E27FC236}">
                <a16:creationId xmlns:a16="http://schemas.microsoft.com/office/drawing/2014/main" id="{99588FED-2C00-4969-9EE8-C4D144753499}"/>
              </a:ext>
            </a:extLst>
          </p:cNvPr>
          <p:cNvSpPr txBox="1"/>
          <p:nvPr/>
        </p:nvSpPr>
        <p:spPr>
          <a:xfrm>
            <a:off x="5820831" y="1729834"/>
            <a:ext cx="1101725" cy="1477645"/>
          </a:xfrm>
          <a:prstGeom prst="rect">
            <a:avLst/>
          </a:prstGeom>
          <a:solidFill>
            <a:srgbClr val="7F7F7F"/>
          </a:solidFill>
          <a:ln w="9525">
            <a:solidFill>
              <a:srgbClr val="7F7F7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 marR="83820" indent="80010" algn="just">
              <a:lnSpc>
                <a:spcPct val="99400"/>
              </a:lnSpc>
            </a:pP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00"/>
                </a:solidFill>
                <a:latin typeface="Calibri"/>
                <a:cs typeface="Calibri"/>
              </a:rPr>
              <a:t>s</a:t>
            </a:r>
            <a:r>
              <a:rPr sz="1800" dirty="0">
                <a:solidFill>
                  <a:srgbClr val="FFFF00"/>
                </a:solidFill>
                <a:latin typeface="Calibri"/>
                <a:cs typeface="Calibri"/>
              </a:rPr>
              <a:t>qu</a:t>
            </a:r>
            <a:r>
              <a:rPr sz="1800" spc="-5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1800" spc="-40" dirty="0">
                <a:solidFill>
                  <a:srgbClr val="FFFF00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solidFill>
                  <a:srgbClr val="FFFF00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00"/>
                </a:solidFill>
                <a:latin typeface="Calibri"/>
                <a:cs typeface="Calibri"/>
              </a:rPr>
              <a:t>d </a:t>
            </a:r>
            <a:r>
              <a:rPr sz="1800" spc="5" dirty="0">
                <a:solidFill>
                  <a:srgbClr val="FFFF00"/>
                </a:solidFill>
                <a:latin typeface="Calibri"/>
                <a:cs typeface="Calibri"/>
              </a:rPr>
              <a:t>D</a:t>
            </a:r>
            <a:r>
              <a:rPr sz="1800" spc="-5" dirty="0">
                <a:solidFill>
                  <a:srgbClr val="FFFF00"/>
                </a:solidFill>
                <a:latin typeface="Calibri"/>
                <a:cs typeface="Calibri"/>
              </a:rPr>
              <a:t>I</a:t>
            </a:r>
            <a:r>
              <a:rPr sz="1800" spc="-15" dirty="0">
                <a:solidFill>
                  <a:srgbClr val="FFFF00"/>
                </a:solidFill>
                <a:latin typeface="Calibri"/>
                <a:cs typeface="Calibri"/>
              </a:rPr>
              <a:t>S</a:t>
            </a:r>
            <a:r>
              <a:rPr sz="1800" spc="-145" dirty="0">
                <a:solidFill>
                  <a:srgbClr val="FFFF00"/>
                </a:solidFill>
                <a:latin typeface="Calibri"/>
                <a:cs typeface="Calibri"/>
              </a:rPr>
              <a:t>T</a:t>
            </a:r>
            <a:r>
              <a:rPr sz="1800" spc="-2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1800" spc="-15" dirty="0">
                <a:solidFill>
                  <a:srgbClr val="FFFF00"/>
                </a:solidFill>
                <a:latin typeface="Calibri"/>
                <a:cs typeface="Calibri"/>
              </a:rPr>
              <a:t>N</a:t>
            </a:r>
            <a:r>
              <a:rPr sz="1800" dirty="0">
                <a:solidFill>
                  <a:srgbClr val="FFFF00"/>
                </a:solidFill>
                <a:latin typeface="Calibri"/>
                <a:cs typeface="Calibri"/>
              </a:rPr>
              <a:t>CE</a:t>
            </a:r>
            <a:endParaRPr sz="1800" dirty="0">
              <a:latin typeface="Calibri"/>
              <a:cs typeface="Calibri"/>
            </a:endParaRPr>
          </a:p>
          <a:p>
            <a:pPr marL="294640">
              <a:lnSpc>
                <a:spcPct val="100000"/>
              </a:lnSpc>
              <a:spcBef>
                <a:spcPts val="4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om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ABC7A53E-895D-44EB-ACF2-D6B352367049}"/>
              </a:ext>
            </a:extLst>
          </p:cNvPr>
          <p:cNvSpPr/>
          <p:nvPr/>
        </p:nvSpPr>
        <p:spPr>
          <a:xfrm>
            <a:off x="3530496" y="2489836"/>
            <a:ext cx="1143000" cy="0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77CB45BA-AB12-4516-9459-AEED7EF75483}"/>
              </a:ext>
            </a:extLst>
          </p:cNvPr>
          <p:cNvSpPr txBox="1"/>
          <p:nvPr/>
        </p:nvSpPr>
        <p:spPr>
          <a:xfrm>
            <a:off x="3512016" y="2178174"/>
            <a:ext cx="146166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baseline="1543" dirty="0">
                <a:latin typeface="Cambria Math"/>
                <a:cs typeface="Cambria Math"/>
              </a:rPr>
              <a:t>∑</a:t>
            </a:r>
            <a:r>
              <a:rPr sz="1800" dirty="0">
                <a:latin typeface="Cambria Math"/>
                <a:cs typeface="Cambria Math"/>
              </a:rPr>
              <a:t>(𝑥𝑖</a:t>
            </a:r>
            <a:r>
              <a:rPr sz="1800" spc="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lang="en-US" dirty="0">
                <a:latin typeface="Cambria Math"/>
                <a:cs typeface="Cambria Math"/>
              </a:rPr>
              <a:t>𝑥</a:t>
            </a:r>
            <a:r>
              <a:rPr sz="1800" spc="-45" dirty="0">
                <a:latin typeface="Cambria Math"/>
                <a:cs typeface="Cambria Math"/>
              </a:rPr>
              <a:t>𝜇</a:t>
            </a:r>
            <a:r>
              <a:rPr sz="1800" dirty="0">
                <a:latin typeface="Cambria Math"/>
                <a:cs typeface="Cambria Math"/>
              </a:rPr>
              <a:t>)</a:t>
            </a:r>
          </a:p>
        </p:txBody>
      </p:sp>
      <p:sp>
        <p:nvSpPr>
          <p:cNvPr id="14" name="object 20">
            <a:extLst>
              <a:ext uri="{FF2B5EF4-FFF2-40B4-BE49-F238E27FC236}">
                <a16:creationId xmlns:a16="http://schemas.microsoft.com/office/drawing/2014/main" id="{7A63D549-BDB9-4CB7-8BC3-A68348E1DD9B}"/>
              </a:ext>
            </a:extLst>
          </p:cNvPr>
          <p:cNvSpPr txBox="1"/>
          <p:nvPr/>
        </p:nvSpPr>
        <p:spPr>
          <a:xfrm>
            <a:off x="5913405" y="2892282"/>
            <a:ext cx="91566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5" name="object 18">
            <a:extLst>
              <a:ext uri="{FF2B5EF4-FFF2-40B4-BE49-F238E27FC236}">
                <a16:creationId xmlns:a16="http://schemas.microsoft.com/office/drawing/2014/main" id="{2F0AB247-9267-447F-8794-17BF994AE091}"/>
              </a:ext>
            </a:extLst>
          </p:cNvPr>
          <p:cNvSpPr txBox="1"/>
          <p:nvPr/>
        </p:nvSpPr>
        <p:spPr>
          <a:xfrm>
            <a:off x="4566498" y="2188118"/>
            <a:ext cx="10985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10" dirty="0">
                <a:latin typeface="Cambria Math"/>
                <a:cs typeface="Cambria Math"/>
              </a:rPr>
              <a:t>2</a:t>
            </a:r>
            <a:endParaRPr sz="1200">
              <a:latin typeface="Cambria Math"/>
              <a:cs typeface="Cambria Math"/>
            </a:endParaRPr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4967D1A6-7CB0-47FD-ADAD-623BE015D3C5}"/>
              </a:ext>
            </a:extLst>
          </p:cNvPr>
          <p:cNvSpPr txBox="1"/>
          <p:nvPr/>
        </p:nvSpPr>
        <p:spPr>
          <a:xfrm>
            <a:off x="4013477" y="2513454"/>
            <a:ext cx="1568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Cambria Math"/>
                <a:cs typeface="Cambria Math"/>
              </a:rPr>
              <a:t>𝑛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F239CD40-5B1C-49E8-A365-B18992A19856}"/>
              </a:ext>
            </a:extLst>
          </p:cNvPr>
          <p:cNvSpPr/>
          <p:nvPr/>
        </p:nvSpPr>
        <p:spPr>
          <a:xfrm flipV="1">
            <a:off x="3562864" y="4527550"/>
            <a:ext cx="1923536" cy="45719"/>
          </a:xfrm>
          <a:custGeom>
            <a:avLst/>
            <a:gdLst/>
            <a:ahLst/>
            <a:cxnLst/>
            <a:rect l="l" t="t" r="r" b="b"/>
            <a:pathLst>
              <a:path w="1143000">
                <a:moveTo>
                  <a:pt x="0" y="0"/>
                </a:moveTo>
                <a:lnTo>
                  <a:pt x="1143000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1CCF89CC-2021-475D-974A-75F485E3FF4E}"/>
              </a:ext>
            </a:extLst>
          </p:cNvPr>
          <p:cNvSpPr txBox="1"/>
          <p:nvPr/>
        </p:nvSpPr>
        <p:spPr>
          <a:xfrm>
            <a:off x="3544384" y="4261607"/>
            <a:ext cx="126920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00" baseline="1543" dirty="0">
                <a:latin typeface="Cambria Math"/>
                <a:cs typeface="Cambria Math"/>
              </a:rPr>
              <a:t>∑</a:t>
            </a:r>
            <a:r>
              <a:rPr sz="1800" dirty="0">
                <a:latin typeface="Cambria Math"/>
                <a:cs typeface="Cambria Math"/>
              </a:rPr>
              <a:t>(𝑥𝑖</a:t>
            </a:r>
            <a:r>
              <a:rPr sz="1800" spc="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lang="en-US" dirty="0">
                <a:latin typeface="Cambria Math"/>
                <a:cs typeface="Cambria Math"/>
              </a:rPr>
              <a:t>𝑥</a:t>
            </a:r>
            <a:r>
              <a:rPr sz="1800" spc="-45" dirty="0">
                <a:latin typeface="Cambria Math"/>
                <a:cs typeface="Cambria Math"/>
              </a:rPr>
              <a:t>𝜇</a:t>
            </a:r>
            <a:r>
              <a:rPr sz="1800" dirty="0">
                <a:latin typeface="Cambria Math"/>
                <a:cs typeface="Cambria Math"/>
              </a:rPr>
              <a:t>)</a:t>
            </a:r>
          </a:p>
        </p:txBody>
      </p:sp>
      <p:sp>
        <p:nvSpPr>
          <p:cNvPr id="28" name="object 19">
            <a:extLst>
              <a:ext uri="{FF2B5EF4-FFF2-40B4-BE49-F238E27FC236}">
                <a16:creationId xmlns:a16="http://schemas.microsoft.com/office/drawing/2014/main" id="{D47D94C0-78BF-47F1-86E7-09A740E411E8}"/>
              </a:ext>
            </a:extLst>
          </p:cNvPr>
          <p:cNvSpPr txBox="1"/>
          <p:nvPr/>
        </p:nvSpPr>
        <p:spPr>
          <a:xfrm>
            <a:off x="4465558" y="4527550"/>
            <a:ext cx="1568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0" dirty="0">
                <a:latin typeface="Cambria Math"/>
                <a:cs typeface="Cambria Math"/>
              </a:rPr>
              <a:t>𝑛</a:t>
            </a:r>
            <a:endParaRPr sz="1800" dirty="0">
              <a:latin typeface="Cambria Math"/>
              <a:cs typeface="Cambria Math"/>
            </a:endParaRPr>
          </a:p>
        </p:txBody>
      </p:sp>
      <p:sp>
        <p:nvSpPr>
          <p:cNvPr id="30" name="object 17">
            <a:extLst>
              <a:ext uri="{FF2B5EF4-FFF2-40B4-BE49-F238E27FC236}">
                <a16:creationId xmlns:a16="http://schemas.microsoft.com/office/drawing/2014/main" id="{5587790E-930F-4F29-8B69-CDC1FA24A5AB}"/>
              </a:ext>
            </a:extLst>
          </p:cNvPr>
          <p:cNvSpPr txBox="1"/>
          <p:nvPr/>
        </p:nvSpPr>
        <p:spPr>
          <a:xfrm>
            <a:off x="4631643" y="4283801"/>
            <a:ext cx="1079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mbria Math"/>
                <a:cs typeface="Cambria Math"/>
              </a:rPr>
              <a:t>(</a:t>
            </a:r>
            <a:r>
              <a:rPr lang="en-US" sz="1800" dirty="0">
                <a:latin typeface="Cambria Math"/>
                <a:cs typeface="Cambria Math"/>
              </a:rPr>
              <a:t>y</a:t>
            </a:r>
            <a:r>
              <a:rPr sz="1800" dirty="0">
                <a:latin typeface="Cambria Math"/>
                <a:cs typeface="Cambria Math"/>
              </a:rPr>
              <a:t>𝑖</a:t>
            </a:r>
            <a:r>
              <a:rPr sz="1800" spc="6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−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lang="en-US" sz="1800" spc="5" dirty="0">
                <a:latin typeface="Cambria Math"/>
                <a:cs typeface="Cambria Math"/>
              </a:rPr>
              <a:t>y</a:t>
            </a:r>
            <a:r>
              <a:rPr sz="1800" spc="-45" dirty="0">
                <a:latin typeface="Cambria Math"/>
                <a:cs typeface="Cambria Math"/>
              </a:rPr>
              <a:t>𝜇</a:t>
            </a:r>
            <a:r>
              <a:rPr sz="1800" dirty="0">
                <a:latin typeface="Cambria Math"/>
                <a:cs typeface="Cambria Math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1C80E57-76C7-4D94-A454-18E006F4E81F}"/>
                  </a:ext>
                </a:extLst>
              </p:cNvPr>
              <p:cNvSpPr txBox="1"/>
              <p:nvPr/>
            </p:nvSpPr>
            <p:spPr>
              <a:xfrm>
                <a:off x="2797562" y="2309518"/>
                <a:ext cx="712887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1C80E57-76C7-4D94-A454-18E006F4E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562" y="2309518"/>
                <a:ext cx="712887" cy="289182"/>
              </a:xfrm>
              <a:prstGeom prst="rect">
                <a:avLst/>
              </a:prstGeom>
              <a:blipFill>
                <a:blip r:embed="rId3"/>
                <a:stretch>
                  <a:fillRect l="-4274" b="-10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5B9304D-524F-4358-B657-A2D6D3744B41}"/>
                  </a:ext>
                </a:extLst>
              </p:cNvPr>
              <p:cNvSpPr txBox="1"/>
              <p:nvPr/>
            </p:nvSpPr>
            <p:spPr>
              <a:xfrm>
                <a:off x="2751771" y="4273410"/>
                <a:ext cx="720518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5B9304D-524F-4358-B657-A2D6D3744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71" y="4273410"/>
                <a:ext cx="720518" cy="298928"/>
              </a:xfrm>
              <a:prstGeom prst="rect">
                <a:avLst/>
              </a:prstGeom>
              <a:blipFill>
                <a:blip r:embed="rId4"/>
                <a:stretch>
                  <a:fillRect l="-4202" b="-20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CBCF340-67CB-46D1-B66C-4278B22B8C81}"/>
                  </a:ext>
                </a:extLst>
              </p14:cNvPr>
              <p14:cNvContentPartPr/>
              <p14:nvPr/>
            </p14:nvContentPartPr>
            <p14:xfrm>
              <a:off x="-842935" y="1333176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CBCF340-67CB-46D1-B66C-4278B22B8C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851575" y="132453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28457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249A4-A6F0-4C7C-930D-BE026357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Covariance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C146D86-4849-4E6F-81BC-71C1477E5DB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8600" y="1047750"/>
                <a:ext cx="8418189" cy="3706592"/>
              </a:xfrm>
            </p:spPr>
            <p:txBody>
              <a:bodyPr/>
              <a:lstStyle/>
              <a:p>
                <a:pPr>
                  <a:tabLst>
                    <a:tab pos="8399463" algn="l"/>
                  </a:tabLst>
                </a:pPr>
                <a:r>
                  <a:rPr lang="en-US" dirty="0"/>
                  <a:t>A square matrix given by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𝑦𝑗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tabLst>
                    <a:tab pos="8399463" algn="l"/>
                  </a:tabLst>
                </a:pPr>
                <a:endParaRPr lang="en-US" dirty="0"/>
              </a:p>
              <a:p>
                <a:pPr>
                  <a:tabLst>
                    <a:tab pos="8399463" algn="l"/>
                  </a:tabLst>
                </a:pPr>
                <a:r>
                  <a:rPr lang="en-US" dirty="0"/>
                  <a:t>Example: if we have two variables X and Y, the covariance matrix for these variables will be 2 X 2 matrix with the following entries.</a:t>
                </a:r>
              </a:p>
              <a:p>
                <a:pPr>
                  <a:tabLst>
                    <a:tab pos="8399463" algn="l"/>
                  </a:tabLst>
                </a:pPr>
                <a:endParaRPr lang="en-US" dirty="0"/>
              </a:p>
              <a:p>
                <a:pPr>
                  <a:tabLst>
                    <a:tab pos="8399463" algn="l"/>
                  </a:tabLst>
                </a:pPr>
                <a:r>
                  <a:rPr lang="en-US" dirty="0"/>
                  <a:t>Where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83994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1600" dirty="0"/>
                  <a:t> is the variance of variable X.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83994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1600" dirty="0"/>
                  <a:t> is the variance of variable Y.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83994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1600" dirty="0"/>
                  <a:t> is the covariance between variable X and variable Y.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839946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1600" dirty="0"/>
                  <a:t> is the covariance between variable Y and variable X.</a:t>
                </a:r>
              </a:p>
              <a:p>
                <a:pPr>
                  <a:tabLst>
                    <a:tab pos="8399463" algn="l"/>
                  </a:tabLst>
                </a:pPr>
                <a:endParaRPr lang="en-US" dirty="0"/>
              </a:p>
              <a:p>
                <a:pPr>
                  <a:tabLst>
                    <a:tab pos="8399463" algn="l"/>
                  </a:tabLst>
                </a:pPr>
                <a:r>
                  <a:rPr lang="en-US" dirty="0"/>
                  <a:t>Notes: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8399463" algn="l"/>
                  </a:tabLst>
                </a:pPr>
                <a:r>
                  <a:rPr lang="en-US" sz="1400" dirty="0"/>
                  <a:t>The </a:t>
                </a:r>
                <a:r>
                  <a:rPr lang="en-US" sz="1400" dirty="0">
                    <a:solidFill>
                      <a:srgbClr val="FF0000"/>
                    </a:solidFill>
                  </a:rPr>
                  <a:t>matrix is symmetric </a:t>
                </a:r>
                <a:r>
                  <a:rPr lang="en-US" sz="1400" dirty="0"/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sz="1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8399463" algn="l"/>
                  </a:tabLst>
                </a:pPr>
                <a:r>
                  <a:rPr lang="en-US" sz="1400" dirty="0"/>
                  <a:t>If variables are not correlated, then the matrix is diagonal matrix (only variance values in the diagonal)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C146D86-4849-4E6F-81BC-71C1477E5D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047750"/>
                <a:ext cx="8418189" cy="3706592"/>
              </a:xfrm>
              <a:blipFill>
                <a:blip r:embed="rId2"/>
                <a:stretch>
                  <a:fillRect l="-1739" t="-1974" b="-2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A2E495-1DFB-49B4-A96B-92A6B13BB9B0}"/>
                  </a:ext>
                </a:extLst>
              </p:cNvPr>
              <p:cNvSpPr txBox="1"/>
              <p:nvPr/>
            </p:nvSpPr>
            <p:spPr>
              <a:xfrm>
                <a:off x="6629400" y="2325272"/>
                <a:ext cx="1216808" cy="492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DA2E495-1DFB-49B4-A96B-92A6B13BB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2325272"/>
                <a:ext cx="1216808" cy="492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5616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03A0-C7B0-7EEB-A26F-4719B2F19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6AC45C6-6B5B-5587-FF42-3EE3FFCADADC}"/>
              </a:ext>
            </a:extLst>
          </p:cNvPr>
          <p:cNvSpPr txBox="1"/>
          <p:nvPr/>
        </p:nvSpPr>
        <p:spPr>
          <a:xfrm>
            <a:off x="362904" y="1291844"/>
            <a:ext cx="420909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Linear Algebra Basics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Dimensionality</a:t>
            </a:r>
            <a:r>
              <a:rPr lang="en-US" sz="2400" spc="-135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 Reduction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Covariance Matrix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Calibri"/>
                <a:cs typeface="Calibri"/>
              </a:rPr>
              <a:t>Eigenvalues and Eigenvectors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PCA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DBB21B4-07C4-1DA9-FD92-B41C176C89D5}"/>
              </a:ext>
            </a:extLst>
          </p:cNvPr>
          <p:cNvSpPr txBox="1"/>
          <p:nvPr/>
        </p:nvSpPr>
        <p:spPr>
          <a:xfrm>
            <a:off x="362904" y="286781"/>
            <a:ext cx="5123496" cy="58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15" dirty="0">
                <a:solidFill>
                  <a:srgbClr val="00026A"/>
                </a:solidFill>
                <a:latin typeface="Corbel"/>
                <a:cs typeface="Corbel"/>
              </a:rPr>
              <a:t>In 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t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h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i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 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l</a:t>
            </a:r>
            <a:r>
              <a:rPr sz="3800" spc="-25" dirty="0">
                <a:solidFill>
                  <a:srgbClr val="00026A"/>
                </a:solidFill>
                <a:latin typeface="Corbel"/>
                <a:cs typeface="Corbel"/>
              </a:rPr>
              <a:t>e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ss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o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n</a:t>
            </a:r>
            <a:r>
              <a:rPr lang="en-US" sz="3800" dirty="0">
                <a:solidFill>
                  <a:srgbClr val="00026A"/>
                </a:solidFill>
                <a:latin typeface="Corbel"/>
                <a:cs typeface="Corbel"/>
              </a:rPr>
              <a:t> Part 1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 …</a:t>
            </a:r>
            <a:endParaRPr sz="3800" dirty="0">
              <a:latin typeface="Corbel"/>
              <a:cs typeface="Corbe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95D8188-97FC-F728-2DBC-37152EA3C22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0487327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FC9E-1900-4C41-AC01-9E31184CF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Eigenvalues and Eigenvectors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AC44F-7806-47C3-8299-EDBBF47A8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6114095" cy="33239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Suppose we have plotted a </a:t>
            </a:r>
            <a:r>
              <a:rPr lang="en-US" b="0" i="1" dirty="0">
                <a:solidFill>
                  <a:srgbClr val="292929"/>
                </a:solidFill>
                <a:effectLst/>
                <a:latin typeface="source-serif-pro"/>
              </a:rPr>
              <a:t>scatter plot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 of random variables, and a </a:t>
            </a:r>
            <a:r>
              <a:rPr lang="en-US" b="0" i="0" dirty="0">
                <a:solidFill>
                  <a:srgbClr val="FF0000"/>
                </a:solidFill>
                <a:effectLst/>
                <a:latin typeface="source-serif-pro"/>
              </a:rPr>
              <a:t>line of best fit is drawn between these points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. This </a:t>
            </a:r>
            <a:r>
              <a:rPr lang="en-US" b="0" i="1" dirty="0">
                <a:solidFill>
                  <a:srgbClr val="292929"/>
                </a:solidFill>
                <a:effectLst/>
                <a:latin typeface="source-serif-pro"/>
              </a:rPr>
              <a:t>line of best fit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, </a:t>
            </a:r>
            <a:r>
              <a:rPr lang="en-US" b="0" i="0" dirty="0">
                <a:solidFill>
                  <a:srgbClr val="FF0000"/>
                </a:solidFill>
                <a:effectLst/>
                <a:latin typeface="source-serif-pro"/>
              </a:rPr>
              <a:t>shows the direction of maximum variance 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in the dataset.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The Eigenvector is the direction of that line</a:t>
            </a:r>
            <a:r>
              <a:rPr lang="en-US" dirty="0"/>
              <a:t>, while the </a:t>
            </a:r>
            <a:r>
              <a:rPr lang="en-US" dirty="0">
                <a:solidFill>
                  <a:srgbClr val="FF0000"/>
                </a:solidFill>
              </a:rPr>
              <a:t>eigenvalue is a number that tells us how the data set is spread out on the line </a:t>
            </a:r>
            <a:r>
              <a:rPr lang="en-US" dirty="0"/>
              <a:t>which is an Eigenvector.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0000"/>
                </a:solidFill>
                <a:effectLst/>
                <a:latin typeface="source-serif-pro"/>
              </a:rPr>
              <a:t>Eigenvectors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 represent </a:t>
            </a:r>
            <a:r>
              <a:rPr lang="en-US" b="0" i="0" dirty="0">
                <a:solidFill>
                  <a:srgbClr val="FF0000"/>
                </a:solidFill>
                <a:effectLst/>
                <a:latin typeface="source-serif-pro"/>
              </a:rPr>
              <a:t>directions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. </a:t>
            </a:r>
            <a:r>
              <a:rPr lang="en-US" b="0" i="0" dirty="0">
                <a:solidFill>
                  <a:srgbClr val="FF0000"/>
                </a:solidFill>
                <a:effectLst/>
                <a:latin typeface="source-serif-pro"/>
              </a:rPr>
              <a:t>Eigenvalues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 represent </a:t>
            </a:r>
            <a:r>
              <a:rPr lang="en-US" b="0" i="0" dirty="0">
                <a:solidFill>
                  <a:srgbClr val="FF0000"/>
                </a:solidFill>
                <a:effectLst/>
                <a:latin typeface="source-serif-pro"/>
              </a:rPr>
              <a:t>magnitude</a:t>
            </a: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, or importance.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B92CBE38-4F1A-2C79-F322-7377749FFFB8}"/>
              </a:ext>
            </a:extLst>
          </p:cNvPr>
          <p:cNvGrpSpPr/>
          <p:nvPr/>
        </p:nvGrpSpPr>
        <p:grpSpPr>
          <a:xfrm>
            <a:off x="7022529" y="2343150"/>
            <a:ext cx="1837499" cy="1759099"/>
            <a:chOff x="5934901" y="1269851"/>
            <a:chExt cx="2870835" cy="2505710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C437C3E1-DCBD-8CA7-63D3-A3DAAFAEB38E}"/>
                </a:ext>
              </a:extLst>
            </p:cNvPr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338832"/>
                  </a:moveTo>
                  <a:lnTo>
                    <a:pt x="2824988" y="2338832"/>
                  </a:lnTo>
                </a:path>
                <a:path w="2825115" h="2460625">
                  <a:moveTo>
                    <a:pt x="0" y="1944370"/>
                  </a:moveTo>
                  <a:lnTo>
                    <a:pt x="2824988" y="1944370"/>
                  </a:lnTo>
                </a:path>
                <a:path w="2825115" h="2460625">
                  <a:moveTo>
                    <a:pt x="0" y="1550035"/>
                  </a:moveTo>
                  <a:lnTo>
                    <a:pt x="2824988" y="1550035"/>
                  </a:lnTo>
                </a:path>
                <a:path w="2825115" h="2460625">
                  <a:moveTo>
                    <a:pt x="0" y="1155573"/>
                  </a:moveTo>
                  <a:lnTo>
                    <a:pt x="2824988" y="1155573"/>
                  </a:lnTo>
                </a:path>
                <a:path w="2825115" h="2460625">
                  <a:moveTo>
                    <a:pt x="0" y="761111"/>
                  </a:moveTo>
                  <a:lnTo>
                    <a:pt x="2824988" y="761111"/>
                  </a:lnTo>
                </a:path>
                <a:path w="2825115" h="2460625">
                  <a:moveTo>
                    <a:pt x="0" y="366649"/>
                  </a:moveTo>
                  <a:lnTo>
                    <a:pt x="2824988" y="366649"/>
                  </a:lnTo>
                </a:path>
                <a:path w="2825115" h="2460625">
                  <a:moveTo>
                    <a:pt x="315341" y="2460117"/>
                  </a:moveTo>
                  <a:lnTo>
                    <a:pt x="315341" y="0"/>
                  </a:lnTo>
                </a:path>
                <a:path w="2825115" h="2460625">
                  <a:moveTo>
                    <a:pt x="776986" y="2460117"/>
                  </a:moveTo>
                  <a:lnTo>
                    <a:pt x="776986" y="0"/>
                  </a:lnTo>
                </a:path>
                <a:path w="2825115" h="2460625">
                  <a:moveTo>
                    <a:pt x="1238504" y="2460117"/>
                  </a:moveTo>
                  <a:lnTo>
                    <a:pt x="1238504" y="0"/>
                  </a:lnTo>
                </a:path>
                <a:path w="2825115" h="2460625">
                  <a:moveTo>
                    <a:pt x="1700149" y="2460117"/>
                  </a:moveTo>
                  <a:lnTo>
                    <a:pt x="1700149" y="0"/>
                  </a:lnTo>
                </a:path>
                <a:path w="2825115" h="2460625">
                  <a:moveTo>
                    <a:pt x="2161794" y="2460117"/>
                  </a:moveTo>
                  <a:lnTo>
                    <a:pt x="2161794" y="0"/>
                  </a:lnTo>
                </a:path>
                <a:path w="2825115" h="2460625">
                  <a:moveTo>
                    <a:pt x="2623312" y="2460117"/>
                  </a:moveTo>
                  <a:lnTo>
                    <a:pt x="2623312" y="0"/>
                  </a:lnTo>
                </a:path>
              </a:pathLst>
            </a:custGeom>
            <a:ln w="3429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5A59E5-E47F-D6A0-92B7-0BAAF707C709}"/>
                </a:ext>
              </a:extLst>
            </p:cNvPr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141601"/>
                  </a:moveTo>
                  <a:lnTo>
                    <a:pt x="2824988" y="2141601"/>
                  </a:lnTo>
                </a:path>
                <a:path w="2825115" h="2460625">
                  <a:moveTo>
                    <a:pt x="0" y="1747266"/>
                  </a:moveTo>
                  <a:lnTo>
                    <a:pt x="2824988" y="1747266"/>
                  </a:lnTo>
                </a:path>
                <a:path w="2825115" h="2460625">
                  <a:moveTo>
                    <a:pt x="0" y="1352804"/>
                  </a:moveTo>
                  <a:lnTo>
                    <a:pt x="2824988" y="1352804"/>
                  </a:lnTo>
                </a:path>
                <a:path w="2825115" h="2460625">
                  <a:moveTo>
                    <a:pt x="0" y="958342"/>
                  </a:moveTo>
                  <a:lnTo>
                    <a:pt x="2824988" y="958342"/>
                  </a:lnTo>
                </a:path>
                <a:path w="2825115" h="2460625">
                  <a:moveTo>
                    <a:pt x="0" y="563880"/>
                  </a:moveTo>
                  <a:lnTo>
                    <a:pt x="2824988" y="563880"/>
                  </a:lnTo>
                </a:path>
                <a:path w="2825115" h="2460625">
                  <a:moveTo>
                    <a:pt x="0" y="169545"/>
                  </a:moveTo>
                  <a:lnTo>
                    <a:pt x="2824988" y="169545"/>
                  </a:lnTo>
                </a:path>
                <a:path w="2825115" h="2460625">
                  <a:moveTo>
                    <a:pt x="84582" y="2460117"/>
                  </a:moveTo>
                  <a:lnTo>
                    <a:pt x="84582" y="0"/>
                  </a:lnTo>
                </a:path>
                <a:path w="2825115" h="2460625">
                  <a:moveTo>
                    <a:pt x="546100" y="2460117"/>
                  </a:moveTo>
                  <a:lnTo>
                    <a:pt x="546100" y="0"/>
                  </a:lnTo>
                </a:path>
                <a:path w="2825115" h="2460625">
                  <a:moveTo>
                    <a:pt x="1007745" y="2460117"/>
                  </a:moveTo>
                  <a:lnTo>
                    <a:pt x="1007745" y="0"/>
                  </a:lnTo>
                </a:path>
                <a:path w="2825115" h="2460625">
                  <a:moveTo>
                    <a:pt x="1469390" y="2460117"/>
                  </a:moveTo>
                  <a:lnTo>
                    <a:pt x="1469390" y="0"/>
                  </a:lnTo>
                </a:path>
                <a:path w="2825115" h="2460625">
                  <a:moveTo>
                    <a:pt x="1930908" y="2460117"/>
                  </a:moveTo>
                  <a:lnTo>
                    <a:pt x="1930908" y="0"/>
                  </a:lnTo>
                </a:path>
                <a:path w="2825115" h="2460625">
                  <a:moveTo>
                    <a:pt x="2392553" y="2460117"/>
                  </a:moveTo>
                  <a:lnTo>
                    <a:pt x="2392553" y="0"/>
                  </a:lnTo>
                </a:path>
              </a:pathLst>
            </a:custGeom>
            <a:ln w="6731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67998241-8E08-A764-A3A9-6AB1BC883062}"/>
                </a:ext>
              </a:extLst>
            </p:cNvPr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8CF2BB3A-94A7-70A8-5DFD-885F9504D8B9}"/>
                </a:ext>
              </a:extLst>
            </p:cNvPr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D430267B-FD9B-E332-F8F4-B976ED22B0A4}"/>
                </a:ext>
              </a:extLst>
            </p:cNvPr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FFBAEEE6-F79E-9E15-BC06-A99DA5218330}"/>
                </a:ext>
              </a:extLst>
            </p:cNvPr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78488E96-E1A0-6126-851A-C6D59EAEE10F}"/>
                </a:ext>
              </a:extLst>
            </p:cNvPr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0983" y="1424"/>
                  </a:lnTo>
                  <a:lnTo>
                    <a:pt x="5254" y="5302"/>
                  </a:lnTo>
                  <a:lnTo>
                    <a:pt x="1406" y="11037"/>
                  </a:lnTo>
                  <a:lnTo>
                    <a:pt x="0" y="18034"/>
                  </a:lnTo>
                  <a:lnTo>
                    <a:pt x="1406" y="25104"/>
                  </a:lnTo>
                  <a:lnTo>
                    <a:pt x="5254" y="30876"/>
                  </a:lnTo>
                  <a:lnTo>
                    <a:pt x="10983" y="34768"/>
                  </a:lnTo>
                  <a:lnTo>
                    <a:pt x="18034" y="36195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4EED8D8C-3B6B-BF02-6358-D104A5265ED0}"/>
                </a:ext>
              </a:extLst>
            </p:cNvPr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06" y="11037"/>
                  </a:lnTo>
                  <a:lnTo>
                    <a:pt x="5254" y="5302"/>
                  </a:lnTo>
                  <a:lnTo>
                    <a:pt x="10983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4" y="36195"/>
                  </a:lnTo>
                  <a:lnTo>
                    <a:pt x="10983" y="34768"/>
                  </a:lnTo>
                  <a:lnTo>
                    <a:pt x="5254" y="30876"/>
                  </a:lnTo>
                  <a:lnTo>
                    <a:pt x="1406" y="2510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9CAA7539-D5B6-837C-30E0-62DC39F89B02}"/>
                </a:ext>
              </a:extLst>
            </p:cNvPr>
            <p:cNvSpPr/>
            <p:nvPr/>
          </p:nvSpPr>
          <p:spPr>
            <a:xfrm>
              <a:off x="6585268" y="1699175"/>
              <a:ext cx="1973707" cy="17378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4434563D-A895-86A7-0EE9-220ED950DF68}"/>
                </a:ext>
              </a:extLst>
            </p:cNvPr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104"/>
                  </a:lnTo>
                  <a:lnTo>
                    <a:pt x="5302" y="30876"/>
                  </a:lnTo>
                  <a:lnTo>
                    <a:pt x="11037" y="34768"/>
                  </a:lnTo>
                  <a:lnTo>
                    <a:pt x="18033" y="36194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3C259AF0-7A67-103E-A74D-8FE7BCDFF6CA}"/>
                </a:ext>
              </a:extLst>
            </p:cNvPr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3" y="36194"/>
                  </a:lnTo>
                  <a:lnTo>
                    <a:pt x="11037" y="34768"/>
                  </a:lnTo>
                  <a:lnTo>
                    <a:pt x="5302" y="30876"/>
                  </a:lnTo>
                  <a:lnTo>
                    <a:pt x="1424" y="25104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A6408669-EA14-DA2E-BA74-FF0D5166B9A9}"/>
                </a:ext>
              </a:extLst>
            </p:cNvPr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84"/>
                  </a:lnTo>
                  <a:lnTo>
                    <a:pt x="5302" y="30813"/>
                  </a:lnTo>
                  <a:lnTo>
                    <a:pt x="11037" y="34661"/>
                  </a:lnTo>
                  <a:lnTo>
                    <a:pt x="18034" y="36068"/>
                  </a:lnTo>
                  <a:lnTo>
                    <a:pt x="25104" y="34661"/>
                  </a:lnTo>
                  <a:lnTo>
                    <a:pt x="30876" y="30813"/>
                  </a:lnTo>
                  <a:lnTo>
                    <a:pt x="34768" y="25084"/>
                  </a:lnTo>
                  <a:lnTo>
                    <a:pt x="36195" y="18034"/>
                  </a:lnTo>
                  <a:lnTo>
                    <a:pt x="34768" y="11037"/>
                  </a:lnTo>
                  <a:lnTo>
                    <a:pt x="30876" y="5302"/>
                  </a:lnTo>
                  <a:lnTo>
                    <a:pt x="25104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BF611143-24CE-DC10-9DEA-7C6E3F3F2548}"/>
                </a:ext>
              </a:extLst>
            </p:cNvPr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104" y="1424"/>
                  </a:lnTo>
                  <a:lnTo>
                    <a:pt x="30876" y="5302"/>
                  </a:lnTo>
                  <a:lnTo>
                    <a:pt x="34768" y="11037"/>
                  </a:lnTo>
                  <a:lnTo>
                    <a:pt x="36195" y="18034"/>
                  </a:lnTo>
                  <a:lnTo>
                    <a:pt x="34768" y="25084"/>
                  </a:lnTo>
                  <a:lnTo>
                    <a:pt x="30876" y="30813"/>
                  </a:lnTo>
                  <a:lnTo>
                    <a:pt x="25104" y="34661"/>
                  </a:lnTo>
                  <a:lnTo>
                    <a:pt x="18034" y="36068"/>
                  </a:lnTo>
                  <a:lnTo>
                    <a:pt x="11037" y="34661"/>
                  </a:lnTo>
                  <a:lnTo>
                    <a:pt x="5302" y="30813"/>
                  </a:lnTo>
                  <a:lnTo>
                    <a:pt x="1424" y="2508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81FB016E-776E-D4C2-A551-C9D05985C81F}"/>
                </a:ext>
              </a:extLst>
            </p:cNvPr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F3DFE665-F07A-4AC0-5C6D-50166967EF76}"/>
                </a:ext>
              </a:extLst>
            </p:cNvPr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58C1E3E7-A8EF-A605-B836-946108213554}"/>
                </a:ext>
              </a:extLst>
            </p:cNvPr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7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8B907C67-4D86-FFE2-E215-3FFFD578D38B}"/>
                </a:ext>
              </a:extLst>
            </p:cNvPr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7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3">
              <a:extLst>
                <a:ext uri="{FF2B5EF4-FFF2-40B4-BE49-F238E27FC236}">
                  <a16:creationId xmlns:a16="http://schemas.microsoft.com/office/drawing/2014/main" id="{1C549D42-E35D-2369-9E06-8CE454DDF1CB}"/>
                </a:ext>
              </a:extLst>
            </p:cNvPr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460117"/>
                  </a:moveTo>
                  <a:lnTo>
                    <a:pt x="2824988" y="2460117"/>
                  </a:lnTo>
                  <a:lnTo>
                    <a:pt x="2824988" y="0"/>
                  </a:lnTo>
                  <a:lnTo>
                    <a:pt x="0" y="0"/>
                  </a:lnTo>
                  <a:lnTo>
                    <a:pt x="0" y="2460117"/>
                  </a:lnTo>
                  <a:close/>
                </a:path>
              </a:pathLst>
            </a:custGeom>
            <a:ln w="1358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4">
              <a:extLst>
                <a:ext uri="{FF2B5EF4-FFF2-40B4-BE49-F238E27FC236}">
                  <a16:creationId xmlns:a16="http://schemas.microsoft.com/office/drawing/2014/main" id="{21F60F12-085A-88D5-F80E-F34C778DABDE}"/>
                </a:ext>
              </a:extLst>
            </p:cNvPr>
            <p:cNvSpPr/>
            <p:nvPr/>
          </p:nvSpPr>
          <p:spPr>
            <a:xfrm>
              <a:off x="5938394" y="1446381"/>
              <a:ext cx="2427605" cy="2325370"/>
            </a:xfrm>
            <a:custGeom>
              <a:avLst/>
              <a:gdLst/>
              <a:ahLst/>
              <a:cxnLst/>
              <a:rect l="l" t="t" r="r" b="b"/>
              <a:pathLst>
                <a:path w="2427604" h="2325370">
                  <a:moveTo>
                    <a:pt x="0" y="1972056"/>
                  </a:moveTo>
                  <a:lnTo>
                    <a:pt x="34798" y="1972056"/>
                  </a:lnTo>
                </a:path>
                <a:path w="2427604" h="2325370">
                  <a:moveTo>
                    <a:pt x="0" y="1577721"/>
                  </a:moveTo>
                  <a:lnTo>
                    <a:pt x="34798" y="1577721"/>
                  </a:lnTo>
                </a:path>
                <a:path w="2427604" h="2325370">
                  <a:moveTo>
                    <a:pt x="0" y="1183259"/>
                  </a:moveTo>
                  <a:lnTo>
                    <a:pt x="34798" y="1183259"/>
                  </a:lnTo>
                </a:path>
                <a:path w="2427604" h="2325370">
                  <a:moveTo>
                    <a:pt x="0" y="788797"/>
                  </a:moveTo>
                  <a:lnTo>
                    <a:pt x="34798" y="788797"/>
                  </a:lnTo>
                </a:path>
                <a:path w="2427604" h="2325370">
                  <a:moveTo>
                    <a:pt x="0" y="394335"/>
                  </a:moveTo>
                  <a:lnTo>
                    <a:pt x="34798" y="394335"/>
                  </a:lnTo>
                </a:path>
                <a:path w="2427604" h="2325370">
                  <a:moveTo>
                    <a:pt x="0" y="0"/>
                  </a:moveTo>
                  <a:lnTo>
                    <a:pt x="34798" y="0"/>
                  </a:lnTo>
                </a:path>
                <a:path w="2427604" h="2325370">
                  <a:moveTo>
                    <a:pt x="119380" y="2325370"/>
                  </a:moveTo>
                  <a:lnTo>
                    <a:pt x="119380" y="2290572"/>
                  </a:lnTo>
                </a:path>
                <a:path w="2427604" h="2325370">
                  <a:moveTo>
                    <a:pt x="580898" y="2325370"/>
                  </a:moveTo>
                  <a:lnTo>
                    <a:pt x="580898" y="2290572"/>
                  </a:lnTo>
                </a:path>
                <a:path w="2427604" h="2325370">
                  <a:moveTo>
                    <a:pt x="1042543" y="2325370"/>
                  </a:moveTo>
                  <a:lnTo>
                    <a:pt x="1042543" y="2290572"/>
                  </a:lnTo>
                </a:path>
                <a:path w="2427604" h="2325370">
                  <a:moveTo>
                    <a:pt x="1504188" y="2325370"/>
                  </a:moveTo>
                  <a:lnTo>
                    <a:pt x="1504188" y="2290572"/>
                  </a:lnTo>
                </a:path>
                <a:path w="2427604" h="2325370">
                  <a:moveTo>
                    <a:pt x="1965706" y="2325370"/>
                  </a:moveTo>
                  <a:lnTo>
                    <a:pt x="1965706" y="2290572"/>
                  </a:lnTo>
                </a:path>
                <a:path w="2427604" h="2325370">
                  <a:moveTo>
                    <a:pt x="2427351" y="2325370"/>
                  </a:moveTo>
                  <a:lnTo>
                    <a:pt x="2427351" y="2290572"/>
                  </a:lnTo>
                </a:path>
              </a:pathLst>
            </a:custGeom>
            <a:ln w="6731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29F075D-E564-D5F7-9715-DC56D3BD3446}"/>
                  </a:ext>
                </a:extLst>
              </p14:cNvPr>
              <p14:cNvContentPartPr/>
              <p14:nvPr/>
            </p14:nvContentPartPr>
            <p14:xfrm>
              <a:off x="7474394" y="3992376"/>
              <a:ext cx="1800" cy="3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29F075D-E564-D5F7-9715-DC56D3BD34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65394" y="3983376"/>
                <a:ext cx="19440" cy="20880"/>
              </a:xfrm>
              <a:prstGeom prst="rect">
                <a:avLst/>
              </a:prstGeom>
            </p:spPr>
          </p:pic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18520E-6DD8-9D1F-1F36-63FFC156CFF2}"/>
              </a:ext>
            </a:extLst>
          </p:cNvPr>
          <p:cNvCxnSpPr/>
          <p:nvPr/>
        </p:nvCxnSpPr>
        <p:spPr>
          <a:xfrm flipV="1">
            <a:off x="7168081" y="2523829"/>
            <a:ext cx="1640252" cy="151899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E616B3E-185C-B4E6-D1A7-625FFE24F7E5}"/>
              </a:ext>
            </a:extLst>
          </p:cNvPr>
          <p:cNvSpPr txBox="1"/>
          <p:nvPr/>
        </p:nvSpPr>
        <p:spPr>
          <a:xfrm>
            <a:off x="7024765" y="4055931"/>
            <a:ext cx="134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57BF13-BE2D-78E4-864C-3DC41D1EA5F2}"/>
              </a:ext>
            </a:extLst>
          </p:cNvPr>
          <p:cNvSpPr txBox="1"/>
          <p:nvPr/>
        </p:nvSpPr>
        <p:spPr>
          <a:xfrm>
            <a:off x="6616688" y="2982431"/>
            <a:ext cx="1340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V2</a:t>
            </a:r>
          </a:p>
        </p:txBody>
      </p:sp>
    </p:spTree>
    <p:extLst>
      <p:ext uri="{BB962C8B-B14F-4D97-AF65-F5344CB8AC3E}">
        <p14:creationId xmlns:p14="http://schemas.microsoft.com/office/powerpoint/2010/main" val="11749420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15944-4334-4099-931A-92C007284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Eigenvalues and Eigenvectors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5C81C-4BB9-4EA0-825B-01B904CA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047750"/>
            <a:ext cx="8418189" cy="4031873"/>
          </a:xfrm>
        </p:spPr>
        <p:txBody>
          <a:bodyPr/>
          <a:lstStyle/>
          <a:p>
            <a:r>
              <a:rPr lang="en-US" sz="2800" dirty="0"/>
              <a:t>Some properties: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Matrix A can be decomposed into a number of eigenvectors and eigenvalues.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Eigenvectors and eigenvalues </a:t>
            </a:r>
            <a:r>
              <a:rPr lang="en-US" dirty="0">
                <a:solidFill>
                  <a:srgbClr val="FF0000"/>
                </a:solidFill>
              </a:rPr>
              <a:t>uniquely identify a matrix 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number is </a:t>
            </a:r>
            <a:r>
              <a:rPr lang="en-US" dirty="0">
                <a:solidFill>
                  <a:srgbClr val="FF0000"/>
                </a:solidFill>
              </a:rPr>
              <a:t>equal to the number of dimensions </a:t>
            </a:r>
            <a:r>
              <a:rPr lang="en-US" dirty="0"/>
              <a:t>(variables) of the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example, for a 3-dimensional data set, there are 3 variables, therefore there are 3 eigenvectors with 3 corresponding eigenvalues.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direction of an eigenvector remains unchanged </a:t>
            </a:r>
            <a:r>
              <a:rPr lang="en-US" dirty="0"/>
              <a:t>when a linear transformation is applied to it. So, assume that the transformation T(v) = Av will result in transforming the vector v in the same direction.</a:t>
            </a:r>
          </a:p>
        </p:txBody>
      </p:sp>
    </p:spTree>
    <p:extLst>
      <p:ext uri="{BB962C8B-B14F-4D97-AF65-F5344CB8AC3E}">
        <p14:creationId xmlns:p14="http://schemas.microsoft.com/office/powerpoint/2010/main" val="40606487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96A7-B84F-3738-BDE3-2088C4AE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45C618-873B-36F1-1447-778DD357BC01}"/>
              </a:ext>
            </a:extLst>
          </p:cNvPr>
          <p:cNvSpPr txBox="1"/>
          <p:nvPr/>
        </p:nvSpPr>
        <p:spPr>
          <a:xfrm>
            <a:off x="362904" y="1291844"/>
            <a:ext cx="420909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Linear Algebra Basics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Dimensionality</a:t>
            </a:r>
            <a:r>
              <a:rPr lang="en-US" sz="2400" spc="-135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 Reduction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Covariance Matrix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alibri"/>
                <a:cs typeface="Calibri"/>
              </a:rPr>
              <a:t>Eigenvalues and Eigenvectors</a:t>
            </a:r>
          </a:p>
          <a:p>
            <a:pPr marL="12700">
              <a:lnSpc>
                <a:spcPct val="100000"/>
              </a:lnSpc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  <a:highlight>
                  <a:srgbClr val="FFFF00"/>
                </a:highlight>
                <a:latin typeface="Calibri"/>
                <a:cs typeface="Calibri"/>
              </a:rPr>
              <a:t>PCA</a:t>
            </a:r>
          </a:p>
          <a:p>
            <a:pPr marL="12700">
              <a:lnSpc>
                <a:spcPct val="100000"/>
              </a:lnSpc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21305D9-0BAB-F2C9-1317-88F37CBFC08B}"/>
              </a:ext>
            </a:extLst>
          </p:cNvPr>
          <p:cNvSpPr txBox="1"/>
          <p:nvPr/>
        </p:nvSpPr>
        <p:spPr>
          <a:xfrm>
            <a:off x="362904" y="286781"/>
            <a:ext cx="5123496" cy="584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800" spc="-15" dirty="0">
                <a:solidFill>
                  <a:srgbClr val="00026A"/>
                </a:solidFill>
                <a:latin typeface="Corbel"/>
                <a:cs typeface="Corbel"/>
              </a:rPr>
              <a:t>In 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t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h</a:t>
            </a:r>
            <a:r>
              <a:rPr sz="3800" spc="5" dirty="0">
                <a:solidFill>
                  <a:srgbClr val="00026A"/>
                </a:solidFill>
                <a:latin typeface="Corbel"/>
                <a:cs typeface="Corbel"/>
              </a:rPr>
              <a:t>i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 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l</a:t>
            </a:r>
            <a:r>
              <a:rPr sz="3800" spc="-25" dirty="0">
                <a:solidFill>
                  <a:srgbClr val="00026A"/>
                </a:solidFill>
                <a:latin typeface="Corbel"/>
                <a:cs typeface="Corbel"/>
              </a:rPr>
              <a:t>e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ss</a:t>
            </a:r>
            <a:r>
              <a:rPr sz="3800" spc="-5" dirty="0">
                <a:solidFill>
                  <a:srgbClr val="00026A"/>
                </a:solidFill>
                <a:latin typeface="Corbel"/>
                <a:cs typeface="Corbel"/>
              </a:rPr>
              <a:t>o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n</a:t>
            </a:r>
            <a:r>
              <a:rPr lang="en-US" sz="3800" dirty="0">
                <a:solidFill>
                  <a:srgbClr val="00026A"/>
                </a:solidFill>
                <a:latin typeface="Corbel"/>
                <a:cs typeface="Corbel"/>
              </a:rPr>
              <a:t> Part 1</a:t>
            </a:r>
            <a:r>
              <a:rPr sz="3800" dirty="0">
                <a:solidFill>
                  <a:srgbClr val="00026A"/>
                </a:solidFill>
                <a:latin typeface="Corbel"/>
                <a:cs typeface="Corbel"/>
              </a:rPr>
              <a:t> …</a:t>
            </a:r>
            <a:endParaRPr sz="3800" dirty="0">
              <a:latin typeface="Corbel"/>
              <a:cs typeface="Corbe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B55875A-3B3C-DC9B-019C-031C349DC87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278437" y="4886197"/>
            <a:ext cx="267779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Gi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Q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a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tt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r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on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e,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 M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dd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le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x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sz="800" spc="-20" dirty="0">
                <a:solidFill>
                  <a:schemeClr val="bg1">
                    <a:lumMod val="85000"/>
                  </a:schemeClr>
                </a:solidFill>
              </a:rPr>
              <a:t>U</a:t>
            </a:r>
            <a:r>
              <a:rPr sz="800" spc="-15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v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er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s</a:t>
            </a:r>
            <a:r>
              <a:rPr sz="800" spc="-5" dirty="0">
                <a:solidFill>
                  <a:schemeClr val="bg1">
                    <a:lumMod val="85000"/>
                  </a:schemeClr>
                </a:solidFill>
              </a:rPr>
              <a:t>i</a:t>
            </a:r>
            <a:r>
              <a:rPr sz="800" dirty="0">
                <a:solidFill>
                  <a:schemeClr val="bg1">
                    <a:lumMod val="85000"/>
                  </a:schemeClr>
                </a:solidFill>
              </a:rPr>
              <a:t>t</a:t>
            </a:r>
            <a:r>
              <a:rPr sz="800" spc="-10" dirty="0">
                <a:solidFill>
                  <a:schemeClr val="bg1">
                    <a:lumMod val="85000"/>
                  </a:schemeClr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0875083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BDDE-CA90-FD3A-ED26-62AF80ADA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Principal Component Analysis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B2F8D-888A-BECF-0761-1E681AE29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2769989"/>
          </a:xfrm>
        </p:spPr>
        <p:txBody>
          <a:bodyPr/>
          <a:lstStyle/>
          <a:p>
            <a:r>
              <a:rPr lang="en-US" dirty="0"/>
              <a:t>The most fundamental unsupervised learning method is known as Principal Component Analysis or PCA for short.</a:t>
            </a:r>
          </a:p>
          <a:p>
            <a:r>
              <a:rPr lang="en-US" b="1" i="1" dirty="0">
                <a:solidFill>
                  <a:schemeClr val="accent6"/>
                </a:solidFill>
              </a:rPr>
              <a:t>Goal:</a:t>
            </a:r>
          </a:p>
          <a:p>
            <a:r>
              <a:rPr lang="en-US" b="1" i="1" dirty="0">
                <a:solidFill>
                  <a:srgbClr val="0070C0"/>
                </a:solidFill>
              </a:rPr>
              <a:t>reduce the number of variables of a data set, while preserving as much information as possible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HOW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The objective is to learn a proper </a:t>
            </a:r>
            <a:r>
              <a:rPr lang="en-US" b="1" dirty="0">
                <a:solidFill>
                  <a:srgbClr val="FF0000"/>
                </a:solidFill>
              </a:rPr>
              <a:t>spanning set </a:t>
            </a:r>
            <a:r>
              <a:rPr lang="en-US" dirty="0"/>
              <a:t>to represent input data .</a:t>
            </a:r>
          </a:p>
          <a:p>
            <a:endParaRPr lang="en-AE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F619F4D-65DA-4D40-DB74-20917A78DCDB}"/>
              </a:ext>
            </a:extLst>
          </p:cNvPr>
          <p:cNvSpPr txBox="1">
            <a:spLocks/>
          </p:cNvSpPr>
          <p:nvPr/>
        </p:nvSpPr>
        <p:spPr>
          <a:xfrm>
            <a:off x="1981201" y="4211472"/>
            <a:ext cx="6629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kern="0"/>
              <a:t>A </a:t>
            </a:r>
            <a:r>
              <a:rPr lang="en-US" b="1" kern="0"/>
              <a:t>spanning set</a:t>
            </a:r>
            <a:r>
              <a:rPr lang="en-US" kern="0"/>
              <a:t> is the set of directions onto which data is </a:t>
            </a:r>
            <a:r>
              <a:rPr lang="en-US" b="1" kern="0"/>
              <a:t>projected.</a:t>
            </a:r>
            <a:endParaRPr lang="en-AE" kern="0" dirty="0"/>
          </a:p>
        </p:txBody>
      </p:sp>
    </p:spTree>
    <p:extLst>
      <p:ext uri="{BB962C8B-B14F-4D97-AF65-F5344CB8AC3E}">
        <p14:creationId xmlns:p14="http://schemas.microsoft.com/office/powerpoint/2010/main" val="1603639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9CE9-2A10-44A5-A02E-2ED62E518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What does Principal components mean 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9361A-CE3B-43E7-ABAA-2EF7C799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323895" cy="2769989"/>
          </a:xfrm>
        </p:spPr>
        <p:txBody>
          <a:bodyPr/>
          <a:lstStyle/>
          <a:p>
            <a:r>
              <a:rPr lang="en-US" dirty="0"/>
              <a:t>Principal components </a:t>
            </a:r>
            <a:r>
              <a:rPr lang="en-US" b="1" i="1" dirty="0">
                <a:solidFill>
                  <a:srgbClr val="0070C0"/>
                </a:solidFill>
              </a:rPr>
              <a:t>are </a:t>
            </a:r>
            <a:r>
              <a:rPr lang="en-US" b="1" i="1" dirty="0">
                <a:solidFill>
                  <a:srgbClr val="FF0000"/>
                </a:solidFill>
              </a:rPr>
              <a:t>new variables (vectors) </a:t>
            </a:r>
            <a:r>
              <a:rPr lang="en-US" b="1" i="1" dirty="0">
                <a:solidFill>
                  <a:srgbClr val="0070C0"/>
                </a:solidFill>
              </a:rPr>
              <a:t>that are constructed as </a:t>
            </a:r>
            <a:r>
              <a:rPr lang="en-US" b="1" i="1" dirty="0">
                <a:solidFill>
                  <a:srgbClr val="FF0000"/>
                </a:solidFill>
              </a:rPr>
              <a:t>linear combinations </a:t>
            </a:r>
            <a:r>
              <a:rPr lang="en-US" b="1" i="1" dirty="0">
                <a:solidFill>
                  <a:srgbClr val="0070C0"/>
                </a:solidFill>
              </a:rPr>
              <a:t>or mixtures of the initial data variables (vectors).</a:t>
            </a:r>
          </a:p>
          <a:p>
            <a:endParaRPr lang="en-US" dirty="0"/>
          </a:p>
          <a:p>
            <a:r>
              <a:rPr lang="en-US" dirty="0"/>
              <a:t>These combinations are done in such a way that the new variables (i.e., principal components) </a:t>
            </a:r>
            <a:r>
              <a:rPr lang="en-US" b="1" i="1" dirty="0">
                <a:solidFill>
                  <a:srgbClr val="0070C0"/>
                </a:solidFill>
              </a:rPr>
              <a:t>are </a:t>
            </a:r>
            <a:r>
              <a:rPr lang="en-US" b="1" i="1" dirty="0">
                <a:solidFill>
                  <a:srgbClr val="FF0000"/>
                </a:solidFill>
              </a:rPr>
              <a:t>uncorrelated </a:t>
            </a:r>
            <a:r>
              <a:rPr lang="en-US" b="1" i="1" dirty="0">
                <a:solidFill>
                  <a:srgbClr val="0070C0"/>
                </a:solidFill>
              </a:rPr>
              <a:t>and </a:t>
            </a:r>
            <a:r>
              <a:rPr lang="en-US" b="1" i="1" dirty="0">
                <a:solidFill>
                  <a:srgbClr val="FF0000"/>
                </a:solidFill>
              </a:rPr>
              <a:t>most of the information within the initial </a:t>
            </a:r>
            <a:r>
              <a:rPr lang="en-US" b="1" i="1" dirty="0">
                <a:solidFill>
                  <a:srgbClr val="0070C0"/>
                </a:solidFill>
              </a:rPr>
              <a:t>variables is squeezed or compressed into the first components.</a:t>
            </a:r>
          </a:p>
          <a:p>
            <a:endParaRPr lang="en-US" dirty="0"/>
          </a:p>
          <a:p>
            <a:r>
              <a:rPr lang="en-US" dirty="0"/>
              <a:t>So, the idea is 10-dimensional data gives you 10 principal components, but PCA tries to put maximum possible information in the first component, then maximum remaining information in the second and so on.</a:t>
            </a:r>
          </a:p>
        </p:txBody>
      </p:sp>
    </p:spTree>
    <p:extLst>
      <p:ext uri="{BB962C8B-B14F-4D97-AF65-F5344CB8AC3E}">
        <p14:creationId xmlns:p14="http://schemas.microsoft.com/office/powerpoint/2010/main" val="34893355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E5839-CF14-4C88-A333-C7523178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6647495" cy="138499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To put all this simply, just think of principal components as new axes </a:t>
            </a:r>
            <a:r>
              <a:rPr lang="en-US" dirty="0"/>
              <a:t>that provide the best angle (direction) to see and evaluate the data, so that the differences between the observations are better visible.</a:t>
            </a: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3E63F86B-02CC-4F53-B20A-4D01EE18C083}"/>
              </a:ext>
            </a:extLst>
          </p:cNvPr>
          <p:cNvGrpSpPr/>
          <p:nvPr/>
        </p:nvGrpSpPr>
        <p:grpSpPr>
          <a:xfrm>
            <a:off x="7010400" y="1581150"/>
            <a:ext cx="1837499" cy="1759099"/>
            <a:chOff x="5934901" y="1269851"/>
            <a:chExt cx="2870835" cy="2505710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4D949249-7FAF-4FC4-91CE-36BAA5E50E40}"/>
                </a:ext>
              </a:extLst>
            </p:cNvPr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338832"/>
                  </a:moveTo>
                  <a:lnTo>
                    <a:pt x="2824988" y="2338832"/>
                  </a:lnTo>
                </a:path>
                <a:path w="2825115" h="2460625">
                  <a:moveTo>
                    <a:pt x="0" y="1944370"/>
                  </a:moveTo>
                  <a:lnTo>
                    <a:pt x="2824988" y="1944370"/>
                  </a:lnTo>
                </a:path>
                <a:path w="2825115" h="2460625">
                  <a:moveTo>
                    <a:pt x="0" y="1550035"/>
                  </a:moveTo>
                  <a:lnTo>
                    <a:pt x="2824988" y="1550035"/>
                  </a:lnTo>
                </a:path>
                <a:path w="2825115" h="2460625">
                  <a:moveTo>
                    <a:pt x="0" y="1155573"/>
                  </a:moveTo>
                  <a:lnTo>
                    <a:pt x="2824988" y="1155573"/>
                  </a:lnTo>
                </a:path>
                <a:path w="2825115" h="2460625">
                  <a:moveTo>
                    <a:pt x="0" y="761111"/>
                  </a:moveTo>
                  <a:lnTo>
                    <a:pt x="2824988" y="761111"/>
                  </a:lnTo>
                </a:path>
                <a:path w="2825115" h="2460625">
                  <a:moveTo>
                    <a:pt x="0" y="366649"/>
                  </a:moveTo>
                  <a:lnTo>
                    <a:pt x="2824988" y="366649"/>
                  </a:lnTo>
                </a:path>
                <a:path w="2825115" h="2460625">
                  <a:moveTo>
                    <a:pt x="315341" y="2460117"/>
                  </a:moveTo>
                  <a:lnTo>
                    <a:pt x="315341" y="0"/>
                  </a:lnTo>
                </a:path>
                <a:path w="2825115" h="2460625">
                  <a:moveTo>
                    <a:pt x="776986" y="2460117"/>
                  </a:moveTo>
                  <a:lnTo>
                    <a:pt x="776986" y="0"/>
                  </a:lnTo>
                </a:path>
                <a:path w="2825115" h="2460625">
                  <a:moveTo>
                    <a:pt x="1238504" y="2460117"/>
                  </a:moveTo>
                  <a:lnTo>
                    <a:pt x="1238504" y="0"/>
                  </a:lnTo>
                </a:path>
                <a:path w="2825115" h="2460625">
                  <a:moveTo>
                    <a:pt x="1700149" y="2460117"/>
                  </a:moveTo>
                  <a:lnTo>
                    <a:pt x="1700149" y="0"/>
                  </a:lnTo>
                </a:path>
                <a:path w="2825115" h="2460625">
                  <a:moveTo>
                    <a:pt x="2161794" y="2460117"/>
                  </a:moveTo>
                  <a:lnTo>
                    <a:pt x="2161794" y="0"/>
                  </a:lnTo>
                </a:path>
                <a:path w="2825115" h="2460625">
                  <a:moveTo>
                    <a:pt x="2623312" y="2460117"/>
                  </a:moveTo>
                  <a:lnTo>
                    <a:pt x="2623312" y="0"/>
                  </a:lnTo>
                </a:path>
              </a:pathLst>
            </a:custGeom>
            <a:ln w="3429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7AC0E71B-8A44-488B-A29D-33796A66A1DD}"/>
                </a:ext>
              </a:extLst>
            </p:cNvPr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141601"/>
                  </a:moveTo>
                  <a:lnTo>
                    <a:pt x="2824988" y="2141601"/>
                  </a:lnTo>
                </a:path>
                <a:path w="2825115" h="2460625">
                  <a:moveTo>
                    <a:pt x="0" y="1747266"/>
                  </a:moveTo>
                  <a:lnTo>
                    <a:pt x="2824988" y="1747266"/>
                  </a:lnTo>
                </a:path>
                <a:path w="2825115" h="2460625">
                  <a:moveTo>
                    <a:pt x="0" y="1352804"/>
                  </a:moveTo>
                  <a:lnTo>
                    <a:pt x="2824988" y="1352804"/>
                  </a:lnTo>
                </a:path>
                <a:path w="2825115" h="2460625">
                  <a:moveTo>
                    <a:pt x="0" y="958342"/>
                  </a:moveTo>
                  <a:lnTo>
                    <a:pt x="2824988" y="958342"/>
                  </a:lnTo>
                </a:path>
                <a:path w="2825115" h="2460625">
                  <a:moveTo>
                    <a:pt x="0" y="563880"/>
                  </a:moveTo>
                  <a:lnTo>
                    <a:pt x="2824988" y="563880"/>
                  </a:lnTo>
                </a:path>
                <a:path w="2825115" h="2460625">
                  <a:moveTo>
                    <a:pt x="0" y="169545"/>
                  </a:moveTo>
                  <a:lnTo>
                    <a:pt x="2824988" y="169545"/>
                  </a:lnTo>
                </a:path>
                <a:path w="2825115" h="2460625">
                  <a:moveTo>
                    <a:pt x="84582" y="2460117"/>
                  </a:moveTo>
                  <a:lnTo>
                    <a:pt x="84582" y="0"/>
                  </a:lnTo>
                </a:path>
                <a:path w="2825115" h="2460625">
                  <a:moveTo>
                    <a:pt x="546100" y="2460117"/>
                  </a:moveTo>
                  <a:lnTo>
                    <a:pt x="546100" y="0"/>
                  </a:lnTo>
                </a:path>
                <a:path w="2825115" h="2460625">
                  <a:moveTo>
                    <a:pt x="1007745" y="2460117"/>
                  </a:moveTo>
                  <a:lnTo>
                    <a:pt x="1007745" y="0"/>
                  </a:lnTo>
                </a:path>
                <a:path w="2825115" h="2460625">
                  <a:moveTo>
                    <a:pt x="1469390" y="2460117"/>
                  </a:moveTo>
                  <a:lnTo>
                    <a:pt x="1469390" y="0"/>
                  </a:lnTo>
                </a:path>
                <a:path w="2825115" h="2460625">
                  <a:moveTo>
                    <a:pt x="1930908" y="2460117"/>
                  </a:moveTo>
                  <a:lnTo>
                    <a:pt x="1930908" y="0"/>
                  </a:lnTo>
                </a:path>
                <a:path w="2825115" h="2460625">
                  <a:moveTo>
                    <a:pt x="2392553" y="2460117"/>
                  </a:moveTo>
                  <a:lnTo>
                    <a:pt x="2392553" y="0"/>
                  </a:lnTo>
                </a:path>
              </a:pathLst>
            </a:custGeom>
            <a:ln w="6731">
              <a:solidFill>
                <a:srgbClr val="DEDE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8">
              <a:extLst>
                <a:ext uri="{FF2B5EF4-FFF2-40B4-BE49-F238E27FC236}">
                  <a16:creationId xmlns:a16="http://schemas.microsoft.com/office/drawing/2014/main" id="{1810670C-3BDC-4C0A-8DAD-884D61AFEA4C}"/>
                </a:ext>
              </a:extLst>
            </p:cNvPr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3B823DB0-E93F-4FD6-8C5F-156B66425D9E}"/>
                </a:ext>
              </a:extLst>
            </p:cNvPr>
            <p:cNvSpPr/>
            <p:nvPr/>
          </p:nvSpPr>
          <p:spPr>
            <a:xfrm>
              <a:off x="8534528" y="183703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0">
              <a:extLst>
                <a:ext uri="{FF2B5EF4-FFF2-40B4-BE49-F238E27FC236}">
                  <a16:creationId xmlns:a16="http://schemas.microsoft.com/office/drawing/2014/main" id="{67BDADD4-F9C7-401E-BE20-9D9BBB8D86E8}"/>
                </a:ext>
              </a:extLst>
            </p:cNvPr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DCE3FC73-3325-46B4-8D09-AFE9F3FD62D8}"/>
                </a:ext>
              </a:extLst>
            </p:cNvPr>
            <p:cNvSpPr/>
            <p:nvPr/>
          </p:nvSpPr>
          <p:spPr>
            <a:xfrm>
              <a:off x="8551419" y="14550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074A8FFD-3BE1-4A8E-A5CC-5261F163B095}"/>
                </a:ext>
              </a:extLst>
            </p:cNvPr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0983" y="1424"/>
                  </a:lnTo>
                  <a:lnTo>
                    <a:pt x="5254" y="5302"/>
                  </a:lnTo>
                  <a:lnTo>
                    <a:pt x="1406" y="11037"/>
                  </a:lnTo>
                  <a:lnTo>
                    <a:pt x="0" y="18034"/>
                  </a:lnTo>
                  <a:lnTo>
                    <a:pt x="1406" y="25104"/>
                  </a:lnTo>
                  <a:lnTo>
                    <a:pt x="5254" y="30876"/>
                  </a:lnTo>
                  <a:lnTo>
                    <a:pt x="10983" y="34768"/>
                  </a:lnTo>
                  <a:lnTo>
                    <a:pt x="18034" y="36195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3">
              <a:extLst>
                <a:ext uri="{FF2B5EF4-FFF2-40B4-BE49-F238E27FC236}">
                  <a16:creationId xmlns:a16="http://schemas.microsoft.com/office/drawing/2014/main" id="{413EE070-9E82-4C0F-B8A6-4811C8285E69}"/>
                </a:ext>
              </a:extLst>
            </p:cNvPr>
            <p:cNvSpPr/>
            <p:nvPr/>
          </p:nvSpPr>
          <p:spPr>
            <a:xfrm>
              <a:off x="6398007" y="3411706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06" y="11037"/>
                  </a:lnTo>
                  <a:lnTo>
                    <a:pt x="5254" y="5302"/>
                  </a:lnTo>
                  <a:lnTo>
                    <a:pt x="10983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4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4" y="36195"/>
                  </a:lnTo>
                  <a:lnTo>
                    <a:pt x="10983" y="34768"/>
                  </a:lnTo>
                  <a:lnTo>
                    <a:pt x="5254" y="30876"/>
                  </a:lnTo>
                  <a:lnTo>
                    <a:pt x="1406" y="2510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C4CAB8F3-328D-4CB1-8FCB-F38BE83EE7EF}"/>
                </a:ext>
              </a:extLst>
            </p:cNvPr>
            <p:cNvSpPr/>
            <p:nvPr/>
          </p:nvSpPr>
          <p:spPr>
            <a:xfrm>
              <a:off x="6585268" y="1699175"/>
              <a:ext cx="1973707" cy="17378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C2B6EAB8-B621-479E-9BD6-2494C5423D29}"/>
                </a:ext>
              </a:extLst>
            </p:cNvPr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104"/>
                  </a:lnTo>
                  <a:lnTo>
                    <a:pt x="5302" y="30876"/>
                  </a:lnTo>
                  <a:lnTo>
                    <a:pt x="11037" y="34768"/>
                  </a:lnTo>
                  <a:lnTo>
                    <a:pt x="18033" y="36194"/>
                  </a:lnTo>
                  <a:lnTo>
                    <a:pt x="25030" y="34768"/>
                  </a:lnTo>
                  <a:lnTo>
                    <a:pt x="30765" y="30876"/>
                  </a:lnTo>
                  <a:lnTo>
                    <a:pt x="34643" y="25104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6">
              <a:extLst>
                <a:ext uri="{FF2B5EF4-FFF2-40B4-BE49-F238E27FC236}">
                  <a16:creationId xmlns:a16="http://schemas.microsoft.com/office/drawing/2014/main" id="{CFB5EC91-2D4B-4736-A822-6925CF274154}"/>
                </a:ext>
              </a:extLst>
            </p:cNvPr>
            <p:cNvSpPr/>
            <p:nvPr/>
          </p:nvSpPr>
          <p:spPr>
            <a:xfrm>
              <a:off x="8651749" y="137056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104"/>
                  </a:lnTo>
                  <a:lnTo>
                    <a:pt x="30765" y="30876"/>
                  </a:lnTo>
                  <a:lnTo>
                    <a:pt x="25030" y="34768"/>
                  </a:lnTo>
                  <a:lnTo>
                    <a:pt x="18033" y="36194"/>
                  </a:lnTo>
                  <a:lnTo>
                    <a:pt x="11037" y="34768"/>
                  </a:lnTo>
                  <a:lnTo>
                    <a:pt x="5302" y="30876"/>
                  </a:lnTo>
                  <a:lnTo>
                    <a:pt x="1424" y="25104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7">
              <a:extLst>
                <a:ext uri="{FF2B5EF4-FFF2-40B4-BE49-F238E27FC236}">
                  <a16:creationId xmlns:a16="http://schemas.microsoft.com/office/drawing/2014/main" id="{0BD69760-EABB-4534-9194-B4DD69F8C111}"/>
                </a:ext>
              </a:extLst>
            </p:cNvPr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84"/>
                  </a:lnTo>
                  <a:lnTo>
                    <a:pt x="5302" y="30813"/>
                  </a:lnTo>
                  <a:lnTo>
                    <a:pt x="11037" y="34661"/>
                  </a:lnTo>
                  <a:lnTo>
                    <a:pt x="18034" y="36068"/>
                  </a:lnTo>
                  <a:lnTo>
                    <a:pt x="25104" y="34661"/>
                  </a:lnTo>
                  <a:lnTo>
                    <a:pt x="30876" y="30813"/>
                  </a:lnTo>
                  <a:lnTo>
                    <a:pt x="34768" y="25084"/>
                  </a:lnTo>
                  <a:lnTo>
                    <a:pt x="36195" y="18034"/>
                  </a:lnTo>
                  <a:lnTo>
                    <a:pt x="34768" y="11037"/>
                  </a:lnTo>
                  <a:lnTo>
                    <a:pt x="30876" y="5302"/>
                  </a:lnTo>
                  <a:lnTo>
                    <a:pt x="25104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8">
              <a:extLst>
                <a:ext uri="{FF2B5EF4-FFF2-40B4-BE49-F238E27FC236}">
                  <a16:creationId xmlns:a16="http://schemas.microsoft.com/office/drawing/2014/main" id="{88BD1A6E-07DA-494D-8044-519A0901661D}"/>
                </a:ext>
              </a:extLst>
            </p:cNvPr>
            <p:cNvSpPr/>
            <p:nvPr/>
          </p:nvSpPr>
          <p:spPr>
            <a:xfrm>
              <a:off x="6083555" y="3607032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104" y="1424"/>
                  </a:lnTo>
                  <a:lnTo>
                    <a:pt x="30876" y="5302"/>
                  </a:lnTo>
                  <a:lnTo>
                    <a:pt x="34768" y="11037"/>
                  </a:lnTo>
                  <a:lnTo>
                    <a:pt x="36195" y="18034"/>
                  </a:lnTo>
                  <a:lnTo>
                    <a:pt x="34768" y="25084"/>
                  </a:lnTo>
                  <a:lnTo>
                    <a:pt x="30876" y="30813"/>
                  </a:lnTo>
                  <a:lnTo>
                    <a:pt x="25104" y="34661"/>
                  </a:lnTo>
                  <a:lnTo>
                    <a:pt x="18034" y="36068"/>
                  </a:lnTo>
                  <a:lnTo>
                    <a:pt x="11037" y="34661"/>
                  </a:lnTo>
                  <a:lnTo>
                    <a:pt x="5302" y="30813"/>
                  </a:lnTo>
                  <a:lnTo>
                    <a:pt x="1424" y="25084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9">
              <a:extLst>
                <a:ext uri="{FF2B5EF4-FFF2-40B4-BE49-F238E27FC236}">
                  <a16:creationId xmlns:a16="http://schemas.microsoft.com/office/drawing/2014/main" id="{FDFC8887-862C-453E-AB9C-FA5C8976B18A}"/>
                </a:ext>
              </a:extLst>
            </p:cNvPr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18033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4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3" y="36068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7" y="18034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0">
              <a:extLst>
                <a:ext uri="{FF2B5EF4-FFF2-40B4-BE49-F238E27FC236}">
                  <a16:creationId xmlns:a16="http://schemas.microsoft.com/office/drawing/2014/main" id="{127E5A2C-B4E5-4EEE-94C5-42727174BE11}"/>
                </a:ext>
              </a:extLst>
            </p:cNvPr>
            <p:cNvSpPr/>
            <p:nvPr/>
          </p:nvSpPr>
          <p:spPr>
            <a:xfrm>
              <a:off x="8581772" y="153756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0" y="18034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3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7" y="18034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3" y="36068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4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1">
              <a:extLst>
                <a:ext uri="{FF2B5EF4-FFF2-40B4-BE49-F238E27FC236}">
                  <a16:creationId xmlns:a16="http://schemas.microsoft.com/office/drawing/2014/main" id="{84222B13-5461-4F13-B718-1045345E9537}"/>
                </a:ext>
              </a:extLst>
            </p:cNvPr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18034" y="0"/>
                  </a:moveTo>
                  <a:lnTo>
                    <a:pt x="11037" y="1424"/>
                  </a:lnTo>
                  <a:lnTo>
                    <a:pt x="5302" y="5302"/>
                  </a:lnTo>
                  <a:lnTo>
                    <a:pt x="1424" y="11037"/>
                  </a:lnTo>
                  <a:lnTo>
                    <a:pt x="0" y="18033"/>
                  </a:lnTo>
                  <a:lnTo>
                    <a:pt x="1424" y="25030"/>
                  </a:lnTo>
                  <a:lnTo>
                    <a:pt x="5302" y="30765"/>
                  </a:lnTo>
                  <a:lnTo>
                    <a:pt x="11037" y="34643"/>
                  </a:lnTo>
                  <a:lnTo>
                    <a:pt x="18034" y="36067"/>
                  </a:lnTo>
                  <a:lnTo>
                    <a:pt x="25030" y="34643"/>
                  </a:lnTo>
                  <a:lnTo>
                    <a:pt x="30765" y="30765"/>
                  </a:lnTo>
                  <a:lnTo>
                    <a:pt x="34643" y="25030"/>
                  </a:lnTo>
                  <a:lnTo>
                    <a:pt x="36068" y="18033"/>
                  </a:lnTo>
                  <a:lnTo>
                    <a:pt x="34643" y="11037"/>
                  </a:lnTo>
                  <a:lnTo>
                    <a:pt x="30765" y="5302"/>
                  </a:lnTo>
                  <a:lnTo>
                    <a:pt x="25030" y="1424"/>
                  </a:lnTo>
                  <a:lnTo>
                    <a:pt x="180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2">
              <a:extLst>
                <a:ext uri="{FF2B5EF4-FFF2-40B4-BE49-F238E27FC236}">
                  <a16:creationId xmlns:a16="http://schemas.microsoft.com/office/drawing/2014/main" id="{3E2B8709-BA96-43FA-91F7-8BB9AEE953E3}"/>
                </a:ext>
              </a:extLst>
            </p:cNvPr>
            <p:cNvSpPr/>
            <p:nvPr/>
          </p:nvSpPr>
          <p:spPr>
            <a:xfrm>
              <a:off x="6552058" y="3511528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5">
                  <a:moveTo>
                    <a:pt x="0" y="18033"/>
                  </a:moveTo>
                  <a:lnTo>
                    <a:pt x="1424" y="11037"/>
                  </a:lnTo>
                  <a:lnTo>
                    <a:pt x="5302" y="5302"/>
                  </a:lnTo>
                  <a:lnTo>
                    <a:pt x="11037" y="1424"/>
                  </a:lnTo>
                  <a:lnTo>
                    <a:pt x="18034" y="0"/>
                  </a:lnTo>
                  <a:lnTo>
                    <a:pt x="25030" y="1424"/>
                  </a:lnTo>
                  <a:lnTo>
                    <a:pt x="30765" y="5302"/>
                  </a:lnTo>
                  <a:lnTo>
                    <a:pt x="34643" y="11037"/>
                  </a:lnTo>
                  <a:lnTo>
                    <a:pt x="36068" y="18033"/>
                  </a:lnTo>
                  <a:lnTo>
                    <a:pt x="34643" y="25030"/>
                  </a:lnTo>
                  <a:lnTo>
                    <a:pt x="30765" y="30765"/>
                  </a:lnTo>
                  <a:lnTo>
                    <a:pt x="25030" y="34643"/>
                  </a:lnTo>
                  <a:lnTo>
                    <a:pt x="18034" y="36067"/>
                  </a:lnTo>
                  <a:lnTo>
                    <a:pt x="11037" y="34643"/>
                  </a:lnTo>
                  <a:lnTo>
                    <a:pt x="5302" y="30765"/>
                  </a:lnTo>
                  <a:lnTo>
                    <a:pt x="1424" y="25030"/>
                  </a:lnTo>
                  <a:lnTo>
                    <a:pt x="0" y="18033"/>
                  </a:lnTo>
                </a:path>
              </a:pathLst>
            </a:custGeom>
            <a:ln w="90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3">
              <a:extLst>
                <a:ext uri="{FF2B5EF4-FFF2-40B4-BE49-F238E27FC236}">
                  <a16:creationId xmlns:a16="http://schemas.microsoft.com/office/drawing/2014/main" id="{654D5209-AD01-4525-8333-4A1F74E5BC06}"/>
                </a:ext>
              </a:extLst>
            </p:cNvPr>
            <p:cNvSpPr/>
            <p:nvPr/>
          </p:nvSpPr>
          <p:spPr>
            <a:xfrm>
              <a:off x="5973192" y="1276836"/>
              <a:ext cx="2825115" cy="2460625"/>
            </a:xfrm>
            <a:custGeom>
              <a:avLst/>
              <a:gdLst/>
              <a:ahLst/>
              <a:cxnLst/>
              <a:rect l="l" t="t" r="r" b="b"/>
              <a:pathLst>
                <a:path w="2825115" h="2460625">
                  <a:moveTo>
                    <a:pt x="0" y="2460117"/>
                  </a:moveTo>
                  <a:lnTo>
                    <a:pt x="2824988" y="2460117"/>
                  </a:lnTo>
                  <a:lnTo>
                    <a:pt x="2824988" y="0"/>
                  </a:lnTo>
                  <a:lnTo>
                    <a:pt x="0" y="0"/>
                  </a:lnTo>
                  <a:lnTo>
                    <a:pt x="0" y="2460117"/>
                  </a:lnTo>
                  <a:close/>
                </a:path>
              </a:pathLst>
            </a:custGeom>
            <a:ln w="1358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4">
              <a:extLst>
                <a:ext uri="{FF2B5EF4-FFF2-40B4-BE49-F238E27FC236}">
                  <a16:creationId xmlns:a16="http://schemas.microsoft.com/office/drawing/2014/main" id="{9AB0DD1B-5391-4F14-B340-7A11A2AAEBFF}"/>
                </a:ext>
              </a:extLst>
            </p:cNvPr>
            <p:cNvSpPr/>
            <p:nvPr/>
          </p:nvSpPr>
          <p:spPr>
            <a:xfrm>
              <a:off x="5938394" y="1446381"/>
              <a:ext cx="2427605" cy="2325370"/>
            </a:xfrm>
            <a:custGeom>
              <a:avLst/>
              <a:gdLst/>
              <a:ahLst/>
              <a:cxnLst/>
              <a:rect l="l" t="t" r="r" b="b"/>
              <a:pathLst>
                <a:path w="2427604" h="2325370">
                  <a:moveTo>
                    <a:pt x="0" y="1972056"/>
                  </a:moveTo>
                  <a:lnTo>
                    <a:pt x="34798" y="1972056"/>
                  </a:lnTo>
                </a:path>
                <a:path w="2427604" h="2325370">
                  <a:moveTo>
                    <a:pt x="0" y="1577721"/>
                  </a:moveTo>
                  <a:lnTo>
                    <a:pt x="34798" y="1577721"/>
                  </a:lnTo>
                </a:path>
                <a:path w="2427604" h="2325370">
                  <a:moveTo>
                    <a:pt x="0" y="1183259"/>
                  </a:moveTo>
                  <a:lnTo>
                    <a:pt x="34798" y="1183259"/>
                  </a:lnTo>
                </a:path>
                <a:path w="2427604" h="2325370">
                  <a:moveTo>
                    <a:pt x="0" y="788797"/>
                  </a:moveTo>
                  <a:lnTo>
                    <a:pt x="34798" y="788797"/>
                  </a:lnTo>
                </a:path>
                <a:path w="2427604" h="2325370">
                  <a:moveTo>
                    <a:pt x="0" y="394335"/>
                  </a:moveTo>
                  <a:lnTo>
                    <a:pt x="34798" y="394335"/>
                  </a:lnTo>
                </a:path>
                <a:path w="2427604" h="2325370">
                  <a:moveTo>
                    <a:pt x="0" y="0"/>
                  </a:moveTo>
                  <a:lnTo>
                    <a:pt x="34798" y="0"/>
                  </a:lnTo>
                </a:path>
                <a:path w="2427604" h="2325370">
                  <a:moveTo>
                    <a:pt x="119380" y="2325370"/>
                  </a:moveTo>
                  <a:lnTo>
                    <a:pt x="119380" y="2290572"/>
                  </a:lnTo>
                </a:path>
                <a:path w="2427604" h="2325370">
                  <a:moveTo>
                    <a:pt x="580898" y="2325370"/>
                  </a:moveTo>
                  <a:lnTo>
                    <a:pt x="580898" y="2290572"/>
                  </a:lnTo>
                </a:path>
                <a:path w="2427604" h="2325370">
                  <a:moveTo>
                    <a:pt x="1042543" y="2325370"/>
                  </a:moveTo>
                  <a:lnTo>
                    <a:pt x="1042543" y="2290572"/>
                  </a:lnTo>
                </a:path>
                <a:path w="2427604" h="2325370">
                  <a:moveTo>
                    <a:pt x="1504188" y="2325370"/>
                  </a:moveTo>
                  <a:lnTo>
                    <a:pt x="1504188" y="2290572"/>
                  </a:lnTo>
                </a:path>
                <a:path w="2427604" h="2325370">
                  <a:moveTo>
                    <a:pt x="1965706" y="2325370"/>
                  </a:moveTo>
                  <a:lnTo>
                    <a:pt x="1965706" y="2290572"/>
                  </a:lnTo>
                </a:path>
                <a:path w="2427604" h="2325370">
                  <a:moveTo>
                    <a:pt x="2427351" y="2325370"/>
                  </a:moveTo>
                  <a:lnTo>
                    <a:pt x="2427351" y="2290572"/>
                  </a:lnTo>
                </a:path>
              </a:pathLst>
            </a:custGeom>
            <a:ln w="6731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8">
            <a:extLst>
              <a:ext uri="{FF2B5EF4-FFF2-40B4-BE49-F238E27FC236}">
                <a16:creationId xmlns:a16="http://schemas.microsoft.com/office/drawing/2014/main" id="{597CDA98-D39D-40EE-8078-458D1949590F}"/>
              </a:ext>
            </a:extLst>
          </p:cNvPr>
          <p:cNvSpPr/>
          <p:nvPr/>
        </p:nvSpPr>
        <p:spPr>
          <a:xfrm>
            <a:off x="7379271" y="1761652"/>
            <a:ext cx="1591605" cy="1541998"/>
          </a:xfrm>
          <a:custGeom>
            <a:avLst/>
            <a:gdLst/>
            <a:ahLst/>
            <a:cxnLst/>
            <a:rect l="l" t="t" r="r" b="b"/>
            <a:pathLst>
              <a:path w="2486659" h="2196465">
                <a:moveTo>
                  <a:pt x="2486329" y="0"/>
                </a:moveTo>
                <a:lnTo>
                  <a:pt x="2371547" y="22682"/>
                </a:lnTo>
                <a:lnTo>
                  <a:pt x="2367064" y="29375"/>
                </a:lnTo>
                <a:lnTo>
                  <a:pt x="2369794" y="43129"/>
                </a:lnTo>
                <a:lnTo>
                  <a:pt x="2376474" y="47612"/>
                </a:lnTo>
                <a:lnTo>
                  <a:pt x="2423807" y="38252"/>
                </a:lnTo>
                <a:lnTo>
                  <a:pt x="1150988" y="1161859"/>
                </a:lnTo>
                <a:lnTo>
                  <a:pt x="59486" y="42799"/>
                </a:lnTo>
                <a:lnTo>
                  <a:pt x="105994" y="55664"/>
                </a:lnTo>
                <a:lnTo>
                  <a:pt x="112991" y="51701"/>
                </a:lnTo>
                <a:lnTo>
                  <a:pt x="116725" y="38176"/>
                </a:lnTo>
                <a:lnTo>
                  <a:pt x="112763" y="31178"/>
                </a:lnTo>
                <a:lnTo>
                  <a:pt x="33121" y="9156"/>
                </a:lnTo>
                <a:lnTo>
                  <a:pt x="0" y="0"/>
                </a:lnTo>
                <a:lnTo>
                  <a:pt x="28359" y="113512"/>
                </a:lnTo>
                <a:lnTo>
                  <a:pt x="35255" y="117652"/>
                </a:lnTo>
                <a:lnTo>
                  <a:pt x="48869" y="114249"/>
                </a:lnTo>
                <a:lnTo>
                  <a:pt x="52997" y="107353"/>
                </a:lnTo>
                <a:lnTo>
                  <a:pt x="41300" y="60540"/>
                </a:lnTo>
                <a:lnTo>
                  <a:pt x="1131925" y="1178699"/>
                </a:lnTo>
                <a:lnTo>
                  <a:pt x="56870" y="2127732"/>
                </a:lnTo>
                <a:lnTo>
                  <a:pt x="73685" y="2146770"/>
                </a:lnTo>
                <a:lnTo>
                  <a:pt x="1149680" y="1196898"/>
                </a:lnTo>
                <a:lnTo>
                  <a:pt x="2124202" y="2195995"/>
                </a:lnTo>
                <a:lnTo>
                  <a:pt x="2142388" y="2178266"/>
                </a:lnTo>
                <a:lnTo>
                  <a:pt x="1168755" y="1180071"/>
                </a:lnTo>
                <a:lnTo>
                  <a:pt x="2440622" y="57289"/>
                </a:lnTo>
                <a:lnTo>
                  <a:pt x="2425458" y="103098"/>
                </a:lnTo>
                <a:lnTo>
                  <a:pt x="2429078" y="110286"/>
                </a:lnTo>
                <a:lnTo>
                  <a:pt x="2442387" y="114693"/>
                </a:lnTo>
                <a:lnTo>
                  <a:pt x="2449576" y="111086"/>
                </a:lnTo>
                <a:lnTo>
                  <a:pt x="2483942" y="7188"/>
                </a:lnTo>
                <a:lnTo>
                  <a:pt x="2486329" y="0"/>
                </a:lnTo>
                <a:close/>
              </a:path>
            </a:pathLst>
          </a:custGeom>
          <a:solidFill>
            <a:srgbClr val="9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A6D4A54-EFC8-471C-8EF7-EA758BA42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38" y="287338"/>
            <a:ext cx="8416925" cy="584775"/>
          </a:xfrm>
        </p:spPr>
        <p:txBody>
          <a:bodyPr/>
          <a:lstStyle/>
          <a:p>
            <a:r>
              <a:rPr lang="en-US" dirty="0"/>
              <a:t>What does Principal components mean 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9EC9957-8D7E-4825-AD92-047DE67F557E}"/>
                  </a:ext>
                </a:extLst>
              </p14:cNvPr>
              <p14:cNvContentPartPr/>
              <p14:nvPr/>
            </p14:nvContentPartPr>
            <p14:xfrm>
              <a:off x="7462265" y="3230376"/>
              <a:ext cx="1800" cy="3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9EC9957-8D7E-4825-AD92-047DE67F55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53625" y="3221736"/>
                <a:ext cx="1944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71494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24D0EAC8-5844-46C0-860B-F0B025E8D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950"/>
            <a:ext cx="9144000" cy="36576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A60D8AF-7054-405E-9E2B-F456267A1E81}"/>
              </a:ext>
            </a:extLst>
          </p:cNvPr>
          <p:cNvGrpSpPr/>
          <p:nvPr/>
        </p:nvGrpSpPr>
        <p:grpSpPr>
          <a:xfrm>
            <a:off x="3231905" y="3561576"/>
            <a:ext cx="41040" cy="10440"/>
            <a:chOff x="3231905" y="3561576"/>
            <a:chExt cx="41040" cy="1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A4BB30F-8E47-4459-B7A3-960A9AD7771A}"/>
                    </a:ext>
                  </a:extLst>
                </p14:cNvPr>
                <p14:cNvContentPartPr/>
                <p14:nvPr/>
              </p14:nvContentPartPr>
              <p14:xfrm>
                <a:off x="3231905" y="3568056"/>
                <a:ext cx="1440" cy="3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A4BB30F-8E47-4459-B7A3-960A9AD7771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23265" y="3559056"/>
                  <a:ext cx="19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2BF3D94-FCF5-4049-8C31-645E08075CED}"/>
                    </a:ext>
                  </a:extLst>
                </p14:cNvPr>
                <p14:cNvContentPartPr/>
                <p14:nvPr/>
              </p14:nvContentPartPr>
              <p14:xfrm>
                <a:off x="3269345" y="3561576"/>
                <a:ext cx="3600" cy="9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2BF3D94-FCF5-4049-8C31-645E08075CE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60345" y="355257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D526C6E-9AF6-4BC3-B688-8003DB795B4F}"/>
                  </a:ext>
                </a:extLst>
              </p14:cNvPr>
              <p14:cNvContentPartPr/>
              <p14:nvPr/>
            </p14:nvContentPartPr>
            <p14:xfrm>
              <a:off x="3505200" y="1504950"/>
              <a:ext cx="2788560" cy="1919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D526C6E-9AF6-4BC3-B688-8003DB795B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96200" y="1495950"/>
                <a:ext cx="2806200" cy="19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06633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883D2-3438-4D45-86FF-3BDE2407C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1938992"/>
          </a:xfrm>
        </p:spPr>
        <p:txBody>
          <a:bodyPr/>
          <a:lstStyle/>
          <a:p>
            <a:r>
              <a:rPr lang="en-US" dirty="0"/>
              <a:t>The second principal component is calculated with the condition that it is </a:t>
            </a:r>
            <a:r>
              <a:rPr lang="en-US" dirty="0">
                <a:solidFill>
                  <a:srgbClr val="FF0000"/>
                </a:solidFill>
              </a:rPr>
              <a:t>uncorrelated with (i.e., perpendicular to) the first principal component </a:t>
            </a:r>
            <a:r>
              <a:rPr lang="en-US" dirty="0"/>
              <a:t>and that it accounts for the next highest variance.</a:t>
            </a:r>
          </a:p>
          <a:p>
            <a:endParaRPr lang="en-US" dirty="0"/>
          </a:p>
          <a:p>
            <a:r>
              <a:rPr lang="en-US" dirty="0"/>
              <a:t>This continues until a total of </a:t>
            </a:r>
            <a:r>
              <a:rPr lang="en-US" i="1" dirty="0"/>
              <a:t>p</a:t>
            </a:r>
            <a:r>
              <a:rPr lang="en-US" dirty="0"/>
              <a:t> principal components have been calculated, equal to the original number of variables.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2CBE6F-9108-4BBE-ABDD-D3369F88E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538" y="287338"/>
            <a:ext cx="8416925" cy="584775"/>
          </a:xfrm>
        </p:spPr>
        <p:txBody>
          <a:bodyPr/>
          <a:lstStyle/>
          <a:p>
            <a:r>
              <a:rPr lang="en-US" dirty="0"/>
              <a:t>What does Principal components mean ?</a:t>
            </a:r>
          </a:p>
        </p:txBody>
      </p:sp>
    </p:spTree>
    <p:extLst>
      <p:ext uri="{BB962C8B-B14F-4D97-AF65-F5344CB8AC3E}">
        <p14:creationId xmlns:p14="http://schemas.microsoft.com/office/powerpoint/2010/main" val="20436101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4A887-2C38-4409-9C8B-4748ABC28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830997"/>
          </a:xfrm>
        </p:spPr>
        <p:txBody>
          <a:bodyPr/>
          <a:lstStyle/>
          <a:p>
            <a:r>
              <a:rPr lang="en-US" dirty="0"/>
              <a:t>Organizing information in principal components this way, will allow you to </a:t>
            </a:r>
            <a:r>
              <a:rPr lang="en-US" b="1" i="1" dirty="0">
                <a:solidFill>
                  <a:srgbClr val="0070C0"/>
                </a:solidFill>
              </a:rPr>
              <a:t>reduce dimensionality without losing much information,</a:t>
            </a:r>
            <a:r>
              <a:rPr lang="en-US" dirty="0"/>
              <a:t> and this by discarding the components with low information and considering the remaining components as your new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46291-F27F-47DF-8194-BF8039AB3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43150"/>
            <a:ext cx="5998355" cy="243421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E13B703-ADBD-4818-9D66-8950D4FF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What does Principal components mean 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21EB10F-27C2-4FAD-BEA9-702D5B4EF1D4}"/>
                  </a:ext>
                </a:extLst>
              </p14:cNvPr>
              <p14:cNvContentPartPr/>
              <p14:nvPr/>
            </p14:nvContentPartPr>
            <p14:xfrm>
              <a:off x="1585625" y="2399856"/>
              <a:ext cx="18000" cy="48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21EB10F-27C2-4FAD-BEA9-702D5B4EF1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6625" y="2390856"/>
                <a:ext cx="35640" cy="6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51700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CBB9-5700-423B-AB68-BBE7F0E8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22293"/>
            <a:ext cx="8418191" cy="492443"/>
          </a:xfrm>
        </p:spPr>
        <p:txBody>
          <a:bodyPr/>
          <a:lstStyle/>
          <a:p>
            <a:r>
              <a:rPr lang="en-US" sz="3200" dirty="0"/>
              <a:t>How to calculate the principal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96D01-50A1-4CD9-88D1-3B78F421C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418189" cy="249299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>
                <a:solidFill>
                  <a:srgbClr val="0070C0"/>
                </a:solidFill>
              </a:rPr>
              <a:t>It </a:t>
            </a:r>
            <a:r>
              <a:rPr lang="en-US" b="1" i="1" dirty="0">
                <a:solidFill>
                  <a:srgbClr val="0070C0"/>
                </a:solidFill>
              </a:rPr>
              <a:t>is eigenvectors and eigenvalues who are behind all the magic, </a:t>
            </a:r>
            <a:r>
              <a:rPr lang="en-US" b="1" i="1" dirty="0">
                <a:solidFill>
                  <a:srgbClr val="FF0000"/>
                </a:solidFill>
              </a:rPr>
              <a:t>because the eigenvectors of the Covariance matrix are actually the directions of the axes where there is the most variance(most information) </a:t>
            </a:r>
            <a:r>
              <a:rPr lang="en-US" b="1" i="1" dirty="0">
                <a:solidFill>
                  <a:srgbClr val="0070C0"/>
                </a:solidFill>
              </a:rPr>
              <a:t>and that we call Principal Components.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70C0"/>
                </a:solidFill>
              </a:rPr>
              <a:t>And eigenvalues are simply the coefficients attached to eigenvectors, </a:t>
            </a:r>
            <a:r>
              <a:rPr lang="en-US" b="1" i="1" dirty="0">
                <a:solidFill>
                  <a:srgbClr val="FF0000"/>
                </a:solidFill>
              </a:rPr>
              <a:t>which give the amount of variance carried in each Principal Component.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solidFill>
                  <a:srgbClr val="0070C0"/>
                </a:solidFill>
              </a:rPr>
              <a:t>By ranking your eigenvectors in order of their eigenvalues, highest to lowest, you get the principal components in order of significance.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5C2B4A3-929B-4D45-AFCF-73B3122E04E6}"/>
                  </a:ext>
                </a:extLst>
              </p14:cNvPr>
              <p14:cNvContentPartPr/>
              <p14:nvPr/>
            </p14:nvContentPartPr>
            <p14:xfrm>
              <a:off x="7695905" y="2063256"/>
              <a:ext cx="16920" cy="32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5C2B4A3-929B-4D45-AFCF-73B3122E04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6905" y="2054256"/>
                <a:ext cx="3456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72635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45F8-11D3-BBF2-AF01-FC984D9F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Eigenvectors and Spanning Set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C807F-7EDB-016D-56B3-25A75CCD3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553998"/>
          </a:xfrm>
        </p:spPr>
        <p:txBody>
          <a:bodyPr/>
          <a:lstStyle/>
          <a:p>
            <a:r>
              <a:rPr lang="en-US" dirty="0"/>
              <a:t>The selected eigenvectors are the spanning set of the subspace onto which we project the data.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003851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6CBB9-5700-423B-AB68-BBE7F0E8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22293"/>
            <a:ext cx="8418191" cy="492443"/>
          </a:xfrm>
        </p:spPr>
        <p:txBody>
          <a:bodyPr/>
          <a:lstStyle/>
          <a:p>
            <a:r>
              <a:rPr lang="en-US" sz="3200" dirty="0"/>
              <a:t>How to calculate the principal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96D01-50A1-4CD9-88D1-3B78F421C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123950"/>
            <a:ext cx="8418189" cy="3323987"/>
          </a:xfrm>
        </p:spPr>
        <p:txBody>
          <a:bodyPr/>
          <a:lstStyle/>
          <a:p>
            <a:pPr marL="342900" indent="-342900" algn="l">
              <a:buFont typeface="+mj-lt"/>
              <a:buAutoNum type="arabicPeriod"/>
            </a:pPr>
            <a:endParaRPr lang="en-US" b="0" i="0" dirty="0">
              <a:solidFill>
                <a:srgbClr val="292929"/>
              </a:solidFill>
              <a:effectLst/>
              <a:latin typeface="source-serif-pro"/>
            </a:endParaRPr>
          </a:p>
          <a:p>
            <a:pPr algn="l"/>
            <a:r>
              <a:rPr lang="en-US" dirty="0">
                <a:solidFill>
                  <a:srgbClr val="292929"/>
                </a:solidFill>
                <a:latin typeface="source-serif-pro"/>
              </a:rPr>
              <a:t>For PCA, we need: </a:t>
            </a:r>
          </a:p>
          <a:p>
            <a:pPr algn="l"/>
            <a:endParaRPr lang="en-US" dirty="0">
              <a:solidFill>
                <a:srgbClr val="292929"/>
              </a:solidFill>
              <a:latin typeface="source-serif-pr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A measure of how each variable is associated with one another. (Covariance matrix.)</a:t>
            </a:r>
          </a:p>
          <a:p>
            <a:pPr marL="342900" indent="-342900" algn="l">
              <a:buFont typeface="+mj-lt"/>
              <a:buAutoNum type="arabicPeriod"/>
            </a:pPr>
            <a:endParaRPr lang="en-US" b="0" i="0" dirty="0">
              <a:solidFill>
                <a:srgbClr val="292929"/>
              </a:solidFill>
              <a:effectLst/>
              <a:latin typeface="source-serif-pr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The directions in which our data are dispersed. (Eigenvectors.)</a:t>
            </a:r>
          </a:p>
          <a:p>
            <a:pPr marL="342900" indent="-342900" algn="l">
              <a:buFont typeface="+mj-lt"/>
              <a:buAutoNum type="arabicPeriod"/>
            </a:pPr>
            <a:endParaRPr lang="en-US" b="0" i="0" dirty="0">
              <a:solidFill>
                <a:srgbClr val="292929"/>
              </a:solidFill>
              <a:effectLst/>
              <a:latin typeface="source-serif-pr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The relative importance of these different directions. (Eigenvalues.)</a:t>
            </a:r>
          </a:p>
          <a:p>
            <a:pPr marL="342900" indent="-342900" algn="l">
              <a:buFont typeface="+mj-lt"/>
              <a:buAutoNum type="arabicPeriod"/>
            </a:pPr>
            <a:endParaRPr lang="en-US" b="0" i="0" dirty="0">
              <a:solidFill>
                <a:srgbClr val="292929"/>
              </a:solidFill>
              <a:effectLst/>
              <a:latin typeface="source-serif-pro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b="0" i="0" dirty="0">
                <a:solidFill>
                  <a:srgbClr val="292929"/>
                </a:solidFill>
                <a:effectLst/>
                <a:latin typeface="source-serif-pro"/>
              </a:rPr>
              <a:t>PCA combines our predictors and allows us to drop the Eigenvectors that are relatively unimportant.</a:t>
            </a:r>
          </a:p>
          <a:p>
            <a:pPr marL="342900" indent="-342900">
              <a:buFont typeface="+mj-lt"/>
              <a:buAutoNum type="arabicPeriod"/>
            </a:pPr>
            <a:endParaRPr lang="en-US" b="1" i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5C2B4A3-929B-4D45-AFCF-73B3122E04E6}"/>
                  </a:ext>
                </a:extLst>
              </p14:cNvPr>
              <p14:cNvContentPartPr/>
              <p14:nvPr/>
            </p14:nvContentPartPr>
            <p14:xfrm>
              <a:off x="7695905" y="2063256"/>
              <a:ext cx="16920" cy="32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5C2B4A3-929B-4D45-AFCF-73B3122E04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6905" y="2054256"/>
                <a:ext cx="3456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9278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5ECD-1D45-4BD8-B634-0F76D4F8B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286781"/>
            <a:ext cx="8418191" cy="584775"/>
          </a:xfrm>
        </p:spPr>
        <p:txBody>
          <a:bodyPr/>
          <a:lstStyle/>
          <a:p>
            <a:r>
              <a:rPr lang="en-US" dirty="0"/>
              <a:t>Python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D2650-2369-4A43-AA82-058265F5D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91844"/>
            <a:ext cx="8418189" cy="221599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Use the Iris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Standardize the data (for normalization, standardize the range of the continuous initial variables so that each one of them contributes equally to the analysis)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the covariance matrix C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the eigenvalues and eigenvectors for C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percentage of variance (information) accounted for by each component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Decide which dimensions to select (the number of PCA components to keep)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Find the final features which = selected PCA components * scaled data 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3C1CB3F-C879-4AE8-8F7D-D608542B5366}"/>
                  </a:ext>
                </a:extLst>
              </p14:cNvPr>
              <p14:cNvContentPartPr/>
              <p14:nvPr/>
            </p14:nvContentPartPr>
            <p14:xfrm>
              <a:off x="355865" y="558096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3C1CB3F-C879-4AE8-8F7D-D608542B53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865" y="54909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CDEE05-39F6-48CB-9E9F-1E4070F982CC}"/>
                  </a:ext>
                </a:extLst>
              </p14:cNvPr>
              <p14:cNvContentPartPr/>
              <p14:nvPr/>
            </p14:nvContentPartPr>
            <p14:xfrm>
              <a:off x="549905" y="533616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CDEE05-39F6-48CB-9E9F-1E4070F982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0905" y="52497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2390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7EA8CB6-2A2A-4105-A473-DD2D78A3E5C7}"/>
</file>

<file path=customXml/itemProps2.xml><?xml version="1.0" encoding="utf-8"?>
<ds:datastoreItem xmlns:ds="http://schemas.openxmlformats.org/officeDocument/2006/customXml" ds:itemID="{A2FD5476-5999-4E88-A4DB-6BA0E98293CB}"/>
</file>

<file path=customXml/itemProps3.xml><?xml version="1.0" encoding="utf-8"?>
<ds:datastoreItem xmlns:ds="http://schemas.openxmlformats.org/officeDocument/2006/customXml" ds:itemID="{E13295F1-9A33-473C-9D7C-0B26F50E075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2206</TotalTime>
  <Words>3616</Words>
  <Application>Microsoft Office PowerPoint</Application>
  <PresentationFormat>On-screen Show (16:9)</PresentationFormat>
  <Paragraphs>640</Paragraphs>
  <Slides>69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3" baseType="lpstr">
      <vt:lpstr>Arial</vt:lpstr>
      <vt:lpstr>Calibri</vt:lpstr>
      <vt:lpstr>Cambria Math</vt:lpstr>
      <vt:lpstr>Corbel</vt:lpstr>
      <vt:lpstr>Courier New</vt:lpstr>
      <vt:lpstr>Garamond</vt:lpstr>
      <vt:lpstr>Lucida Sans Unicode</vt:lpstr>
      <vt:lpstr>Sitka Subheading</vt:lpstr>
      <vt:lpstr>source-serif-pro</vt:lpstr>
      <vt:lpstr>Symbol</vt:lpstr>
      <vt:lpstr>Times New Roman</vt:lpstr>
      <vt:lpstr>Trebuchet MS</vt:lpstr>
      <vt:lpstr>Verdana</vt:lpstr>
      <vt:lpstr>Office Theme</vt:lpstr>
      <vt:lpstr>PowerPoint Presentation</vt:lpstr>
      <vt:lpstr>Linear Unsupervised Learning</vt:lpstr>
      <vt:lpstr>PowerPoint Presentation</vt:lpstr>
      <vt:lpstr>Why vectors and matrices?</vt:lpstr>
      <vt:lpstr>PowerPoint Presentation</vt:lpstr>
      <vt:lpstr>Vectors</vt:lpstr>
      <vt:lpstr>Vectors</vt:lpstr>
      <vt:lpstr>Vector arithmetic</vt:lpstr>
      <vt:lpstr>Vector arithmetic</vt:lpstr>
      <vt:lpstr>Vector arithmetic</vt:lpstr>
      <vt:lpstr>Vector projection</vt:lpstr>
      <vt:lpstr>Matrices</vt:lpstr>
      <vt:lpstr>Matrices</vt:lpstr>
      <vt:lpstr>Matrix arithmetic</vt:lpstr>
      <vt:lpstr>Matrix arithmetic</vt:lpstr>
      <vt:lpstr>Matrix arithmetic</vt:lpstr>
      <vt:lpstr>Matrix arithmetic</vt:lpstr>
      <vt:lpstr>Matrix arithmetic</vt:lpstr>
      <vt:lpstr>Linear transformation</vt:lpstr>
      <vt:lpstr>Linear transformation</vt:lpstr>
      <vt:lpstr>Linear transformation</vt:lpstr>
      <vt:lpstr>Linear transformation</vt:lpstr>
      <vt:lpstr>Linear transformation</vt:lpstr>
      <vt:lpstr>Linear transformation</vt:lpstr>
      <vt:lpstr>Linear Combination</vt:lpstr>
      <vt:lpstr>Vectors Linearly Independent</vt:lpstr>
      <vt:lpstr>PowerPoint Presentation</vt:lpstr>
      <vt:lpstr>PowerPoint Presentation</vt:lpstr>
      <vt:lpstr>Dimensionality reduction</vt:lpstr>
      <vt:lpstr>PowerPoint Presentation</vt:lpstr>
      <vt:lpstr>Consider the following example</vt:lpstr>
      <vt:lpstr>Consider the following example</vt:lpstr>
      <vt:lpstr>Consider the following example</vt:lpstr>
      <vt:lpstr>Consider the following example</vt:lpstr>
      <vt:lpstr>Consider the following example</vt:lpstr>
      <vt:lpstr>Consider the following example</vt:lpstr>
      <vt:lpstr>Consider the following example</vt:lpstr>
      <vt:lpstr>Consider the following example</vt:lpstr>
      <vt:lpstr>Consider the following example</vt:lpstr>
      <vt:lpstr>Notes</vt:lpstr>
      <vt:lpstr>Dimensionality reduction</vt:lpstr>
      <vt:lpstr>Dimensionality reduction</vt:lpstr>
      <vt:lpstr>Dimensionality reduction</vt:lpstr>
      <vt:lpstr>Dimensionality reduction</vt:lpstr>
      <vt:lpstr>Notes</vt:lpstr>
      <vt:lpstr>Dimensionality reduction</vt:lpstr>
      <vt:lpstr>Dimensionality reduction</vt:lpstr>
      <vt:lpstr>Dimensionality reduction</vt:lpstr>
      <vt:lpstr>Notes</vt:lpstr>
      <vt:lpstr>PowerPoint Presentation</vt:lpstr>
      <vt:lpstr>Covariance matrix and dimensionality reduction</vt:lpstr>
      <vt:lpstr>Covariance matrix and dimensionality reduction</vt:lpstr>
      <vt:lpstr>Covariance Matrix</vt:lpstr>
      <vt:lpstr>Covariance Matrix</vt:lpstr>
      <vt:lpstr>Covariance Matrix</vt:lpstr>
      <vt:lpstr>PowerPoint Presentation</vt:lpstr>
      <vt:lpstr>Eigenvalues and Eigenvectors</vt:lpstr>
      <vt:lpstr>Eigenvalues and Eigenvectors</vt:lpstr>
      <vt:lpstr>PowerPoint Presentation</vt:lpstr>
      <vt:lpstr>Principal Component Analysis</vt:lpstr>
      <vt:lpstr>What does Principal components mean ?</vt:lpstr>
      <vt:lpstr>What does Principal components mean ?</vt:lpstr>
      <vt:lpstr>PowerPoint Presentation</vt:lpstr>
      <vt:lpstr>What does Principal components mean ?</vt:lpstr>
      <vt:lpstr>What does Principal components mean ?</vt:lpstr>
      <vt:lpstr>How to calculate the principal components</vt:lpstr>
      <vt:lpstr>Eigenvectors and Spanning Set</vt:lpstr>
      <vt:lpstr>How to calculate the principal components</vt:lpstr>
      <vt:lpstr>Python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Maha Saadeh</cp:lastModifiedBy>
  <cp:revision>148</cp:revision>
  <dcterms:created xsi:type="dcterms:W3CDTF">2020-11-06T12:35:44Z</dcterms:created>
  <dcterms:modified xsi:type="dcterms:W3CDTF">2026-02-09T06:20:31Z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2020-11-01T00:00:00Z</vt:filetime>
  </property>
  <property fmtid="{D5CDD505-2E9C-101B-9397-08002B2CF9AE}" pid="3" name="LastSaved">
    <vt:filetime>2020-11-06T00:00:00Z</vt:filetime>
  </property>
  <property fmtid="{D5CDD505-2E9C-101B-9397-08002B2CF9AE}" pid="4" name="ContentTypeId">
    <vt:lpwstr>0x0101003A9EB2E9FB630D499918B8F6CAC84B60</vt:lpwstr>
  </property>
</Properties>
</file>