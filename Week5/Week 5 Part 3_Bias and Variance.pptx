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348" r:id="rId2"/>
    <p:sldId id="496" r:id="rId3"/>
    <p:sldId id="517" r:id="rId4"/>
    <p:sldId id="332" r:id="rId5"/>
    <p:sldId id="335" r:id="rId6"/>
    <p:sldId id="337" r:id="rId7"/>
    <p:sldId id="360" r:id="rId8"/>
    <p:sldId id="35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487DFE-08D3-4AF0-A1E3-56328E437EBA}" v="3" dt="2026-02-16T08:51:42.2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 Saadeh" userId="3cb906ed-5449-4556-905f-2231327ddc1a" providerId="ADAL" clId="{454ED7F6-9BA2-4548-88F5-A2FE5F82DAC2}"/>
    <pc:docChg chg="custSel addSld delSld modSld">
      <pc:chgData name="Maha Saadeh" userId="3cb906ed-5449-4556-905f-2231327ddc1a" providerId="ADAL" clId="{454ED7F6-9BA2-4548-88F5-A2FE5F82DAC2}" dt="2026-02-16T08:51:44.783" v="53" actId="47"/>
      <pc:docMkLst>
        <pc:docMk/>
      </pc:docMkLst>
      <pc:sldChg chg="modSp mod">
        <pc:chgData name="Maha Saadeh" userId="3cb906ed-5449-4556-905f-2231327ddc1a" providerId="ADAL" clId="{454ED7F6-9BA2-4548-88F5-A2FE5F82DAC2}" dt="2026-02-16T08:51:42.243" v="52" actId="27636"/>
        <pc:sldMkLst>
          <pc:docMk/>
          <pc:sldMk cId="2971373352" sldId="335"/>
        </pc:sldMkLst>
        <pc:spChg chg="mod">
          <ac:chgData name="Maha Saadeh" userId="3cb906ed-5449-4556-905f-2231327ddc1a" providerId="ADAL" clId="{454ED7F6-9BA2-4548-88F5-A2FE5F82DAC2}" dt="2026-02-16T08:51:42.243" v="52" actId="27636"/>
          <ac:spMkLst>
            <pc:docMk/>
            <pc:sldMk cId="2971373352" sldId="335"/>
            <ac:spMk id="3" creationId="{48ABEAE8-0C1C-48C7-9D1B-078006623C54}"/>
          </ac:spMkLst>
        </pc:spChg>
      </pc:sldChg>
      <pc:sldChg chg="del">
        <pc:chgData name="Maha Saadeh" userId="3cb906ed-5449-4556-905f-2231327ddc1a" providerId="ADAL" clId="{454ED7F6-9BA2-4548-88F5-A2FE5F82DAC2}" dt="2026-02-16T08:51:44.783" v="53" actId="47"/>
        <pc:sldMkLst>
          <pc:docMk/>
          <pc:sldMk cId="2895280585" sldId="336"/>
        </pc:sldMkLst>
      </pc:sldChg>
      <pc:sldChg chg="modSp add mod">
        <pc:chgData name="Maha Saadeh" userId="3cb906ed-5449-4556-905f-2231327ddc1a" providerId="ADAL" clId="{454ED7F6-9BA2-4548-88F5-A2FE5F82DAC2}" dt="2026-02-12T09:01:05.269" v="32" actId="20577"/>
        <pc:sldMkLst>
          <pc:docMk/>
          <pc:sldMk cId="741890330" sldId="348"/>
        </pc:sldMkLst>
        <pc:spChg chg="mod">
          <ac:chgData name="Maha Saadeh" userId="3cb906ed-5449-4556-905f-2231327ddc1a" providerId="ADAL" clId="{454ED7F6-9BA2-4548-88F5-A2FE5F82DAC2}" dt="2026-02-12T09:01:05.269" v="32" actId="20577"/>
          <ac:spMkLst>
            <pc:docMk/>
            <pc:sldMk cId="741890330" sldId="348"/>
            <ac:spMk id="10" creationId="{FF2038AF-3454-BA65-9BFB-197720AA5C7F}"/>
          </ac:spMkLst>
        </pc:spChg>
      </pc:sldChg>
      <pc:sldChg chg="modSp add mod">
        <pc:chgData name="Maha Saadeh" userId="3cb906ed-5449-4556-905f-2231327ddc1a" providerId="ADAL" clId="{454ED7F6-9BA2-4548-88F5-A2FE5F82DAC2}" dt="2026-02-12T09:02:56.874" v="48" actId="113"/>
        <pc:sldMkLst>
          <pc:docMk/>
          <pc:sldMk cId="3999139291" sldId="496"/>
        </pc:sldMkLst>
        <pc:spChg chg="mod">
          <ac:chgData name="Maha Saadeh" userId="3cb906ed-5449-4556-905f-2231327ddc1a" providerId="ADAL" clId="{454ED7F6-9BA2-4548-88F5-A2FE5F82DAC2}" dt="2026-02-12T09:02:39.271" v="44" actId="27636"/>
          <ac:spMkLst>
            <pc:docMk/>
            <pc:sldMk cId="3999139291" sldId="496"/>
            <ac:spMk id="3" creationId="{EFA03C3B-9C13-4B40-A9D4-207E1056DD2F}"/>
          </ac:spMkLst>
        </pc:spChg>
        <pc:spChg chg="mod">
          <ac:chgData name="Maha Saadeh" userId="3cb906ed-5449-4556-905f-2231327ddc1a" providerId="ADAL" clId="{454ED7F6-9BA2-4548-88F5-A2FE5F82DAC2}" dt="2026-02-12T09:02:56.874" v="48" actId="113"/>
          <ac:spMkLst>
            <pc:docMk/>
            <pc:sldMk cId="3999139291" sldId="496"/>
            <ac:spMk id="4" creationId="{94C1F9A7-9756-48AA-98AA-178F60917783}"/>
          </ac:spMkLst>
        </pc:spChg>
      </pc:sldChg>
      <pc:sldChg chg="delSp add setBg delDesignElem">
        <pc:chgData name="Maha Saadeh" userId="3cb906ed-5449-4556-905f-2231327ddc1a" providerId="ADAL" clId="{454ED7F6-9BA2-4548-88F5-A2FE5F82DAC2}" dt="2026-02-12T09:02:39.235" v="43"/>
        <pc:sldMkLst>
          <pc:docMk/>
          <pc:sldMk cId="3069827010" sldId="51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8C59A2-84AC-4016-9B99-5238F391968D}" type="doc">
      <dgm:prSet loTypeId="urn:microsoft.com/office/officeart/2005/8/layout/equation1" loCatId="relationship" qsTypeId="urn:microsoft.com/office/officeart/2005/8/quickstyle/simple1" qsCatId="simple" csTypeId="urn:microsoft.com/office/officeart/2005/8/colors/accent1_2" csCatId="accent1" phldr="1"/>
      <dgm:spPr/>
    </dgm:pt>
    <dgm:pt modelId="{405F69F6-50D9-4320-B617-93A0624C21A8}">
      <dgm:prSet phldrT="[Text]"/>
      <dgm:spPr/>
      <dgm:t>
        <a:bodyPr/>
        <a:lstStyle/>
        <a:p>
          <a:r>
            <a:rPr lang="en-GB" b="1" dirty="0">
              <a:latin typeface="Montserrat" panose="00000500000000000000" pitchFamily="2" charset="0"/>
            </a:rPr>
            <a:t>Training dataset – low error rate</a:t>
          </a:r>
        </a:p>
      </dgm:t>
    </dgm:pt>
    <dgm:pt modelId="{9F43665A-5479-4603-8F4E-BE29D7328E88}" type="parTrans" cxnId="{F3068DCB-8D89-4904-B577-88C25270BF1D}">
      <dgm:prSet/>
      <dgm:spPr/>
      <dgm:t>
        <a:bodyPr/>
        <a:lstStyle/>
        <a:p>
          <a:endParaRPr lang="en-GB">
            <a:latin typeface="+mj-lt"/>
          </a:endParaRPr>
        </a:p>
      </dgm:t>
    </dgm:pt>
    <dgm:pt modelId="{B21F1414-03BE-4073-8F12-472363F42262}" type="sibTrans" cxnId="{F3068DCB-8D89-4904-B577-88C25270BF1D}">
      <dgm:prSet/>
      <dgm:spPr>
        <a:solidFill>
          <a:srgbClr val="00EDB5"/>
        </a:solidFill>
      </dgm:spPr>
      <dgm:t>
        <a:bodyPr/>
        <a:lstStyle/>
        <a:p>
          <a:endParaRPr lang="en-GB" b="1" dirty="0">
            <a:latin typeface="Montserrat" panose="00000500000000000000" pitchFamily="2" charset="0"/>
          </a:endParaRPr>
        </a:p>
      </dgm:t>
    </dgm:pt>
    <dgm:pt modelId="{8E6DDDA9-B91C-4A68-8C6F-BC1AA85F1E04}">
      <dgm:prSet phldrT="[Text]"/>
      <dgm:spPr/>
      <dgm:t>
        <a:bodyPr/>
        <a:lstStyle/>
        <a:p>
          <a:r>
            <a:rPr lang="en-GB" b="1" dirty="0">
              <a:latin typeface="Montserrat" panose="00000500000000000000" pitchFamily="2" charset="0"/>
            </a:rPr>
            <a:t>Test dataset – high error rate</a:t>
          </a:r>
        </a:p>
      </dgm:t>
    </dgm:pt>
    <dgm:pt modelId="{FBEEFF66-BB1A-4FB0-92E2-494652015F47}" type="parTrans" cxnId="{AC6DABDC-6D7C-4383-B683-39B2DEE7D7BF}">
      <dgm:prSet/>
      <dgm:spPr/>
      <dgm:t>
        <a:bodyPr/>
        <a:lstStyle/>
        <a:p>
          <a:endParaRPr lang="en-GB">
            <a:latin typeface="+mj-lt"/>
          </a:endParaRPr>
        </a:p>
      </dgm:t>
    </dgm:pt>
    <dgm:pt modelId="{64DADC93-CF97-4AAE-98E2-F953BEFB0E25}" type="sibTrans" cxnId="{AC6DABDC-6D7C-4383-B683-39B2DEE7D7BF}">
      <dgm:prSet/>
      <dgm:spPr>
        <a:solidFill>
          <a:srgbClr val="00EDB5"/>
        </a:solidFill>
      </dgm:spPr>
      <dgm:t>
        <a:bodyPr/>
        <a:lstStyle/>
        <a:p>
          <a:endParaRPr lang="en-GB" b="1" dirty="0">
            <a:latin typeface="Montserrat" panose="00000500000000000000" pitchFamily="2" charset="0"/>
          </a:endParaRPr>
        </a:p>
      </dgm:t>
    </dgm:pt>
    <dgm:pt modelId="{9D2913D9-6435-424D-906A-71A37C6EB51F}">
      <dgm:prSet phldrT="[Text]"/>
      <dgm:spPr/>
      <dgm:t>
        <a:bodyPr/>
        <a:lstStyle/>
        <a:p>
          <a:r>
            <a:rPr lang="en-GB" b="1" dirty="0">
              <a:latin typeface="Montserrat" panose="00000500000000000000" pitchFamily="2" charset="0"/>
            </a:rPr>
            <a:t>Overfitted model</a:t>
          </a:r>
        </a:p>
      </dgm:t>
    </dgm:pt>
    <dgm:pt modelId="{3554DAA7-10E7-4C88-A3DF-C31B254B1C50}" type="parTrans" cxnId="{E363DE33-94BC-4B0D-8C2B-697B847171FD}">
      <dgm:prSet/>
      <dgm:spPr/>
      <dgm:t>
        <a:bodyPr/>
        <a:lstStyle/>
        <a:p>
          <a:endParaRPr lang="en-GB">
            <a:latin typeface="+mj-lt"/>
          </a:endParaRPr>
        </a:p>
      </dgm:t>
    </dgm:pt>
    <dgm:pt modelId="{56FC4B91-01FA-4F1F-B5E4-573B86B110FB}" type="sibTrans" cxnId="{E363DE33-94BC-4B0D-8C2B-697B847171FD}">
      <dgm:prSet/>
      <dgm:spPr/>
      <dgm:t>
        <a:bodyPr/>
        <a:lstStyle/>
        <a:p>
          <a:endParaRPr lang="en-GB">
            <a:latin typeface="+mj-lt"/>
          </a:endParaRPr>
        </a:p>
      </dgm:t>
    </dgm:pt>
    <dgm:pt modelId="{17BA7D2C-2C66-4806-8000-08310345DD9D}" type="pres">
      <dgm:prSet presAssocID="{EA8C59A2-84AC-4016-9B99-5238F391968D}" presName="linearFlow" presStyleCnt="0">
        <dgm:presLayoutVars>
          <dgm:dir/>
          <dgm:resizeHandles val="exact"/>
        </dgm:presLayoutVars>
      </dgm:prSet>
      <dgm:spPr/>
    </dgm:pt>
    <dgm:pt modelId="{35000E00-B30C-4525-BE5E-9E081DFD0830}" type="pres">
      <dgm:prSet presAssocID="{405F69F6-50D9-4320-B617-93A0624C21A8}" presName="node" presStyleLbl="node1" presStyleIdx="0" presStyleCnt="3">
        <dgm:presLayoutVars>
          <dgm:bulletEnabled val="1"/>
        </dgm:presLayoutVars>
      </dgm:prSet>
      <dgm:spPr/>
    </dgm:pt>
    <dgm:pt modelId="{EAE74657-E79A-47FA-97C1-1426A43EC23E}" type="pres">
      <dgm:prSet presAssocID="{B21F1414-03BE-4073-8F12-472363F42262}" presName="spacerL" presStyleCnt="0"/>
      <dgm:spPr/>
    </dgm:pt>
    <dgm:pt modelId="{6F68ADD6-9CD3-42BC-9B9B-24E3FEB97E0A}" type="pres">
      <dgm:prSet presAssocID="{B21F1414-03BE-4073-8F12-472363F42262}" presName="sibTrans" presStyleLbl="sibTrans2D1" presStyleIdx="0" presStyleCnt="2"/>
      <dgm:spPr/>
    </dgm:pt>
    <dgm:pt modelId="{B7B2D28E-26F2-4D2C-B4CB-F55B02B60AA7}" type="pres">
      <dgm:prSet presAssocID="{B21F1414-03BE-4073-8F12-472363F42262}" presName="spacerR" presStyleCnt="0"/>
      <dgm:spPr/>
    </dgm:pt>
    <dgm:pt modelId="{BF59CA7A-D245-446D-9810-D2E139F76879}" type="pres">
      <dgm:prSet presAssocID="{8E6DDDA9-B91C-4A68-8C6F-BC1AA85F1E04}" presName="node" presStyleLbl="node1" presStyleIdx="1" presStyleCnt="3">
        <dgm:presLayoutVars>
          <dgm:bulletEnabled val="1"/>
        </dgm:presLayoutVars>
      </dgm:prSet>
      <dgm:spPr/>
    </dgm:pt>
    <dgm:pt modelId="{0801126B-ED01-4C55-91A0-A4D24B6860B2}" type="pres">
      <dgm:prSet presAssocID="{64DADC93-CF97-4AAE-98E2-F953BEFB0E25}" presName="spacerL" presStyleCnt="0"/>
      <dgm:spPr/>
    </dgm:pt>
    <dgm:pt modelId="{89B4772B-2CAA-4A15-8CE5-1792B83800BF}" type="pres">
      <dgm:prSet presAssocID="{64DADC93-CF97-4AAE-98E2-F953BEFB0E25}" presName="sibTrans" presStyleLbl="sibTrans2D1" presStyleIdx="1" presStyleCnt="2"/>
      <dgm:spPr/>
    </dgm:pt>
    <dgm:pt modelId="{7DB22A03-8AA1-48F7-8821-4E6B36B65258}" type="pres">
      <dgm:prSet presAssocID="{64DADC93-CF97-4AAE-98E2-F953BEFB0E25}" presName="spacerR" presStyleCnt="0"/>
      <dgm:spPr/>
    </dgm:pt>
    <dgm:pt modelId="{310A81FE-36CE-4B8C-BC4C-F4FF4FC390B3}" type="pres">
      <dgm:prSet presAssocID="{9D2913D9-6435-424D-906A-71A37C6EB51F}" presName="node" presStyleLbl="node1" presStyleIdx="2" presStyleCnt="3">
        <dgm:presLayoutVars>
          <dgm:bulletEnabled val="1"/>
        </dgm:presLayoutVars>
      </dgm:prSet>
      <dgm:spPr/>
    </dgm:pt>
  </dgm:ptLst>
  <dgm:cxnLst>
    <dgm:cxn modelId="{382AC404-5E63-4543-809C-91093B5A6D15}" type="presOf" srcId="{9D2913D9-6435-424D-906A-71A37C6EB51F}" destId="{310A81FE-36CE-4B8C-BC4C-F4FF4FC390B3}" srcOrd="0" destOrd="0" presId="urn:microsoft.com/office/officeart/2005/8/layout/equation1"/>
    <dgm:cxn modelId="{E363DE33-94BC-4B0D-8C2B-697B847171FD}" srcId="{EA8C59A2-84AC-4016-9B99-5238F391968D}" destId="{9D2913D9-6435-424D-906A-71A37C6EB51F}" srcOrd="2" destOrd="0" parTransId="{3554DAA7-10E7-4C88-A3DF-C31B254B1C50}" sibTransId="{56FC4B91-01FA-4F1F-B5E4-573B86B110FB}"/>
    <dgm:cxn modelId="{FD1FBB3C-1DB0-4E3D-BDB8-A84994639F8C}" type="presOf" srcId="{B21F1414-03BE-4073-8F12-472363F42262}" destId="{6F68ADD6-9CD3-42BC-9B9B-24E3FEB97E0A}" srcOrd="0" destOrd="0" presId="urn:microsoft.com/office/officeart/2005/8/layout/equation1"/>
    <dgm:cxn modelId="{86B1356A-69F3-4DFE-8D1B-1A4592CEB5CC}" type="presOf" srcId="{405F69F6-50D9-4320-B617-93A0624C21A8}" destId="{35000E00-B30C-4525-BE5E-9E081DFD0830}" srcOrd="0" destOrd="0" presId="urn:microsoft.com/office/officeart/2005/8/layout/equation1"/>
    <dgm:cxn modelId="{A1326D76-3EC6-4798-8EBE-175AEB0B5D3A}" type="presOf" srcId="{EA8C59A2-84AC-4016-9B99-5238F391968D}" destId="{17BA7D2C-2C66-4806-8000-08310345DD9D}" srcOrd="0" destOrd="0" presId="urn:microsoft.com/office/officeart/2005/8/layout/equation1"/>
    <dgm:cxn modelId="{D34D559F-DC67-462E-9A9E-1047D475EB86}" type="presOf" srcId="{8E6DDDA9-B91C-4A68-8C6F-BC1AA85F1E04}" destId="{BF59CA7A-D245-446D-9810-D2E139F76879}" srcOrd="0" destOrd="0" presId="urn:microsoft.com/office/officeart/2005/8/layout/equation1"/>
    <dgm:cxn modelId="{412F97C4-A9D2-4EDF-8F41-93F9973F4B54}" type="presOf" srcId="{64DADC93-CF97-4AAE-98E2-F953BEFB0E25}" destId="{89B4772B-2CAA-4A15-8CE5-1792B83800BF}" srcOrd="0" destOrd="0" presId="urn:microsoft.com/office/officeart/2005/8/layout/equation1"/>
    <dgm:cxn modelId="{F3068DCB-8D89-4904-B577-88C25270BF1D}" srcId="{EA8C59A2-84AC-4016-9B99-5238F391968D}" destId="{405F69F6-50D9-4320-B617-93A0624C21A8}" srcOrd="0" destOrd="0" parTransId="{9F43665A-5479-4603-8F4E-BE29D7328E88}" sibTransId="{B21F1414-03BE-4073-8F12-472363F42262}"/>
    <dgm:cxn modelId="{AC6DABDC-6D7C-4383-B683-39B2DEE7D7BF}" srcId="{EA8C59A2-84AC-4016-9B99-5238F391968D}" destId="{8E6DDDA9-B91C-4A68-8C6F-BC1AA85F1E04}" srcOrd="1" destOrd="0" parTransId="{FBEEFF66-BB1A-4FB0-92E2-494652015F47}" sibTransId="{64DADC93-CF97-4AAE-98E2-F953BEFB0E25}"/>
    <dgm:cxn modelId="{9DE64BD6-B582-4CA4-B74E-4C78DF5E6949}" type="presParOf" srcId="{17BA7D2C-2C66-4806-8000-08310345DD9D}" destId="{35000E00-B30C-4525-BE5E-9E081DFD0830}" srcOrd="0" destOrd="0" presId="urn:microsoft.com/office/officeart/2005/8/layout/equation1"/>
    <dgm:cxn modelId="{E1F367C2-7078-4AF7-956B-AED43D06B220}" type="presParOf" srcId="{17BA7D2C-2C66-4806-8000-08310345DD9D}" destId="{EAE74657-E79A-47FA-97C1-1426A43EC23E}" srcOrd="1" destOrd="0" presId="urn:microsoft.com/office/officeart/2005/8/layout/equation1"/>
    <dgm:cxn modelId="{2CCDDBB7-7667-40D4-B67F-1235C3E02AB2}" type="presParOf" srcId="{17BA7D2C-2C66-4806-8000-08310345DD9D}" destId="{6F68ADD6-9CD3-42BC-9B9B-24E3FEB97E0A}" srcOrd="2" destOrd="0" presId="urn:microsoft.com/office/officeart/2005/8/layout/equation1"/>
    <dgm:cxn modelId="{55240042-09D7-4BCA-A7A4-83B5CB2494B7}" type="presParOf" srcId="{17BA7D2C-2C66-4806-8000-08310345DD9D}" destId="{B7B2D28E-26F2-4D2C-B4CB-F55B02B60AA7}" srcOrd="3" destOrd="0" presId="urn:microsoft.com/office/officeart/2005/8/layout/equation1"/>
    <dgm:cxn modelId="{6C7AAE76-9F4D-4B51-AF57-549B1A78404C}" type="presParOf" srcId="{17BA7D2C-2C66-4806-8000-08310345DD9D}" destId="{BF59CA7A-D245-446D-9810-D2E139F76879}" srcOrd="4" destOrd="0" presId="urn:microsoft.com/office/officeart/2005/8/layout/equation1"/>
    <dgm:cxn modelId="{B655EE67-809A-4317-8A12-6495CD9E6A53}" type="presParOf" srcId="{17BA7D2C-2C66-4806-8000-08310345DD9D}" destId="{0801126B-ED01-4C55-91A0-A4D24B6860B2}" srcOrd="5" destOrd="0" presId="urn:microsoft.com/office/officeart/2005/8/layout/equation1"/>
    <dgm:cxn modelId="{57ACF5B2-D3F2-443C-A6D7-38C768F23363}" type="presParOf" srcId="{17BA7D2C-2C66-4806-8000-08310345DD9D}" destId="{89B4772B-2CAA-4A15-8CE5-1792B83800BF}" srcOrd="6" destOrd="0" presId="urn:microsoft.com/office/officeart/2005/8/layout/equation1"/>
    <dgm:cxn modelId="{DAA8DFAE-E0E0-4FD1-91CC-7C06CF3A9493}" type="presParOf" srcId="{17BA7D2C-2C66-4806-8000-08310345DD9D}" destId="{7DB22A03-8AA1-48F7-8821-4E6B36B65258}" srcOrd="7" destOrd="0" presId="urn:microsoft.com/office/officeart/2005/8/layout/equation1"/>
    <dgm:cxn modelId="{1E170AB6-E06C-4142-B879-0D7BAE23E264}" type="presParOf" srcId="{17BA7D2C-2C66-4806-8000-08310345DD9D}" destId="{310A81FE-36CE-4B8C-BC4C-F4FF4FC390B3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000E00-B30C-4525-BE5E-9E081DFD0830}">
      <dsp:nvSpPr>
        <dsp:cNvPr id="0" name=""/>
        <dsp:cNvSpPr/>
      </dsp:nvSpPr>
      <dsp:spPr>
        <a:xfrm>
          <a:off x="1096" y="592158"/>
          <a:ext cx="1453375" cy="14533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Montserrat" panose="00000500000000000000" pitchFamily="2" charset="0"/>
            </a:rPr>
            <a:t>Training dataset – low error rate</a:t>
          </a:r>
        </a:p>
      </dsp:txBody>
      <dsp:txXfrm>
        <a:off x="213938" y="805000"/>
        <a:ext cx="1027691" cy="1027691"/>
      </dsp:txXfrm>
    </dsp:sp>
    <dsp:sp modelId="{6F68ADD6-9CD3-42BC-9B9B-24E3FEB97E0A}">
      <dsp:nvSpPr>
        <dsp:cNvPr id="0" name=""/>
        <dsp:cNvSpPr/>
      </dsp:nvSpPr>
      <dsp:spPr>
        <a:xfrm>
          <a:off x="1572485" y="897367"/>
          <a:ext cx="842957" cy="842957"/>
        </a:xfrm>
        <a:prstGeom prst="mathPlus">
          <a:avLst/>
        </a:prstGeom>
        <a:solidFill>
          <a:srgbClr val="00EDB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b="1" kern="1200" dirty="0">
            <a:latin typeface="Montserrat" panose="00000500000000000000" pitchFamily="2" charset="0"/>
          </a:endParaRPr>
        </a:p>
      </dsp:txBody>
      <dsp:txXfrm>
        <a:off x="1684219" y="1219714"/>
        <a:ext cx="619489" cy="198263"/>
      </dsp:txXfrm>
    </dsp:sp>
    <dsp:sp modelId="{BF59CA7A-D245-446D-9810-D2E139F76879}">
      <dsp:nvSpPr>
        <dsp:cNvPr id="0" name=""/>
        <dsp:cNvSpPr/>
      </dsp:nvSpPr>
      <dsp:spPr>
        <a:xfrm>
          <a:off x="2533457" y="592158"/>
          <a:ext cx="1453375" cy="14533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Montserrat" panose="00000500000000000000" pitchFamily="2" charset="0"/>
            </a:rPr>
            <a:t>Test dataset – high error rate</a:t>
          </a:r>
        </a:p>
      </dsp:txBody>
      <dsp:txXfrm>
        <a:off x="2746299" y="805000"/>
        <a:ext cx="1027691" cy="1027691"/>
      </dsp:txXfrm>
    </dsp:sp>
    <dsp:sp modelId="{89B4772B-2CAA-4A15-8CE5-1792B83800BF}">
      <dsp:nvSpPr>
        <dsp:cNvPr id="0" name=""/>
        <dsp:cNvSpPr/>
      </dsp:nvSpPr>
      <dsp:spPr>
        <a:xfrm>
          <a:off x="4104847" y="897367"/>
          <a:ext cx="842957" cy="842957"/>
        </a:xfrm>
        <a:prstGeom prst="mathEqual">
          <a:avLst/>
        </a:prstGeom>
        <a:solidFill>
          <a:srgbClr val="00EDB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b="1" kern="1200" dirty="0">
            <a:latin typeface="Montserrat" panose="00000500000000000000" pitchFamily="2" charset="0"/>
          </a:endParaRPr>
        </a:p>
      </dsp:txBody>
      <dsp:txXfrm>
        <a:off x="4216581" y="1071016"/>
        <a:ext cx="619489" cy="495659"/>
      </dsp:txXfrm>
    </dsp:sp>
    <dsp:sp modelId="{310A81FE-36CE-4B8C-BC4C-F4FF4FC390B3}">
      <dsp:nvSpPr>
        <dsp:cNvPr id="0" name=""/>
        <dsp:cNvSpPr/>
      </dsp:nvSpPr>
      <dsp:spPr>
        <a:xfrm>
          <a:off x="5065819" y="592158"/>
          <a:ext cx="1453375" cy="14533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Montserrat" panose="00000500000000000000" pitchFamily="2" charset="0"/>
            </a:rPr>
            <a:t>Overfitted model</a:t>
          </a:r>
        </a:p>
      </dsp:txBody>
      <dsp:txXfrm>
        <a:off x="5278661" y="805000"/>
        <a:ext cx="1027691" cy="10276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8003-6651-4E0F-AD91-0978C27B1FD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6869B-D3A4-4DA9-9ECF-5B513453B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77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C8274-A655-4405-AD2E-3FD657865165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7353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9D455B3-BA22-46DB-AB69-5F0F63C8C13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98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71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19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4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50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5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66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9D455B3-BA22-46DB-AB69-5F0F63C8C13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57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85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88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489787"/>
            <a:ext cx="10363200" cy="7125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1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67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6933">
              <a:spcBef>
                <a:spcPts val="60"/>
              </a:spcBef>
            </a:pPr>
            <a:r>
              <a:rPr lang="it-IT" spc="-7"/>
              <a:t>Dr. Giovanni Quattrone, Middlesex University</a:t>
            </a:r>
            <a:endParaRPr lang="it-IT" spc="-7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5459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79FB76B-79E1-4B7C-9C99-EC5FE36C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8133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9D455B3-BA22-46DB-AB69-5F0F63C8C13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9CB5F3-7E1B-3C01-5EDD-ACE15FD56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2038AF-3454-BA65-9BFB-197720AA5C7F}"/>
              </a:ext>
            </a:extLst>
          </p:cNvPr>
          <p:cNvSpPr txBox="1"/>
          <p:nvPr/>
        </p:nvSpPr>
        <p:spPr>
          <a:xfrm>
            <a:off x="2540000" y="3733800"/>
            <a:ext cx="7518400" cy="1569660"/>
          </a:xfrm>
          <a:prstGeom prst="rect">
            <a:avLst/>
          </a:prstGeom>
          <a:solidFill>
            <a:srgbClr val="31245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Week 5: Non-Linear Classification and Deep Learning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Part 3- Overfitting and Underfitting</a:t>
            </a:r>
            <a:endParaRPr lang="en-AE" sz="32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CFF84-8DC6-5772-8AC5-D21CBDD4573D}"/>
              </a:ext>
            </a:extLst>
          </p:cNvPr>
          <p:cNvSpPr txBox="1"/>
          <p:nvPr/>
        </p:nvSpPr>
        <p:spPr>
          <a:xfrm>
            <a:off x="2336800" y="6070601"/>
            <a:ext cx="7518400" cy="461665"/>
          </a:xfrm>
          <a:prstGeom prst="rect">
            <a:avLst/>
          </a:prstGeom>
          <a:solidFill>
            <a:srgbClr val="31245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Dr Maha Saadeh</a:t>
            </a:r>
          </a:p>
        </p:txBody>
      </p:sp>
    </p:spTree>
    <p:extLst>
      <p:ext uri="{BB962C8B-B14F-4D97-AF65-F5344CB8AC3E}">
        <p14:creationId xmlns:p14="http://schemas.microsoft.com/office/powerpoint/2010/main" val="741890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5FA66A-48A5-4BC7-AAA9-29EA43BF3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775" y="6511925"/>
            <a:ext cx="784225" cy="179388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1F9A7-9756-48AA-98AA-178F6091778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1025" y="1557338"/>
            <a:ext cx="10493375" cy="49545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Overfitting</a:t>
            </a:r>
            <a:r>
              <a:rPr lang="en-GB" b="0" dirty="0"/>
              <a:t>: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When we train a model on a specific data set, it understands it too well and can’t adapt to new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Can be avoided by augmenting training data with more variance data, and simplifying / regularising the model.</a:t>
            </a:r>
          </a:p>
          <a:p>
            <a:pPr lvl="1" indent="0">
              <a:buNone/>
            </a:pPr>
            <a:endParaRPr lang="en-GB" dirty="0"/>
          </a:p>
          <a:p>
            <a:pPr lvl="1" indent="0">
              <a:buNone/>
            </a:pPr>
            <a:endParaRPr lang="en-GB" dirty="0"/>
          </a:p>
          <a:p>
            <a:endParaRPr lang="en-GB" b="0" dirty="0"/>
          </a:p>
          <a:p>
            <a:endParaRPr lang="en-GB" b="0" dirty="0"/>
          </a:p>
          <a:p>
            <a:endParaRPr lang="en-GB" b="0" dirty="0"/>
          </a:p>
          <a:p>
            <a:pPr marL="0" indent="0">
              <a:buNone/>
            </a:pPr>
            <a:r>
              <a:rPr lang="en-GB" b="1" dirty="0"/>
              <a:t>Underfitting</a:t>
            </a:r>
            <a:r>
              <a:rPr lang="en-GB" b="0" dirty="0"/>
              <a:t>: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When a model is too basic, preventing it from identifying dominant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Increasing training time can reduce risk.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Make data less uniform so trends can be identified be the model – opposed to the model being told.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A03C3B-9C13-4B40-A9D4-207E1056DD2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8600" y="209719"/>
            <a:ext cx="6772275" cy="804863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Montserrat Black" panose="00000A00000000000000" pitchFamily="2" charset="0"/>
              </a:rPr>
              <a:t>Avoiding problems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8AB5C10-D9A9-42E6-84B8-71EFD6AE3A22}"/>
              </a:ext>
            </a:extLst>
          </p:cNvPr>
          <p:cNvGraphicFramePr/>
          <p:nvPr/>
        </p:nvGraphicFramePr>
        <p:xfrm>
          <a:off x="4032353" y="2490100"/>
          <a:ext cx="6520291" cy="2637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9139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7EC77A2-9B60-289F-0E0C-C9950436E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574275"/>
            <a:ext cx="10905066" cy="4770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827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3B6BC-17CD-4917-AC82-BFDDB68D1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E68F7-C95A-41E6-9770-6E0DAD420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4" y="1730829"/>
            <a:ext cx="10753725" cy="4515121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Bias error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results from simplifying the assumptions used in a model so the target functions are easier to approximate.</a:t>
            </a:r>
          </a:p>
          <a:p>
            <a:pPr marL="0" indent="0">
              <a:buNone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Bias is the amount that 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model’s prediction differs from the target value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compared to the training data.</a:t>
            </a:r>
          </a:p>
          <a:p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 high level of bias can lead to </a:t>
            </a:r>
            <a:r>
              <a:rPr lang="en-US" sz="28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underfitting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which occurs when the algorithm is 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unable to capture relevant relations between features and target outputs</a:t>
            </a:r>
          </a:p>
          <a:p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89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A468F-2443-4CB9-9543-0178E1364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BEAE8-0C1C-48C7-9D1B-078006623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i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Variance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indicates how much the estimate of the target function will differ if different training data were used.</a:t>
            </a:r>
          </a:p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b="1" i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Variance measures</a:t>
            </a:r>
            <a:r>
              <a:rPr 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sz="28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inconsistency of different predictions using different training sets </a:t>
            </a:r>
            <a:r>
              <a:rPr 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— it’s not a measure of overall accuracy.</a:t>
            </a:r>
          </a:p>
          <a:p>
            <a:endParaRPr lang="en-US" sz="28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High Variance can lead to </a:t>
            </a:r>
            <a:r>
              <a:rPr lang="en-US" sz="28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overfitting to unrepresentative training data</a:t>
            </a:r>
          </a:p>
          <a:p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373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4822A-56D0-4820-B4D0-AEE6C4F03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 and Underfitting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DF8CD-F4E1-4ADA-9C59-F0C6DDABB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1" y="2011680"/>
            <a:ext cx="10753725" cy="4346787"/>
          </a:xfrm>
        </p:spPr>
        <p:txBody>
          <a:bodyPr>
            <a:no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trade-off is well known: </a:t>
            </a:r>
          </a:p>
          <a:p>
            <a:pPr marL="739775" lvl="2" indent="-53975" defTabSz="968375">
              <a:buFont typeface="Arial" panose="020B0604020202020204" pitchFamily="34" charset="0"/>
              <a:buChar char="•"/>
            </a:pPr>
            <a:r>
              <a:rPr lang="en-US" sz="2400" i="0" dirty="0">
                <a:latin typeface="Calibri" panose="020F0502020204030204" pitchFamily="34" charset="0"/>
                <a:cs typeface="Calibri" panose="020F0502020204030204" pitchFamily="34" charset="0"/>
              </a:rPr>
              <a:t> Increasing bias decreases variance, </a:t>
            </a:r>
          </a:p>
          <a:p>
            <a:pPr marL="739775" lvl="2" indent="-53975" defTabSz="968375">
              <a:buFont typeface="Arial" panose="020B0604020202020204" pitchFamily="34" charset="0"/>
              <a:buChar char="•"/>
            </a:pPr>
            <a:r>
              <a:rPr lang="en-US" sz="2400" i="0" dirty="0">
                <a:latin typeface="Calibri" panose="020F0502020204030204" pitchFamily="34" charset="0"/>
                <a:cs typeface="Calibri" panose="020F0502020204030204" pitchFamily="34" charset="0"/>
              </a:rPr>
              <a:t> and increasing variance decreases bias. 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scientists have to find the correct balance.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9775" lvl="2" indent="-282575">
              <a:buFont typeface="Arial" panose="020B0604020202020204" pitchFamily="34" charset="0"/>
              <a:buChar char="•"/>
            </a:pPr>
            <a:r>
              <a:rPr lang="en-US" sz="2400" i="0" dirty="0">
                <a:latin typeface="Calibri" panose="020F0502020204030204" pitchFamily="34" charset="0"/>
                <a:cs typeface="Calibri" panose="020F0502020204030204" pitchFamily="34" charset="0"/>
              </a:rPr>
              <a:t>When building a supervised machine-learning algorithm, </a:t>
            </a:r>
            <a:r>
              <a:rPr lang="en-US" sz="2400" i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goal is to achieve low bias and variance for the most accurate predictions</a:t>
            </a:r>
            <a:r>
              <a:rPr lang="en-US" sz="2400" i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39775" lvl="2" indent="-282575">
              <a:buFont typeface="Arial" panose="020B0604020202020204" pitchFamily="34" charset="0"/>
              <a:buChar char="•"/>
            </a:pPr>
            <a:r>
              <a:rPr lang="en-US" sz="2400" i="0" dirty="0">
                <a:latin typeface="Calibri" panose="020F0502020204030204" pitchFamily="34" charset="0"/>
                <a:cs typeface="Calibri" panose="020F0502020204030204" pitchFamily="34" charset="0"/>
              </a:rPr>
              <a:t>Data scientists must do this while keeping underfitting and overfitting in mind. A </a:t>
            </a:r>
            <a:r>
              <a:rPr lang="en-US" sz="2400" i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that exhibits 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small variance and high bias will underfit </a:t>
            </a:r>
            <a:r>
              <a:rPr lang="en-US" sz="2400" i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target, while a model with </a:t>
            </a:r>
            <a:r>
              <a:rPr lang="en-US" sz="2400" i="0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high variance and little bias will overfit </a:t>
            </a:r>
            <a:r>
              <a:rPr lang="en-US" sz="2400" i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target</a:t>
            </a:r>
            <a:r>
              <a:rPr lang="en-US" sz="2400" i="0" dirty="0">
                <a:latin typeface="Calibri" panose="020F0502020204030204" pitchFamily="34" charset="0"/>
                <a:cs typeface="Calibri" panose="020F0502020204030204" pitchFamily="34" charset="0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361517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AC46B2-C841-AF76-E07E-3AAA1A865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662" y="2360839"/>
            <a:ext cx="9515475" cy="27241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0790554-3A7E-0E24-1348-54AB2903FC4D}"/>
              </a:ext>
            </a:extLst>
          </p:cNvPr>
          <p:cNvSpPr txBox="1">
            <a:spLocks/>
          </p:cNvSpPr>
          <p:nvPr/>
        </p:nvSpPr>
        <p:spPr>
          <a:xfrm>
            <a:off x="423048" y="791540"/>
            <a:ext cx="10772775" cy="78715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Bias-Variance tradeoff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377E5-378B-07E0-F743-C2321C2ACEF6}"/>
              </a:ext>
            </a:extLst>
          </p:cNvPr>
          <p:cNvSpPr txBox="1"/>
          <p:nvPr/>
        </p:nvSpPr>
        <p:spPr>
          <a:xfrm>
            <a:off x="1959429" y="5420129"/>
            <a:ext cx="8001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If the average prediction values are significantly different from the </a:t>
            </a:r>
            <a:r>
              <a:rPr lang="en-US" sz="1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true value 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based on the sample data, the model has a </a:t>
            </a:r>
            <a:r>
              <a:rPr lang="en-US" sz="18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 level of bias.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FF4DC6-779D-CE17-742F-5229E1B06D9E}"/>
              </a:ext>
            </a:extLst>
          </p:cNvPr>
          <p:cNvSpPr txBox="1"/>
          <p:nvPr/>
        </p:nvSpPr>
        <p:spPr>
          <a:xfrm>
            <a:off x="1959429" y="6066460"/>
            <a:ext cx="8001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If the prediction values for different folds are significantly different from each other, the model has a </a:t>
            </a:r>
            <a:r>
              <a:rPr lang="en-US" sz="18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 level of variance. (not consistent)</a:t>
            </a:r>
          </a:p>
        </p:txBody>
      </p:sp>
    </p:spTree>
    <p:extLst>
      <p:ext uri="{BB962C8B-B14F-4D97-AF65-F5344CB8AC3E}">
        <p14:creationId xmlns:p14="http://schemas.microsoft.com/office/powerpoint/2010/main" val="83466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437" y="420929"/>
            <a:ext cx="7899711" cy="84809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Accuracy</a:t>
            </a:r>
            <a:r>
              <a:rPr spc="-53" dirty="0"/>
              <a:t> </a:t>
            </a:r>
            <a:r>
              <a:rPr dirty="0"/>
              <a:t>of</a:t>
            </a:r>
            <a:r>
              <a:rPr spc="-33" dirty="0"/>
              <a:t> </a:t>
            </a:r>
            <a:r>
              <a:rPr dirty="0"/>
              <a:t>the</a:t>
            </a:r>
            <a:r>
              <a:rPr spc="-33" dirty="0"/>
              <a:t> </a:t>
            </a:r>
            <a:r>
              <a:rPr spc="-13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5108" y="1642533"/>
            <a:ext cx="4326739" cy="1701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505" y="1681621"/>
            <a:ext cx="4326739" cy="17017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25108" y="4558070"/>
            <a:ext cx="4326739" cy="17017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3392" y="4650566"/>
            <a:ext cx="4326737" cy="17017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098682" y="2287354"/>
            <a:ext cx="180086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600" dirty="0">
                <a:solidFill>
                  <a:srgbClr val="002060"/>
                </a:solidFill>
                <a:latin typeface="Cambria Math"/>
                <a:cs typeface="Cambria Math"/>
              </a:rPr>
              <a:t>𝑆𝑒𝑡</a:t>
            </a:r>
            <a:r>
              <a:rPr sz="1600" baseline="-13888" dirty="0">
                <a:solidFill>
                  <a:srgbClr val="002060"/>
                </a:solidFill>
                <a:latin typeface="Cambria Math"/>
                <a:cs typeface="Cambria Math"/>
              </a:rPr>
              <a:t>𝐴</a:t>
            </a:r>
            <a:r>
              <a:rPr sz="1600" spc="229" baseline="-13888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of </a:t>
            </a:r>
            <a:r>
              <a:rPr sz="1600" spc="-13" dirty="0">
                <a:solidFill>
                  <a:srgbClr val="002060"/>
                </a:solidFill>
                <a:latin typeface="Calibri"/>
                <a:cs typeface="Calibri"/>
              </a:rPr>
              <a:t>observations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66451" y="5355674"/>
            <a:ext cx="180678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600" dirty="0">
                <a:solidFill>
                  <a:srgbClr val="002060"/>
                </a:solidFill>
                <a:latin typeface="Cambria Math"/>
                <a:cs typeface="Cambria Math"/>
              </a:rPr>
              <a:t>𝑆𝑒𝑡</a:t>
            </a:r>
            <a:r>
              <a:rPr sz="1600" baseline="-13888" dirty="0">
                <a:solidFill>
                  <a:srgbClr val="002060"/>
                </a:solidFill>
                <a:latin typeface="Cambria Math"/>
                <a:cs typeface="Cambria Math"/>
              </a:rPr>
              <a:t>𝐵</a:t>
            </a:r>
            <a:r>
              <a:rPr sz="1600" spc="249" baseline="-13888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of </a:t>
            </a:r>
            <a:r>
              <a:rPr sz="1600" spc="-13" dirty="0">
                <a:solidFill>
                  <a:srgbClr val="002060"/>
                </a:solidFill>
                <a:latin typeface="Calibri"/>
                <a:cs typeface="Calibri"/>
              </a:rPr>
              <a:t>observations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5409" y="3498428"/>
            <a:ext cx="136398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Fitting</a:t>
            </a:r>
            <a:r>
              <a:rPr sz="1600" spc="-6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the</a:t>
            </a:r>
            <a:r>
              <a:rPr sz="1600" spc="-33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27" dirty="0">
                <a:solidFill>
                  <a:srgbClr val="002060"/>
                </a:solidFill>
                <a:latin typeface="Calibri"/>
                <a:cs typeface="Calibri"/>
              </a:rPr>
              <a:t>noise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95409" y="4234010"/>
            <a:ext cx="136398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Fitting</a:t>
            </a:r>
            <a:r>
              <a:rPr sz="1600" spc="-6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the</a:t>
            </a:r>
            <a:r>
              <a:rPr sz="1600" spc="-33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27" dirty="0">
                <a:solidFill>
                  <a:srgbClr val="002060"/>
                </a:solidFill>
                <a:latin typeface="Calibri"/>
                <a:cs typeface="Calibri"/>
              </a:rPr>
              <a:t>noise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46405" y="3498428"/>
            <a:ext cx="192362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Fitting</a:t>
            </a:r>
            <a:r>
              <a:rPr sz="1600" spc="-4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the</a:t>
            </a:r>
            <a:r>
              <a:rPr sz="1600" spc="-33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true</a:t>
            </a:r>
            <a:r>
              <a:rPr sz="1600" spc="-33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002060"/>
                </a:solidFill>
                <a:latin typeface="Calibri"/>
                <a:cs typeface="Calibri"/>
              </a:rPr>
              <a:t>pattern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46405" y="4173052"/>
            <a:ext cx="192362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Fitting</a:t>
            </a:r>
            <a:r>
              <a:rPr sz="1600" spc="-4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the</a:t>
            </a:r>
            <a:r>
              <a:rPr sz="1600" spc="-33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true</a:t>
            </a:r>
            <a:r>
              <a:rPr sz="1600" spc="-33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002060"/>
                </a:solidFill>
                <a:latin typeface="Calibri"/>
                <a:cs typeface="Calibri"/>
              </a:rPr>
              <a:t>pattern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5640" y="4195098"/>
            <a:ext cx="11716173" cy="2241973"/>
          </a:xfrm>
          <a:custGeom>
            <a:avLst/>
            <a:gdLst/>
            <a:ahLst/>
            <a:cxnLst/>
            <a:rect l="l" t="t" r="r" b="b"/>
            <a:pathLst>
              <a:path w="8787130" h="1681479">
                <a:moveTo>
                  <a:pt x="8506741" y="0"/>
                </a:moveTo>
                <a:lnTo>
                  <a:pt x="280243" y="0"/>
                </a:lnTo>
                <a:lnTo>
                  <a:pt x="234786" y="3667"/>
                </a:lnTo>
                <a:lnTo>
                  <a:pt x="191665" y="14287"/>
                </a:lnTo>
                <a:lnTo>
                  <a:pt x="151455" y="31280"/>
                </a:lnTo>
                <a:lnTo>
                  <a:pt x="114735" y="54070"/>
                </a:lnTo>
                <a:lnTo>
                  <a:pt x="82081" y="82081"/>
                </a:lnTo>
                <a:lnTo>
                  <a:pt x="54070" y="114735"/>
                </a:lnTo>
                <a:lnTo>
                  <a:pt x="31280" y="151455"/>
                </a:lnTo>
                <a:lnTo>
                  <a:pt x="14287" y="191665"/>
                </a:lnTo>
                <a:lnTo>
                  <a:pt x="3667" y="234787"/>
                </a:lnTo>
                <a:lnTo>
                  <a:pt x="0" y="280244"/>
                </a:lnTo>
                <a:lnTo>
                  <a:pt x="0" y="1401205"/>
                </a:lnTo>
                <a:lnTo>
                  <a:pt x="3667" y="1446662"/>
                </a:lnTo>
                <a:lnTo>
                  <a:pt x="14287" y="1489784"/>
                </a:lnTo>
                <a:lnTo>
                  <a:pt x="31280" y="1529994"/>
                </a:lnTo>
                <a:lnTo>
                  <a:pt x="54070" y="1566714"/>
                </a:lnTo>
                <a:lnTo>
                  <a:pt x="82081" y="1599368"/>
                </a:lnTo>
                <a:lnTo>
                  <a:pt x="114735" y="1627379"/>
                </a:lnTo>
                <a:lnTo>
                  <a:pt x="151455" y="1650169"/>
                </a:lnTo>
                <a:lnTo>
                  <a:pt x="191665" y="1667163"/>
                </a:lnTo>
                <a:lnTo>
                  <a:pt x="234786" y="1677782"/>
                </a:lnTo>
                <a:lnTo>
                  <a:pt x="280243" y="1681450"/>
                </a:lnTo>
                <a:lnTo>
                  <a:pt x="8506741" y="1681450"/>
                </a:lnTo>
                <a:lnTo>
                  <a:pt x="8552198" y="1677782"/>
                </a:lnTo>
                <a:lnTo>
                  <a:pt x="8595320" y="1667163"/>
                </a:lnTo>
                <a:lnTo>
                  <a:pt x="8635529" y="1650169"/>
                </a:lnTo>
                <a:lnTo>
                  <a:pt x="8672249" y="1627379"/>
                </a:lnTo>
                <a:lnTo>
                  <a:pt x="8704903" y="1599368"/>
                </a:lnTo>
                <a:lnTo>
                  <a:pt x="8732914" y="1566714"/>
                </a:lnTo>
                <a:lnTo>
                  <a:pt x="8755704" y="1529994"/>
                </a:lnTo>
                <a:lnTo>
                  <a:pt x="8772698" y="1489784"/>
                </a:lnTo>
                <a:lnTo>
                  <a:pt x="8783317" y="1446662"/>
                </a:lnTo>
                <a:lnTo>
                  <a:pt x="8786985" y="1401205"/>
                </a:lnTo>
                <a:lnTo>
                  <a:pt x="8786985" y="280244"/>
                </a:lnTo>
                <a:lnTo>
                  <a:pt x="8783317" y="234787"/>
                </a:lnTo>
                <a:lnTo>
                  <a:pt x="8772698" y="191665"/>
                </a:lnTo>
                <a:lnTo>
                  <a:pt x="8755704" y="151455"/>
                </a:lnTo>
                <a:lnTo>
                  <a:pt x="8732914" y="114735"/>
                </a:lnTo>
                <a:lnTo>
                  <a:pt x="8704903" y="82081"/>
                </a:lnTo>
                <a:lnTo>
                  <a:pt x="8672249" y="54070"/>
                </a:lnTo>
                <a:lnTo>
                  <a:pt x="8635529" y="31280"/>
                </a:lnTo>
                <a:lnTo>
                  <a:pt x="8595320" y="14287"/>
                </a:lnTo>
                <a:lnTo>
                  <a:pt x="8552198" y="3667"/>
                </a:lnTo>
                <a:lnTo>
                  <a:pt x="8506741" y="0"/>
                </a:lnTo>
                <a:close/>
              </a:path>
            </a:pathLst>
          </a:custGeom>
          <a:solidFill>
            <a:srgbClr val="002060">
              <a:alpha val="3138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141025" y="1420600"/>
            <a:ext cx="11716173" cy="2418927"/>
          </a:xfrm>
          <a:custGeom>
            <a:avLst/>
            <a:gdLst/>
            <a:ahLst/>
            <a:cxnLst/>
            <a:rect l="l" t="t" r="r" b="b"/>
            <a:pathLst>
              <a:path w="8787130" h="1814195">
                <a:moveTo>
                  <a:pt x="8484639" y="0"/>
                </a:moveTo>
                <a:lnTo>
                  <a:pt x="302345" y="0"/>
                </a:lnTo>
                <a:lnTo>
                  <a:pt x="253303" y="3957"/>
                </a:lnTo>
                <a:lnTo>
                  <a:pt x="206781" y="15413"/>
                </a:lnTo>
                <a:lnTo>
                  <a:pt x="163400" y="33747"/>
                </a:lnTo>
                <a:lnTo>
                  <a:pt x="123784" y="58335"/>
                </a:lnTo>
                <a:lnTo>
                  <a:pt x="88555" y="88555"/>
                </a:lnTo>
                <a:lnTo>
                  <a:pt x="58335" y="123784"/>
                </a:lnTo>
                <a:lnTo>
                  <a:pt x="33747" y="163400"/>
                </a:lnTo>
                <a:lnTo>
                  <a:pt x="15413" y="206781"/>
                </a:lnTo>
                <a:lnTo>
                  <a:pt x="3957" y="253304"/>
                </a:lnTo>
                <a:lnTo>
                  <a:pt x="0" y="302346"/>
                </a:lnTo>
                <a:lnTo>
                  <a:pt x="0" y="1511705"/>
                </a:lnTo>
                <a:lnTo>
                  <a:pt x="3957" y="1560747"/>
                </a:lnTo>
                <a:lnTo>
                  <a:pt x="15413" y="1607269"/>
                </a:lnTo>
                <a:lnTo>
                  <a:pt x="33747" y="1650650"/>
                </a:lnTo>
                <a:lnTo>
                  <a:pt x="58335" y="1690266"/>
                </a:lnTo>
                <a:lnTo>
                  <a:pt x="88555" y="1725496"/>
                </a:lnTo>
                <a:lnTo>
                  <a:pt x="123784" y="1755716"/>
                </a:lnTo>
                <a:lnTo>
                  <a:pt x="163400" y="1780304"/>
                </a:lnTo>
                <a:lnTo>
                  <a:pt x="206781" y="1798637"/>
                </a:lnTo>
                <a:lnTo>
                  <a:pt x="253303" y="1810094"/>
                </a:lnTo>
                <a:lnTo>
                  <a:pt x="302345" y="1814051"/>
                </a:lnTo>
                <a:lnTo>
                  <a:pt x="8484639" y="1814051"/>
                </a:lnTo>
                <a:lnTo>
                  <a:pt x="8533681" y="1810094"/>
                </a:lnTo>
                <a:lnTo>
                  <a:pt x="8580204" y="1798637"/>
                </a:lnTo>
                <a:lnTo>
                  <a:pt x="8623585" y="1780304"/>
                </a:lnTo>
                <a:lnTo>
                  <a:pt x="8663201" y="1755716"/>
                </a:lnTo>
                <a:lnTo>
                  <a:pt x="8698430" y="1725496"/>
                </a:lnTo>
                <a:lnTo>
                  <a:pt x="8728650" y="1690266"/>
                </a:lnTo>
                <a:lnTo>
                  <a:pt x="8753238" y="1650650"/>
                </a:lnTo>
                <a:lnTo>
                  <a:pt x="8771572" y="1607269"/>
                </a:lnTo>
                <a:lnTo>
                  <a:pt x="8783028" y="1560747"/>
                </a:lnTo>
                <a:lnTo>
                  <a:pt x="8786985" y="1511705"/>
                </a:lnTo>
                <a:lnTo>
                  <a:pt x="8786985" y="302346"/>
                </a:lnTo>
                <a:lnTo>
                  <a:pt x="8783028" y="253304"/>
                </a:lnTo>
                <a:lnTo>
                  <a:pt x="8771572" y="206781"/>
                </a:lnTo>
                <a:lnTo>
                  <a:pt x="8753238" y="163400"/>
                </a:lnTo>
                <a:lnTo>
                  <a:pt x="8728650" y="123784"/>
                </a:lnTo>
                <a:lnTo>
                  <a:pt x="8698430" y="88555"/>
                </a:lnTo>
                <a:lnTo>
                  <a:pt x="8663201" y="58335"/>
                </a:lnTo>
                <a:lnTo>
                  <a:pt x="8623585" y="33747"/>
                </a:lnTo>
                <a:lnTo>
                  <a:pt x="8580204" y="15413"/>
                </a:lnTo>
                <a:lnTo>
                  <a:pt x="8533681" y="3957"/>
                </a:lnTo>
                <a:lnTo>
                  <a:pt x="8484639" y="0"/>
                </a:lnTo>
                <a:close/>
              </a:path>
            </a:pathLst>
          </a:custGeom>
          <a:solidFill>
            <a:srgbClr val="002060">
              <a:alpha val="3138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1244534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9EB2E9FB630D499918B8F6CAC84B60" ma:contentTypeVersion="3" ma:contentTypeDescription="Create a new document." ma:contentTypeScope="" ma:versionID="4fd7eb3e58b85baec0fd0cf169f544d9">
  <xsd:schema xmlns:xsd="http://www.w3.org/2001/XMLSchema" xmlns:xs="http://www.w3.org/2001/XMLSchema" xmlns:p="http://schemas.microsoft.com/office/2006/metadata/properties" xmlns:ns2="c974d4e5-f305-4feb-a004-2bd06caf3c2b" targetNamespace="http://schemas.microsoft.com/office/2006/metadata/properties" ma:root="true" ma:fieldsID="ff8484fd76a4646b7414ae59c5a5f383" ns2:_="">
    <xsd:import namespace="c974d4e5-f305-4feb-a004-2bd06caf3c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74d4e5-f305-4feb-a004-2bd06caf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1D5090-AE49-46B4-B8A5-AFAEECF9B112}"/>
</file>

<file path=customXml/itemProps2.xml><?xml version="1.0" encoding="utf-8"?>
<ds:datastoreItem xmlns:ds="http://schemas.openxmlformats.org/officeDocument/2006/customXml" ds:itemID="{1F6D2D54-6F45-48E9-A5B7-7AC7489FC1B6}"/>
</file>

<file path=customXml/itemProps3.xml><?xml version="1.0" encoding="utf-8"?>
<ds:datastoreItem xmlns:ds="http://schemas.openxmlformats.org/officeDocument/2006/customXml" ds:itemID="{4A067AA5-3041-4714-A16A-47E2E8440FF4}"/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2559</TotalTime>
  <Words>411</Words>
  <Application>Microsoft Office PowerPoint</Application>
  <PresentationFormat>Widescreen</PresentationFormat>
  <Paragraphs>55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Montserrat</vt:lpstr>
      <vt:lpstr>Montserrat Black</vt:lpstr>
      <vt:lpstr>Metropolitan</vt:lpstr>
      <vt:lpstr>PowerPoint Presentation</vt:lpstr>
      <vt:lpstr>Avoiding problems</vt:lpstr>
      <vt:lpstr>PowerPoint Presentation</vt:lpstr>
      <vt:lpstr>Bias</vt:lpstr>
      <vt:lpstr>Variance</vt:lpstr>
      <vt:lpstr>Overfitting and Underfitting</vt:lpstr>
      <vt:lpstr>PowerPoint Presentation</vt:lpstr>
      <vt:lpstr>Accuracy of the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CST4050</dc:title>
  <dc:creator>maha saadeh</dc:creator>
  <cp:lastModifiedBy>Maha Saadeh</cp:lastModifiedBy>
  <cp:revision>205</cp:revision>
  <dcterms:created xsi:type="dcterms:W3CDTF">2020-10-11T06:59:36Z</dcterms:created>
  <dcterms:modified xsi:type="dcterms:W3CDTF">2026-02-16T08:51:50Z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0x0101003A9EB2E9FB630D499918B8F6CAC84B60</vt:lpwstr>
  </property>
</Properties>
</file>