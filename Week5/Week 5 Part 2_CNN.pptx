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348" r:id="rId2"/>
    <p:sldId id="301" r:id="rId3"/>
    <p:sldId id="283" r:id="rId4"/>
    <p:sldId id="284" r:id="rId5"/>
    <p:sldId id="294" r:id="rId6"/>
    <p:sldId id="295" r:id="rId7"/>
    <p:sldId id="300" r:id="rId8"/>
    <p:sldId id="418" r:id="rId9"/>
    <p:sldId id="305" r:id="rId10"/>
    <p:sldId id="285" r:id="rId11"/>
    <p:sldId id="287" r:id="rId12"/>
    <p:sldId id="306" r:id="rId13"/>
    <p:sldId id="307" r:id="rId14"/>
    <p:sldId id="312" r:id="rId15"/>
    <p:sldId id="314" r:id="rId16"/>
    <p:sldId id="421" r:id="rId17"/>
    <p:sldId id="316" r:id="rId18"/>
    <p:sldId id="317" r:id="rId19"/>
    <p:sldId id="318" r:id="rId20"/>
    <p:sldId id="423" r:id="rId21"/>
    <p:sldId id="324" r:id="rId22"/>
    <p:sldId id="422" r:id="rId23"/>
    <p:sldId id="343" r:id="rId24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92ABEA-7660-4E1F-8503-8F5BED90DB4F}" v="1" dt="2026-02-12T08:35:59.724"/>
    <p1510:client id="{B5D8CCE7-8898-4655-BC9D-D47A61A708CF}" v="1" dt="2026-02-12T07:54:45.07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588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 Saadeh" userId="3cb906ed-5449-4556-905f-2231327ddc1a" providerId="ADAL" clId="{454ED7F6-9BA2-4548-88F5-A2FE5F82DAC2}"/>
    <pc:docChg chg="addSld modSld">
      <pc:chgData name="Maha Saadeh" userId="3cb906ed-5449-4556-905f-2231327ddc1a" providerId="ADAL" clId="{454ED7F6-9BA2-4548-88F5-A2FE5F82DAC2}" dt="2026-02-12T08:36:11.513" v="101" actId="20577"/>
      <pc:docMkLst>
        <pc:docMk/>
      </pc:docMkLst>
      <pc:sldChg chg="modSp mod">
        <pc:chgData name="Maha Saadeh" userId="3cb906ed-5449-4556-905f-2231327ddc1a" providerId="ADAL" clId="{454ED7F6-9BA2-4548-88F5-A2FE5F82DAC2}" dt="2026-02-12T08:29:56.380" v="83" actId="20577"/>
        <pc:sldMkLst>
          <pc:docMk/>
          <pc:sldMk cId="1264178582" sldId="301"/>
        </pc:sldMkLst>
        <pc:spChg chg="mod">
          <ac:chgData name="Maha Saadeh" userId="3cb906ed-5449-4556-905f-2231327ddc1a" providerId="ADAL" clId="{454ED7F6-9BA2-4548-88F5-A2FE5F82DAC2}" dt="2026-02-12T08:29:56.380" v="83" actId="20577"/>
          <ac:spMkLst>
            <pc:docMk/>
            <pc:sldMk cId="1264178582" sldId="301"/>
            <ac:spMk id="3" creationId="{00000000-0000-0000-0000-000000000000}"/>
          </ac:spMkLst>
        </pc:spChg>
      </pc:sldChg>
      <pc:sldChg chg="modSp mod">
        <pc:chgData name="Maha Saadeh" userId="3cb906ed-5449-4556-905f-2231327ddc1a" providerId="ADAL" clId="{454ED7F6-9BA2-4548-88F5-A2FE5F82DAC2}" dt="2026-02-12T08:36:11.513" v="101" actId="20577"/>
        <pc:sldMkLst>
          <pc:docMk/>
          <pc:sldMk cId="3412325057" sldId="343"/>
        </pc:sldMkLst>
        <pc:spChg chg="mod">
          <ac:chgData name="Maha Saadeh" userId="3cb906ed-5449-4556-905f-2231327ddc1a" providerId="ADAL" clId="{454ED7F6-9BA2-4548-88F5-A2FE5F82DAC2}" dt="2026-02-12T08:36:11.513" v="101" actId="20577"/>
          <ac:spMkLst>
            <pc:docMk/>
            <pc:sldMk cId="3412325057" sldId="343"/>
            <ac:spMk id="2" creationId="{00000000-0000-0000-0000-000000000000}"/>
          </ac:spMkLst>
        </pc:spChg>
        <pc:spChg chg="mod">
          <ac:chgData name="Maha Saadeh" userId="3cb906ed-5449-4556-905f-2231327ddc1a" providerId="ADAL" clId="{454ED7F6-9BA2-4548-88F5-A2FE5F82DAC2}" dt="2026-02-12T08:36:06.479" v="98" actId="20577"/>
          <ac:spMkLst>
            <pc:docMk/>
            <pc:sldMk cId="3412325057" sldId="343"/>
            <ac:spMk id="3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12T08:20:54.039" v="81" actId="20577"/>
        <pc:sldMkLst>
          <pc:docMk/>
          <pc:sldMk cId="741890330" sldId="348"/>
        </pc:sldMkLst>
        <pc:spChg chg="mod">
          <ac:chgData name="Maha Saadeh" userId="3cb906ed-5449-4556-905f-2231327ddc1a" providerId="ADAL" clId="{454ED7F6-9BA2-4548-88F5-A2FE5F82DAC2}" dt="2026-02-12T08:20:54.039" v="81" actId="20577"/>
          <ac:spMkLst>
            <pc:docMk/>
            <pc:sldMk cId="741890330" sldId="348"/>
            <ac:spMk id="10" creationId="{FF2038AF-3454-BA65-9BFB-197720AA5C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7BAC4-41F0-4ADE-8482-0210655DA60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F6CE5-7E93-4212-8C77-8741B88A9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63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3468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1"/>
                </a:lnTo>
              </a:path>
            </a:pathLst>
          </a:custGeom>
          <a:ln w="50800">
            <a:solidFill>
              <a:srgbClr val="33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60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2256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8437" y="4862148"/>
            <a:ext cx="2677795" cy="196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simovinstitute.org/author/fjodorvanveen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9CB5F3-7E1B-3C01-5EDD-ACE15FD56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2038AF-3454-BA65-9BFB-197720AA5C7F}"/>
              </a:ext>
            </a:extLst>
          </p:cNvPr>
          <p:cNvSpPr txBox="1"/>
          <p:nvPr/>
        </p:nvSpPr>
        <p:spPr>
          <a:xfrm>
            <a:off x="1905000" y="2800350"/>
            <a:ext cx="5638800" cy="1200329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Week 5: Non-Linear Classification and Deep Learning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Part 2- Deep Learning</a:t>
            </a:r>
            <a:endParaRPr lang="en-AE" sz="2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CFF84-8DC6-5772-8AC5-D21CBDD4573D}"/>
              </a:ext>
            </a:extLst>
          </p:cNvPr>
          <p:cNvSpPr txBox="1"/>
          <p:nvPr/>
        </p:nvSpPr>
        <p:spPr>
          <a:xfrm>
            <a:off x="1752600" y="4552950"/>
            <a:ext cx="5638800" cy="369332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Dr Maha Saadeh</a:t>
            </a:r>
          </a:p>
        </p:txBody>
      </p:sp>
    </p:spTree>
    <p:extLst>
      <p:ext uri="{BB962C8B-B14F-4D97-AF65-F5344CB8AC3E}">
        <p14:creationId xmlns:p14="http://schemas.microsoft.com/office/powerpoint/2010/main" val="74189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083360"/>
            <a:ext cx="7485696" cy="1570943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lang="en-US" sz="2400" spc="-15" dirty="0">
                <a:solidFill>
                  <a:srgbClr val="00026A"/>
                </a:solidFill>
                <a:cs typeface="Calibri"/>
              </a:rPr>
              <a:t>Different Types of Neural Networks</a:t>
            </a: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lang="en-US" sz="2400" spc="-15" dirty="0">
                <a:solidFill>
                  <a:srgbClr val="00026A"/>
                </a:solidFill>
                <a:cs typeface="Calibri"/>
              </a:rPr>
              <a:t>Deep Learning</a:t>
            </a: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lang="en-US" sz="2400" spc="-15" dirty="0">
                <a:solidFill>
                  <a:srgbClr val="00026A"/>
                </a:solidFill>
                <a:cs typeface="Calibri"/>
              </a:rPr>
              <a:t>CNNs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558069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 this </a:t>
            </a:r>
            <a:r>
              <a:rPr spc="-5" dirty="0"/>
              <a:t>lesson</a:t>
            </a:r>
            <a:r>
              <a:rPr spc="-75" dirty="0"/>
              <a:t> </a:t>
            </a:r>
            <a:r>
              <a:rPr dirty="0"/>
              <a:t>…</a:t>
            </a:r>
            <a:r>
              <a:rPr lang="en-US" dirty="0"/>
              <a:t> Part-2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4178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209550"/>
            <a:ext cx="5625560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spc="-11" dirty="0"/>
              <a:t>Neural</a:t>
            </a:r>
            <a:r>
              <a:rPr sz="3300" spc="-26" dirty="0"/>
              <a:t> </a:t>
            </a:r>
            <a:r>
              <a:rPr sz="3300" spc="-8" dirty="0"/>
              <a:t>Network</a:t>
            </a:r>
            <a:r>
              <a:rPr sz="3300" spc="-19" dirty="0"/>
              <a:t> </a:t>
            </a:r>
            <a:r>
              <a:rPr sz="3300" spc="-34" dirty="0"/>
              <a:t>Types</a:t>
            </a:r>
            <a:endParaRPr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132456"/>
            <a:ext cx="5789772" cy="3399969"/>
          </a:xfrm>
          <a:prstGeom prst="rect">
            <a:avLst/>
          </a:prstGeom>
        </p:spPr>
        <p:txBody>
          <a:bodyPr vert="horz" wrap="square" lIns="0" tIns="82867" rIns="0" bIns="0" rtlCol="0">
            <a:spAutoFit/>
          </a:bodyPr>
          <a:lstStyle/>
          <a:p>
            <a:pPr marL="266700" indent="-257651">
              <a:spcBef>
                <a:spcPts val="652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400" spc="-15" dirty="0">
                <a:latin typeface="Calibri"/>
                <a:cs typeface="Calibri"/>
              </a:rPr>
              <a:t>Feed-forward</a:t>
            </a:r>
            <a:r>
              <a:rPr sz="2400" spc="-8" dirty="0">
                <a:latin typeface="Calibri"/>
                <a:cs typeface="Calibri"/>
              </a:rPr>
              <a:t> </a:t>
            </a:r>
            <a:r>
              <a:rPr sz="2400" spc="-11" dirty="0">
                <a:latin typeface="Calibri"/>
                <a:cs typeface="Calibri"/>
              </a:rPr>
              <a:t>networks</a:t>
            </a:r>
            <a:endParaRPr sz="2400" dirty="0">
              <a:latin typeface="Calibri"/>
              <a:cs typeface="Calibri"/>
            </a:endParaRPr>
          </a:p>
          <a:p>
            <a:pPr marL="266700" indent="-257651">
              <a:spcBef>
                <a:spcPts val="578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400" spc="-11" dirty="0">
                <a:latin typeface="Calibri"/>
                <a:cs typeface="Calibri"/>
              </a:rPr>
              <a:t>Recurrent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spc="-8" dirty="0">
                <a:latin typeface="Calibri"/>
                <a:cs typeface="Calibri"/>
              </a:rPr>
              <a:t>Neural </a:t>
            </a:r>
            <a:r>
              <a:rPr sz="2400" spc="-11" dirty="0">
                <a:latin typeface="Calibri"/>
                <a:cs typeface="Calibri"/>
              </a:rPr>
              <a:t>Networks</a:t>
            </a:r>
            <a:r>
              <a:rPr sz="2400" spc="-34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(RNNs)</a:t>
            </a:r>
            <a:endParaRPr sz="2400" dirty="0">
              <a:latin typeface="Calibri"/>
              <a:cs typeface="Calibri"/>
            </a:endParaRPr>
          </a:p>
          <a:p>
            <a:pPr marL="266700" indent="-257651">
              <a:spcBef>
                <a:spcPts val="578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400" dirty="0">
                <a:latin typeface="Calibri"/>
                <a:cs typeface="Calibri"/>
              </a:rPr>
              <a:t>Unsupervised</a:t>
            </a:r>
            <a:r>
              <a:rPr sz="2400" spc="-8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ANNs</a:t>
            </a:r>
            <a:endParaRPr sz="2400" dirty="0">
              <a:latin typeface="Calibri"/>
              <a:cs typeface="Calibri"/>
            </a:endParaRPr>
          </a:p>
          <a:p>
            <a:pPr marL="567214" lvl="1" indent="-215265">
              <a:spcBef>
                <a:spcPts val="518"/>
              </a:spcBef>
              <a:buFont typeface="Arial"/>
              <a:buChar char="–"/>
              <a:tabLst>
                <a:tab pos="567690" algn="l"/>
              </a:tabLst>
            </a:pPr>
            <a:r>
              <a:rPr sz="2100" spc="-11" dirty="0">
                <a:latin typeface="Calibri"/>
                <a:cs typeface="Calibri"/>
              </a:rPr>
              <a:t>Self-Organising</a:t>
            </a:r>
            <a:r>
              <a:rPr sz="2100" spc="11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Maps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(SOMs)</a:t>
            </a:r>
            <a:endParaRPr sz="2100" dirty="0">
              <a:latin typeface="Calibri"/>
              <a:cs typeface="Calibri"/>
            </a:endParaRPr>
          </a:p>
          <a:p>
            <a:pPr marL="567214" lvl="1" indent="-215265">
              <a:spcBef>
                <a:spcPts val="503"/>
              </a:spcBef>
              <a:buFont typeface="Arial"/>
              <a:buChar char="–"/>
              <a:tabLst>
                <a:tab pos="567690" algn="l"/>
              </a:tabLst>
            </a:pPr>
            <a:r>
              <a:rPr sz="2100" spc="-11" dirty="0">
                <a:latin typeface="Calibri"/>
                <a:cs typeface="Calibri"/>
              </a:rPr>
              <a:t>Autoencoders</a:t>
            </a:r>
            <a:endParaRPr sz="2100" dirty="0">
              <a:latin typeface="Calibri"/>
              <a:cs typeface="Calibri"/>
            </a:endParaRPr>
          </a:p>
          <a:p>
            <a:pPr marL="266700" indent="-257651">
              <a:spcBef>
                <a:spcPts val="566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400" spc="-4" dirty="0">
                <a:latin typeface="Calibri"/>
                <a:cs typeface="Calibri"/>
              </a:rPr>
              <a:t>Deep</a:t>
            </a:r>
            <a:r>
              <a:rPr sz="2400" spc="-19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Belief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8" dirty="0">
                <a:latin typeface="Calibri"/>
                <a:cs typeface="Calibri"/>
              </a:rPr>
              <a:t>Networks</a:t>
            </a:r>
            <a:r>
              <a:rPr sz="2400" spc="-34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(DBNs)</a:t>
            </a:r>
            <a:endParaRPr sz="2400" dirty="0">
              <a:latin typeface="Calibri"/>
              <a:cs typeface="Calibri"/>
            </a:endParaRPr>
          </a:p>
          <a:p>
            <a:pPr marL="567214" lvl="1" indent="-215265">
              <a:spcBef>
                <a:spcPts val="518"/>
              </a:spcBef>
              <a:buFont typeface="Arial"/>
              <a:buChar char="–"/>
              <a:tabLst>
                <a:tab pos="567690" algn="l"/>
              </a:tabLst>
            </a:pPr>
            <a:r>
              <a:rPr sz="2100" spc="-11" dirty="0">
                <a:latin typeface="Calibri"/>
                <a:cs typeface="Calibri"/>
              </a:rPr>
              <a:t>Restricted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Boltzman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Machines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(RBMs)</a:t>
            </a:r>
            <a:endParaRPr sz="2100" dirty="0">
              <a:latin typeface="Calibri"/>
              <a:cs typeface="Calibri"/>
            </a:endParaRPr>
          </a:p>
          <a:p>
            <a:pPr marL="266700" indent="-257651">
              <a:spcBef>
                <a:spcPts val="563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spc="-8" dirty="0">
                <a:latin typeface="Calibri"/>
                <a:cs typeface="Calibri"/>
              </a:rPr>
              <a:t>more…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7543" y="1643851"/>
            <a:ext cx="1709738" cy="1855797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algn="ctr">
              <a:spcBef>
                <a:spcPts val="71"/>
              </a:spcBef>
            </a:pPr>
            <a:r>
              <a:rPr sz="3000" spc="-8" dirty="0"/>
              <a:t>The</a:t>
            </a:r>
            <a:r>
              <a:rPr sz="3000" spc="-49" dirty="0"/>
              <a:t> </a:t>
            </a:r>
            <a:r>
              <a:rPr sz="3000" spc="-15" dirty="0"/>
              <a:t>Neural </a:t>
            </a:r>
            <a:r>
              <a:rPr sz="3000" spc="-668" dirty="0"/>
              <a:t> </a:t>
            </a:r>
            <a:r>
              <a:rPr sz="3000" spc="-11" dirty="0"/>
              <a:t>Network </a:t>
            </a:r>
            <a:r>
              <a:rPr sz="3000" spc="-8" dirty="0"/>
              <a:t> </a:t>
            </a:r>
            <a:r>
              <a:rPr sz="3000" spc="-23" dirty="0"/>
              <a:t>Zoo</a:t>
            </a:r>
            <a:endParaRPr sz="3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800" y="65150"/>
            <a:ext cx="5867400" cy="491718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02055" y="4930293"/>
            <a:ext cx="2300764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8" dirty="0">
                <a:latin typeface="Calibri"/>
                <a:cs typeface="Calibri"/>
                <a:hlinkClick r:id="rId3"/>
              </a:rPr>
              <a:t>www.asimovinstitute.org/author/fjodorvanveen/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2173" y="2841483"/>
            <a:ext cx="6287645" cy="21351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2173" y="1054970"/>
            <a:ext cx="6287645" cy="170310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09600" y="177485"/>
            <a:ext cx="5593366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spc="-4" dirty="0"/>
              <a:t>Deep</a:t>
            </a:r>
            <a:r>
              <a:rPr sz="3300" spc="-19" dirty="0"/>
              <a:t> </a:t>
            </a:r>
            <a:r>
              <a:rPr sz="3300" spc="-11" dirty="0"/>
              <a:t>Neural</a:t>
            </a:r>
            <a:r>
              <a:rPr sz="3300" spc="-23" dirty="0"/>
              <a:t> </a:t>
            </a:r>
            <a:r>
              <a:rPr sz="3300" spc="-11" dirty="0"/>
              <a:t>Networks</a:t>
            </a:r>
            <a:endParaRPr sz="3300" dirty="0"/>
          </a:p>
        </p:txBody>
      </p:sp>
      <p:sp>
        <p:nvSpPr>
          <p:cNvPr id="5" name="object 5"/>
          <p:cNvSpPr txBox="1"/>
          <p:nvPr/>
        </p:nvSpPr>
        <p:spPr>
          <a:xfrm>
            <a:off x="1417319" y="1062990"/>
            <a:ext cx="6240780" cy="1594347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124778" rIns="0" bIns="0" rtlCol="0">
            <a:spAutoFit/>
          </a:bodyPr>
          <a:lstStyle/>
          <a:p>
            <a:pPr marL="394335" indent="-257651">
              <a:spcBef>
                <a:spcPts val="982"/>
              </a:spcBef>
              <a:buFont typeface="Arial"/>
              <a:buChar char="•"/>
              <a:tabLst>
                <a:tab pos="394335" algn="l"/>
                <a:tab pos="394811" algn="l"/>
              </a:tabLst>
            </a:pPr>
            <a:r>
              <a:rPr sz="2025" spc="-4" dirty="0">
                <a:latin typeface="Calibri"/>
                <a:cs typeface="Calibri"/>
              </a:rPr>
              <a:t>Prior</a:t>
            </a:r>
            <a:r>
              <a:rPr sz="2025" spc="4" dirty="0">
                <a:latin typeface="Calibri"/>
                <a:cs typeface="Calibri"/>
              </a:rPr>
              <a:t> </a:t>
            </a:r>
            <a:r>
              <a:rPr sz="2025" spc="-11" dirty="0">
                <a:latin typeface="Calibri"/>
                <a:cs typeface="Calibri"/>
              </a:rPr>
              <a:t>to</a:t>
            </a:r>
            <a:r>
              <a:rPr sz="2025" spc="-8" dirty="0">
                <a:latin typeface="Calibri"/>
                <a:cs typeface="Calibri"/>
              </a:rPr>
              <a:t> </a:t>
            </a:r>
            <a:r>
              <a:rPr sz="2025" spc="-4" dirty="0">
                <a:latin typeface="Calibri"/>
                <a:cs typeface="Calibri"/>
              </a:rPr>
              <a:t>deep</a:t>
            </a:r>
            <a:r>
              <a:rPr sz="2025" spc="-15" dirty="0">
                <a:latin typeface="Calibri"/>
                <a:cs typeface="Calibri"/>
              </a:rPr>
              <a:t> </a:t>
            </a:r>
            <a:r>
              <a:rPr sz="2025" spc="-4" dirty="0">
                <a:latin typeface="Calibri"/>
                <a:cs typeface="Calibri"/>
              </a:rPr>
              <a:t>learning:</a:t>
            </a:r>
            <a:endParaRPr sz="2025" dirty="0">
              <a:latin typeface="Calibri"/>
              <a:cs typeface="Calibri"/>
            </a:endParaRPr>
          </a:p>
          <a:p>
            <a:pPr marL="694849" marR="252889" lvl="1" indent="-215265">
              <a:lnSpc>
                <a:spcPts val="1943"/>
              </a:lnSpc>
              <a:spcBef>
                <a:spcPts val="472"/>
              </a:spcBef>
              <a:buFont typeface="Arial"/>
              <a:buChar char="–"/>
              <a:tabLst>
                <a:tab pos="695325" algn="l"/>
              </a:tabLst>
            </a:pPr>
            <a:r>
              <a:rPr spc="-8" dirty="0">
                <a:latin typeface="Calibri"/>
                <a:cs typeface="Calibri"/>
              </a:rPr>
              <a:t>Problem </a:t>
            </a:r>
            <a:r>
              <a:rPr dirty="0">
                <a:latin typeface="Calibri"/>
                <a:cs typeface="Calibri"/>
              </a:rPr>
              <a:t>with </a:t>
            </a:r>
            <a:r>
              <a:rPr spc="-8" dirty="0">
                <a:latin typeface="Calibri"/>
                <a:cs typeface="Calibri"/>
              </a:rPr>
              <a:t>training neural networks </a:t>
            </a:r>
            <a:r>
              <a:rPr dirty="0">
                <a:latin typeface="Calibri"/>
                <a:cs typeface="Calibri"/>
              </a:rPr>
              <a:t>with </a:t>
            </a:r>
            <a:r>
              <a:rPr spc="-11" dirty="0">
                <a:latin typeface="Calibri"/>
                <a:cs typeface="Calibri"/>
              </a:rPr>
              <a:t>many </a:t>
            </a:r>
            <a:r>
              <a:rPr spc="-4" dirty="0">
                <a:latin typeface="Calibri"/>
                <a:cs typeface="Calibri"/>
              </a:rPr>
              <a:t>hidden </a:t>
            </a:r>
            <a:r>
              <a:rPr spc="-39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layers</a:t>
            </a:r>
            <a:endParaRPr dirty="0">
              <a:latin typeface="Calibri"/>
              <a:cs typeface="Calibri"/>
            </a:endParaRPr>
          </a:p>
          <a:p>
            <a:pPr marL="694849" lvl="1" indent="-215265">
              <a:spcBef>
                <a:spcPts val="188"/>
              </a:spcBef>
              <a:buFont typeface="Arial"/>
              <a:buChar char="–"/>
              <a:tabLst>
                <a:tab pos="695325" algn="l"/>
              </a:tabLst>
            </a:pPr>
            <a:r>
              <a:rPr b="1" spc="-15" dirty="0">
                <a:solidFill>
                  <a:srgbClr val="C00000"/>
                </a:solidFill>
                <a:latin typeface="Calibri"/>
                <a:cs typeface="Calibri"/>
              </a:rPr>
              <a:t>Vanishing</a:t>
            </a:r>
            <a:r>
              <a:rPr b="1" spc="-11" dirty="0">
                <a:solidFill>
                  <a:srgbClr val="C00000"/>
                </a:solidFill>
                <a:latin typeface="Calibri"/>
                <a:cs typeface="Calibri"/>
              </a:rPr>
              <a:t> gradient </a:t>
            </a:r>
            <a:r>
              <a:rPr b="1" spc="-4" dirty="0">
                <a:solidFill>
                  <a:srgbClr val="C00000"/>
                </a:solidFill>
                <a:latin typeface="Calibri"/>
                <a:cs typeface="Calibri"/>
              </a:rPr>
              <a:t>problem</a:t>
            </a:r>
            <a:endParaRPr lang="en-US" b="1" spc="-4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694849" lvl="1" indent="-215265">
              <a:spcBef>
                <a:spcPts val="188"/>
              </a:spcBef>
              <a:buFont typeface="Arial"/>
              <a:buChar char="–"/>
              <a:tabLst>
                <a:tab pos="695325" algn="l"/>
              </a:tabLst>
            </a:pPr>
            <a:endParaRPr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7319" y="2849499"/>
            <a:ext cx="6240780" cy="2159085"/>
          </a:xfrm>
          <a:prstGeom prst="rect">
            <a:avLst/>
          </a:prstGeom>
          <a:solidFill>
            <a:srgbClr val="D6E3BC"/>
          </a:solidFill>
        </p:spPr>
        <p:txBody>
          <a:bodyPr vert="horz" wrap="square" lIns="0" tIns="56674" rIns="0" bIns="0" rtlCol="0">
            <a:spAutoFit/>
          </a:bodyPr>
          <a:lstStyle/>
          <a:p>
            <a:pPr marL="394335" indent="-257651">
              <a:spcBef>
                <a:spcPts val="446"/>
              </a:spcBef>
              <a:buFont typeface="Arial"/>
              <a:buChar char="•"/>
              <a:tabLst>
                <a:tab pos="394335" algn="l"/>
                <a:tab pos="394811" algn="l"/>
              </a:tabLst>
            </a:pPr>
            <a:r>
              <a:rPr sz="2025" spc="-4" dirty="0">
                <a:latin typeface="Calibri"/>
                <a:cs typeface="Calibri"/>
              </a:rPr>
              <a:t>The</a:t>
            </a:r>
            <a:r>
              <a:rPr sz="2025" spc="-15" dirty="0">
                <a:latin typeface="Calibri"/>
                <a:cs typeface="Calibri"/>
              </a:rPr>
              <a:t> </a:t>
            </a:r>
            <a:r>
              <a:rPr sz="2025" spc="-11" dirty="0">
                <a:latin typeface="Calibri"/>
                <a:cs typeface="Calibri"/>
              </a:rPr>
              <a:t>breakthrough</a:t>
            </a:r>
            <a:endParaRPr sz="2025" dirty="0">
              <a:latin typeface="Calibri"/>
              <a:cs typeface="Calibri"/>
            </a:endParaRPr>
          </a:p>
          <a:p>
            <a:pPr marL="480060">
              <a:spcBef>
                <a:spcPts val="225"/>
              </a:spcBef>
            </a:pPr>
            <a:r>
              <a:rPr dirty="0">
                <a:latin typeface="Arial"/>
                <a:cs typeface="Arial"/>
              </a:rPr>
              <a:t>–</a:t>
            </a:r>
            <a:r>
              <a:rPr spc="165" dirty="0">
                <a:latin typeface="Arial"/>
                <a:cs typeface="Arial"/>
              </a:rPr>
              <a:t> </a:t>
            </a:r>
            <a:r>
              <a:rPr spc="-4" dirty="0">
                <a:latin typeface="Calibri"/>
                <a:cs typeface="Calibri"/>
              </a:rPr>
              <a:t>2006:</a:t>
            </a:r>
            <a:endParaRPr dirty="0">
              <a:latin typeface="Calibri"/>
              <a:cs typeface="Calibri"/>
            </a:endParaRPr>
          </a:p>
          <a:p>
            <a:pPr marL="994410" lvl="1" indent="-171926">
              <a:lnSpc>
                <a:spcPts val="1710"/>
              </a:lnSpc>
              <a:spcBef>
                <a:spcPts val="199"/>
              </a:spcBef>
              <a:buFont typeface="Arial"/>
              <a:buChar char="•"/>
              <a:tabLst>
                <a:tab pos="994410" algn="l"/>
                <a:tab pos="994886" algn="l"/>
              </a:tabLst>
            </a:pPr>
            <a:r>
              <a:rPr sz="1500" spc="-4" dirty="0">
                <a:latin typeface="Calibri"/>
                <a:cs typeface="Calibri"/>
              </a:rPr>
              <a:t>Introduction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C00000"/>
                </a:solidFill>
                <a:latin typeface="Calibri"/>
                <a:cs typeface="Calibri"/>
              </a:rPr>
              <a:t>unsupervised</a:t>
            </a:r>
            <a:r>
              <a:rPr sz="15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500" b="1" spc="-8" dirty="0">
                <a:solidFill>
                  <a:srgbClr val="C00000"/>
                </a:solidFill>
                <a:latin typeface="Calibri"/>
                <a:cs typeface="Calibri"/>
              </a:rPr>
              <a:t>pretraining</a:t>
            </a:r>
            <a:r>
              <a:rPr sz="1500" b="1" spc="-1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C00000"/>
                </a:solidFill>
                <a:latin typeface="Calibri"/>
                <a:cs typeface="Calibri"/>
              </a:rPr>
              <a:t>deep</a:t>
            </a:r>
            <a:r>
              <a:rPr sz="1500" b="1" spc="-8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C00000"/>
                </a:solidFill>
                <a:latin typeface="Calibri"/>
                <a:cs typeface="Calibri"/>
              </a:rPr>
              <a:t>belief</a:t>
            </a:r>
            <a:endParaRPr sz="1500" dirty="0">
              <a:latin typeface="Calibri"/>
              <a:cs typeface="Calibri"/>
            </a:endParaRPr>
          </a:p>
          <a:p>
            <a:pPr marL="994410">
              <a:lnSpc>
                <a:spcPts val="1710"/>
              </a:lnSpc>
            </a:pPr>
            <a:r>
              <a:rPr sz="1500" b="1" spc="-4" dirty="0">
                <a:solidFill>
                  <a:srgbClr val="C00000"/>
                </a:solidFill>
                <a:latin typeface="Calibri"/>
                <a:cs typeface="Calibri"/>
              </a:rPr>
              <a:t>networks</a:t>
            </a:r>
            <a:endParaRPr sz="1500" dirty="0">
              <a:latin typeface="Calibri"/>
              <a:cs typeface="Calibri"/>
            </a:endParaRPr>
          </a:p>
          <a:p>
            <a:pPr marL="994410" lvl="1" indent="-171926">
              <a:spcBef>
                <a:spcPts val="180"/>
              </a:spcBef>
              <a:buFont typeface="Arial"/>
              <a:buChar char="•"/>
              <a:tabLst>
                <a:tab pos="994410" algn="l"/>
                <a:tab pos="994886" algn="l"/>
              </a:tabLst>
            </a:pPr>
            <a:r>
              <a:rPr sz="1500" spc="-8" dirty="0">
                <a:latin typeface="Calibri"/>
                <a:cs typeface="Calibri"/>
              </a:rPr>
              <a:t>Rebranding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‘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Deep</a:t>
            </a:r>
            <a:r>
              <a:rPr sz="1500" b="1" spc="-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spc="4" dirty="0">
                <a:solidFill>
                  <a:srgbClr val="FF0000"/>
                </a:solidFill>
                <a:latin typeface="Calibri"/>
                <a:cs typeface="Calibri"/>
              </a:rPr>
              <a:t>Learning</a:t>
            </a:r>
            <a:r>
              <a:rPr sz="1500" spc="4" dirty="0">
                <a:latin typeface="Calibri"/>
                <a:cs typeface="Calibri"/>
              </a:rPr>
              <a:t>’</a:t>
            </a:r>
            <a:endParaRPr sz="1500" dirty="0">
              <a:latin typeface="Calibri"/>
              <a:cs typeface="Calibri"/>
            </a:endParaRPr>
          </a:p>
          <a:p>
            <a:pPr marL="480060">
              <a:spcBef>
                <a:spcPts val="195"/>
              </a:spcBef>
            </a:pPr>
            <a:endParaRPr lang="en-US" sz="1500" dirty="0">
              <a:latin typeface="Arial"/>
              <a:cs typeface="Arial"/>
            </a:endParaRPr>
          </a:p>
          <a:p>
            <a:pPr marL="480060">
              <a:spcBef>
                <a:spcPts val="195"/>
              </a:spcBef>
            </a:pPr>
            <a:endParaRPr lang="en-US" sz="1500" dirty="0">
              <a:latin typeface="Arial"/>
              <a:cs typeface="Arial"/>
            </a:endParaRPr>
          </a:p>
          <a:p>
            <a:pPr marL="480060">
              <a:spcBef>
                <a:spcPts val="195"/>
              </a:spcBef>
            </a:pPr>
            <a:endParaRPr sz="15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3989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1" y="346425"/>
            <a:ext cx="6234970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spc="-23" dirty="0"/>
              <a:t>Vanishing</a:t>
            </a:r>
            <a:r>
              <a:rPr sz="3300" spc="-8" dirty="0"/>
              <a:t> </a:t>
            </a:r>
            <a:r>
              <a:rPr sz="3300" spc="-11" dirty="0"/>
              <a:t>gradient</a:t>
            </a:r>
            <a:r>
              <a:rPr sz="3300" spc="-26" dirty="0"/>
              <a:t> </a:t>
            </a:r>
            <a:r>
              <a:rPr sz="3300" spc="-11" dirty="0"/>
              <a:t>problem</a:t>
            </a:r>
            <a:endParaRPr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1544955" y="1140281"/>
            <a:ext cx="3087528" cy="1680428"/>
          </a:xfrm>
          <a:prstGeom prst="rect">
            <a:avLst/>
          </a:prstGeom>
        </p:spPr>
        <p:txBody>
          <a:bodyPr vert="horz" wrap="square" lIns="0" tIns="76676" rIns="0" bIns="0" rtlCol="0">
            <a:spAutoFit/>
          </a:bodyPr>
          <a:lstStyle/>
          <a:p>
            <a:pPr marL="266700" indent="-257651">
              <a:spcBef>
                <a:spcPts val="604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100" spc="-11" dirty="0">
                <a:latin typeface="Calibri"/>
                <a:cs typeface="Calibri"/>
              </a:rPr>
              <a:t>Recap:</a:t>
            </a:r>
            <a:endParaRPr sz="2100">
              <a:latin typeface="Calibri"/>
              <a:cs typeface="Calibri"/>
            </a:endParaRPr>
          </a:p>
          <a:p>
            <a:pPr marL="567214" lvl="1" indent="-215265">
              <a:spcBef>
                <a:spcPts val="454"/>
              </a:spcBef>
              <a:buFont typeface="Arial"/>
              <a:buChar char="–"/>
              <a:tabLst>
                <a:tab pos="567690" algn="l"/>
              </a:tabLst>
            </a:pPr>
            <a:r>
              <a:rPr spc="-8" dirty="0">
                <a:latin typeface="Calibri"/>
                <a:cs typeface="Calibri"/>
              </a:rPr>
              <a:t>Backpropagation</a:t>
            </a:r>
            <a:r>
              <a:rPr spc="-7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algorithm</a:t>
            </a:r>
            <a:endParaRPr>
              <a:latin typeface="Calibri"/>
              <a:cs typeface="Calibri"/>
            </a:endParaRPr>
          </a:p>
          <a:p>
            <a:pPr marL="567214" lvl="1" indent="-215265">
              <a:spcBef>
                <a:spcPts val="435"/>
              </a:spcBef>
              <a:buFont typeface="Arial"/>
              <a:buChar char="–"/>
              <a:tabLst>
                <a:tab pos="567690" algn="l"/>
              </a:tabLst>
            </a:pPr>
            <a:r>
              <a:rPr spc="-4" dirty="0">
                <a:latin typeface="Calibri"/>
                <a:cs typeface="Calibri"/>
              </a:rPr>
              <a:t>Chain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rule</a:t>
            </a:r>
            <a:endParaRPr>
              <a:latin typeface="Calibri"/>
              <a:cs typeface="Calibri"/>
            </a:endParaRPr>
          </a:p>
          <a:p>
            <a:pPr marL="567214" lvl="1" indent="-215265">
              <a:spcBef>
                <a:spcPts val="431"/>
              </a:spcBef>
              <a:buFont typeface="Arial"/>
              <a:buChar char="–"/>
              <a:tabLst>
                <a:tab pos="567690" algn="l"/>
              </a:tabLst>
            </a:pPr>
            <a:r>
              <a:rPr spc="-8" dirty="0">
                <a:latin typeface="Calibri"/>
                <a:cs typeface="Calibri"/>
              </a:rPr>
              <a:t>Activation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function</a:t>
            </a:r>
            <a:endParaRPr>
              <a:latin typeface="Calibri"/>
              <a:cs typeface="Calibri"/>
            </a:endParaRPr>
          </a:p>
          <a:p>
            <a:pPr marL="866775" lvl="2" indent="-171926">
              <a:spcBef>
                <a:spcPts val="382"/>
              </a:spcBef>
              <a:buFont typeface="Arial"/>
              <a:buChar char="•"/>
              <a:tabLst>
                <a:tab pos="866775" algn="l"/>
                <a:tab pos="867251" algn="l"/>
              </a:tabLst>
            </a:pPr>
            <a:r>
              <a:rPr sz="1500" spc="-4" dirty="0">
                <a:latin typeface="Calibri"/>
                <a:cs typeface="Calibri"/>
              </a:rPr>
              <a:t>Sigmoid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15812" y="2170557"/>
            <a:ext cx="3358991" cy="2855595"/>
            <a:chOff x="4630415" y="2894076"/>
            <a:chExt cx="4478655" cy="38074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0415" y="3021159"/>
              <a:ext cx="4478532" cy="36798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170676" y="2894076"/>
              <a:ext cx="1591310" cy="338455"/>
            </a:xfrm>
            <a:custGeom>
              <a:avLst/>
              <a:gdLst/>
              <a:ahLst/>
              <a:cxnLst/>
              <a:rect l="l" t="t" r="r" b="b"/>
              <a:pathLst>
                <a:path w="1591309" h="338455">
                  <a:moveTo>
                    <a:pt x="1591055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1591055" y="338327"/>
                  </a:lnTo>
                  <a:lnTo>
                    <a:pt x="15910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831205" y="2186368"/>
            <a:ext cx="1062990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spc="-4" dirty="0">
                <a:latin typeface="Calibri"/>
                <a:cs typeface="Calibri"/>
              </a:rPr>
              <a:t>Sigmoid</a:t>
            </a:r>
            <a:r>
              <a:rPr sz="1200" spc="-56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82386" y="3672458"/>
            <a:ext cx="2129790" cy="17953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953">
              <a:lnSpc>
                <a:spcPts val="1369"/>
              </a:lnSpc>
            </a:pPr>
            <a:r>
              <a:rPr sz="1200" spc="-8" dirty="0">
                <a:latin typeface="Calibri"/>
                <a:cs typeface="Calibri"/>
              </a:rPr>
              <a:t>Derivative </a:t>
            </a:r>
            <a:r>
              <a:rPr sz="1200" spc="-4" dirty="0">
                <a:latin typeface="Calibri"/>
                <a:cs typeface="Calibri"/>
              </a:rPr>
              <a:t>of</a:t>
            </a:r>
            <a:r>
              <a:rPr sz="1200" spc="-11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the</a:t>
            </a:r>
            <a:r>
              <a:rPr sz="1200" spc="-8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Sigmoid</a:t>
            </a:r>
            <a:r>
              <a:rPr sz="1200" spc="-19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2858" y="4149395"/>
            <a:ext cx="725329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b="1" spc="-8" dirty="0">
                <a:solidFill>
                  <a:srgbClr val="C00000"/>
                </a:solidFill>
                <a:latin typeface="Calibri"/>
                <a:cs typeface="Calibri"/>
              </a:rPr>
              <a:t>max</a:t>
            </a:r>
            <a:r>
              <a:rPr sz="12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200" b="1" spc="-4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1200" b="1" spc="-26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200" b="1" spc="-4" dirty="0">
                <a:solidFill>
                  <a:srgbClr val="C00000"/>
                </a:solidFill>
                <a:latin typeface="Calibri"/>
                <a:cs typeface="Calibri"/>
              </a:rPr>
              <a:t>0.25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57366" y="4184523"/>
            <a:ext cx="475774" cy="178594"/>
            <a:chOff x="6952488" y="5579364"/>
            <a:chExt cx="634365" cy="23812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2488" y="5579364"/>
              <a:ext cx="633996" cy="2378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073646" y="5641848"/>
              <a:ext cx="474345" cy="78105"/>
            </a:xfrm>
            <a:custGeom>
              <a:avLst/>
              <a:gdLst/>
              <a:ahLst/>
              <a:cxnLst/>
              <a:rect l="l" t="t" r="r" b="b"/>
              <a:pathLst>
                <a:path w="474345" h="78104">
                  <a:moveTo>
                    <a:pt x="77724" y="0"/>
                  </a:moveTo>
                  <a:lnTo>
                    <a:pt x="0" y="38861"/>
                  </a:lnTo>
                  <a:lnTo>
                    <a:pt x="77724" y="77723"/>
                  </a:lnTo>
                  <a:lnTo>
                    <a:pt x="77724" y="51815"/>
                  </a:lnTo>
                  <a:lnTo>
                    <a:pt x="64770" y="51815"/>
                  </a:lnTo>
                  <a:lnTo>
                    <a:pt x="64770" y="25907"/>
                  </a:lnTo>
                  <a:lnTo>
                    <a:pt x="77724" y="25907"/>
                  </a:lnTo>
                  <a:lnTo>
                    <a:pt x="77724" y="0"/>
                  </a:lnTo>
                  <a:close/>
                </a:path>
                <a:path w="474345" h="78104">
                  <a:moveTo>
                    <a:pt x="77724" y="25907"/>
                  </a:moveTo>
                  <a:lnTo>
                    <a:pt x="64770" y="25907"/>
                  </a:lnTo>
                  <a:lnTo>
                    <a:pt x="64770" y="51815"/>
                  </a:lnTo>
                  <a:lnTo>
                    <a:pt x="77724" y="51815"/>
                  </a:lnTo>
                  <a:lnTo>
                    <a:pt x="77724" y="25907"/>
                  </a:lnTo>
                  <a:close/>
                </a:path>
                <a:path w="474345" h="78104">
                  <a:moveTo>
                    <a:pt x="474090" y="25907"/>
                  </a:moveTo>
                  <a:lnTo>
                    <a:pt x="77724" y="25907"/>
                  </a:lnTo>
                  <a:lnTo>
                    <a:pt x="77724" y="51815"/>
                  </a:lnTo>
                  <a:lnTo>
                    <a:pt x="474090" y="51815"/>
                  </a:lnTo>
                  <a:lnTo>
                    <a:pt x="474090" y="2590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3" name="object 13"/>
          <p:cNvSpPr/>
          <p:nvPr/>
        </p:nvSpPr>
        <p:spPr>
          <a:xfrm>
            <a:off x="3319368" y="3289459"/>
            <a:ext cx="209074" cy="159068"/>
          </a:xfrm>
          <a:custGeom>
            <a:avLst/>
            <a:gdLst/>
            <a:ahLst/>
            <a:cxnLst/>
            <a:rect l="l" t="t" r="r" b="b"/>
            <a:pathLst>
              <a:path w="278764" h="212089">
                <a:moveTo>
                  <a:pt x="211200" y="0"/>
                </a:moveTo>
                <a:lnTo>
                  <a:pt x="208152" y="8635"/>
                </a:lnTo>
                <a:lnTo>
                  <a:pt x="220420" y="13946"/>
                </a:lnTo>
                <a:lnTo>
                  <a:pt x="230949" y="21304"/>
                </a:lnTo>
                <a:lnTo>
                  <a:pt x="252368" y="55429"/>
                </a:lnTo>
                <a:lnTo>
                  <a:pt x="259333" y="104774"/>
                </a:lnTo>
                <a:lnTo>
                  <a:pt x="258550" y="123443"/>
                </a:lnTo>
                <a:lnTo>
                  <a:pt x="246887" y="169163"/>
                </a:lnTo>
                <a:lnTo>
                  <a:pt x="220581" y="197846"/>
                </a:lnTo>
                <a:lnTo>
                  <a:pt x="208533" y="203199"/>
                </a:lnTo>
                <a:lnTo>
                  <a:pt x="211200" y="211708"/>
                </a:lnTo>
                <a:lnTo>
                  <a:pt x="251598" y="187705"/>
                </a:lnTo>
                <a:lnTo>
                  <a:pt x="274319" y="143335"/>
                </a:lnTo>
                <a:lnTo>
                  <a:pt x="278638" y="105917"/>
                </a:lnTo>
                <a:lnTo>
                  <a:pt x="277562" y="86536"/>
                </a:lnTo>
                <a:lnTo>
                  <a:pt x="261238" y="37083"/>
                </a:lnTo>
                <a:lnTo>
                  <a:pt x="226538" y="5544"/>
                </a:lnTo>
                <a:lnTo>
                  <a:pt x="211200" y="0"/>
                </a:lnTo>
                <a:close/>
              </a:path>
              <a:path w="278764" h="212089">
                <a:moveTo>
                  <a:pt x="67563" y="0"/>
                </a:moveTo>
                <a:lnTo>
                  <a:pt x="27094" y="24110"/>
                </a:lnTo>
                <a:lnTo>
                  <a:pt x="4365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35" y="206184"/>
                </a:lnTo>
                <a:lnTo>
                  <a:pt x="67563" y="211708"/>
                </a:lnTo>
                <a:lnTo>
                  <a:pt x="70231" y="203199"/>
                </a:lnTo>
                <a:lnTo>
                  <a:pt x="58130" y="197846"/>
                </a:lnTo>
                <a:lnTo>
                  <a:pt x="47720" y="190372"/>
                </a:lnTo>
                <a:lnTo>
                  <a:pt x="26376" y="155638"/>
                </a:lnTo>
                <a:lnTo>
                  <a:pt x="19303" y="104774"/>
                </a:lnTo>
                <a:lnTo>
                  <a:pt x="20089" y="86723"/>
                </a:lnTo>
                <a:lnTo>
                  <a:pt x="31876" y="42163"/>
                </a:lnTo>
                <a:lnTo>
                  <a:pt x="58291" y="13946"/>
                </a:lnTo>
                <a:lnTo>
                  <a:pt x="70484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3196780" y="3237072"/>
            <a:ext cx="27955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𝑓</a:t>
            </a:r>
            <a:r>
              <a:rPr sz="1350" spc="221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𝑥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67233" y="3362420"/>
            <a:ext cx="568166" cy="11430"/>
          </a:xfrm>
          <a:custGeom>
            <a:avLst/>
            <a:gdLst/>
            <a:ahLst/>
            <a:cxnLst/>
            <a:rect l="l" t="t" r="r" b="b"/>
            <a:pathLst>
              <a:path w="757554" h="15239">
                <a:moveTo>
                  <a:pt x="757427" y="0"/>
                </a:moveTo>
                <a:lnTo>
                  <a:pt x="0" y="0"/>
                </a:lnTo>
                <a:lnTo>
                  <a:pt x="0" y="15240"/>
                </a:lnTo>
                <a:lnTo>
                  <a:pt x="757427" y="15240"/>
                </a:lnTo>
                <a:lnTo>
                  <a:pt x="7574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 txBox="1"/>
          <p:nvPr/>
        </p:nvSpPr>
        <p:spPr>
          <a:xfrm>
            <a:off x="3562921" y="3067907"/>
            <a:ext cx="793909" cy="502541"/>
          </a:xfrm>
          <a:prstGeom prst="rect">
            <a:avLst/>
          </a:prstGeom>
        </p:spPr>
        <p:txBody>
          <a:bodyPr vert="horz" wrap="square" lIns="0" tIns="48101" rIns="0" bIns="0" rtlCol="0">
            <a:spAutoFit/>
          </a:bodyPr>
          <a:lstStyle/>
          <a:p>
            <a:pPr marL="441008">
              <a:spcBef>
                <a:spcPts val="379"/>
              </a:spcBef>
            </a:pPr>
            <a:r>
              <a:rPr sz="1350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  <a:p>
            <a:pPr marL="28575">
              <a:spcBef>
                <a:spcPts val="307"/>
              </a:spcBef>
            </a:pPr>
            <a:r>
              <a:rPr sz="2025" baseline="37037" dirty="0">
                <a:latin typeface="Cambria Math"/>
                <a:cs typeface="Cambria Math"/>
              </a:rPr>
              <a:t>=</a:t>
            </a:r>
            <a:r>
              <a:rPr sz="2025" spc="84" baseline="3703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1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-11" dirty="0">
                <a:latin typeface="Cambria Math"/>
                <a:cs typeface="Cambria Math"/>
              </a:rPr>
              <a:t> </a:t>
            </a:r>
            <a:r>
              <a:rPr sz="1350" spc="38" dirty="0">
                <a:latin typeface="Cambria Math"/>
                <a:cs typeface="Cambria Math"/>
              </a:rPr>
              <a:t>𝑒</a:t>
            </a:r>
            <a:r>
              <a:rPr sz="1463" spc="56" baseline="23504" dirty="0">
                <a:latin typeface="Cambria Math"/>
                <a:cs typeface="Cambria Math"/>
              </a:rPr>
              <a:t>−𝑥</a:t>
            </a:r>
            <a:endParaRPr sz="1463" baseline="23504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96864" y="4670193"/>
            <a:ext cx="209074" cy="159068"/>
          </a:xfrm>
          <a:custGeom>
            <a:avLst/>
            <a:gdLst/>
            <a:ahLst/>
            <a:cxnLst/>
            <a:rect l="l" t="t" r="r" b="b"/>
            <a:pathLst>
              <a:path w="278764" h="212089">
                <a:moveTo>
                  <a:pt x="211200" y="0"/>
                </a:moveTo>
                <a:lnTo>
                  <a:pt x="208153" y="8597"/>
                </a:lnTo>
                <a:lnTo>
                  <a:pt x="220438" y="13915"/>
                </a:lnTo>
                <a:lnTo>
                  <a:pt x="230997" y="21277"/>
                </a:lnTo>
                <a:lnTo>
                  <a:pt x="252388" y="55414"/>
                </a:lnTo>
                <a:lnTo>
                  <a:pt x="259461" y="104813"/>
                </a:lnTo>
                <a:lnTo>
                  <a:pt x="258675" y="123489"/>
                </a:lnTo>
                <a:lnTo>
                  <a:pt x="246887" y="169214"/>
                </a:lnTo>
                <a:lnTo>
                  <a:pt x="220581" y="197805"/>
                </a:lnTo>
                <a:lnTo>
                  <a:pt x="208534" y="203149"/>
                </a:lnTo>
                <a:lnTo>
                  <a:pt x="211200" y="211747"/>
                </a:lnTo>
                <a:lnTo>
                  <a:pt x="251670" y="187710"/>
                </a:lnTo>
                <a:lnTo>
                  <a:pt x="274399" y="143335"/>
                </a:lnTo>
                <a:lnTo>
                  <a:pt x="278765" y="105930"/>
                </a:lnTo>
                <a:lnTo>
                  <a:pt x="277669" y="86520"/>
                </a:lnTo>
                <a:lnTo>
                  <a:pt x="261238" y="37109"/>
                </a:lnTo>
                <a:lnTo>
                  <a:pt x="226538" y="5541"/>
                </a:lnTo>
                <a:lnTo>
                  <a:pt x="211200" y="0"/>
                </a:lnTo>
                <a:close/>
              </a:path>
              <a:path w="278764" h="212089">
                <a:moveTo>
                  <a:pt x="67563" y="0"/>
                </a:moveTo>
                <a:lnTo>
                  <a:pt x="27166" y="24095"/>
                </a:lnTo>
                <a:lnTo>
                  <a:pt x="4381" y="68581"/>
                </a:lnTo>
                <a:lnTo>
                  <a:pt x="0" y="105930"/>
                </a:lnTo>
                <a:lnTo>
                  <a:pt x="1093" y="125383"/>
                </a:lnTo>
                <a:lnTo>
                  <a:pt x="17399" y="174739"/>
                </a:lnTo>
                <a:lnTo>
                  <a:pt x="52153" y="206212"/>
                </a:lnTo>
                <a:lnTo>
                  <a:pt x="67563" y="211747"/>
                </a:lnTo>
                <a:lnTo>
                  <a:pt x="70231" y="203149"/>
                </a:lnTo>
                <a:lnTo>
                  <a:pt x="58183" y="197805"/>
                </a:lnTo>
                <a:lnTo>
                  <a:pt x="47767" y="190368"/>
                </a:lnTo>
                <a:lnTo>
                  <a:pt x="26376" y="155689"/>
                </a:lnTo>
                <a:lnTo>
                  <a:pt x="19304" y="104813"/>
                </a:lnTo>
                <a:lnTo>
                  <a:pt x="20089" y="86751"/>
                </a:lnTo>
                <a:lnTo>
                  <a:pt x="31876" y="42138"/>
                </a:lnTo>
                <a:lnTo>
                  <a:pt x="58344" y="13915"/>
                </a:lnTo>
                <a:lnTo>
                  <a:pt x="70612" y="8597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" name="object 18"/>
          <p:cNvSpPr txBox="1"/>
          <p:nvPr/>
        </p:nvSpPr>
        <p:spPr>
          <a:xfrm>
            <a:off x="2934176" y="4618025"/>
            <a:ext cx="57150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433388" algn="l"/>
              </a:tabLst>
            </a:pPr>
            <a:r>
              <a:rPr sz="1350" spc="-4" dirty="0">
                <a:latin typeface="Cambria Math"/>
                <a:cs typeface="Cambria Math"/>
              </a:rPr>
              <a:t>𝑓</a:t>
            </a:r>
            <a:r>
              <a:rPr sz="1350" dirty="0">
                <a:latin typeface="Cambria Math"/>
                <a:cs typeface="Cambria Math"/>
              </a:rPr>
              <a:t>′ </a:t>
            </a:r>
            <a:r>
              <a:rPr sz="1350" spc="-3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𝑥	=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543586" y="4743155"/>
            <a:ext cx="791051" cy="200501"/>
          </a:xfrm>
          <a:custGeom>
            <a:avLst/>
            <a:gdLst/>
            <a:ahLst/>
            <a:cxnLst/>
            <a:rect l="l" t="t" r="r" b="b"/>
            <a:pathLst>
              <a:path w="1054735" h="267334">
                <a:moveTo>
                  <a:pt x="90678" y="63715"/>
                </a:moveTo>
                <a:lnTo>
                  <a:pt x="87630" y="55118"/>
                </a:lnTo>
                <a:lnTo>
                  <a:pt x="72263" y="60667"/>
                </a:lnTo>
                <a:lnTo>
                  <a:pt x="58801" y="68694"/>
                </a:lnTo>
                <a:lnTo>
                  <a:pt x="29921" y="107238"/>
                </a:lnTo>
                <a:lnTo>
                  <a:pt x="20066" y="161048"/>
                </a:lnTo>
                <a:lnTo>
                  <a:pt x="21158" y="180505"/>
                </a:lnTo>
                <a:lnTo>
                  <a:pt x="37465" y="229857"/>
                </a:lnTo>
                <a:lnTo>
                  <a:pt x="72212" y="261340"/>
                </a:lnTo>
                <a:lnTo>
                  <a:pt x="87630" y="266865"/>
                </a:lnTo>
                <a:lnTo>
                  <a:pt x="90297" y="258267"/>
                </a:lnTo>
                <a:lnTo>
                  <a:pt x="78244" y="252933"/>
                </a:lnTo>
                <a:lnTo>
                  <a:pt x="67830" y="245491"/>
                </a:lnTo>
                <a:lnTo>
                  <a:pt x="46431" y="210807"/>
                </a:lnTo>
                <a:lnTo>
                  <a:pt x="39370" y="159931"/>
                </a:lnTo>
                <a:lnTo>
                  <a:pt x="40144" y="141871"/>
                </a:lnTo>
                <a:lnTo>
                  <a:pt x="51943" y="97256"/>
                </a:lnTo>
                <a:lnTo>
                  <a:pt x="78409" y="69037"/>
                </a:lnTo>
                <a:lnTo>
                  <a:pt x="90678" y="63715"/>
                </a:lnTo>
                <a:close/>
              </a:path>
              <a:path w="1054735" h="267334">
                <a:moveTo>
                  <a:pt x="928243" y="161048"/>
                </a:moveTo>
                <a:lnTo>
                  <a:pt x="918375" y="107238"/>
                </a:lnTo>
                <a:lnTo>
                  <a:pt x="889457" y="68694"/>
                </a:lnTo>
                <a:lnTo>
                  <a:pt x="860679" y="55118"/>
                </a:lnTo>
                <a:lnTo>
                  <a:pt x="857631" y="63715"/>
                </a:lnTo>
                <a:lnTo>
                  <a:pt x="869911" y="69037"/>
                </a:lnTo>
                <a:lnTo>
                  <a:pt x="880465" y="76403"/>
                </a:lnTo>
                <a:lnTo>
                  <a:pt x="901865" y="110540"/>
                </a:lnTo>
                <a:lnTo>
                  <a:pt x="908939" y="159931"/>
                </a:lnTo>
                <a:lnTo>
                  <a:pt x="908151" y="178612"/>
                </a:lnTo>
                <a:lnTo>
                  <a:pt x="896366" y="224332"/>
                </a:lnTo>
                <a:lnTo>
                  <a:pt x="870051" y="252933"/>
                </a:lnTo>
                <a:lnTo>
                  <a:pt x="858012" y="258267"/>
                </a:lnTo>
                <a:lnTo>
                  <a:pt x="860679" y="266865"/>
                </a:lnTo>
                <a:lnTo>
                  <a:pt x="901141" y="242836"/>
                </a:lnTo>
                <a:lnTo>
                  <a:pt x="923874" y="198462"/>
                </a:lnTo>
                <a:lnTo>
                  <a:pt x="927138" y="180505"/>
                </a:lnTo>
                <a:lnTo>
                  <a:pt x="928243" y="161048"/>
                </a:lnTo>
                <a:close/>
              </a:path>
              <a:path w="1054735" h="267334">
                <a:moveTo>
                  <a:pt x="1054608" y="0"/>
                </a:moveTo>
                <a:lnTo>
                  <a:pt x="0" y="0"/>
                </a:lnTo>
                <a:lnTo>
                  <a:pt x="0" y="15240"/>
                </a:lnTo>
                <a:lnTo>
                  <a:pt x="1054608" y="15240"/>
                </a:lnTo>
                <a:lnTo>
                  <a:pt x="10546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 txBox="1"/>
          <p:nvPr/>
        </p:nvSpPr>
        <p:spPr>
          <a:xfrm>
            <a:off x="3777139" y="4424858"/>
            <a:ext cx="31670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025" spc="56" baseline="-20061" dirty="0">
                <a:latin typeface="Cambria Math"/>
                <a:cs typeface="Cambria Math"/>
              </a:rPr>
              <a:t>𝑒</a:t>
            </a:r>
            <a:r>
              <a:rPr sz="975" spc="38" dirty="0">
                <a:latin typeface="Cambria Math"/>
                <a:cs typeface="Cambria Math"/>
              </a:rPr>
              <a:t>−𝑥</a:t>
            </a:r>
            <a:endParaRPr sz="975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7401" y="4680890"/>
            <a:ext cx="76914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025" spc="56" baseline="-16975" dirty="0">
                <a:latin typeface="Cambria Math"/>
                <a:cs typeface="Cambria Math"/>
              </a:rPr>
              <a:t>𝑒</a:t>
            </a:r>
            <a:r>
              <a:rPr sz="975" spc="38" dirty="0">
                <a:latin typeface="Cambria Math"/>
                <a:cs typeface="Cambria Math"/>
              </a:rPr>
              <a:t>−𝑥</a:t>
            </a:r>
            <a:r>
              <a:rPr sz="975" spc="135" dirty="0">
                <a:latin typeface="Cambria Math"/>
                <a:cs typeface="Cambria Math"/>
              </a:rPr>
              <a:t> </a:t>
            </a:r>
            <a:r>
              <a:rPr sz="2025" baseline="-16975" dirty="0">
                <a:latin typeface="Cambria Math"/>
                <a:cs typeface="Cambria Math"/>
              </a:rPr>
              <a:t>+</a:t>
            </a:r>
            <a:r>
              <a:rPr sz="2025" spc="-11" baseline="-16975" dirty="0">
                <a:latin typeface="Cambria Math"/>
                <a:cs typeface="Cambria Math"/>
              </a:rPr>
              <a:t> </a:t>
            </a:r>
            <a:r>
              <a:rPr sz="2025" baseline="-16975" dirty="0">
                <a:latin typeface="Cambria Math"/>
                <a:cs typeface="Cambria Math"/>
              </a:rPr>
              <a:t>1</a:t>
            </a:r>
            <a:r>
              <a:rPr sz="2025" spc="354" baseline="-16975" dirty="0">
                <a:latin typeface="Cambria Math"/>
                <a:cs typeface="Cambria Math"/>
              </a:rPr>
              <a:t> </a:t>
            </a:r>
            <a:r>
              <a:rPr sz="975" spc="30" dirty="0">
                <a:latin typeface="Cambria Math"/>
                <a:cs typeface="Cambria Math"/>
              </a:rPr>
              <a:t>2</a:t>
            </a:r>
            <a:endParaRPr sz="975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53966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57324" y="4280526"/>
            <a:ext cx="6226016" cy="829151"/>
            <a:chOff x="419098" y="5707367"/>
            <a:chExt cx="8301355" cy="11055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098" y="5707367"/>
              <a:ext cx="8301231" cy="110491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199" y="5722620"/>
              <a:ext cx="8229600" cy="1033780"/>
            </a:xfrm>
            <a:custGeom>
              <a:avLst/>
              <a:gdLst/>
              <a:ahLst/>
              <a:cxnLst/>
              <a:rect l="l" t="t" r="r" b="b"/>
              <a:pathLst>
                <a:path w="8229600" h="1033779">
                  <a:moveTo>
                    <a:pt x="8229600" y="0"/>
                  </a:moveTo>
                  <a:lnTo>
                    <a:pt x="0" y="0"/>
                  </a:lnTo>
                  <a:lnTo>
                    <a:pt x="0" y="1033271"/>
                  </a:lnTo>
                  <a:lnTo>
                    <a:pt x="8229600" y="1033271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FFE38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457199" y="5722620"/>
              <a:ext cx="8229600" cy="1033780"/>
            </a:xfrm>
            <a:custGeom>
              <a:avLst/>
              <a:gdLst/>
              <a:ahLst/>
              <a:cxnLst/>
              <a:rect l="l" t="t" r="r" b="b"/>
              <a:pathLst>
                <a:path w="8229600" h="1033779">
                  <a:moveTo>
                    <a:pt x="0" y="1033271"/>
                  </a:moveTo>
                  <a:lnTo>
                    <a:pt x="8229600" y="1033271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103327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3401" y="346425"/>
            <a:ext cx="6387370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spc="-23" dirty="0"/>
              <a:t>Vanishing</a:t>
            </a:r>
            <a:r>
              <a:rPr sz="3300" spc="-8" dirty="0"/>
              <a:t> </a:t>
            </a:r>
            <a:r>
              <a:rPr sz="3300" spc="-11" dirty="0"/>
              <a:t>gradient</a:t>
            </a:r>
            <a:r>
              <a:rPr sz="3300" spc="-26" dirty="0"/>
              <a:t> </a:t>
            </a:r>
            <a:r>
              <a:rPr sz="3300" spc="-11" dirty="0"/>
              <a:t>problem</a:t>
            </a:r>
            <a:endParaRPr sz="3300" dirty="0"/>
          </a:p>
        </p:txBody>
      </p:sp>
      <p:sp>
        <p:nvSpPr>
          <p:cNvPr id="7" name="object 7"/>
          <p:cNvSpPr txBox="1"/>
          <p:nvPr/>
        </p:nvSpPr>
        <p:spPr>
          <a:xfrm>
            <a:off x="381000" y="1210018"/>
            <a:ext cx="800100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6700" indent="-257175">
              <a:spcBef>
                <a:spcPts val="75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pc="-4" dirty="0">
                <a:latin typeface="Calibri"/>
                <a:cs typeface="Calibri"/>
              </a:rPr>
              <a:t>Computing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 </a:t>
            </a:r>
            <a:r>
              <a:rPr spc="-8" dirty="0">
                <a:latin typeface="Calibri"/>
                <a:cs typeface="Calibri"/>
              </a:rPr>
              <a:t>gradient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via the chain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rule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for</a:t>
            </a:r>
            <a:r>
              <a:rPr dirty="0">
                <a:latin typeface="Calibri"/>
                <a:cs typeface="Calibri"/>
              </a:rPr>
              <a:t> the </a:t>
            </a:r>
            <a:r>
              <a:rPr spc="-4" dirty="0">
                <a:latin typeface="Calibri"/>
                <a:cs typeface="Calibri"/>
              </a:rPr>
              <a:t>other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hidden</a:t>
            </a:r>
            <a:r>
              <a:rPr lang="en-US" spc="-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nodes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54480" y="4338219"/>
            <a:ext cx="5887879" cy="4456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6699" indent="-256699">
              <a:lnSpc>
                <a:spcPts val="2141"/>
              </a:lnSpc>
              <a:spcBef>
                <a:spcPts val="75"/>
              </a:spcBef>
              <a:buFont typeface="Arial"/>
              <a:buChar char="•"/>
              <a:tabLst>
                <a:tab pos="256699" algn="l"/>
                <a:tab pos="257175" algn="l"/>
              </a:tabLst>
            </a:pPr>
            <a:r>
              <a:rPr spc="-4" dirty="0">
                <a:latin typeface="Calibri"/>
                <a:cs typeface="Calibri"/>
              </a:rPr>
              <a:t>Thus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gradient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of</a:t>
            </a:r>
            <a:r>
              <a:rPr dirty="0">
                <a:latin typeface="Calibri"/>
                <a:cs typeface="Calibri"/>
              </a:rPr>
              <a:t> each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hidden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layer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becomes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smaller</a:t>
            </a:r>
            <a:r>
              <a:rPr spc="-8" dirty="0">
                <a:latin typeface="Calibri"/>
                <a:cs typeface="Calibri"/>
              </a:rPr>
              <a:t> by</a:t>
            </a:r>
            <a:r>
              <a:rPr dirty="0">
                <a:latin typeface="Calibri"/>
                <a:cs typeface="Calibri"/>
              </a:rPr>
              <a:t> a</a:t>
            </a:r>
            <a:endParaRPr>
              <a:latin typeface="Calibri"/>
              <a:cs typeface="Calibri"/>
            </a:endParaRPr>
          </a:p>
          <a:p>
            <a:pPr marL="1132523">
              <a:lnSpc>
                <a:spcPts val="1286"/>
              </a:lnSpc>
            </a:pPr>
            <a:r>
              <a:rPr sz="1088" u="heavy" spc="38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endParaRPr sz="1088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87383" y="4791075"/>
            <a:ext cx="91440" cy="176075"/>
          </a:xfrm>
          <a:prstGeom prst="rect">
            <a:avLst/>
          </a:prstGeom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088" spc="38" dirty="0">
                <a:latin typeface="Cambria Math"/>
                <a:cs typeface="Cambria Math"/>
              </a:rPr>
              <a:t>4</a:t>
            </a:r>
            <a:endParaRPr sz="1088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1655" y="4616197"/>
            <a:ext cx="491632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  <a:tabLst>
                <a:tab pos="1044416" algn="l"/>
              </a:tabLst>
            </a:pPr>
            <a:r>
              <a:rPr spc="-11" dirty="0">
                <a:latin typeface="Calibri"/>
                <a:cs typeface="Calibri"/>
              </a:rPr>
              <a:t>factor </a:t>
            </a:r>
            <a:r>
              <a:rPr spc="-4" dirty="0">
                <a:latin typeface="Calibri"/>
                <a:cs typeface="Calibri"/>
              </a:rPr>
              <a:t>of	</a:t>
            </a:r>
            <a:r>
              <a:rPr dirty="0">
                <a:latin typeface="Calibri"/>
                <a:cs typeface="Calibri"/>
              </a:rPr>
              <a:t>as</a:t>
            </a:r>
            <a:r>
              <a:rPr spc="-11" dirty="0">
                <a:latin typeface="Calibri"/>
                <a:cs typeface="Calibri"/>
              </a:rPr>
              <a:t> we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move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backward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across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network</a:t>
            </a:r>
            <a:endParaRPr>
              <a:latin typeface="Calibri"/>
              <a:cs typeface="Calibri"/>
            </a:endParaRPr>
          </a:p>
        </p:txBody>
      </p:sp>
      <p:grpSp>
        <p:nvGrpSpPr>
          <p:cNvPr id="24" name="object 4">
            <a:extLst>
              <a:ext uri="{FF2B5EF4-FFF2-40B4-BE49-F238E27FC236}">
                <a16:creationId xmlns:a16="http://schemas.microsoft.com/office/drawing/2014/main" id="{0CBD7647-9F70-4A37-8939-B79874BEC17C}"/>
              </a:ext>
            </a:extLst>
          </p:cNvPr>
          <p:cNvGrpSpPr/>
          <p:nvPr/>
        </p:nvGrpSpPr>
        <p:grpSpPr>
          <a:xfrm>
            <a:off x="3727086" y="1934519"/>
            <a:ext cx="2259803" cy="1921002"/>
            <a:chOff x="4630415" y="2894076"/>
            <a:chExt cx="4478655" cy="3807460"/>
          </a:xfrm>
        </p:grpSpPr>
        <p:pic>
          <p:nvPicPr>
            <p:cNvPr id="25" name="object 5">
              <a:extLst>
                <a:ext uri="{FF2B5EF4-FFF2-40B4-BE49-F238E27FC236}">
                  <a16:creationId xmlns:a16="http://schemas.microsoft.com/office/drawing/2014/main" id="{5E68B1DE-A56F-4063-845B-528C12CF212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0415" y="3021159"/>
              <a:ext cx="4478532" cy="3679868"/>
            </a:xfrm>
            <a:prstGeom prst="rect">
              <a:avLst/>
            </a:prstGeom>
          </p:spPr>
        </p:pic>
        <p:sp>
          <p:nvSpPr>
            <p:cNvPr id="26" name="object 6">
              <a:extLst>
                <a:ext uri="{FF2B5EF4-FFF2-40B4-BE49-F238E27FC236}">
                  <a16:creationId xmlns:a16="http://schemas.microsoft.com/office/drawing/2014/main" id="{ADC932B8-5181-4976-A94A-5F33FADDD424}"/>
                </a:ext>
              </a:extLst>
            </p:cNvPr>
            <p:cNvSpPr/>
            <p:nvPr/>
          </p:nvSpPr>
          <p:spPr>
            <a:xfrm>
              <a:off x="6170676" y="2894076"/>
              <a:ext cx="1591310" cy="338455"/>
            </a:xfrm>
            <a:custGeom>
              <a:avLst/>
              <a:gdLst/>
              <a:ahLst/>
              <a:cxnLst/>
              <a:rect l="l" t="t" r="r" b="b"/>
              <a:pathLst>
                <a:path w="1591309" h="338455">
                  <a:moveTo>
                    <a:pt x="1591055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1591055" y="338327"/>
                  </a:lnTo>
                  <a:lnTo>
                    <a:pt x="15910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</p:spTree>
    <p:extLst>
      <p:ext uri="{BB962C8B-B14F-4D97-AF65-F5344CB8AC3E}">
        <p14:creationId xmlns:p14="http://schemas.microsoft.com/office/powerpoint/2010/main" val="2228747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41268"/>
            <a:ext cx="6372797" cy="51744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3300" spc="-23" dirty="0"/>
              <a:t>Vanishing</a:t>
            </a:r>
            <a:r>
              <a:rPr sz="3300" spc="-8" dirty="0"/>
              <a:t> </a:t>
            </a:r>
            <a:r>
              <a:rPr sz="3300" spc="-11" dirty="0"/>
              <a:t>gradient</a:t>
            </a:r>
            <a:r>
              <a:rPr sz="3300" spc="-26" dirty="0"/>
              <a:t> </a:t>
            </a:r>
            <a:r>
              <a:rPr sz="3300" spc="-11" dirty="0"/>
              <a:t>problem</a:t>
            </a:r>
            <a:endParaRPr sz="3300" dirty="0"/>
          </a:p>
        </p:txBody>
      </p:sp>
      <p:grpSp>
        <p:nvGrpSpPr>
          <p:cNvPr id="3" name="object 3"/>
          <p:cNvGrpSpPr/>
          <p:nvPr/>
        </p:nvGrpSpPr>
        <p:grpSpPr>
          <a:xfrm>
            <a:off x="4626816" y="2391204"/>
            <a:ext cx="1838325" cy="818674"/>
            <a:chOff x="4645088" y="3188271"/>
            <a:chExt cx="2451100" cy="1091565"/>
          </a:xfrm>
        </p:grpSpPr>
        <p:sp>
          <p:nvSpPr>
            <p:cNvPr id="4" name="object 4"/>
            <p:cNvSpPr/>
            <p:nvPr/>
          </p:nvSpPr>
          <p:spPr>
            <a:xfrm>
              <a:off x="4658106" y="3201288"/>
              <a:ext cx="2425065" cy="1065530"/>
            </a:xfrm>
            <a:custGeom>
              <a:avLst/>
              <a:gdLst/>
              <a:ahLst/>
              <a:cxnLst/>
              <a:rect l="l" t="t" r="r" b="b"/>
              <a:pathLst>
                <a:path w="2425065" h="1065529">
                  <a:moveTo>
                    <a:pt x="1207770" y="0"/>
                  </a:moveTo>
                  <a:lnTo>
                    <a:pt x="404114" y="600329"/>
                  </a:lnTo>
                  <a:lnTo>
                    <a:pt x="0" y="600329"/>
                  </a:lnTo>
                  <a:lnTo>
                    <a:pt x="0" y="1065149"/>
                  </a:lnTo>
                  <a:lnTo>
                    <a:pt x="2424684" y="1065149"/>
                  </a:lnTo>
                  <a:lnTo>
                    <a:pt x="2424684" y="600329"/>
                  </a:lnTo>
                  <a:lnTo>
                    <a:pt x="1010285" y="600329"/>
                  </a:lnTo>
                  <a:lnTo>
                    <a:pt x="1207770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4658106" y="3201288"/>
              <a:ext cx="2425065" cy="1065530"/>
            </a:xfrm>
            <a:custGeom>
              <a:avLst/>
              <a:gdLst/>
              <a:ahLst/>
              <a:cxnLst/>
              <a:rect l="l" t="t" r="r" b="b"/>
              <a:pathLst>
                <a:path w="2425065" h="1065529">
                  <a:moveTo>
                    <a:pt x="0" y="600329"/>
                  </a:moveTo>
                  <a:lnTo>
                    <a:pt x="404114" y="600329"/>
                  </a:lnTo>
                  <a:lnTo>
                    <a:pt x="1207770" y="0"/>
                  </a:lnTo>
                  <a:lnTo>
                    <a:pt x="1010285" y="600329"/>
                  </a:lnTo>
                  <a:lnTo>
                    <a:pt x="2424684" y="600329"/>
                  </a:lnTo>
                  <a:lnTo>
                    <a:pt x="2424684" y="677799"/>
                  </a:lnTo>
                  <a:lnTo>
                    <a:pt x="2424684" y="794004"/>
                  </a:lnTo>
                  <a:lnTo>
                    <a:pt x="2424684" y="1065149"/>
                  </a:lnTo>
                  <a:lnTo>
                    <a:pt x="1010285" y="1065149"/>
                  </a:lnTo>
                  <a:lnTo>
                    <a:pt x="404114" y="1065149"/>
                  </a:lnTo>
                  <a:lnTo>
                    <a:pt x="0" y="1065149"/>
                  </a:lnTo>
                  <a:lnTo>
                    <a:pt x="0" y="794004"/>
                  </a:lnTo>
                  <a:lnTo>
                    <a:pt x="0" y="677799"/>
                  </a:lnTo>
                  <a:lnTo>
                    <a:pt x="0" y="600329"/>
                  </a:lnTo>
                  <a:close/>
                </a:path>
              </a:pathLst>
            </a:custGeom>
            <a:ln w="25908">
              <a:solidFill>
                <a:srgbClr val="70883E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87837" y="2863977"/>
            <a:ext cx="1516856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1" dirty="0">
                <a:solidFill>
                  <a:srgbClr val="FFFFFF"/>
                </a:solidFill>
                <a:latin typeface="Calibri"/>
                <a:cs typeface="Calibri"/>
              </a:rPr>
              <a:t>Larger</a:t>
            </a:r>
            <a:r>
              <a:rPr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8" dirty="0">
                <a:solidFill>
                  <a:srgbClr val="FFFFFF"/>
                </a:solidFill>
                <a:latin typeface="Calibri"/>
                <a:cs typeface="Calibri"/>
              </a:rPr>
              <a:t>gradients</a:t>
            </a:r>
            <a:endParaRPr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171700" y="3251854"/>
            <a:ext cx="1884998" cy="541020"/>
            <a:chOff x="1371600" y="4335805"/>
            <a:chExt cx="2513330" cy="72136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0" y="4363237"/>
              <a:ext cx="2513076" cy="57452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0180" y="4335805"/>
              <a:ext cx="2375916" cy="72082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8844" y="4390644"/>
              <a:ext cx="2423160" cy="48463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18844" y="4390644"/>
              <a:ext cx="2423160" cy="485140"/>
            </a:xfrm>
            <a:custGeom>
              <a:avLst/>
              <a:gdLst/>
              <a:ahLst/>
              <a:cxnLst/>
              <a:rect l="l" t="t" r="r" b="b"/>
              <a:pathLst>
                <a:path w="2423160" h="485139">
                  <a:moveTo>
                    <a:pt x="0" y="484631"/>
                  </a:moveTo>
                  <a:lnTo>
                    <a:pt x="2423160" y="484631"/>
                  </a:lnTo>
                  <a:lnTo>
                    <a:pt x="2423160" y="0"/>
                  </a:lnTo>
                  <a:lnTo>
                    <a:pt x="0" y="0"/>
                  </a:lnTo>
                  <a:lnTo>
                    <a:pt x="0" y="48463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383251" y="3313424"/>
            <a:ext cx="146542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4" dirty="0">
                <a:latin typeface="Calibri"/>
                <a:cs typeface="Calibri"/>
              </a:rPr>
              <a:t>Learn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very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slow</a:t>
            </a:r>
            <a:endParaRPr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38865" y="3294697"/>
            <a:ext cx="1816418" cy="306334"/>
          </a:xfrm>
          <a:prstGeom prst="rect">
            <a:avLst/>
          </a:prstGeom>
          <a:solidFill>
            <a:srgbClr val="9BBA58"/>
          </a:solidFill>
          <a:ln w="25907">
            <a:solidFill>
              <a:srgbClr val="70883E"/>
            </a:solidFill>
          </a:ln>
        </p:spPr>
        <p:txBody>
          <a:bodyPr vert="horz" wrap="square" lIns="0" tIns="29051" rIns="0" bIns="0" rtlCol="0">
            <a:spAutoFit/>
          </a:bodyPr>
          <a:lstStyle/>
          <a:p>
            <a:pPr marL="227171">
              <a:spcBef>
                <a:spcPts val="229"/>
              </a:spcBef>
            </a:pPr>
            <a:r>
              <a:rPr spc="-4" dirty="0">
                <a:solidFill>
                  <a:srgbClr val="FFFFFF"/>
                </a:solidFill>
                <a:latin typeface="Calibri"/>
                <a:cs typeface="Calibri"/>
              </a:rPr>
              <a:t>Learn</a:t>
            </a:r>
            <a:r>
              <a:rPr spc="-1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pc="-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FFFFFF"/>
                </a:solidFill>
                <a:latin typeface="Calibri"/>
                <a:cs typeface="Calibri"/>
              </a:rPr>
              <a:t>fast</a:t>
            </a:r>
            <a:endParaRPr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669935" y="988695"/>
            <a:ext cx="3900011" cy="1818799"/>
            <a:chOff x="2035912" y="1318260"/>
            <a:chExt cx="5200015" cy="242506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28159" y="1318260"/>
              <a:ext cx="765035" cy="240182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370831" y="1341120"/>
              <a:ext cx="684530" cy="2321560"/>
            </a:xfrm>
            <a:custGeom>
              <a:avLst/>
              <a:gdLst/>
              <a:ahLst/>
              <a:cxnLst/>
              <a:rect l="l" t="t" r="r" b="b"/>
              <a:pathLst>
                <a:path w="684529" h="2321560">
                  <a:moveTo>
                    <a:pt x="684276" y="0"/>
                  </a:moveTo>
                  <a:lnTo>
                    <a:pt x="0" y="0"/>
                  </a:lnTo>
                  <a:lnTo>
                    <a:pt x="0" y="2321052"/>
                  </a:lnTo>
                  <a:lnTo>
                    <a:pt x="684276" y="2321052"/>
                  </a:lnTo>
                  <a:lnTo>
                    <a:pt x="68427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93535" y="1341120"/>
              <a:ext cx="765035" cy="240182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236208" y="1363980"/>
              <a:ext cx="684530" cy="2321560"/>
            </a:xfrm>
            <a:custGeom>
              <a:avLst/>
              <a:gdLst/>
              <a:ahLst/>
              <a:cxnLst/>
              <a:rect l="l" t="t" r="r" b="b"/>
              <a:pathLst>
                <a:path w="684529" h="2321560">
                  <a:moveTo>
                    <a:pt x="684276" y="0"/>
                  </a:moveTo>
                  <a:lnTo>
                    <a:pt x="0" y="0"/>
                  </a:lnTo>
                  <a:lnTo>
                    <a:pt x="0" y="2321052"/>
                  </a:lnTo>
                  <a:lnTo>
                    <a:pt x="684276" y="2321052"/>
                  </a:lnTo>
                  <a:lnTo>
                    <a:pt x="68427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6" name="object 26"/>
            <p:cNvSpPr/>
            <p:nvPr/>
          </p:nvSpPr>
          <p:spPr>
            <a:xfrm>
              <a:off x="6569202" y="1560575"/>
              <a:ext cx="666115" cy="1833880"/>
            </a:xfrm>
            <a:custGeom>
              <a:avLst/>
              <a:gdLst/>
              <a:ahLst/>
              <a:cxnLst/>
              <a:rect l="l" t="t" r="r" b="b"/>
              <a:pathLst>
                <a:path w="666115" h="1833879">
                  <a:moveTo>
                    <a:pt x="664845" y="1794510"/>
                  </a:moveTo>
                  <a:lnTo>
                    <a:pt x="638937" y="1781556"/>
                  </a:lnTo>
                  <a:lnTo>
                    <a:pt x="587121" y="1755648"/>
                  </a:lnTo>
                  <a:lnTo>
                    <a:pt x="587121" y="1781556"/>
                  </a:lnTo>
                  <a:lnTo>
                    <a:pt x="121920" y="1781556"/>
                  </a:lnTo>
                  <a:lnTo>
                    <a:pt x="121920" y="1807464"/>
                  </a:lnTo>
                  <a:lnTo>
                    <a:pt x="587121" y="1807464"/>
                  </a:lnTo>
                  <a:lnTo>
                    <a:pt x="587121" y="1833372"/>
                  </a:lnTo>
                  <a:lnTo>
                    <a:pt x="638937" y="1807464"/>
                  </a:lnTo>
                  <a:lnTo>
                    <a:pt x="664845" y="1794510"/>
                  </a:lnTo>
                  <a:close/>
                </a:path>
                <a:path w="666115" h="1833879">
                  <a:moveTo>
                    <a:pt x="665099" y="38862"/>
                  </a:moveTo>
                  <a:lnTo>
                    <a:pt x="639191" y="25908"/>
                  </a:lnTo>
                  <a:lnTo>
                    <a:pt x="587375" y="0"/>
                  </a:lnTo>
                  <a:lnTo>
                    <a:pt x="587375" y="25908"/>
                  </a:lnTo>
                  <a:lnTo>
                    <a:pt x="0" y="25908"/>
                  </a:lnTo>
                  <a:lnTo>
                    <a:pt x="0" y="51816"/>
                  </a:lnTo>
                  <a:lnTo>
                    <a:pt x="587375" y="51816"/>
                  </a:lnTo>
                  <a:lnTo>
                    <a:pt x="587375" y="77724"/>
                  </a:lnTo>
                  <a:lnTo>
                    <a:pt x="639191" y="51816"/>
                  </a:lnTo>
                  <a:lnTo>
                    <a:pt x="665099" y="38862"/>
                  </a:lnTo>
                  <a:close/>
                </a:path>
                <a:path w="666115" h="1833879">
                  <a:moveTo>
                    <a:pt x="666115" y="713994"/>
                  </a:moveTo>
                  <a:lnTo>
                    <a:pt x="640207" y="701040"/>
                  </a:lnTo>
                  <a:lnTo>
                    <a:pt x="588391" y="675132"/>
                  </a:lnTo>
                  <a:lnTo>
                    <a:pt x="588391" y="701040"/>
                  </a:lnTo>
                  <a:lnTo>
                    <a:pt x="22847" y="701040"/>
                  </a:lnTo>
                  <a:lnTo>
                    <a:pt x="22847" y="726948"/>
                  </a:lnTo>
                  <a:lnTo>
                    <a:pt x="588391" y="726948"/>
                  </a:lnTo>
                  <a:lnTo>
                    <a:pt x="588391" y="752856"/>
                  </a:lnTo>
                  <a:lnTo>
                    <a:pt x="640207" y="726948"/>
                  </a:lnTo>
                  <a:lnTo>
                    <a:pt x="666115" y="7139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1115" y="1341108"/>
              <a:ext cx="746820" cy="238355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154679" y="1354836"/>
              <a:ext cx="684530" cy="2321560"/>
            </a:xfrm>
            <a:custGeom>
              <a:avLst/>
              <a:gdLst/>
              <a:ahLst/>
              <a:cxnLst/>
              <a:rect l="l" t="t" r="r" b="b"/>
              <a:pathLst>
                <a:path w="684529" h="2321560">
                  <a:moveTo>
                    <a:pt x="684276" y="0"/>
                  </a:moveTo>
                  <a:lnTo>
                    <a:pt x="0" y="0"/>
                  </a:lnTo>
                  <a:lnTo>
                    <a:pt x="0" y="2321052"/>
                  </a:lnTo>
                  <a:lnTo>
                    <a:pt x="684276" y="2321052"/>
                  </a:lnTo>
                  <a:lnTo>
                    <a:pt x="68427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35912" y="1365498"/>
              <a:ext cx="521549" cy="233935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069591" y="1379220"/>
              <a:ext cx="459105" cy="2277110"/>
            </a:xfrm>
            <a:custGeom>
              <a:avLst/>
              <a:gdLst/>
              <a:ahLst/>
              <a:cxnLst/>
              <a:rect l="l" t="t" r="r" b="b"/>
              <a:pathLst>
                <a:path w="459105" h="2277110">
                  <a:moveTo>
                    <a:pt x="458724" y="0"/>
                  </a:moveTo>
                  <a:lnTo>
                    <a:pt x="0" y="0"/>
                  </a:lnTo>
                  <a:lnTo>
                    <a:pt x="0" y="2276855"/>
                  </a:lnTo>
                  <a:lnTo>
                    <a:pt x="458724" y="2276855"/>
                  </a:lnTo>
                  <a:lnTo>
                    <a:pt x="45872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84831" y="1973567"/>
              <a:ext cx="405396" cy="38710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2075" y="2001012"/>
              <a:ext cx="315468" cy="29717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132075" y="2001012"/>
              <a:ext cx="315595" cy="297180"/>
            </a:xfrm>
            <a:custGeom>
              <a:avLst/>
              <a:gdLst/>
              <a:ahLst/>
              <a:cxnLst/>
              <a:rect l="l" t="t" r="r" b="b"/>
              <a:pathLst>
                <a:path w="315594" h="297180">
                  <a:moveTo>
                    <a:pt x="0" y="297179"/>
                  </a:moveTo>
                  <a:lnTo>
                    <a:pt x="315468" y="297179"/>
                  </a:lnTo>
                  <a:lnTo>
                    <a:pt x="315468" y="0"/>
                  </a:lnTo>
                  <a:lnTo>
                    <a:pt x="0" y="0"/>
                  </a:lnTo>
                  <a:lnTo>
                    <a:pt x="0" y="297179"/>
                  </a:lnTo>
                  <a:close/>
                </a:path>
              </a:pathLst>
            </a:custGeom>
            <a:ln w="9144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90927" y="1479791"/>
              <a:ext cx="403898" cy="38710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38171" y="1507236"/>
              <a:ext cx="313944" cy="29717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138171" y="1507236"/>
              <a:ext cx="314325" cy="297180"/>
            </a:xfrm>
            <a:custGeom>
              <a:avLst/>
              <a:gdLst/>
              <a:ahLst/>
              <a:cxnLst/>
              <a:rect l="l" t="t" r="r" b="b"/>
              <a:pathLst>
                <a:path w="314325" h="297180">
                  <a:moveTo>
                    <a:pt x="0" y="297179"/>
                  </a:moveTo>
                  <a:lnTo>
                    <a:pt x="313944" y="297179"/>
                  </a:lnTo>
                  <a:lnTo>
                    <a:pt x="313944" y="0"/>
                  </a:lnTo>
                  <a:lnTo>
                    <a:pt x="0" y="0"/>
                  </a:lnTo>
                  <a:lnTo>
                    <a:pt x="0" y="297179"/>
                  </a:lnTo>
                  <a:close/>
                </a:path>
              </a:pathLst>
            </a:custGeom>
            <a:ln w="9144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771298" y="1057490"/>
            <a:ext cx="208121" cy="266420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28575">
              <a:spcBef>
                <a:spcPts val="98"/>
              </a:spcBef>
            </a:pPr>
            <a:r>
              <a:rPr sz="1650" i="1" spc="-19" dirty="0">
                <a:latin typeface="Times New Roman"/>
                <a:cs typeface="Times New Roman"/>
              </a:rPr>
              <a:t>x</a:t>
            </a:r>
            <a:r>
              <a:rPr sz="1463" spc="-28" baseline="-23504" dirty="0">
                <a:latin typeface="Times New Roman"/>
                <a:cs typeface="Times New Roman"/>
              </a:rPr>
              <a:t>1</a:t>
            </a:r>
            <a:endParaRPr sz="1463" baseline="-23504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74882" y="1436966"/>
            <a:ext cx="223361" cy="266420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28575">
              <a:spcBef>
                <a:spcPts val="98"/>
              </a:spcBef>
            </a:pPr>
            <a:r>
              <a:rPr sz="1650" i="1" spc="41" dirty="0">
                <a:latin typeface="Times New Roman"/>
                <a:cs typeface="Times New Roman"/>
              </a:rPr>
              <a:t>x</a:t>
            </a:r>
            <a:r>
              <a:rPr sz="1463" spc="62" baseline="-23504" dirty="0">
                <a:latin typeface="Times New Roman"/>
                <a:cs typeface="Times New Roman"/>
              </a:rPr>
              <a:t>2</a:t>
            </a:r>
            <a:endParaRPr sz="1463" baseline="-23504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534156" y="1002401"/>
            <a:ext cx="471011" cy="1746885"/>
            <a:chOff x="3188207" y="1336535"/>
            <a:chExt cx="628015" cy="2329180"/>
          </a:xfrm>
        </p:grpSpPr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97351" y="1336535"/>
              <a:ext cx="615708" cy="58827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44595" y="1363979"/>
              <a:ext cx="525780" cy="49834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244595" y="1363979"/>
              <a:ext cx="525780" cy="498475"/>
            </a:xfrm>
            <a:custGeom>
              <a:avLst/>
              <a:gdLst/>
              <a:ahLst/>
              <a:cxnLst/>
              <a:rect l="l" t="t" r="r" b="b"/>
              <a:pathLst>
                <a:path w="525779" h="498475">
                  <a:moveTo>
                    <a:pt x="0" y="249174"/>
                  </a:moveTo>
                  <a:lnTo>
                    <a:pt x="4236" y="204370"/>
                  </a:lnTo>
                  <a:lnTo>
                    <a:pt x="16450" y="162207"/>
                  </a:lnTo>
                  <a:lnTo>
                    <a:pt x="35898" y="123387"/>
                  </a:lnTo>
                  <a:lnTo>
                    <a:pt x="61838" y="88612"/>
                  </a:lnTo>
                  <a:lnTo>
                    <a:pt x="93525" y="58585"/>
                  </a:lnTo>
                  <a:lnTo>
                    <a:pt x="130217" y="34007"/>
                  </a:lnTo>
                  <a:lnTo>
                    <a:pt x="171170" y="15582"/>
                  </a:lnTo>
                  <a:lnTo>
                    <a:pt x="215642" y="4012"/>
                  </a:lnTo>
                  <a:lnTo>
                    <a:pt x="262890" y="0"/>
                  </a:lnTo>
                  <a:lnTo>
                    <a:pt x="310137" y="4012"/>
                  </a:lnTo>
                  <a:lnTo>
                    <a:pt x="354609" y="15582"/>
                  </a:lnTo>
                  <a:lnTo>
                    <a:pt x="395562" y="34007"/>
                  </a:lnTo>
                  <a:lnTo>
                    <a:pt x="432254" y="58585"/>
                  </a:lnTo>
                  <a:lnTo>
                    <a:pt x="463941" y="88612"/>
                  </a:lnTo>
                  <a:lnTo>
                    <a:pt x="489881" y="123387"/>
                  </a:lnTo>
                  <a:lnTo>
                    <a:pt x="509329" y="162207"/>
                  </a:lnTo>
                  <a:lnTo>
                    <a:pt x="521543" y="204370"/>
                  </a:lnTo>
                  <a:lnTo>
                    <a:pt x="525780" y="249174"/>
                  </a:lnTo>
                  <a:lnTo>
                    <a:pt x="521543" y="293977"/>
                  </a:lnTo>
                  <a:lnTo>
                    <a:pt x="509329" y="336140"/>
                  </a:lnTo>
                  <a:lnTo>
                    <a:pt x="489881" y="374960"/>
                  </a:lnTo>
                  <a:lnTo>
                    <a:pt x="463941" y="409735"/>
                  </a:lnTo>
                  <a:lnTo>
                    <a:pt x="432254" y="439762"/>
                  </a:lnTo>
                  <a:lnTo>
                    <a:pt x="395562" y="464340"/>
                  </a:lnTo>
                  <a:lnTo>
                    <a:pt x="354609" y="482765"/>
                  </a:lnTo>
                  <a:lnTo>
                    <a:pt x="310137" y="494335"/>
                  </a:lnTo>
                  <a:lnTo>
                    <a:pt x="262890" y="498348"/>
                  </a:lnTo>
                  <a:lnTo>
                    <a:pt x="215642" y="494335"/>
                  </a:lnTo>
                  <a:lnTo>
                    <a:pt x="171170" y="482765"/>
                  </a:lnTo>
                  <a:lnTo>
                    <a:pt x="130217" y="464340"/>
                  </a:lnTo>
                  <a:lnTo>
                    <a:pt x="93525" y="439762"/>
                  </a:lnTo>
                  <a:lnTo>
                    <a:pt x="61838" y="409735"/>
                  </a:lnTo>
                  <a:lnTo>
                    <a:pt x="35898" y="374960"/>
                  </a:lnTo>
                  <a:lnTo>
                    <a:pt x="16450" y="336140"/>
                  </a:lnTo>
                  <a:lnTo>
                    <a:pt x="4236" y="293977"/>
                  </a:lnTo>
                  <a:lnTo>
                    <a:pt x="0" y="24917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98875" y="2011667"/>
              <a:ext cx="617220" cy="58827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46119" y="2039111"/>
              <a:ext cx="527304" cy="49834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246119" y="2039111"/>
              <a:ext cx="527685" cy="498475"/>
            </a:xfrm>
            <a:custGeom>
              <a:avLst/>
              <a:gdLst/>
              <a:ahLst/>
              <a:cxnLst/>
              <a:rect l="l" t="t" r="r" b="b"/>
              <a:pathLst>
                <a:path w="527685" h="498475">
                  <a:moveTo>
                    <a:pt x="0" y="249174"/>
                  </a:moveTo>
                  <a:lnTo>
                    <a:pt x="4245" y="204370"/>
                  </a:lnTo>
                  <a:lnTo>
                    <a:pt x="16488" y="162207"/>
                  </a:lnTo>
                  <a:lnTo>
                    <a:pt x="35983" y="123387"/>
                  </a:lnTo>
                  <a:lnTo>
                    <a:pt x="61988" y="88612"/>
                  </a:lnTo>
                  <a:lnTo>
                    <a:pt x="93760" y="58585"/>
                  </a:lnTo>
                  <a:lnTo>
                    <a:pt x="130556" y="34007"/>
                  </a:lnTo>
                  <a:lnTo>
                    <a:pt x="171631" y="15582"/>
                  </a:lnTo>
                  <a:lnTo>
                    <a:pt x="216244" y="4012"/>
                  </a:lnTo>
                  <a:lnTo>
                    <a:pt x="263652" y="0"/>
                  </a:lnTo>
                  <a:lnTo>
                    <a:pt x="311059" y="4012"/>
                  </a:lnTo>
                  <a:lnTo>
                    <a:pt x="355672" y="15582"/>
                  </a:lnTo>
                  <a:lnTo>
                    <a:pt x="396747" y="34007"/>
                  </a:lnTo>
                  <a:lnTo>
                    <a:pt x="433543" y="58585"/>
                  </a:lnTo>
                  <a:lnTo>
                    <a:pt x="465315" y="88612"/>
                  </a:lnTo>
                  <a:lnTo>
                    <a:pt x="491320" y="123387"/>
                  </a:lnTo>
                  <a:lnTo>
                    <a:pt x="510815" y="162207"/>
                  </a:lnTo>
                  <a:lnTo>
                    <a:pt x="523058" y="204370"/>
                  </a:lnTo>
                  <a:lnTo>
                    <a:pt x="527304" y="249174"/>
                  </a:lnTo>
                  <a:lnTo>
                    <a:pt x="523058" y="293977"/>
                  </a:lnTo>
                  <a:lnTo>
                    <a:pt x="510815" y="336140"/>
                  </a:lnTo>
                  <a:lnTo>
                    <a:pt x="491320" y="374960"/>
                  </a:lnTo>
                  <a:lnTo>
                    <a:pt x="465315" y="409735"/>
                  </a:lnTo>
                  <a:lnTo>
                    <a:pt x="433543" y="439762"/>
                  </a:lnTo>
                  <a:lnTo>
                    <a:pt x="396747" y="464340"/>
                  </a:lnTo>
                  <a:lnTo>
                    <a:pt x="355672" y="482765"/>
                  </a:lnTo>
                  <a:lnTo>
                    <a:pt x="311059" y="494335"/>
                  </a:lnTo>
                  <a:lnTo>
                    <a:pt x="263652" y="498348"/>
                  </a:lnTo>
                  <a:lnTo>
                    <a:pt x="216244" y="494335"/>
                  </a:lnTo>
                  <a:lnTo>
                    <a:pt x="171631" y="482765"/>
                  </a:lnTo>
                  <a:lnTo>
                    <a:pt x="130556" y="464340"/>
                  </a:lnTo>
                  <a:lnTo>
                    <a:pt x="93760" y="439762"/>
                  </a:lnTo>
                  <a:lnTo>
                    <a:pt x="61988" y="409735"/>
                  </a:lnTo>
                  <a:lnTo>
                    <a:pt x="35983" y="374960"/>
                  </a:lnTo>
                  <a:lnTo>
                    <a:pt x="16488" y="336140"/>
                  </a:lnTo>
                  <a:lnTo>
                    <a:pt x="4245" y="293977"/>
                  </a:lnTo>
                  <a:lnTo>
                    <a:pt x="0" y="249174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88207" y="3076943"/>
              <a:ext cx="617219" cy="58827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35451" y="3104388"/>
              <a:ext cx="527303" cy="49834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235451" y="3104388"/>
              <a:ext cx="527685" cy="498475"/>
            </a:xfrm>
            <a:custGeom>
              <a:avLst/>
              <a:gdLst/>
              <a:ahLst/>
              <a:cxnLst/>
              <a:rect l="l" t="t" r="r" b="b"/>
              <a:pathLst>
                <a:path w="527685" h="498475">
                  <a:moveTo>
                    <a:pt x="0" y="249174"/>
                  </a:moveTo>
                  <a:lnTo>
                    <a:pt x="4245" y="204370"/>
                  </a:lnTo>
                  <a:lnTo>
                    <a:pt x="16488" y="162207"/>
                  </a:lnTo>
                  <a:lnTo>
                    <a:pt x="35983" y="123387"/>
                  </a:lnTo>
                  <a:lnTo>
                    <a:pt x="61988" y="88612"/>
                  </a:lnTo>
                  <a:lnTo>
                    <a:pt x="93760" y="58585"/>
                  </a:lnTo>
                  <a:lnTo>
                    <a:pt x="130555" y="34007"/>
                  </a:lnTo>
                  <a:lnTo>
                    <a:pt x="171631" y="15582"/>
                  </a:lnTo>
                  <a:lnTo>
                    <a:pt x="216244" y="4012"/>
                  </a:lnTo>
                  <a:lnTo>
                    <a:pt x="263651" y="0"/>
                  </a:lnTo>
                  <a:lnTo>
                    <a:pt x="311059" y="4012"/>
                  </a:lnTo>
                  <a:lnTo>
                    <a:pt x="355672" y="15582"/>
                  </a:lnTo>
                  <a:lnTo>
                    <a:pt x="396748" y="34007"/>
                  </a:lnTo>
                  <a:lnTo>
                    <a:pt x="433543" y="58585"/>
                  </a:lnTo>
                  <a:lnTo>
                    <a:pt x="465315" y="88612"/>
                  </a:lnTo>
                  <a:lnTo>
                    <a:pt x="491320" y="123387"/>
                  </a:lnTo>
                  <a:lnTo>
                    <a:pt x="510815" y="162207"/>
                  </a:lnTo>
                  <a:lnTo>
                    <a:pt x="523058" y="204370"/>
                  </a:lnTo>
                  <a:lnTo>
                    <a:pt x="527303" y="249174"/>
                  </a:lnTo>
                  <a:lnTo>
                    <a:pt x="523058" y="293977"/>
                  </a:lnTo>
                  <a:lnTo>
                    <a:pt x="510815" y="336140"/>
                  </a:lnTo>
                  <a:lnTo>
                    <a:pt x="491320" y="374960"/>
                  </a:lnTo>
                  <a:lnTo>
                    <a:pt x="465315" y="409735"/>
                  </a:lnTo>
                  <a:lnTo>
                    <a:pt x="433543" y="439762"/>
                  </a:lnTo>
                  <a:lnTo>
                    <a:pt x="396747" y="464340"/>
                  </a:lnTo>
                  <a:lnTo>
                    <a:pt x="355672" y="482765"/>
                  </a:lnTo>
                  <a:lnTo>
                    <a:pt x="311059" y="494335"/>
                  </a:lnTo>
                  <a:lnTo>
                    <a:pt x="263651" y="498348"/>
                  </a:lnTo>
                  <a:lnTo>
                    <a:pt x="216244" y="494335"/>
                  </a:lnTo>
                  <a:lnTo>
                    <a:pt x="171631" y="482765"/>
                  </a:lnTo>
                  <a:lnTo>
                    <a:pt x="130556" y="464340"/>
                  </a:lnTo>
                  <a:lnTo>
                    <a:pt x="93760" y="439762"/>
                  </a:lnTo>
                  <a:lnTo>
                    <a:pt x="61988" y="409735"/>
                  </a:lnTo>
                  <a:lnTo>
                    <a:pt x="35983" y="374960"/>
                  </a:lnTo>
                  <a:lnTo>
                    <a:pt x="16488" y="336140"/>
                  </a:lnTo>
                  <a:lnTo>
                    <a:pt x="4245" y="293977"/>
                  </a:lnTo>
                  <a:lnTo>
                    <a:pt x="0" y="24917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665975" y="2021396"/>
            <a:ext cx="273088" cy="203359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2066"/>
              </a:lnSpc>
            </a:pPr>
            <a:r>
              <a:rPr sz="2100" dirty="0">
                <a:latin typeface="Calibri"/>
                <a:cs typeface="Calibri"/>
              </a:rPr>
              <a:t>…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713482" y="2390003"/>
            <a:ext cx="304324" cy="290513"/>
            <a:chOff x="2093976" y="3186671"/>
            <a:chExt cx="405765" cy="387350"/>
          </a:xfrm>
        </p:grpSpPr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93976" y="3186671"/>
              <a:ext cx="405396" cy="38710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41220" y="3214116"/>
              <a:ext cx="315468" cy="29717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141220" y="3214116"/>
              <a:ext cx="315595" cy="297180"/>
            </a:xfrm>
            <a:custGeom>
              <a:avLst/>
              <a:gdLst/>
              <a:ahLst/>
              <a:cxnLst/>
              <a:rect l="l" t="t" r="r" b="b"/>
              <a:pathLst>
                <a:path w="315594" h="297179">
                  <a:moveTo>
                    <a:pt x="0" y="297179"/>
                  </a:moveTo>
                  <a:lnTo>
                    <a:pt x="315468" y="297179"/>
                  </a:lnTo>
                  <a:lnTo>
                    <a:pt x="315468" y="0"/>
                  </a:lnTo>
                  <a:lnTo>
                    <a:pt x="0" y="0"/>
                  </a:lnTo>
                  <a:lnTo>
                    <a:pt x="0" y="297179"/>
                  </a:lnTo>
                  <a:close/>
                </a:path>
              </a:pathLst>
            </a:custGeom>
            <a:ln w="9144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762621" y="2337643"/>
            <a:ext cx="257175" cy="266420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28575">
              <a:spcBef>
                <a:spcPts val="98"/>
              </a:spcBef>
            </a:pPr>
            <a:r>
              <a:rPr sz="1650" i="1" spc="68" dirty="0">
                <a:latin typeface="Times New Roman"/>
                <a:cs typeface="Times New Roman"/>
              </a:rPr>
              <a:t>x</a:t>
            </a:r>
            <a:r>
              <a:rPr sz="1463" spc="101" baseline="-23504" dirty="0">
                <a:latin typeface="Times New Roman"/>
                <a:cs typeface="Times New Roman"/>
              </a:rPr>
              <a:t>N</a:t>
            </a:r>
            <a:endParaRPr sz="1463" baseline="-23504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761577" y="2013775"/>
            <a:ext cx="273088" cy="203359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2066"/>
              </a:lnSpc>
            </a:pPr>
            <a:r>
              <a:rPr sz="2100" dirty="0">
                <a:latin typeface="Calibri"/>
                <a:cs typeface="Calibri"/>
              </a:rPr>
              <a:t>…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439411" y="1002401"/>
            <a:ext cx="1844993" cy="1746885"/>
            <a:chOff x="4395215" y="1336535"/>
            <a:chExt cx="2459990" cy="2329180"/>
          </a:xfrm>
        </p:grpSpPr>
        <p:pic>
          <p:nvPicPr>
            <p:cNvPr id="57" name="object 5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04359" y="1336535"/>
              <a:ext cx="615708" cy="58827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51603" y="1363979"/>
              <a:ext cx="525780" cy="49834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451603" y="1363979"/>
              <a:ext cx="525780" cy="498475"/>
            </a:xfrm>
            <a:custGeom>
              <a:avLst/>
              <a:gdLst/>
              <a:ahLst/>
              <a:cxnLst/>
              <a:rect l="l" t="t" r="r" b="b"/>
              <a:pathLst>
                <a:path w="525779" h="498475">
                  <a:moveTo>
                    <a:pt x="0" y="249174"/>
                  </a:moveTo>
                  <a:lnTo>
                    <a:pt x="4236" y="204370"/>
                  </a:lnTo>
                  <a:lnTo>
                    <a:pt x="16450" y="162207"/>
                  </a:lnTo>
                  <a:lnTo>
                    <a:pt x="35898" y="123387"/>
                  </a:lnTo>
                  <a:lnTo>
                    <a:pt x="61838" y="88612"/>
                  </a:lnTo>
                  <a:lnTo>
                    <a:pt x="93525" y="58585"/>
                  </a:lnTo>
                  <a:lnTo>
                    <a:pt x="130217" y="34007"/>
                  </a:lnTo>
                  <a:lnTo>
                    <a:pt x="171170" y="15582"/>
                  </a:lnTo>
                  <a:lnTo>
                    <a:pt x="215642" y="4012"/>
                  </a:lnTo>
                  <a:lnTo>
                    <a:pt x="262890" y="0"/>
                  </a:lnTo>
                  <a:lnTo>
                    <a:pt x="310137" y="4012"/>
                  </a:lnTo>
                  <a:lnTo>
                    <a:pt x="354609" y="15582"/>
                  </a:lnTo>
                  <a:lnTo>
                    <a:pt x="395562" y="34007"/>
                  </a:lnTo>
                  <a:lnTo>
                    <a:pt x="432254" y="58585"/>
                  </a:lnTo>
                  <a:lnTo>
                    <a:pt x="463941" y="88612"/>
                  </a:lnTo>
                  <a:lnTo>
                    <a:pt x="489881" y="123387"/>
                  </a:lnTo>
                  <a:lnTo>
                    <a:pt x="509329" y="162207"/>
                  </a:lnTo>
                  <a:lnTo>
                    <a:pt x="521543" y="204370"/>
                  </a:lnTo>
                  <a:lnTo>
                    <a:pt x="525780" y="249174"/>
                  </a:lnTo>
                  <a:lnTo>
                    <a:pt x="521543" y="293977"/>
                  </a:lnTo>
                  <a:lnTo>
                    <a:pt x="509329" y="336140"/>
                  </a:lnTo>
                  <a:lnTo>
                    <a:pt x="489881" y="374960"/>
                  </a:lnTo>
                  <a:lnTo>
                    <a:pt x="463941" y="409735"/>
                  </a:lnTo>
                  <a:lnTo>
                    <a:pt x="432254" y="439762"/>
                  </a:lnTo>
                  <a:lnTo>
                    <a:pt x="395562" y="464340"/>
                  </a:lnTo>
                  <a:lnTo>
                    <a:pt x="354609" y="482765"/>
                  </a:lnTo>
                  <a:lnTo>
                    <a:pt x="310137" y="494335"/>
                  </a:lnTo>
                  <a:lnTo>
                    <a:pt x="262890" y="498348"/>
                  </a:lnTo>
                  <a:lnTo>
                    <a:pt x="215642" y="494335"/>
                  </a:lnTo>
                  <a:lnTo>
                    <a:pt x="171170" y="482765"/>
                  </a:lnTo>
                  <a:lnTo>
                    <a:pt x="130217" y="464340"/>
                  </a:lnTo>
                  <a:lnTo>
                    <a:pt x="93525" y="439762"/>
                  </a:lnTo>
                  <a:lnTo>
                    <a:pt x="61838" y="409735"/>
                  </a:lnTo>
                  <a:lnTo>
                    <a:pt x="35898" y="374960"/>
                  </a:lnTo>
                  <a:lnTo>
                    <a:pt x="16450" y="336140"/>
                  </a:lnTo>
                  <a:lnTo>
                    <a:pt x="4236" y="293977"/>
                  </a:lnTo>
                  <a:lnTo>
                    <a:pt x="0" y="249174"/>
                  </a:lnTo>
                  <a:close/>
                </a:path>
              </a:pathLst>
            </a:custGeom>
            <a:ln w="9144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60" name="object 6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05883" y="2011667"/>
              <a:ext cx="615708" cy="58827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53127" y="2039111"/>
              <a:ext cx="525780" cy="498348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453127" y="2039111"/>
              <a:ext cx="525780" cy="498475"/>
            </a:xfrm>
            <a:custGeom>
              <a:avLst/>
              <a:gdLst/>
              <a:ahLst/>
              <a:cxnLst/>
              <a:rect l="l" t="t" r="r" b="b"/>
              <a:pathLst>
                <a:path w="525779" h="498475">
                  <a:moveTo>
                    <a:pt x="0" y="249174"/>
                  </a:moveTo>
                  <a:lnTo>
                    <a:pt x="4236" y="204370"/>
                  </a:lnTo>
                  <a:lnTo>
                    <a:pt x="16450" y="162207"/>
                  </a:lnTo>
                  <a:lnTo>
                    <a:pt x="35898" y="123387"/>
                  </a:lnTo>
                  <a:lnTo>
                    <a:pt x="61838" y="88612"/>
                  </a:lnTo>
                  <a:lnTo>
                    <a:pt x="93525" y="58585"/>
                  </a:lnTo>
                  <a:lnTo>
                    <a:pt x="130217" y="34007"/>
                  </a:lnTo>
                  <a:lnTo>
                    <a:pt x="171170" y="15582"/>
                  </a:lnTo>
                  <a:lnTo>
                    <a:pt x="215642" y="4012"/>
                  </a:lnTo>
                  <a:lnTo>
                    <a:pt x="262889" y="0"/>
                  </a:lnTo>
                  <a:lnTo>
                    <a:pt x="310137" y="4012"/>
                  </a:lnTo>
                  <a:lnTo>
                    <a:pt x="354609" y="15582"/>
                  </a:lnTo>
                  <a:lnTo>
                    <a:pt x="395562" y="34007"/>
                  </a:lnTo>
                  <a:lnTo>
                    <a:pt x="432254" y="58585"/>
                  </a:lnTo>
                  <a:lnTo>
                    <a:pt x="463941" y="88612"/>
                  </a:lnTo>
                  <a:lnTo>
                    <a:pt x="489881" y="123387"/>
                  </a:lnTo>
                  <a:lnTo>
                    <a:pt x="509329" y="162207"/>
                  </a:lnTo>
                  <a:lnTo>
                    <a:pt x="521543" y="204370"/>
                  </a:lnTo>
                  <a:lnTo>
                    <a:pt x="525780" y="249174"/>
                  </a:lnTo>
                  <a:lnTo>
                    <a:pt x="521543" y="293977"/>
                  </a:lnTo>
                  <a:lnTo>
                    <a:pt x="509329" y="336140"/>
                  </a:lnTo>
                  <a:lnTo>
                    <a:pt x="489881" y="374960"/>
                  </a:lnTo>
                  <a:lnTo>
                    <a:pt x="463941" y="409735"/>
                  </a:lnTo>
                  <a:lnTo>
                    <a:pt x="432254" y="439762"/>
                  </a:lnTo>
                  <a:lnTo>
                    <a:pt x="395562" y="464340"/>
                  </a:lnTo>
                  <a:lnTo>
                    <a:pt x="354609" y="482765"/>
                  </a:lnTo>
                  <a:lnTo>
                    <a:pt x="310137" y="494335"/>
                  </a:lnTo>
                  <a:lnTo>
                    <a:pt x="262889" y="498348"/>
                  </a:lnTo>
                  <a:lnTo>
                    <a:pt x="215642" y="494335"/>
                  </a:lnTo>
                  <a:lnTo>
                    <a:pt x="171170" y="482765"/>
                  </a:lnTo>
                  <a:lnTo>
                    <a:pt x="130217" y="464340"/>
                  </a:lnTo>
                  <a:lnTo>
                    <a:pt x="93525" y="439762"/>
                  </a:lnTo>
                  <a:lnTo>
                    <a:pt x="61838" y="409735"/>
                  </a:lnTo>
                  <a:lnTo>
                    <a:pt x="35898" y="374960"/>
                  </a:lnTo>
                  <a:lnTo>
                    <a:pt x="16450" y="336140"/>
                  </a:lnTo>
                  <a:lnTo>
                    <a:pt x="4236" y="293977"/>
                  </a:lnTo>
                  <a:lnTo>
                    <a:pt x="0" y="249174"/>
                  </a:lnTo>
                  <a:close/>
                </a:path>
              </a:pathLst>
            </a:custGeom>
            <a:ln w="9144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95215" y="3076943"/>
              <a:ext cx="615708" cy="58827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42459" y="3104388"/>
              <a:ext cx="525779" cy="498348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4442459" y="3104388"/>
              <a:ext cx="525780" cy="498475"/>
            </a:xfrm>
            <a:custGeom>
              <a:avLst/>
              <a:gdLst/>
              <a:ahLst/>
              <a:cxnLst/>
              <a:rect l="l" t="t" r="r" b="b"/>
              <a:pathLst>
                <a:path w="525779" h="498475">
                  <a:moveTo>
                    <a:pt x="0" y="249174"/>
                  </a:moveTo>
                  <a:lnTo>
                    <a:pt x="4236" y="204370"/>
                  </a:lnTo>
                  <a:lnTo>
                    <a:pt x="16450" y="162207"/>
                  </a:lnTo>
                  <a:lnTo>
                    <a:pt x="35898" y="123387"/>
                  </a:lnTo>
                  <a:lnTo>
                    <a:pt x="61838" y="88612"/>
                  </a:lnTo>
                  <a:lnTo>
                    <a:pt x="93525" y="58585"/>
                  </a:lnTo>
                  <a:lnTo>
                    <a:pt x="130217" y="34007"/>
                  </a:lnTo>
                  <a:lnTo>
                    <a:pt x="171170" y="15582"/>
                  </a:lnTo>
                  <a:lnTo>
                    <a:pt x="215642" y="4012"/>
                  </a:lnTo>
                  <a:lnTo>
                    <a:pt x="262889" y="0"/>
                  </a:lnTo>
                  <a:lnTo>
                    <a:pt x="310137" y="4012"/>
                  </a:lnTo>
                  <a:lnTo>
                    <a:pt x="354609" y="15582"/>
                  </a:lnTo>
                  <a:lnTo>
                    <a:pt x="395562" y="34007"/>
                  </a:lnTo>
                  <a:lnTo>
                    <a:pt x="432254" y="58585"/>
                  </a:lnTo>
                  <a:lnTo>
                    <a:pt x="463941" y="88612"/>
                  </a:lnTo>
                  <a:lnTo>
                    <a:pt x="489881" y="123387"/>
                  </a:lnTo>
                  <a:lnTo>
                    <a:pt x="509329" y="162207"/>
                  </a:lnTo>
                  <a:lnTo>
                    <a:pt x="521543" y="204370"/>
                  </a:lnTo>
                  <a:lnTo>
                    <a:pt x="525779" y="249174"/>
                  </a:lnTo>
                  <a:lnTo>
                    <a:pt x="521543" y="293977"/>
                  </a:lnTo>
                  <a:lnTo>
                    <a:pt x="509329" y="336140"/>
                  </a:lnTo>
                  <a:lnTo>
                    <a:pt x="489881" y="374960"/>
                  </a:lnTo>
                  <a:lnTo>
                    <a:pt x="463941" y="409735"/>
                  </a:lnTo>
                  <a:lnTo>
                    <a:pt x="432254" y="439762"/>
                  </a:lnTo>
                  <a:lnTo>
                    <a:pt x="395562" y="464340"/>
                  </a:lnTo>
                  <a:lnTo>
                    <a:pt x="354609" y="482765"/>
                  </a:lnTo>
                  <a:lnTo>
                    <a:pt x="310137" y="494335"/>
                  </a:lnTo>
                  <a:lnTo>
                    <a:pt x="262889" y="498348"/>
                  </a:lnTo>
                  <a:lnTo>
                    <a:pt x="215642" y="494335"/>
                  </a:lnTo>
                  <a:lnTo>
                    <a:pt x="171170" y="482765"/>
                  </a:lnTo>
                  <a:lnTo>
                    <a:pt x="130217" y="464340"/>
                  </a:lnTo>
                  <a:lnTo>
                    <a:pt x="93525" y="439762"/>
                  </a:lnTo>
                  <a:lnTo>
                    <a:pt x="61838" y="409735"/>
                  </a:lnTo>
                  <a:lnTo>
                    <a:pt x="35898" y="374960"/>
                  </a:lnTo>
                  <a:lnTo>
                    <a:pt x="16450" y="336140"/>
                  </a:lnTo>
                  <a:lnTo>
                    <a:pt x="4236" y="293977"/>
                  </a:lnTo>
                  <a:lnTo>
                    <a:pt x="0" y="249174"/>
                  </a:lnTo>
                  <a:close/>
                </a:path>
              </a:pathLst>
            </a:custGeom>
            <a:ln w="9144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6" name="object 66"/>
            <p:cNvSpPr/>
            <p:nvPr/>
          </p:nvSpPr>
          <p:spPr>
            <a:xfrm>
              <a:off x="6305549" y="1358645"/>
              <a:ext cx="527685" cy="497205"/>
            </a:xfrm>
            <a:custGeom>
              <a:avLst/>
              <a:gdLst/>
              <a:ahLst/>
              <a:cxnLst/>
              <a:rect l="l" t="t" r="r" b="b"/>
              <a:pathLst>
                <a:path w="527684" h="497205">
                  <a:moveTo>
                    <a:pt x="263651" y="0"/>
                  </a:moveTo>
                  <a:lnTo>
                    <a:pt x="216244" y="4003"/>
                  </a:lnTo>
                  <a:lnTo>
                    <a:pt x="171631" y="15545"/>
                  </a:lnTo>
                  <a:lnTo>
                    <a:pt x="130556" y="33923"/>
                  </a:lnTo>
                  <a:lnTo>
                    <a:pt x="93760" y="58434"/>
                  </a:lnTo>
                  <a:lnTo>
                    <a:pt x="61988" y="88377"/>
                  </a:lnTo>
                  <a:lnTo>
                    <a:pt x="35983" y="123048"/>
                  </a:lnTo>
                  <a:lnTo>
                    <a:pt x="16488" y="161746"/>
                  </a:lnTo>
                  <a:lnTo>
                    <a:pt x="4245" y="203768"/>
                  </a:lnTo>
                  <a:lnTo>
                    <a:pt x="0" y="248412"/>
                  </a:lnTo>
                  <a:lnTo>
                    <a:pt x="4245" y="293055"/>
                  </a:lnTo>
                  <a:lnTo>
                    <a:pt x="16488" y="335077"/>
                  </a:lnTo>
                  <a:lnTo>
                    <a:pt x="35983" y="373775"/>
                  </a:lnTo>
                  <a:lnTo>
                    <a:pt x="61988" y="408446"/>
                  </a:lnTo>
                  <a:lnTo>
                    <a:pt x="93760" y="438389"/>
                  </a:lnTo>
                  <a:lnTo>
                    <a:pt x="130556" y="462900"/>
                  </a:lnTo>
                  <a:lnTo>
                    <a:pt x="171631" y="481278"/>
                  </a:lnTo>
                  <a:lnTo>
                    <a:pt x="216244" y="492820"/>
                  </a:lnTo>
                  <a:lnTo>
                    <a:pt x="263651" y="496824"/>
                  </a:lnTo>
                  <a:lnTo>
                    <a:pt x="311059" y="492820"/>
                  </a:lnTo>
                  <a:lnTo>
                    <a:pt x="355672" y="481278"/>
                  </a:lnTo>
                  <a:lnTo>
                    <a:pt x="396748" y="462900"/>
                  </a:lnTo>
                  <a:lnTo>
                    <a:pt x="433543" y="438389"/>
                  </a:lnTo>
                  <a:lnTo>
                    <a:pt x="465315" y="408446"/>
                  </a:lnTo>
                  <a:lnTo>
                    <a:pt x="491320" y="373775"/>
                  </a:lnTo>
                  <a:lnTo>
                    <a:pt x="510815" y="335077"/>
                  </a:lnTo>
                  <a:lnTo>
                    <a:pt x="523058" y="293055"/>
                  </a:lnTo>
                  <a:lnTo>
                    <a:pt x="527303" y="248412"/>
                  </a:lnTo>
                  <a:lnTo>
                    <a:pt x="523058" y="203768"/>
                  </a:lnTo>
                  <a:lnTo>
                    <a:pt x="510815" y="161746"/>
                  </a:lnTo>
                  <a:lnTo>
                    <a:pt x="491320" y="123048"/>
                  </a:lnTo>
                  <a:lnTo>
                    <a:pt x="465315" y="88377"/>
                  </a:lnTo>
                  <a:lnTo>
                    <a:pt x="433543" y="58434"/>
                  </a:lnTo>
                  <a:lnTo>
                    <a:pt x="396748" y="33923"/>
                  </a:lnTo>
                  <a:lnTo>
                    <a:pt x="355672" y="15545"/>
                  </a:lnTo>
                  <a:lnTo>
                    <a:pt x="311059" y="4003"/>
                  </a:lnTo>
                  <a:lnTo>
                    <a:pt x="263651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7" name="object 67"/>
            <p:cNvSpPr/>
            <p:nvPr/>
          </p:nvSpPr>
          <p:spPr>
            <a:xfrm>
              <a:off x="6305549" y="1358645"/>
              <a:ext cx="527685" cy="497205"/>
            </a:xfrm>
            <a:custGeom>
              <a:avLst/>
              <a:gdLst/>
              <a:ahLst/>
              <a:cxnLst/>
              <a:rect l="l" t="t" r="r" b="b"/>
              <a:pathLst>
                <a:path w="527684" h="497205">
                  <a:moveTo>
                    <a:pt x="0" y="248412"/>
                  </a:moveTo>
                  <a:lnTo>
                    <a:pt x="4245" y="203768"/>
                  </a:lnTo>
                  <a:lnTo>
                    <a:pt x="16488" y="161746"/>
                  </a:lnTo>
                  <a:lnTo>
                    <a:pt x="35983" y="123048"/>
                  </a:lnTo>
                  <a:lnTo>
                    <a:pt x="61988" y="88377"/>
                  </a:lnTo>
                  <a:lnTo>
                    <a:pt x="93760" y="58434"/>
                  </a:lnTo>
                  <a:lnTo>
                    <a:pt x="130556" y="33923"/>
                  </a:lnTo>
                  <a:lnTo>
                    <a:pt x="171631" y="15545"/>
                  </a:lnTo>
                  <a:lnTo>
                    <a:pt x="216244" y="4003"/>
                  </a:lnTo>
                  <a:lnTo>
                    <a:pt x="263651" y="0"/>
                  </a:lnTo>
                  <a:lnTo>
                    <a:pt x="311059" y="4003"/>
                  </a:lnTo>
                  <a:lnTo>
                    <a:pt x="355672" y="15545"/>
                  </a:lnTo>
                  <a:lnTo>
                    <a:pt x="396748" y="33923"/>
                  </a:lnTo>
                  <a:lnTo>
                    <a:pt x="433543" y="58434"/>
                  </a:lnTo>
                  <a:lnTo>
                    <a:pt x="465315" y="88377"/>
                  </a:lnTo>
                  <a:lnTo>
                    <a:pt x="491320" y="123048"/>
                  </a:lnTo>
                  <a:lnTo>
                    <a:pt x="510815" y="161746"/>
                  </a:lnTo>
                  <a:lnTo>
                    <a:pt x="523058" y="203768"/>
                  </a:lnTo>
                  <a:lnTo>
                    <a:pt x="527303" y="248412"/>
                  </a:lnTo>
                  <a:lnTo>
                    <a:pt x="523058" y="293055"/>
                  </a:lnTo>
                  <a:lnTo>
                    <a:pt x="510815" y="335077"/>
                  </a:lnTo>
                  <a:lnTo>
                    <a:pt x="491320" y="373775"/>
                  </a:lnTo>
                  <a:lnTo>
                    <a:pt x="465315" y="408446"/>
                  </a:lnTo>
                  <a:lnTo>
                    <a:pt x="433543" y="438389"/>
                  </a:lnTo>
                  <a:lnTo>
                    <a:pt x="396748" y="462900"/>
                  </a:lnTo>
                  <a:lnTo>
                    <a:pt x="355672" y="481278"/>
                  </a:lnTo>
                  <a:lnTo>
                    <a:pt x="311059" y="492820"/>
                  </a:lnTo>
                  <a:lnTo>
                    <a:pt x="263651" y="496824"/>
                  </a:lnTo>
                  <a:lnTo>
                    <a:pt x="216244" y="492820"/>
                  </a:lnTo>
                  <a:lnTo>
                    <a:pt x="171631" y="481278"/>
                  </a:lnTo>
                  <a:lnTo>
                    <a:pt x="130556" y="462900"/>
                  </a:lnTo>
                  <a:lnTo>
                    <a:pt x="93760" y="438389"/>
                  </a:lnTo>
                  <a:lnTo>
                    <a:pt x="61988" y="408446"/>
                  </a:lnTo>
                  <a:lnTo>
                    <a:pt x="35983" y="373775"/>
                  </a:lnTo>
                  <a:lnTo>
                    <a:pt x="16488" y="335077"/>
                  </a:lnTo>
                  <a:lnTo>
                    <a:pt x="4245" y="293055"/>
                  </a:lnTo>
                  <a:lnTo>
                    <a:pt x="0" y="248412"/>
                  </a:lnTo>
                  <a:close/>
                </a:path>
              </a:pathLst>
            </a:custGeom>
            <a:ln w="25908">
              <a:solidFill>
                <a:srgbClr val="70883E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8" name="object 68"/>
            <p:cNvSpPr/>
            <p:nvPr/>
          </p:nvSpPr>
          <p:spPr>
            <a:xfrm>
              <a:off x="6308597" y="2017013"/>
              <a:ext cx="525780" cy="498475"/>
            </a:xfrm>
            <a:custGeom>
              <a:avLst/>
              <a:gdLst/>
              <a:ahLst/>
              <a:cxnLst/>
              <a:rect l="l" t="t" r="r" b="b"/>
              <a:pathLst>
                <a:path w="525779" h="498475">
                  <a:moveTo>
                    <a:pt x="262890" y="0"/>
                  </a:moveTo>
                  <a:lnTo>
                    <a:pt x="215642" y="4012"/>
                  </a:lnTo>
                  <a:lnTo>
                    <a:pt x="171170" y="15582"/>
                  </a:lnTo>
                  <a:lnTo>
                    <a:pt x="130217" y="34007"/>
                  </a:lnTo>
                  <a:lnTo>
                    <a:pt x="93525" y="58585"/>
                  </a:lnTo>
                  <a:lnTo>
                    <a:pt x="61838" y="88612"/>
                  </a:lnTo>
                  <a:lnTo>
                    <a:pt x="35898" y="123387"/>
                  </a:lnTo>
                  <a:lnTo>
                    <a:pt x="16450" y="162207"/>
                  </a:lnTo>
                  <a:lnTo>
                    <a:pt x="4236" y="204370"/>
                  </a:lnTo>
                  <a:lnTo>
                    <a:pt x="0" y="249174"/>
                  </a:lnTo>
                  <a:lnTo>
                    <a:pt x="4236" y="293977"/>
                  </a:lnTo>
                  <a:lnTo>
                    <a:pt x="16450" y="336140"/>
                  </a:lnTo>
                  <a:lnTo>
                    <a:pt x="35898" y="374960"/>
                  </a:lnTo>
                  <a:lnTo>
                    <a:pt x="61838" y="409735"/>
                  </a:lnTo>
                  <a:lnTo>
                    <a:pt x="93525" y="439762"/>
                  </a:lnTo>
                  <a:lnTo>
                    <a:pt x="130217" y="464340"/>
                  </a:lnTo>
                  <a:lnTo>
                    <a:pt x="171170" y="482765"/>
                  </a:lnTo>
                  <a:lnTo>
                    <a:pt x="215642" y="494335"/>
                  </a:lnTo>
                  <a:lnTo>
                    <a:pt x="262890" y="498348"/>
                  </a:lnTo>
                  <a:lnTo>
                    <a:pt x="310137" y="494335"/>
                  </a:lnTo>
                  <a:lnTo>
                    <a:pt x="354609" y="482765"/>
                  </a:lnTo>
                  <a:lnTo>
                    <a:pt x="395562" y="464340"/>
                  </a:lnTo>
                  <a:lnTo>
                    <a:pt x="432254" y="439762"/>
                  </a:lnTo>
                  <a:lnTo>
                    <a:pt x="463941" y="409735"/>
                  </a:lnTo>
                  <a:lnTo>
                    <a:pt x="489881" y="374960"/>
                  </a:lnTo>
                  <a:lnTo>
                    <a:pt x="509329" y="336140"/>
                  </a:lnTo>
                  <a:lnTo>
                    <a:pt x="521543" y="293977"/>
                  </a:lnTo>
                  <a:lnTo>
                    <a:pt x="525779" y="249174"/>
                  </a:lnTo>
                  <a:lnTo>
                    <a:pt x="521543" y="204370"/>
                  </a:lnTo>
                  <a:lnTo>
                    <a:pt x="509329" y="162207"/>
                  </a:lnTo>
                  <a:lnTo>
                    <a:pt x="489881" y="123387"/>
                  </a:lnTo>
                  <a:lnTo>
                    <a:pt x="463941" y="88612"/>
                  </a:lnTo>
                  <a:lnTo>
                    <a:pt x="432254" y="58585"/>
                  </a:lnTo>
                  <a:lnTo>
                    <a:pt x="395562" y="34007"/>
                  </a:lnTo>
                  <a:lnTo>
                    <a:pt x="354609" y="15582"/>
                  </a:lnTo>
                  <a:lnTo>
                    <a:pt x="310137" y="4012"/>
                  </a:lnTo>
                  <a:lnTo>
                    <a:pt x="262890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9" name="object 69"/>
            <p:cNvSpPr/>
            <p:nvPr/>
          </p:nvSpPr>
          <p:spPr>
            <a:xfrm>
              <a:off x="6308597" y="2017013"/>
              <a:ext cx="525780" cy="498475"/>
            </a:xfrm>
            <a:custGeom>
              <a:avLst/>
              <a:gdLst/>
              <a:ahLst/>
              <a:cxnLst/>
              <a:rect l="l" t="t" r="r" b="b"/>
              <a:pathLst>
                <a:path w="525779" h="498475">
                  <a:moveTo>
                    <a:pt x="0" y="249174"/>
                  </a:moveTo>
                  <a:lnTo>
                    <a:pt x="4236" y="204370"/>
                  </a:lnTo>
                  <a:lnTo>
                    <a:pt x="16450" y="162207"/>
                  </a:lnTo>
                  <a:lnTo>
                    <a:pt x="35898" y="123387"/>
                  </a:lnTo>
                  <a:lnTo>
                    <a:pt x="61838" y="88612"/>
                  </a:lnTo>
                  <a:lnTo>
                    <a:pt x="93525" y="58585"/>
                  </a:lnTo>
                  <a:lnTo>
                    <a:pt x="130217" y="34007"/>
                  </a:lnTo>
                  <a:lnTo>
                    <a:pt x="171170" y="15582"/>
                  </a:lnTo>
                  <a:lnTo>
                    <a:pt x="215642" y="4012"/>
                  </a:lnTo>
                  <a:lnTo>
                    <a:pt x="262890" y="0"/>
                  </a:lnTo>
                  <a:lnTo>
                    <a:pt x="310137" y="4012"/>
                  </a:lnTo>
                  <a:lnTo>
                    <a:pt x="354609" y="15582"/>
                  </a:lnTo>
                  <a:lnTo>
                    <a:pt x="395562" y="34007"/>
                  </a:lnTo>
                  <a:lnTo>
                    <a:pt x="432254" y="58585"/>
                  </a:lnTo>
                  <a:lnTo>
                    <a:pt x="463941" y="88612"/>
                  </a:lnTo>
                  <a:lnTo>
                    <a:pt x="489881" y="123387"/>
                  </a:lnTo>
                  <a:lnTo>
                    <a:pt x="509329" y="162207"/>
                  </a:lnTo>
                  <a:lnTo>
                    <a:pt x="521543" y="204370"/>
                  </a:lnTo>
                  <a:lnTo>
                    <a:pt x="525779" y="249174"/>
                  </a:lnTo>
                  <a:lnTo>
                    <a:pt x="521543" y="293977"/>
                  </a:lnTo>
                  <a:lnTo>
                    <a:pt x="509329" y="336140"/>
                  </a:lnTo>
                  <a:lnTo>
                    <a:pt x="489881" y="374960"/>
                  </a:lnTo>
                  <a:lnTo>
                    <a:pt x="463941" y="409735"/>
                  </a:lnTo>
                  <a:lnTo>
                    <a:pt x="432254" y="439762"/>
                  </a:lnTo>
                  <a:lnTo>
                    <a:pt x="395562" y="464340"/>
                  </a:lnTo>
                  <a:lnTo>
                    <a:pt x="354609" y="482765"/>
                  </a:lnTo>
                  <a:lnTo>
                    <a:pt x="310137" y="494335"/>
                  </a:lnTo>
                  <a:lnTo>
                    <a:pt x="262890" y="498348"/>
                  </a:lnTo>
                  <a:lnTo>
                    <a:pt x="215642" y="494335"/>
                  </a:lnTo>
                  <a:lnTo>
                    <a:pt x="171170" y="482765"/>
                  </a:lnTo>
                  <a:lnTo>
                    <a:pt x="130217" y="464340"/>
                  </a:lnTo>
                  <a:lnTo>
                    <a:pt x="93525" y="439762"/>
                  </a:lnTo>
                  <a:lnTo>
                    <a:pt x="61838" y="409735"/>
                  </a:lnTo>
                  <a:lnTo>
                    <a:pt x="35898" y="374960"/>
                  </a:lnTo>
                  <a:lnTo>
                    <a:pt x="16450" y="336140"/>
                  </a:lnTo>
                  <a:lnTo>
                    <a:pt x="4236" y="293977"/>
                  </a:lnTo>
                  <a:lnTo>
                    <a:pt x="0" y="249174"/>
                  </a:lnTo>
                  <a:close/>
                </a:path>
              </a:pathLst>
            </a:custGeom>
            <a:ln w="25908">
              <a:solidFill>
                <a:srgbClr val="70883E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0" name="object 70"/>
            <p:cNvSpPr/>
            <p:nvPr/>
          </p:nvSpPr>
          <p:spPr>
            <a:xfrm>
              <a:off x="6314693" y="3097529"/>
              <a:ext cx="527685" cy="498475"/>
            </a:xfrm>
            <a:custGeom>
              <a:avLst/>
              <a:gdLst/>
              <a:ahLst/>
              <a:cxnLst/>
              <a:rect l="l" t="t" r="r" b="b"/>
              <a:pathLst>
                <a:path w="527684" h="498475">
                  <a:moveTo>
                    <a:pt x="263651" y="0"/>
                  </a:moveTo>
                  <a:lnTo>
                    <a:pt x="216244" y="4012"/>
                  </a:lnTo>
                  <a:lnTo>
                    <a:pt x="171631" y="15582"/>
                  </a:lnTo>
                  <a:lnTo>
                    <a:pt x="130556" y="34007"/>
                  </a:lnTo>
                  <a:lnTo>
                    <a:pt x="93760" y="58585"/>
                  </a:lnTo>
                  <a:lnTo>
                    <a:pt x="61988" y="88612"/>
                  </a:lnTo>
                  <a:lnTo>
                    <a:pt x="35983" y="123387"/>
                  </a:lnTo>
                  <a:lnTo>
                    <a:pt x="16488" y="162207"/>
                  </a:lnTo>
                  <a:lnTo>
                    <a:pt x="4245" y="204370"/>
                  </a:lnTo>
                  <a:lnTo>
                    <a:pt x="0" y="249174"/>
                  </a:lnTo>
                  <a:lnTo>
                    <a:pt x="4245" y="293977"/>
                  </a:lnTo>
                  <a:lnTo>
                    <a:pt x="16488" y="336140"/>
                  </a:lnTo>
                  <a:lnTo>
                    <a:pt x="35983" y="374960"/>
                  </a:lnTo>
                  <a:lnTo>
                    <a:pt x="61988" y="409735"/>
                  </a:lnTo>
                  <a:lnTo>
                    <a:pt x="93760" y="439762"/>
                  </a:lnTo>
                  <a:lnTo>
                    <a:pt x="130556" y="464340"/>
                  </a:lnTo>
                  <a:lnTo>
                    <a:pt x="171631" y="482765"/>
                  </a:lnTo>
                  <a:lnTo>
                    <a:pt x="216244" y="494335"/>
                  </a:lnTo>
                  <a:lnTo>
                    <a:pt x="263651" y="498348"/>
                  </a:lnTo>
                  <a:lnTo>
                    <a:pt x="311059" y="494335"/>
                  </a:lnTo>
                  <a:lnTo>
                    <a:pt x="355672" y="482765"/>
                  </a:lnTo>
                  <a:lnTo>
                    <a:pt x="396748" y="464340"/>
                  </a:lnTo>
                  <a:lnTo>
                    <a:pt x="433543" y="439762"/>
                  </a:lnTo>
                  <a:lnTo>
                    <a:pt x="465315" y="409735"/>
                  </a:lnTo>
                  <a:lnTo>
                    <a:pt x="491320" y="374960"/>
                  </a:lnTo>
                  <a:lnTo>
                    <a:pt x="510815" y="336140"/>
                  </a:lnTo>
                  <a:lnTo>
                    <a:pt x="523058" y="293977"/>
                  </a:lnTo>
                  <a:lnTo>
                    <a:pt x="527303" y="249174"/>
                  </a:lnTo>
                  <a:lnTo>
                    <a:pt x="523058" y="204370"/>
                  </a:lnTo>
                  <a:lnTo>
                    <a:pt x="510815" y="162207"/>
                  </a:lnTo>
                  <a:lnTo>
                    <a:pt x="491320" y="123387"/>
                  </a:lnTo>
                  <a:lnTo>
                    <a:pt x="465315" y="88612"/>
                  </a:lnTo>
                  <a:lnTo>
                    <a:pt x="433543" y="58585"/>
                  </a:lnTo>
                  <a:lnTo>
                    <a:pt x="396748" y="34007"/>
                  </a:lnTo>
                  <a:lnTo>
                    <a:pt x="355672" y="15582"/>
                  </a:lnTo>
                  <a:lnTo>
                    <a:pt x="311059" y="4012"/>
                  </a:lnTo>
                  <a:lnTo>
                    <a:pt x="263651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1" name="object 71"/>
            <p:cNvSpPr/>
            <p:nvPr/>
          </p:nvSpPr>
          <p:spPr>
            <a:xfrm>
              <a:off x="6314693" y="3097529"/>
              <a:ext cx="527685" cy="498475"/>
            </a:xfrm>
            <a:custGeom>
              <a:avLst/>
              <a:gdLst/>
              <a:ahLst/>
              <a:cxnLst/>
              <a:rect l="l" t="t" r="r" b="b"/>
              <a:pathLst>
                <a:path w="527684" h="498475">
                  <a:moveTo>
                    <a:pt x="0" y="249174"/>
                  </a:moveTo>
                  <a:lnTo>
                    <a:pt x="4245" y="204370"/>
                  </a:lnTo>
                  <a:lnTo>
                    <a:pt x="16488" y="162207"/>
                  </a:lnTo>
                  <a:lnTo>
                    <a:pt x="35983" y="123387"/>
                  </a:lnTo>
                  <a:lnTo>
                    <a:pt x="61988" y="88612"/>
                  </a:lnTo>
                  <a:lnTo>
                    <a:pt x="93760" y="58585"/>
                  </a:lnTo>
                  <a:lnTo>
                    <a:pt x="130556" y="34007"/>
                  </a:lnTo>
                  <a:lnTo>
                    <a:pt x="171631" y="15582"/>
                  </a:lnTo>
                  <a:lnTo>
                    <a:pt x="216244" y="4012"/>
                  </a:lnTo>
                  <a:lnTo>
                    <a:pt x="263651" y="0"/>
                  </a:lnTo>
                  <a:lnTo>
                    <a:pt x="311059" y="4012"/>
                  </a:lnTo>
                  <a:lnTo>
                    <a:pt x="355672" y="15582"/>
                  </a:lnTo>
                  <a:lnTo>
                    <a:pt x="396748" y="34007"/>
                  </a:lnTo>
                  <a:lnTo>
                    <a:pt x="433543" y="58585"/>
                  </a:lnTo>
                  <a:lnTo>
                    <a:pt x="465315" y="88612"/>
                  </a:lnTo>
                  <a:lnTo>
                    <a:pt x="491320" y="123387"/>
                  </a:lnTo>
                  <a:lnTo>
                    <a:pt x="510815" y="162207"/>
                  </a:lnTo>
                  <a:lnTo>
                    <a:pt x="523058" y="204370"/>
                  </a:lnTo>
                  <a:lnTo>
                    <a:pt x="527303" y="249174"/>
                  </a:lnTo>
                  <a:lnTo>
                    <a:pt x="523058" y="293977"/>
                  </a:lnTo>
                  <a:lnTo>
                    <a:pt x="510815" y="336140"/>
                  </a:lnTo>
                  <a:lnTo>
                    <a:pt x="491320" y="374960"/>
                  </a:lnTo>
                  <a:lnTo>
                    <a:pt x="465315" y="409735"/>
                  </a:lnTo>
                  <a:lnTo>
                    <a:pt x="433543" y="439762"/>
                  </a:lnTo>
                  <a:lnTo>
                    <a:pt x="396748" y="464340"/>
                  </a:lnTo>
                  <a:lnTo>
                    <a:pt x="355672" y="482765"/>
                  </a:lnTo>
                  <a:lnTo>
                    <a:pt x="311059" y="494335"/>
                  </a:lnTo>
                  <a:lnTo>
                    <a:pt x="263651" y="498348"/>
                  </a:lnTo>
                  <a:lnTo>
                    <a:pt x="216244" y="494335"/>
                  </a:lnTo>
                  <a:lnTo>
                    <a:pt x="171631" y="482765"/>
                  </a:lnTo>
                  <a:lnTo>
                    <a:pt x="130556" y="464340"/>
                  </a:lnTo>
                  <a:lnTo>
                    <a:pt x="93760" y="439762"/>
                  </a:lnTo>
                  <a:lnTo>
                    <a:pt x="61988" y="409735"/>
                  </a:lnTo>
                  <a:lnTo>
                    <a:pt x="35983" y="374960"/>
                  </a:lnTo>
                  <a:lnTo>
                    <a:pt x="16488" y="336140"/>
                  </a:lnTo>
                  <a:lnTo>
                    <a:pt x="4245" y="293977"/>
                  </a:lnTo>
                  <a:lnTo>
                    <a:pt x="0" y="249174"/>
                  </a:lnTo>
                  <a:close/>
                </a:path>
              </a:pathLst>
            </a:custGeom>
            <a:ln w="25908">
              <a:solidFill>
                <a:srgbClr val="70883E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570945" y="2021396"/>
            <a:ext cx="273088" cy="203359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2066"/>
              </a:lnSpc>
            </a:pPr>
            <a:r>
              <a:rPr sz="2100" dirty="0">
                <a:latin typeface="Calibri"/>
                <a:cs typeface="Calibri"/>
              </a:rPr>
              <a:t>…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975026" y="2014061"/>
            <a:ext cx="273088" cy="203359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2066"/>
              </a:lnSpc>
            </a:pPr>
            <a:r>
              <a:rPr sz="2100" dirty="0">
                <a:latin typeface="Calibri"/>
                <a:cs typeface="Calibri"/>
              </a:rPr>
              <a:t>…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945857" y="992848"/>
            <a:ext cx="387191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spc="-8" dirty="0">
                <a:latin typeface="Calibri"/>
                <a:cs typeface="Calibri"/>
              </a:rPr>
              <a:t>……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957953" y="1504283"/>
            <a:ext cx="387191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spc="-4" dirty="0">
                <a:latin typeface="Calibri"/>
                <a:cs typeface="Calibri"/>
              </a:rPr>
              <a:t>……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966431" y="2321528"/>
            <a:ext cx="387191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spc="-4" dirty="0">
                <a:latin typeface="Calibri"/>
                <a:cs typeface="Calibri"/>
              </a:rPr>
              <a:t>……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2141982" y="1181862"/>
            <a:ext cx="3738086" cy="2160270"/>
            <a:chOff x="1331975" y="1575816"/>
            <a:chExt cx="4984115" cy="2880360"/>
          </a:xfrm>
        </p:grpSpPr>
        <p:sp>
          <p:nvSpPr>
            <p:cNvPr id="78" name="object 78"/>
            <p:cNvSpPr/>
            <p:nvPr/>
          </p:nvSpPr>
          <p:spPr>
            <a:xfrm>
              <a:off x="2437511" y="1575815"/>
              <a:ext cx="3878579" cy="1833880"/>
            </a:xfrm>
            <a:custGeom>
              <a:avLst/>
              <a:gdLst/>
              <a:ahLst/>
              <a:cxnLst/>
              <a:rect l="l" t="t" r="r" b="b"/>
              <a:pathLst>
                <a:path w="3878579" h="1833879">
                  <a:moveTo>
                    <a:pt x="774103" y="1790700"/>
                  </a:moveTo>
                  <a:lnTo>
                    <a:pt x="734060" y="1790700"/>
                  </a:lnTo>
                  <a:lnTo>
                    <a:pt x="721093" y="1790700"/>
                  </a:lnTo>
                  <a:lnTo>
                    <a:pt x="720725" y="1816354"/>
                  </a:lnTo>
                  <a:lnTo>
                    <a:pt x="774103" y="1790700"/>
                  </a:lnTo>
                  <a:close/>
                </a:path>
                <a:path w="3878579" h="1833879">
                  <a:moveTo>
                    <a:pt x="813181" y="125603"/>
                  </a:moveTo>
                  <a:lnTo>
                    <a:pt x="811149" y="93472"/>
                  </a:lnTo>
                  <a:lnTo>
                    <a:pt x="807732" y="39065"/>
                  </a:lnTo>
                  <a:lnTo>
                    <a:pt x="808101" y="38862"/>
                  </a:lnTo>
                  <a:lnTo>
                    <a:pt x="784656" y="28067"/>
                  </a:lnTo>
                  <a:lnTo>
                    <a:pt x="762863" y="18034"/>
                  </a:lnTo>
                  <a:lnTo>
                    <a:pt x="762863" y="111518"/>
                  </a:lnTo>
                  <a:lnTo>
                    <a:pt x="589445" y="521398"/>
                  </a:lnTo>
                  <a:lnTo>
                    <a:pt x="578942" y="513029"/>
                  </a:lnTo>
                  <a:lnTo>
                    <a:pt x="578942" y="546239"/>
                  </a:lnTo>
                  <a:lnTo>
                    <a:pt x="533806" y="652907"/>
                  </a:lnTo>
                  <a:lnTo>
                    <a:pt x="523443" y="651116"/>
                  </a:lnTo>
                  <a:lnTo>
                    <a:pt x="523443" y="677392"/>
                  </a:lnTo>
                  <a:lnTo>
                    <a:pt x="418960" y="924331"/>
                  </a:lnTo>
                  <a:lnTo>
                    <a:pt x="405295" y="894702"/>
                  </a:lnTo>
                  <a:lnTo>
                    <a:pt x="405295" y="956640"/>
                  </a:lnTo>
                  <a:lnTo>
                    <a:pt x="354558" y="1076553"/>
                  </a:lnTo>
                  <a:lnTo>
                    <a:pt x="37884" y="593102"/>
                  </a:lnTo>
                  <a:lnTo>
                    <a:pt x="255028" y="630796"/>
                  </a:lnTo>
                  <a:lnTo>
                    <a:pt x="405295" y="956640"/>
                  </a:lnTo>
                  <a:lnTo>
                    <a:pt x="405295" y="894702"/>
                  </a:lnTo>
                  <a:lnTo>
                    <a:pt x="286118" y="636193"/>
                  </a:lnTo>
                  <a:lnTo>
                    <a:pt x="523443" y="677392"/>
                  </a:lnTo>
                  <a:lnTo>
                    <a:pt x="523443" y="651116"/>
                  </a:lnTo>
                  <a:lnTo>
                    <a:pt x="272935" y="607618"/>
                  </a:lnTo>
                  <a:lnTo>
                    <a:pt x="205092" y="460451"/>
                  </a:lnTo>
                  <a:lnTo>
                    <a:pt x="349478" y="363194"/>
                  </a:lnTo>
                  <a:lnTo>
                    <a:pt x="578942" y="546239"/>
                  </a:lnTo>
                  <a:lnTo>
                    <a:pt x="578942" y="513029"/>
                  </a:lnTo>
                  <a:lnTo>
                    <a:pt x="372071" y="347980"/>
                  </a:lnTo>
                  <a:lnTo>
                    <a:pt x="745109" y="96710"/>
                  </a:lnTo>
                  <a:lnTo>
                    <a:pt x="756005" y="101346"/>
                  </a:lnTo>
                  <a:lnTo>
                    <a:pt x="762863" y="111518"/>
                  </a:lnTo>
                  <a:lnTo>
                    <a:pt x="762863" y="18034"/>
                  </a:lnTo>
                  <a:lnTo>
                    <a:pt x="731583" y="3632"/>
                  </a:lnTo>
                  <a:lnTo>
                    <a:pt x="731583" y="74485"/>
                  </a:lnTo>
                  <a:lnTo>
                    <a:pt x="350824" y="331012"/>
                  </a:lnTo>
                  <a:lnTo>
                    <a:pt x="328231" y="312991"/>
                  </a:lnTo>
                  <a:lnTo>
                    <a:pt x="328231" y="346240"/>
                  </a:lnTo>
                  <a:lnTo>
                    <a:pt x="194094" y="436613"/>
                  </a:lnTo>
                  <a:lnTo>
                    <a:pt x="50165" y="124421"/>
                  </a:lnTo>
                  <a:lnTo>
                    <a:pt x="328231" y="346240"/>
                  </a:lnTo>
                  <a:lnTo>
                    <a:pt x="328231" y="312991"/>
                  </a:lnTo>
                  <a:lnTo>
                    <a:pt x="32994" y="77444"/>
                  </a:lnTo>
                  <a:lnTo>
                    <a:pt x="724560" y="54622"/>
                  </a:lnTo>
                  <a:lnTo>
                    <a:pt x="731253" y="64566"/>
                  </a:lnTo>
                  <a:lnTo>
                    <a:pt x="731583" y="74485"/>
                  </a:lnTo>
                  <a:lnTo>
                    <a:pt x="731583" y="3632"/>
                  </a:lnTo>
                  <a:lnTo>
                    <a:pt x="729234" y="2540"/>
                  </a:lnTo>
                  <a:lnTo>
                    <a:pt x="730072" y="28498"/>
                  </a:lnTo>
                  <a:lnTo>
                    <a:pt x="19558" y="51943"/>
                  </a:lnTo>
                  <a:lnTo>
                    <a:pt x="20193" y="73964"/>
                  </a:lnTo>
                  <a:lnTo>
                    <a:pt x="15354" y="80022"/>
                  </a:lnTo>
                  <a:lnTo>
                    <a:pt x="3556" y="85471"/>
                  </a:lnTo>
                  <a:lnTo>
                    <a:pt x="172275" y="451319"/>
                  </a:lnTo>
                  <a:lnTo>
                    <a:pt x="34036" y="544449"/>
                  </a:lnTo>
                  <a:lnTo>
                    <a:pt x="48514" y="565912"/>
                  </a:lnTo>
                  <a:lnTo>
                    <a:pt x="183261" y="475157"/>
                  </a:lnTo>
                  <a:lnTo>
                    <a:pt x="241858" y="602221"/>
                  </a:lnTo>
                  <a:lnTo>
                    <a:pt x="12954" y="562483"/>
                  </a:lnTo>
                  <a:lnTo>
                    <a:pt x="10782" y="575322"/>
                  </a:lnTo>
                  <a:lnTo>
                    <a:pt x="0" y="582422"/>
                  </a:lnTo>
                  <a:lnTo>
                    <a:pt x="342417" y="1105255"/>
                  </a:lnTo>
                  <a:lnTo>
                    <a:pt x="99822" y="1678622"/>
                  </a:lnTo>
                  <a:lnTo>
                    <a:pt x="41402" y="1759839"/>
                  </a:lnTo>
                  <a:lnTo>
                    <a:pt x="51930" y="1767395"/>
                  </a:lnTo>
                  <a:lnTo>
                    <a:pt x="51689" y="1780032"/>
                  </a:lnTo>
                  <a:lnTo>
                    <a:pt x="721093" y="1790509"/>
                  </a:lnTo>
                  <a:lnTo>
                    <a:pt x="734060" y="1790509"/>
                  </a:lnTo>
                  <a:lnTo>
                    <a:pt x="774522" y="1790509"/>
                  </a:lnTo>
                  <a:lnTo>
                    <a:pt x="798957" y="1778762"/>
                  </a:lnTo>
                  <a:lnTo>
                    <a:pt x="721868" y="1738630"/>
                  </a:lnTo>
                  <a:lnTo>
                    <a:pt x="721474" y="1764601"/>
                  </a:lnTo>
                  <a:lnTo>
                    <a:pt x="95758" y="1754809"/>
                  </a:lnTo>
                  <a:lnTo>
                    <a:pt x="122605" y="1691373"/>
                  </a:lnTo>
                  <a:lnTo>
                    <a:pt x="438569" y="1252080"/>
                  </a:lnTo>
                  <a:lnTo>
                    <a:pt x="743673" y="1717903"/>
                  </a:lnTo>
                  <a:lnTo>
                    <a:pt x="730631" y="1723898"/>
                  </a:lnTo>
                  <a:lnTo>
                    <a:pt x="735482" y="1727796"/>
                  </a:lnTo>
                  <a:lnTo>
                    <a:pt x="724154" y="1735201"/>
                  </a:lnTo>
                  <a:lnTo>
                    <a:pt x="799211" y="1778889"/>
                  </a:lnTo>
                  <a:lnTo>
                    <a:pt x="798588" y="1773631"/>
                  </a:lnTo>
                  <a:lnTo>
                    <a:pt x="800163" y="1724787"/>
                  </a:lnTo>
                  <a:lnTo>
                    <a:pt x="801243" y="1691386"/>
                  </a:lnTo>
                  <a:lnTo>
                    <a:pt x="789647" y="1696732"/>
                  </a:lnTo>
                  <a:lnTo>
                    <a:pt x="789178" y="1692656"/>
                  </a:lnTo>
                  <a:lnTo>
                    <a:pt x="776922" y="1700669"/>
                  </a:lnTo>
                  <a:lnTo>
                    <a:pt x="712851" y="1561719"/>
                  </a:lnTo>
                  <a:lnTo>
                    <a:pt x="712851" y="1623491"/>
                  </a:lnTo>
                  <a:lnTo>
                    <a:pt x="454774" y="1229550"/>
                  </a:lnTo>
                  <a:lnTo>
                    <a:pt x="501319" y="1164856"/>
                  </a:lnTo>
                  <a:lnTo>
                    <a:pt x="712851" y="1623491"/>
                  </a:lnTo>
                  <a:lnTo>
                    <a:pt x="712851" y="1561719"/>
                  </a:lnTo>
                  <a:lnTo>
                    <a:pt x="518706" y="1140675"/>
                  </a:lnTo>
                  <a:lnTo>
                    <a:pt x="774750" y="784707"/>
                  </a:lnTo>
                  <a:lnTo>
                    <a:pt x="795782" y="799846"/>
                  </a:lnTo>
                  <a:lnTo>
                    <a:pt x="802373" y="758952"/>
                  </a:lnTo>
                  <a:lnTo>
                    <a:pt x="809599" y="714082"/>
                  </a:lnTo>
                  <a:lnTo>
                    <a:pt x="809879" y="713994"/>
                  </a:lnTo>
                  <a:lnTo>
                    <a:pt x="809282" y="713562"/>
                  </a:lnTo>
                  <a:lnTo>
                    <a:pt x="809282" y="714184"/>
                  </a:lnTo>
                  <a:lnTo>
                    <a:pt x="732663" y="754380"/>
                  </a:lnTo>
                  <a:lnTo>
                    <a:pt x="753732" y="769569"/>
                  </a:lnTo>
                  <a:lnTo>
                    <a:pt x="506234" y="1113637"/>
                  </a:lnTo>
                  <a:lnTo>
                    <a:pt x="488835" y="1075905"/>
                  </a:lnTo>
                  <a:lnTo>
                    <a:pt x="488835" y="1137818"/>
                  </a:lnTo>
                  <a:lnTo>
                    <a:pt x="439559" y="1206322"/>
                  </a:lnTo>
                  <a:lnTo>
                    <a:pt x="423354" y="1181582"/>
                  </a:lnTo>
                  <a:lnTo>
                    <a:pt x="423354" y="1228852"/>
                  </a:lnTo>
                  <a:lnTo>
                    <a:pt x="168224" y="1583524"/>
                  </a:lnTo>
                  <a:lnTo>
                    <a:pt x="359524" y="1131366"/>
                  </a:lnTo>
                  <a:lnTo>
                    <a:pt x="423354" y="1228852"/>
                  </a:lnTo>
                  <a:lnTo>
                    <a:pt x="423354" y="1181582"/>
                  </a:lnTo>
                  <a:lnTo>
                    <a:pt x="371665" y="1102664"/>
                  </a:lnTo>
                  <a:lnTo>
                    <a:pt x="419976" y="988479"/>
                  </a:lnTo>
                  <a:lnTo>
                    <a:pt x="488835" y="1137818"/>
                  </a:lnTo>
                  <a:lnTo>
                    <a:pt x="488835" y="1075905"/>
                  </a:lnTo>
                  <a:lnTo>
                    <a:pt x="433641" y="956170"/>
                  </a:lnTo>
                  <a:lnTo>
                    <a:pt x="549656" y="681951"/>
                  </a:lnTo>
                  <a:lnTo>
                    <a:pt x="731100" y="713435"/>
                  </a:lnTo>
                  <a:lnTo>
                    <a:pt x="726694" y="739013"/>
                  </a:lnTo>
                  <a:lnTo>
                    <a:pt x="804379" y="715645"/>
                  </a:lnTo>
                  <a:lnTo>
                    <a:pt x="809282" y="714184"/>
                  </a:lnTo>
                  <a:lnTo>
                    <a:pt x="809282" y="713562"/>
                  </a:lnTo>
                  <a:lnTo>
                    <a:pt x="808723" y="713155"/>
                  </a:lnTo>
                  <a:lnTo>
                    <a:pt x="809117" y="713232"/>
                  </a:lnTo>
                  <a:lnTo>
                    <a:pt x="795147" y="683006"/>
                  </a:lnTo>
                  <a:lnTo>
                    <a:pt x="772668" y="634365"/>
                  </a:lnTo>
                  <a:lnTo>
                    <a:pt x="756488" y="654646"/>
                  </a:lnTo>
                  <a:lnTo>
                    <a:pt x="738047" y="639940"/>
                  </a:lnTo>
                  <a:lnTo>
                    <a:pt x="738047" y="673150"/>
                  </a:lnTo>
                  <a:lnTo>
                    <a:pt x="737031" y="679056"/>
                  </a:lnTo>
                  <a:lnTo>
                    <a:pt x="730631" y="687070"/>
                  </a:lnTo>
                  <a:lnTo>
                    <a:pt x="560019" y="657466"/>
                  </a:lnTo>
                  <a:lnTo>
                    <a:pt x="599973" y="563016"/>
                  </a:lnTo>
                  <a:lnTo>
                    <a:pt x="738047" y="673150"/>
                  </a:lnTo>
                  <a:lnTo>
                    <a:pt x="738047" y="639940"/>
                  </a:lnTo>
                  <a:lnTo>
                    <a:pt x="610476" y="538187"/>
                  </a:lnTo>
                  <a:lnTo>
                    <a:pt x="789317" y="115481"/>
                  </a:lnTo>
                  <a:lnTo>
                    <a:pt x="813181" y="125603"/>
                  </a:lnTo>
                  <a:close/>
                </a:path>
                <a:path w="3878579" h="1833879">
                  <a:moveTo>
                    <a:pt x="2022094" y="125476"/>
                  </a:moveTo>
                  <a:lnTo>
                    <a:pt x="2019350" y="94361"/>
                  </a:lnTo>
                  <a:lnTo>
                    <a:pt x="2014474" y="38862"/>
                  </a:lnTo>
                  <a:lnTo>
                    <a:pt x="2011832" y="39738"/>
                  </a:lnTo>
                  <a:lnTo>
                    <a:pt x="2013585" y="38862"/>
                  </a:lnTo>
                  <a:lnTo>
                    <a:pt x="1987677" y="25908"/>
                  </a:lnTo>
                  <a:lnTo>
                    <a:pt x="1973364" y="18757"/>
                  </a:lnTo>
                  <a:lnTo>
                    <a:pt x="1973364" y="107708"/>
                  </a:lnTo>
                  <a:lnTo>
                    <a:pt x="1818093" y="500138"/>
                  </a:lnTo>
                  <a:lnTo>
                    <a:pt x="1807718" y="489877"/>
                  </a:lnTo>
                  <a:lnTo>
                    <a:pt x="1807718" y="526351"/>
                  </a:lnTo>
                  <a:lnTo>
                    <a:pt x="1734375" y="711708"/>
                  </a:lnTo>
                  <a:lnTo>
                    <a:pt x="1724126" y="711708"/>
                  </a:lnTo>
                  <a:lnTo>
                    <a:pt x="1724126" y="737616"/>
                  </a:lnTo>
                  <a:lnTo>
                    <a:pt x="1669961" y="874534"/>
                  </a:lnTo>
                  <a:lnTo>
                    <a:pt x="1655876" y="838034"/>
                  </a:lnTo>
                  <a:lnTo>
                    <a:pt x="1655876" y="910107"/>
                  </a:lnTo>
                  <a:lnTo>
                    <a:pt x="1586052" y="1086586"/>
                  </a:lnTo>
                  <a:lnTo>
                    <a:pt x="1366748" y="737616"/>
                  </a:lnTo>
                  <a:lnTo>
                    <a:pt x="1589341" y="737616"/>
                  </a:lnTo>
                  <a:lnTo>
                    <a:pt x="1655876" y="910107"/>
                  </a:lnTo>
                  <a:lnTo>
                    <a:pt x="1655876" y="838034"/>
                  </a:lnTo>
                  <a:lnTo>
                    <a:pt x="1617129" y="737616"/>
                  </a:lnTo>
                  <a:lnTo>
                    <a:pt x="1724126" y="737616"/>
                  </a:lnTo>
                  <a:lnTo>
                    <a:pt x="1724126" y="711708"/>
                  </a:lnTo>
                  <a:lnTo>
                    <a:pt x="1607134" y="711708"/>
                  </a:lnTo>
                  <a:lnTo>
                    <a:pt x="1579346" y="639711"/>
                  </a:lnTo>
                  <a:lnTo>
                    <a:pt x="1579346" y="711708"/>
                  </a:lnTo>
                  <a:lnTo>
                    <a:pt x="1357414" y="711708"/>
                  </a:lnTo>
                  <a:lnTo>
                    <a:pt x="1517726" y="552005"/>
                  </a:lnTo>
                  <a:lnTo>
                    <a:pt x="1579346" y="711708"/>
                  </a:lnTo>
                  <a:lnTo>
                    <a:pt x="1579346" y="639711"/>
                  </a:lnTo>
                  <a:lnTo>
                    <a:pt x="1537792" y="532015"/>
                  </a:lnTo>
                  <a:lnTo>
                    <a:pt x="1675180" y="395147"/>
                  </a:lnTo>
                  <a:lnTo>
                    <a:pt x="1807718" y="526351"/>
                  </a:lnTo>
                  <a:lnTo>
                    <a:pt x="1807718" y="489877"/>
                  </a:lnTo>
                  <a:lnTo>
                    <a:pt x="1693545" y="376872"/>
                  </a:lnTo>
                  <a:lnTo>
                    <a:pt x="1967598" y="103847"/>
                  </a:lnTo>
                  <a:lnTo>
                    <a:pt x="1970786" y="105117"/>
                  </a:lnTo>
                  <a:lnTo>
                    <a:pt x="1973364" y="107708"/>
                  </a:lnTo>
                  <a:lnTo>
                    <a:pt x="1973364" y="18757"/>
                  </a:lnTo>
                  <a:lnTo>
                    <a:pt x="1950339" y="7239"/>
                  </a:lnTo>
                  <a:lnTo>
                    <a:pt x="1950339" y="84543"/>
                  </a:lnTo>
                  <a:lnTo>
                    <a:pt x="1675130" y="358648"/>
                  </a:lnTo>
                  <a:lnTo>
                    <a:pt x="1656778" y="340487"/>
                  </a:lnTo>
                  <a:lnTo>
                    <a:pt x="1656778" y="376936"/>
                  </a:lnTo>
                  <a:lnTo>
                    <a:pt x="1527594" y="505599"/>
                  </a:lnTo>
                  <a:lnTo>
                    <a:pt x="1367434" y="90538"/>
                  </a:lnTo>
                  <a:lnTo>
                    <a:pt x="1656778" y="376936"/>
                  </a:lnTo>
                  <a:lnTo>
                    <a:pt x="1656778" y="340487"/>
                  </a:lnTo>
                  <a:lnTo>
                    <a:pt x="1365097" y="51816"/>
                  </a:lnTo>
                  <a:lnTo>
                    <a:pt x="1935861" y="51816"/>
                  </a:lnTo>
                  <a:lnTo>
                    <a:pt x="1935861" y="64909"/>
                  </a:lnTo>
                  <a:lnTo>
                    <a:pt x="1932051" y="66167"/>
                  </a:lnTo>
                  <a:lnTo>
                    <a:pt x="1935861" y="70002"/>
                  </a:lnTo>
                  <a:lnTo>
                    <a:pt x="1935861" y="77724"/>
                  </a:lnTo>
                  <a:lnTo>
                    <a:pt x="1940991" y="75158"/>
                  </a:lnTo>
                  <a:lnTo>
                    <a:pt x="1950339" y="84543"/>
                  </a:lnTo>
                  <a:lnTo>
                    <a:pt x="1950339" y="7239"/>
                  </a:lnTo>
                  <a:lnTo>
                    <a:pt x="1935861" y="0"/>
                  </a:lnTo>
                  <a:lnTo>
                    <a:pt x="1935861" y="25908"/>
                  </a:lnTo>
                  <a:lnTo>
                    <a:pt x="1333627" y="25908"/>
                  </a:lnTo>
                  <a:lnTo>
                    <a:pt x="1333627" y="38862"/>
                  </a:lnTo>
                  <a:lnTo>
                    <a:pt x="1321562" y="43561"/>
                  </a:lnTo>
                  <a:lnTo>
                    <a:pt x="1507528" y="525576"/>
                  </a:lnTo>
                  <a:lnTo>
                    <a:pt x="1327531" y="704850"/>
                  </a:lnTo>
                  <a:lnTo>
                    <a:pt x="1334338" y="711708"/>
                  </a:lnTo>
                  <a:lnTo>
                    <a:pt x="1333627" y="711708"/>
                  </a:lnTo>
                  <a:lnTo>
                    <a:pt x="1333627" y="715911"/>
                  </a:lnTo>
                  <a:lnTo>
                    <a:pt x="1325753" y="720852"/>
                  </a:lnTo>
                  <a:lnTo>
                    <a:pt x="1333627" y="733386"/>
                  </a:lnTo>
                  <a:lnTo>
                    <a:pt x="1333627" y="737616"/>
                  </a:lnTo>
                  <a:lnTo>
                    <a:pt x="1336281" y="737616"/>
                  </a:lnTo>
                  <a:lnTo>
                    <a:pt x="1574279" y="1116330"/>
                  </a:lnTo>
                  <a:lnTo>
                    <a:pt x="1313942" y="1774317"/>
                  </a:lnTo>
                  <a:lnTo>
                    <a:pt x="1326007" y="1779079"/>
                  </a:lnTo>
                  <a:lnTo>
                    <a:pt x="1326007" y="1798320"/>
                  </a:lnTo>
                  <a:lnTo>
                    <a:pt x="1928241" y="1798320"/>
                  </a:lnTo>
                  <a:lnTo>
                    <a:pt x="1928241" y="1824228"/>
                  </a:lnTo>
                  <a:lnTo>
                    <a:pt x="1980057" y="1798320"/>
                  </a:lnTo>
                  <a:lnTo>
                    <a:pt x="2005965" y="1785366"/>
                  </a:lnTo>
                  <a:lnTo>
                    <a:pt x="1980044" y="1772412"/>
                  </a:lnTo>
                  <a:lnTo>
                    <a:pt x="1928241" y="1746504"/>
                  </a:lnTo>
                  <a:lnTo>
                    <a:pt x="1928241" y="1772412"/>
                  </a:lnTo>
                  <a:lnTo>
                    <a:pt x="1345730" y="1772412"/>
                  </a:lnTo>
                  <a:lnTo>
                    <a:pt x="1671180" y="1270508"/>
                  </a:lnTo>
                  <a:lnTo>
                    <a:pt x="1951418" y="1716392"/>
                  </a:lnTo>
                  <a:lnTo>
                    <a:pt x="1940814" y="1720469"/>
                  </a:lnTo>
                  <a:lnTo>
                    <a:pt x="1945805" y="1725028"/>
                  </a:lnTo>
                  <a:lnTo>
                    <a:pt x="1931797" y="1733804"/>
                  </a:lnTo>
                  <a:lnTo>
                    <a:pt x="2003272" y="1777390"/>
                  </a:lnTo>
                  <a:lnTo>
                    <a:pt x="2005076" y="1779016"/>
                  </a:lnTo>
                  <a:lnTo>
                    <a:pt x="2005114" y="1778508"/>
                  </a:lnTo>
                  <a:lnTo>
                    <a:pt x="2005965" y="1779016"/>
                  </a:lnTo>
                  <a:lnTo>
                    <a:pt x="2005507" y="1774405"/>
                  </a:lnTo>
                  <a:lnTo>
                    <a:pt x="2010397" y="1723263"/>
                  </a:lnTo>
                  <a:lnTo>
                    <a:pt x="2013331" y="1692529"/>
                  </a:lnTo>
                  <a:lnTo>
                    <a:pt x="1998141" y="1698383"/>
                  </a:lnTo>
                  <a:lnTo>
                    <a:pt x="1997583" y="1692529"/>
                  </a:lnTo>
                  <a:lnTo>
                    <a:pt x="1987943" y="1698574"/>
                  </a:lnTo>
                  <a:lnTo>
                    <a:pt x="1943265" y="1582813"/>
                  </a:lnTo>
                  <a:lnTo>
                    <a:pt x="1943265" y="1654949"/>
                  </a:lnTo>
                  <a:lnTo>
                    <a:pt x="1686636" y="1246657"/>
                  </a:lnTo>
                  <a:lnTo>
                    <a:pt x="1748764" y="1150848"/>
                  </a:lnTo>
                  <a:lnTo>
                    <a:pt x="1943265" y="1654949"/>
                  </a:lnTo>
                  <a:lnTo>
                    <a:pt x="1943265" y="1582813"/>
                  </a:lnTo>
                  <a:lnTo>
                    <a:pt x="1766189" y="1123962"/>
                  </a:lnTo>
                  <a:lnTo>
                    <a:pt x="1985187" y="786218"/>
                  </a:lnTo>
                  <a:lnTo>
                    <a:pt x="2006981" y="800354"/>
                  </a:lnTo>
                  <a:lnTo>
                    <a:pt x="2011349" y="761238"/>
                  </a:lnTo>
                  <a:lnTo>
                    <a:pt x="2016633" y="713994"/>
                  </a:lnTo>
                  <a:lnTo>
                    <a:pt x="2005431" y="720598"/>
                  </a:lnTo>
                  <a:lnTo>
                    <a:pt x="1987677" y="711708"/>
                  </a:lnTo>
                  <a:lnTo>
                    <a:pt x="1963470" y="699617"/>
                  </a:lnTo>
                  <a:lnTo>
                    <a:pt x="1963470" y="772121"/>
                  </a:lnTo>
                  <a:lnTo>
                    <a:pt x="1754670" y="1094079"/>
                  </a:lnTo>
                  <a:lnTo>
                    <a:pt x="1737233" y="1048893"/>
                  </a:lnTo>
                  <a:lnTo>
                    <a:pt x="1737233" y="1120965"/>
                  </a:lnTo>
                  <a:lnTo>
                    <a:pt x="1671421" y="1222438"/>
                  </a:lnTo>
                  <a:lnTo>
                    <a:pt x="1655953" y="1197825"/>
                  </a:lnTo>
                  <a:lnTo>
                    <a:pt x="1655953" y="1246289"/>
                  </a:lnTo>
                  <a:lnTo>
                    <a:pt x="1386154" y="1662328"/>
                  </a:lnTo>
                  <a:lnTo>
                    <a:pt x="1591411" y="1143571"/>
                  </a:lnTo>
                  <a:lnTo>
                    <a:pt x="1655953" y="1246289"/>
                  </a:lnTo>
                  <a:lnTo>
                    <a:pt x="1655953" y="1197825"/>
                  </a:lnTo>
                  <a:lnTo>
                    <a:pt x="1603171" y="1113828"/>
                  </a:lnTo>
                  <a:lnTo>
                    <a:pt x="1669656" y="945807"/>
                  </a:lnTo>
                  <a:lnTo>
                    <a:pt x="1737233" y="1120965"/>
                  </a:lnTo>
                  <a:lnTo>
                    <a:pt x="1737233" y="1048893"/>
                  </a:lnTo>
                  <a:lnTo>
                    <a:pt x="1683727" y="910234"/>
                  </a:lnTo>
                  <a:lnTo>
                    <a:pt x="1752028" y="737616"/>
                  </a:lnTo>
                  <a:lnTo>
                    <a:pt x="1935861" y="737616"/>
                  </a:lnTo>
                  <a:lnTo>
                    <a:pt x="1935861" y="763524"/>
                  </a:lnTo>
                  <a:lnTo>
                    <a:pt x="1943976" y="759472"/>
                  </a:lnTo>
                  <a:lnTo>
                    <a:pt x="1963470" y="772121"/>
                  </a:lnTo>
                  <a:lnTo>
                    <a:pt x="1963470" y="699617"/>
                  </a:lnTo>
                  <a:lnTo>
                    <a:pt x="1948294" y="692023"/>
                  </a:lnTo>
                  <a:lnTo>
                    <a:pt x="2015744" y="714121"/>
                  </a:lnTo>
                  <a:lnTo>
                    <a:pt x="2003425" y="677672"/>
                  </a:lnTo>
                  <a:lnTo>
                    <a:pt x="1987931" y="631825"/>
                  </a:lnTo>
                  <a:lnTo>
                    <a:pt x="1969731" y="650189"/>
                  </a:lnTo>
                  <a:lnTo>
                    <a:pt x="1951469" y="632129"/>
                  </a:lnTo>
                  <a:lnTo>
                    <a:pt x="1951469" y="668616"/>
                  </a:lnTo>
                  <a:lnTo>
                    <a:pt x="1933194" y="687070"/>
                  </a:lnTo>
                  <a:lnTo>
                    <a:pt x="1935861" y="687946"/>
                  </a:lnTo>
                  <a:lnTo>
                    <a:pt x="1935861" y="711708"/>
                  </a:lnTo>
                  <a:lnTo>
                    <a:pt x="1762290" y="711708"/>
                  </a:lnTo>
                  <a:lnTo>
                    <a:pt x="1827771" y="546201"/>
                  </a:lnTo>
                  <a:lnTo>
                    <a:pt x="1951469" y="668616"/>
                  </a:lnTo>
                  <a:lnTo>
                    <a:pt x="1951469" y="632129"/>
                  </a:lnTo>
                  <a:lnTo>
                    <a:pt x="1838147" y="519988"/>
                  </a:lnTo>
                  <a:lnTo>
                    <a:pt x="1998027" y="115925"/>
                  </a:lnTo>
                  <a:lnTo>
                    <a:pt x="2022094" y="125476"/>
                  </a:lnTo>
                  <a:close/>
                </a:path>
                <a:path w="3878579" h="1833879">
                  <a:moveTo>
                    <a:pt x="3878326" y="134620"/>
                  </a:moveTo>
                  <a:lnTo>
                    <a:pt x="3875582" y="103505"/>
                  </a:lnTo>
                  <a:lnTo>
                    <a:pt x="3870706" y="48006"/>
                  </a:lnTo>
                  <a:lnTo>
                    <a:pt x="3868064" y="48882"/>
                  </a:lnTo>
                  <a:lnTo>
                    <a:pt x="3869817" y="48006"/>
                  </a:lnTo>
                  <a:lnTo>
                    <a:pt x="3843896" y="35052"/>
                  </a:lnTo>
                  <a:lnTo>
                    <a:pt x="3829596" y="27901"/>
                  </a:lnTo>
                  <a:lnTo>
                    <a:pt x="3829596" y="116852"/>
                  </a:lnTo>
                  <a:lnTo>
                    <a:pt x="3674326" y="509282"/>
                  </a:lnTo>
                  <a:lnTo>
                    <a:pt x="3663950" y="499021"/>
                  </a:lnTo>
                  <a:lnTo>
                    <a:pt x="3663950" y="535495"/>
                  </a:lnTo>
                  <a:lnTo>
                    <a:pt x="3590010" y="722376"/>
                  </a:lnTo>
                  <a:lnTo>
                    <a:pt x="3579761" y="722376"/>
                  </a:lnTo>
                  <a:lnTo>
                    <a:pt x="3579761" y="748284"/>
                  </a:lnTo>
                  <a:lnTo>
                    <a:pt x="3526180" y="883691"/>
                  </a:lnTo>
                  <a:lnTo>
                    <a:pt x="3512108" y="847217"/>
                  </a:lnTo>
                  <a:lnTo>
                    <a:pt x="3512108" y="919251"/>
                  </a:lnTo>
                  <a:lnTo>
                    <a:pt x="3442284" y="1095730"/>
                  </a:lnTo>
                  <a:lnTo>
                    <a:pt x="3223933" y="748284"/>
                  </a:lnTo>
                  <a:lnTo>
                    <a:pt x="3446157" y="748284"/>
                  </a:lnTo>
                  <a:lnTo>
                    <a:pt x="3512108" y="919251"/>
                  </a:lnTo>
                  <a:lnTo>
                    <a:pt x="3512108" y="847217"/>
                  </a:lnTo>
                  <a:lnTo>
                    <a:pt x="3473945" y="748284"/>
                  </a:lnTo>
                  <a:lnTo>
                    <a:pt x="3579761" y="748284"/>
                  </a:lnTo>
                  <a:lnTo>
                    <a:pt x="3579761" y="722376"/>
                  </a:lnTo>
                  <a:lnTo>
                    <a:pt x="3463950" y="722376"/>
                  </a:lnTo>
                  <a:lnTo>
                    <a:pt x="3436162" y="650379"/>
                  </a:lnTo>
                  <a:lnTo>
                    <a:pt x="3436162" y="722376"/>
                  </a:lnTo>
                  <a:lnTo>
                    <a:pt x="3212122" y="722376"/>
                  </a:lnTo>
                  <a:lnTo>
                    <a:pt x="3373958" y="561162"/>
                  </a:lnTo>
                  <a:lnTo>
                    <a:pt x="3436162" y="722376"/>
                  </a:lnTo>
                  <a:lnTo>
                    <a:pt x="3436162" y="650379"/>
                  </a:lnTo>
                  <a:lnTo>
                    <a:pt x="3394024" y="541172"/>
                  </a:lnTo>
                  <a:lnTo>
                    <a:pt x="3531412" y="404304"/>
                  </a:lnTo>
                  <a:lnTo>
                    <a:pt x="3663950" y="535495"/>
                  </a:lnTo>
                  <a:lnTo>
                    <a:pt x="3663950" y="499021"/>
                  </a:lnTo>
                  <a:lnTo>
                    <a:pt x="3549777" y="386016"/>
                  </a:lnTo>
                  <a:lnTo>
                    <a:pt x="3823830" y="112991"/>
                  </a:lnTo>
                  <a:lnTo>
                    <a:pt x="3827018" y="114261"/>
                  </a:lnTo>
                  <a:lnTo>
                    <a:pt x="3829596" y="116852"/>
                  </a:lnTo>
                  <a:lnTo>
                    <a:pt x="3829596" y="27901"/>
                  </a:lnTo>
                  <a:lnTo>
                    <a:pt x="3806571" y="16395"/>
                  </a:lnTo>
                  <a:lnTo>
                    <a:pt x="3806571" y="93687"/>
                  </a:lnTo>
                  <a:lnTo>
                    <a:pt x="3531362" y="367792"/>
                  </a:lnTo>
                  <a:lnTo>
                    <a:pt x="3513010" y="349631"/>
                  </a:lnTo>
                  <a:lnTo>
                    <a:pt x="3513010" y="386080"/>
                  </a:lnTo>
                  <a:lnTo>
                    <a:pt x="3383826" y="514743"/>
                  </a:lnTo>
                  <a:lnTo>
                    <a:pt x="3223666" y="99682"/>
                  </a:lnTo>
                  <a:lnTo>
                    <a:pt x="3513010" y="386080"/>
                  </a:lnTo>
                  <a:lnTo>
                    <a:pt x="3513010" y="349631"/>
                  </a:lnTo>
                  <a:lnTo>
                    <a:pt x="3221329" y="60960"/>
                  </a:lnTo>
                  <a:lnTo>
                    <a:pt x="3792093" y="60960"/>
                  </a:lnTo>
                  <a:lnTo>
                    <a:pt x="3792093" y="74053"/>
                  </a:lnTo>
                  <a:lnTo>
                    <a:pt x="3788283" y="75311"/>
                  </a:lnTo>
                  <a:lnTo>
                    <a:pt x="3792093" y="79146"/>
                  </a:lnTo>
                  <a:lnTo>
                    <a:pt x="3792093" y="86868"/>
                  </a:lnTo>
                  <a:lnTo>
                    <a:pt x="3797223" y="84302"/>
                  </a:lnTo>
                  <a:lnTo>
                    <a:pt x="3806571" y="93687"/>
                  </a:lnTo>
                  <a:lnTo>
                    <a:pt x="3806571" y="16395"/>
                  </a:lnTo>
                  <a:lnTo>
                    <a:pt x="3792093" y="9144"/>
                  </a:lnTo>
                  <a:lnTo>
                    <a:pt x="3792093" y="35052"/>
                  </a:lnTo>
                  <a:lnTo>
                    <a:pt x="3189859" y="35052"/>
                  </a:lnTo>
                  <a:lnTo>
                    <a:pt x="3189859" y="48006"/>
                  </a:lnTo>
                  <a:lnTo>
                    <a:pt x="3177794" y="52705"/>
                  </a:lnTo>
                  <a:lnTo>
                    <a:pt x="3363760" y="534720"/>
                  </a:lnTo>
                  <a:lnTo>
                    <a:pt x="3183763" y="713994"/>
                  </a:lnTo>
                  <a:lnTo>
                    <a:pt x="3192081" y="722376"/>
                  </a:lnTo>
                  <a:lnTo>
                    <a:pt x="3189859" y="722376"/>
                  </a:lnTo>
                  <a:lnTo>
                    <a:pt x="3189859" y="725055"/>
                  </a:lnTo>
                  <a:lnTo>
                    <a:pt x="3181985" y="729996"/>
                  </a:lnTo>
                  <a:lnTo>
                    <a:pt x="3189859" y="742530"/>
                  </a:lnTo>
                  <a:lnTo>
                    <a:pt x="3189859" y="748284"/>
                  </a:lnTo>
                  <a:lnTo>
                    <a:pt x="3193478" y="748284"/>
                  </a:lnTo>
                  <a:lnTo>
                    <a:pt x="3430524" y="1125474"/>
                  </a:lnTo>
                  <a:lnTo>
                    <a:pt x="3170174" y="1783461"/>
                  </a:lnTo>
                  <a:lnTo>
                    <a:pt x="3182239" y="1788223"/>
                  </a:lnTo>
                  <a:lnTo>
                    <a:pt x="3182239" y="1807464"/>
                  </a:lnTo>
                  <a:lnTo>
                    <a:pt x="3784473" y="1807464"/>
                  </a:lnTo>
                  <a:lnTo>
                    <a:pt x="3784473" y="1833372"/>
                  </a:lnTo>
                  <a:lnTo>
                    <a:pt x="3836289" y="1807464"/>
                  </a:lnTo>
                  <a:lnTo>
                    <a:pt x="3862197" y="1794510"/>
                  </a:lnTo>
                  <a:lnTo>
                    <a:pt x="3836289" y="1781556"/>
                  </a:lnTo>
                  <a:lnTo>
                    <a:pt x="3784473" y="1755648"/>
                  </a:lnTo>
                  <a:lnTo>
                    <a:pt x="3784473" y="1781556"/>
                  </a:lnTo>
                  <a:lnTo>
                    <a:pt x="3201962" y="1781556"/>
                  </a:lnTo>
                  <a:lnTo>
                    <a:pt x="3527412" y="1279652"/>
                  </a:lnTo>
                  <a:lnTo>
                    <a:pt x="3807650" y="1725536"/>
                  </a:lnTo>
                  <a:lnTo>
                    <a:pt x="3797046" y="1729613"/>
                  </a:lnTo>
                  <a:lnTo>
                    <a:pt x="3802037" y="1734172"/>
                  </a:lnTo>
                  <a:lnTo>
                    <a:pt x="3788029" y="1742948"/>
                  </a:lnTo>
                  <a:lnTo>
                    <a:pt x="3859504" y="1786534"/>
                  </a:lnTo>
                  <a:lnTo>
                    <a:pt x="3861308" y="1788160"/>
                  </a:lnTo>
                  <a:lnTo>
                    <a:pt x="3861346" y="1787652"/>
                  </a:lnTo>
                  <a:lnTo>
                    <a:pt x="3862197" y="1788160"/>
                  </a:lnTo>
                  <a:lnTo>
                    <a:pt x="3861739" y="1783549"/>
                  </a:lnTo>
                  <a:lnTo>
                    <a:pt x="3866629" y="1732407"/>
                  </a:lnTo>
                  <a:lnTo>
                    <a:pt x="3869563" y="1701673"/>
                  </a:lnTo>
                  <a:lnTo>
                    <a:pt x="3854373" y="1707527"/>
                  </a:lnTo>
                  <a:lnTo>
                    <a:pt x="3853815" y="1701673"/>
                  </a:lnTo>
                  <a:lnTo>
                    <a:pt x="3844175" y="1707718"/>
                  </a:lnTo>
                  <a:lnTo>
                    <a:pt x="3799497" y="1591957"/>
                  </a:lnTo>
                  <a:lnTo>
                    <a:pt x="3799497" y="1664081"/>
                  </a:lnTo>
                  <a:lnTo>
                    <a:pt x="3542868" y="1255788"/>
                  </a:lnTo>
                  <a:lnTo>
                    <a:pt x="3604996" y="1159992"/>
                  </a:lnTo>
                  <a:lnTo>
                    <a:pt x="3799497" y="1664081"/>
                  </a:lnTo>
                  <a:lnTo>
                    <a:pt x="3799497" y="1591957"/>
                  </a:lnTo>
                  <a:lnTo>
                    <a:pt x="3622421" y="1133106"/>
                  </a:lnTo>
                  <a:lnTo>
                    <a:pt x="3841419" y="795362"/>
                  </a:lnTo>
                  <a:lnTo>
                    <a:pt x="3863213" y="809498"/>
                  </a:lnTo>
                  <a:lnTo>
                    <a:pt x="3867581" y="770382"/>
                  </a:lnTo>
                  <a:lnTo>
                    <a:pt x="3872865" y="723138"/>
                  </a:lnTo>
                  <a:lnTo>
                    <a:pt x="3860266" y="730567"/>
                  </a:lnTo>
                  <a:lnTo>
                    <a:pt x="3843896" y="722376"/>
                  </a:lnTo>
                  <a:lnTo>
                    <a:pt x="3819702" y="710285"/>
                  </a:lnTo>
                  <a:lnTo>
                    <a:pt x="3819702" y="781265"/>
                  </a:lnTo>
                  <a:lnTo>
                    <a:pt x="3610902" y="1103236"/>
                  </a:lnTo>
                  <a:lnTo>
                    <a:pt x="3593465" y="1058049"/>
                  </a:lnTo>
                  <a:lnTo>
                    <a:pt x="3593465" y="1130109"/>
                  </a:lnTo>
                  <a:lnTo>
                    <a:pt x="3527653" y="1231582"/>
                  </a:lnTo>
                  <a:lnTo>
                    <a:pt x="3512185" y="1206969"/>
                  </a:lnTo>
                  <a:lnTo>
                    <a:pt x="3512185" y="1255433"/>
                  </a:lnTo>
                  <a:lnTo>
                    <a:pt x="3242386" y="1671472"/>
                  </a:lnTo>
                  <a:lnTo>
                    <a:pt x="3447643" y="1152715"/>
                  </a:lnTo>
                  <a:lnTo>
                    <a:pt x="3512185" y="1255433"/>
                  </a:lnTo>
                  <a:lnTo>
                    <a:pt x="3512185" y="1206969"/>
                  </a:lnTo>
                  <a:lnTo>
                    <a:pt x="3459403" y="1122972"/>
                  </a:lnTo>
                  <a:lnTo>
                    <a:pt x="3525888" y="954951"/>
                  </a:lnTo>
                  <a:lnTo>
                    <a:pt x="3593465" y="1130109"/>
                  </a:lnTo>
                  <a:lnTo>
                    <a:pt x="3593465" y="1058049"/>
                  </a:lnTo>
                  <a:lnTo>
                    <a:pt x="3539960" y="919391"/>
                  </a:lnTo>
                  <a:lnTo>
                    <a:pt x="3607663" y="748284"/>
                  </a:lnTo>
                  <a:lnTo>
                    <a:pt x="3792093" y="748284"/>
                  </a:lnTo>
                  <a:lnTo>
                    <a:pt x="3792093" y="774192"/>
                  </a:lnTo>
                  <a:lnTo>
                    <a:pt x="3801529" y="769480"/>
                  </a:lnTo>
                  <a:lnTo>
                    <a:pt x="3819702" y="781265"/>
                  </a:lnTo>
                  <a:lnTo>
                    <a:pt x="3819702" y="710285"/>
                  </a:lnTo>
                  <a:lnTo>
                    <a:pt x="3795687" y="698271"/>
                  </a:lnTo>
                  <a:lnTo>
                    <a:pt x="3871976" y="723265"/>
                  </a:lnTo>
                  <a:lnTo>
                    <a:pt x="3859657" y="686816"/>
                  </a:lnTo>
                  <a:lnTo>
                    <a:pt x="3844163" y="640969"/>
                  </a:lnTo>
                  <a:lnTo>
                    <a:pt x="3825964" y="659333"/>
                  </a:lnTo>
                  <a:lnTo>
                    <a:pt x="3807701" y="641273"/>
                  </a:lnTo>
                  <a:lnTo>
                    <a:pt x="3807701" y="677760"/>
                  </a:lnTo>
                  <a:lnTo>
                    <a:pt x="3789426" y="696214"/>
                  </a:lnTo>
                  <a:lnTo>
                    <a:pt x="3792093" y="697090"/>
                  </a:lnTo>
                  <a:lnTo>
                    <a:pt x="3792093" y="722376"/>
                  </a:lnTo>
                  <a:lnTo>
                    <a:pt x="3617912" y="722376"/>
                  </a:lnTo>
                  <a:lnTo>
                    <a:pt x="3684003" y="555345"/>
                  </a:lnTo>
                  <a:lnTo>
                    <a:pt x="3807701" y="677760"/>
                  </a:lnTo>
                  <a:lnTo>
                    <a:pt x="3807701" y="641273"/>
                  </a:lnTo>
                  <a:lnTo>
                    <a:pt x="3694379" y="529132"/>
                  </a:lnTo>
                  <a:lnTo>
                    <a:pt x="3854259" y="125069"/>
                  </a:lnTo>
                  <a:lnTo>
                    <a:pt x="3878326" y="134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79" name="object 7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71599" y="2980944"/>
              <a:ext cx="2513076" cy="1359408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31975" y="3735349"/>
              <a:ext cx="2592324" cy="720826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18843" y="3008376"/>
              <a:ext cx="2423160" cy="1269492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418843" y="3008376"/>
              <a:ext cx="2423160" cy="1270000"/>
            </a:xfrm>
            <a:custGeom>
              <a:avLst/>
              <a:gdLst/>
              <a:ahLst/>
              <a:cxnLst/>
              <a:rect l="l" t="t" r="r" b="b"/>
              <a:pathLst>
                <a:path w="2423160" h="1270000">
                  <a:moveTo>
                    <a:pt x="0" y="780288"/>
                  </a:moveTo>
                  <a:lnTo>
                    <a:pt x="1413510" y="780288"/>
                  </a:lnTo>
                  <a:lnTo>
                    <a:pt x="1317752" y="0"/>
                  </a:lnTo>
                  <a:lnTo>
                    <a:pt x="2019300" y="780288"/>
                  </a:lnTo>
                  <a:lnTo>
                    <a:pt x="2423160" y="780288"/>
                  </a:lnTo>
                  <a:lnTo>
                    <a:pt x="2423160" y="861822"/>
                  </a:lnTo>
                  <a:lnTo>
                    <a:pt x="2423160" y="984123"/>
                  </a:lnTo>
                  <a:lnTo>
                    <a:pt x="2423160" y="1269492"/>
                  </a:lnTo>
                  <a:lnTo>
                    <a:pt x="2019300" y="1269492"/>
                  </a:lnTo>
                  <a:lnTo>
                    <a:pt x="1413510" y="1269492"/>
                  </a:lnTo>
                  <a:lnTo>
                    <a:pt x="0" y="1269492"/>
                  </a:lnTo>
                  <a:lnTo>
                    <a:pt x="0" y="984123"/>
                  </a:lnTo>
                  <a:lnTo>
                    <a:pt x="0" y="861822"/>
                  </a:lnTo>
                  <a:lnTo>
                    <a:pt x="0" y="780288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6617202" y="2051495"/>
            <a:ext cx="273088" cy="203359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2066"/>
              </a:lnSpc>
            </a:pPr>
            <a:r>
              <a:rPr sz="2100" dirty="0">
                <a:latin typeface="Calibri"/>
                <a:cs typeface="Calibri"/>
              </a:rPr>
              <a:t>…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599206" y="1002982"/>
            <a:ext cx="275749" cy="86065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36195">
              <a:spcBef>
                <a:spcPts val="71"/>
              </a:spcBef>
            </a:pPr>
            <a:r>
              <a:rPr sz="2100" spc="-4" dirty="0">
                <a:latin typeface="Calibri"/>
                <a:cs typeface="Calibri"/>
              </a:rPr>
              <a:t>y</a:t>
            </a:r>
            <a:r>
              <a:rPr sz="2081" spc="-5" baseline="-21021" dirty="0">
                <a:latin typeface="Calibri"/>
                <a:cs typeface="Calibri"/>
              </a:rPr>
              <a:t>1</a:t>
            </a:r>
            <a:endParaRPr sz="2081" baseline="-21021">
              <a:latin typeface="Calibri"/>
              <a:cs typeface="Calibri"/>
            </a:endParaRPr>
          </a:p>
          <a:p>
            <a:pPr marL="28575">
              <a:spcBef>
                <a:spcPts val="1568"/>
              </a:spcBef>
            </a:pPr>
            <a:r>
              <a:rPr sz="2100" dirty="0">
                <a:latin typeface="Calibri"/>
                <a:cs typeface="Calibri"/>
              </a:rPr>
              <a:t>y</a:t>
            </a:r>
            <a:r>
              <a:rPr sz="2081" baseline="-21021" dirty="0">
                <a:latin typeface="Calibri"/>
                <a:cs typeface="Calibri"/>
              </a:rPr>
              <a:t>2</a:t>
            </a:r>
            <a:endParaRPr sz="2081" baseline="-21021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599206" y="2346008"/>
            <a:ext cx="330041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28575">
              <a:spcBef>
                <a:spcPts val="71"/>
              </a:spcBef>
            </a:pPr>
            <a:r>
              <a:rPr sz="2100" dirty="0">
                <a:latin typeface="Calibri"/>
                <a:cs typeface="Calibri"/>
              </a:rPr>
              <a:t>y</a:t>
            </a:r>
            <a:r>
              <a:rPr sz="2081" baseline="-21021" dirty="0">
                <a:latin typeface="Calibri"/>
                <a:cs typeface="Calibri"/>
              </a:rPr>
              <a:t>M</a:t>
            </a:r>
            <a:endParaRPr sz="2081" baseline="-21021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302097" y="2863977"/>
            <a:ext cx="162782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4" dirty="0">
                <a:latin typeface="Calibri"/>
                <a:cs typeface="Calibri"/>
              </a:rPr>
              <a:t>Smaller</a:t>
            </a:r>
            <a:r>
              <a:rPr spc="-56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gradients</a:t>
            </a:r>
            <a:endParaRPr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678229" y="4268952"/>
            <a:ext cx="3796189" cy="670216"/>
          </a:xfrm>
          <a:prstGeom prst="rect">
            <a:avLst/>
          </a:prstGeom>
        </p:spPr>
        <p:txBody>
          <a:bodyPr vert="horz" wrap="square" lIns="0" tIns="64294" rIns="0" bIns="0" rtlCol="0">
            <a:spAutoFit/>
          </a:bodyPr>
          <a:lstStyle/>
          <a:p>
            <a:pPr marL="266700" indent="-257175">
              <a:spcBef>
                <a:spcPts val="506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pc="-15" dirty="0">
                <a:latin typeface="Calibri"/>
                <a:cs typeface="Calibri"/>
              </a:rPr>
              <a:t>Layers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do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not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learn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at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" dirty="0">
                <a:latin typeface="Calibri"/>
                <a:cs typeface="Calibri"/>
              </a:rPr>
              <a:t> same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speed</a:t>
            </a:r>
            <a:endParaRPr>
              <a:latin typeface="Calibri"/>
              <a:cs typeface="Calibri"/>
            </a:endParaRPr>
          </a:p>
          <a:p>
            <a:pPr marL="266700" indent="-257175">
              <a:spcBef>
                <a:spcPts val="435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pc="-8" dirty="0">
                <a:latin typeface="Calibri"/>
                <a:cs typeface="Calibri"/>
              </a:rPr>
              <a:t>Unstable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gradients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463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122302"/>
            <a:ext cx="8534399" cy="50206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3200" spc="-4" dirty="0"/>
              <a:t>Solution</a:t>
            </a:r>
            <a:r>
              <a:rPr sz="3200" dirty="0"/>
              <a:t> –</a:t>
            </a:r>
            <a:r>
              <a:rPr sz="3200" spc="-8" dirty="0"/>
              <a:t> </a:t>
            </a:r>
            <a:r>
              <a:rPr sz="3200" spc="-11" dirty="0"/>
              <a:t>Layer-wise</a:t>
            </a:r>
            <a:r>
              <a:rPr sz="3200" spc="-15" dirty="0"/>
              <a:t> </a:t>
            </a:r>
            <a:r>
              <a:rPr sz="3200" dirty="0"/>
              <a:t>Unsupervised</a:t>
            </a:r>
            <a:r>
              <a:rPr sz="3200" spc="-30" dirty="0"/>
              <a:t> </a:t>
            </a:r>
            <a:r>
              <a:rPr sz="3200" spc="-11" dirty="0"/>
              <a:t>Pre-training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657350"/>
            <a:ext cx="4572000" cy="2635497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266700" marR="227171" indent="-257651" algn="just">
              <a:spcBef>
                <a:spcPts val="71"/>
              </a:spcBef>
              <a:buFont typeface="Arial"/>
              <a:buChar char="•"/>
              <a:tabLst>
                <a:tab pos="267176" algn="l"/>
              </a:tabLst>
            </a:pPr>
            <a:r>
              <a:rPr sz="2100" b="1" spc="-4" dirty="0">
                <a:latin typeface="Calibri"/>
                <a:cs typeface="Calibri"/>
              </a:rPr>
              <a:t>Unsupervised </a:t>
            </a:r>
            <a:r>
              <a:rPr sz="2100" b="1" spc="-11" dirty="0">
                <a:latin typeface="Calibri"/>
                <a:cs typeface="Calibri"/>
              </a:rPr>
              <a:t>pre-training </a:t>
            </a:r>
            <a:r>
              <a:rPr sz="2100" b="1" spc="-4" dirty="0">
                <a:latin typeface="Calibri"/>
                <a:cs typeface="Calibri"/>
              </a:rPr>
              <a:t>of the </a:t>
            </a:r>
            <a:r>
              <a:rPr sz="2100" b="1" spc="-15" dirty="0">
                <a:latin typeface="Calibri"/>
                <a:cs typeface="Calibri"/>
              </a:rPr>
              <a:t>first </a:t>
            </a:r>
            <a:r>
              <a:rPr sz="2100" b="1" spc="-465" dirty="0">
                <a:latin typeface="Calibri"/>
                <a:cs typeface="Calibri"/>
              </a:rPr>
              <a:t> </a:t>
            </a:r>
            <a:r>
              <a:rPr sz="2100" b="1" spc="-19" dirty="0">
                <a:latin typeface="Calibri"/>
                <a:cs typeface="Calibri"/>
              </a:rPr>
              <a:t>layer:</a:t>
            </a:r>
            <a:endParaRPr sz="2100" dirty="0">
              <a:latin typeface="Calibri"/>
              <a:cs typeface="Calibri"/>
            </a:endParaRPr>
          </a:p>
          <a:p>
            <a:pPr marL="567214" marR="638651" lvl="1" indent="-215265">
              <a:spcBef>
                <a:spcPts val="458"/>
              </a:spcBef>
              <a:buFont typeface="Arial"/>
              <a:buChar char="–"/>
              <a:tabLst>
                <a:tab pos="567690" algn="l"/>
              </a:tabLst>
            </a:pPr>
            <a:r>
              <a:rPr spc="-8" dirty="0">
                <a:latin typeface="Calibri"/>
                <a:cs typeface="Calibri"/>
              </a:rPr>
              <a:t>What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should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 </a:t>
            </a:r>
            <a:r>
              <a:rPr spc="-39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predict?</a:t>
            </a:r>
            <a:endParaRPr dirty="0">
              <a:latin typeface="Calibri"/>
              <a:cs typeface="Calibri"/>
            </a:endParaRPr>
          </a:p>
          <a:p>
            <a:pPr lvl="1">
              <a:spcBef>
                <a:spcPts val="26"/>
              </a:spcBef>
              <a:buFont typeface="Arial"/>
              <a:buChar char="–"/>
            </a:pPr>
            <a:endParaRPr lang="en-US" sz="2850" dirty="0">
              <a:latin typeface="Calibri"/>
              <a:cs typeface="Calibri"/>
            </a:endParaRPr>
          </a:p>
          <a:p>
            <a:pPr lvl="1">
              <a:spcBef>
                <a:spcPts val="26"/>
              </a:spcBef>
              <a:buFont typeface="Arial"/>
              <a:buChar char="–"/>
            </a:pPr>
            <a:endParaRPr lang="en-US" sz="2850" dirty="0">
              <a:latin typeface="Calibri"/>
              <a:cs typeface="Calibri"/>
            </a:endParaRPr>
          </a:p>
          <a:p>
            <a:pPr lvl="1">
              <a:spcBef>
                <a:spcPts val="26"/>
              </a:spcBef>
              <a:buFont typeface="Arial"/>
              <a:buChar char="–"/>
            </a:pPr>
            <a:endParaRPr sz="2850" dirty="0">
              <a:latin typeface="Calibri"/>
              <a:cs typeface="Calibri"/>
            </a:endParaRPr>
          </a:p>
          <a:p>
            <a:pPr marL="266700" marR="3810" indent="-257651">
              <a:spcBef>
                <a:spcPts val="4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100" spc="-8" dirty="0">
                <a:latin typeface="Calibri"/>
                <a:cs typeface="Calibri"/>
              </a:rPr>
              <a:t>This topology </a:t>
            </a:r>
            <a:r>
              <a:rPr sz="2100" spc="-11" dirty="0">
                <a:latin typeface="Calibri"/>
                <a:cs typeface="Calibri"/>
              </a:rPr>
              <a:t>defines </a:t>
            </a:r>
            <a:r>
              <a:rPr sz="2100" spc="-465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an</a:t>
            </a:r>
            <a:r>
              <a:rPr sz="2100" spc="-11" dirty="0">
                <a:latin typeface="Calibri"/>
                <a:cs typeface="Calibri"/>
              </a:rPr>
              <a:t> </a:t>
            </a:r>
            <a:r>
              <a:rPr sz="2100" b="1" spc="-8" dirty="0">
                <a:latin typeface="Calibri"/>
                <a:cs typeface="Calibri"/>
              </a:rPr>
              <a:t>Autoencoder</a:t>
            </a:r>
            <a:endParaRPr sz="21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1962150"/>
            <a:ext cx="3363854" cy="21796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661275-9AE2-44A5-9CB3-CD58E23CDB12}"/>
              </a:ext>
            </a:extLst>
          </p:cNvPr>
          <p:cNvSpPr txBox="1"/>
          <p:nvPr/>
        </p:nvSpPr>
        <p:spPr>
          <a:xfrm>
            <a:off x="1066800" y="2876550"/>
            <a:ext cx="3287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Look at the inputs and try to find a representation (code)</a:t>
            </a:r>
          </a:p>
        </p:txBody>
      </p:sp>
    </p:spTree>
    <p:extLst>
      <p:ext uri="{BB962C8B-B14F-4D97-AF65-F5344CB8AC3E}">
        <p14:creationId xmlns:p14="http://schemas.microsoft.com/office/powerpoint/2010/main" val="3297571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53437"/>
            <a:ext cx="3482912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spc="-8" dirty="0"/>
              <a:t>Autoencoder</a:t>
            </a:r>
            <a:endParaRPr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029938"/>
            <a:ext cx="8001000" cy="2489304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266700" indent="-257651">
              <a:spcBef>
                <a:spcPts val="71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pc="-4" dirty="0">
                <a:latin typeface="Calibri"/>
                <a:cs typeface="Calibri"/>
              </a:rPr>
              <a:t>An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ANN</a:t>
            </a:r>
            <a:r>
              <a:rPr spc="1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working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in</a:t>
            </a:r>
            <a:r>
              <a:rPr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an</a:t>
            </a:r>
            <a:r>
              <a:rPr dirty="0">
                <a:latin typeface="Calibri"/>
                <a:cs typeface="Calibri"/>
              </a:rPr>
              <a:t> </a:t>
            </a:r>
            <a:r>
              <a:rPr b="1" i="1" spc="-4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unsupervised</a:t>
            </a:r>
            <a:r>
              <a:rPr b="1" i="1" spc="-1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b="1" i="1" spc="-4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machine</a:t>
            </a:r>
            <a:r>
              <a:rPr b="1" i="1" spc="4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b="1" i="1" spc="-4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learning</a:t>
            </a:r>
            <a:r>
              <a:rPr b="1" i="1" spc="-1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b="1" i="1" spc="-8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setting</a:t>
            </a:r>
            <a:endParaRPr lang="en-US" b="1" i="1" spc="-8" dirty="0">
              <a:solidFill>
                <a:schemeClr val="tx2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 marL="266700" indent="-257651">
              <a:spcBef>
                <a:spcPts val="71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endParaRPr b="1" i="1" dirty="0">
              <a:solidFill>
                <a:schemeClr val="tx2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 marL="266700" indent="-257651">
              <a:lnSpc>
                <a:spcPts val="1781"/>
              </a:lnSpc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pc="-8" dirty="0">
                <a:latin typeface="Calibri"/>
                <a:cs typeface="Calibri"/>
              </a:rPr>
              <a:t>Used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to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learn an </a:t>
            </a:r>
            <a:r>
              <a:rPr spc="-11" dirty="0">
                <a:latin typeface="Calibri"/>
                <a:cs typeface="Calibri"/>
              </a:rPr>
              <a:t>efficient</a:t>
            </a:r>
            <a:r>
              <a:rPr spc="19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encoding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(representation,</a:t>
            </a:r>
            <a:r>
              <a:rPr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summary)</a:t>
            </a:r>
            <a:r>
              <a:rPr spc="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of</a:t>
            </a:r>
            <a:r>
              <a:rPr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a</a:t>
            </a:r>
            <a:r>
              <a:rPr lang="en-US"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set</a:t>
            </a:r>
            <a:r>
              <a:rPr spc="-4" dirty="0">
                <a:latin typeface="Calibri"/>
                <a:cs typeface="Calibri"/>
              </a:rPr>
              <a:t> of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data</a:t>
            </a:r>
            <a:endParaRPr dirty="0">
              <a:latin typeface="Calibri"/>
              <a:cs typeface="Calibri"/>
            </a:endParaRPr>
          </a:p>
          <a:p>
            <a:pPr marL="567214" marR="157639" lvl="1" indent="-215265">
              <a:lnSpc>
                <a:spcPts val="1440"/>
              </a:lnSpc>
              <a:spcBef>
                <a:spcPts val="353"/>
              </a:spcBef>
              <a:buFont typeface="Arial"/>
              <a:buChar char="–"/>
              <a:tabLst>
                <a:tab pos="567214" algn="l"/>
                <a:tab pos="567690" algn="l"/>
              </a:tabLst>
            </a:pPr>
            <a:r>
              <a:rPr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An</a:t>
            </a:r>
            <a:r>
              <a:rPr b="1" i="1" spc="-4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autoencoder</a:t>
            </a:r>
            <a:r>
              <a:rPr b="1" i="1" spc="-19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learns</a:t>
            </a:r>
            <a:r>
              <a:rPr b="1" i="1" spc="8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b="1" i="1" spc="-1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to</a:t>
            </a:r>
            <a:r>
              <a:rPr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b="1" i="1" spc="-4" dirty="0">
                <a:solidFill>
                  <a:srgbClr val="FFC000"/>
                </a:solidFill>
                <a:latin typeface="Calibri"/>
                <a:cs typeface="Calibri"/>
              </a:rPr>
              <a:t>compress</a:t>
            </a:r>
            <a:r>
              <a:rPr b="1" i="1" spc="-4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b="1" i="1" spc="-1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data</a:t>
            </a:r>
            <a:r>
              <a:rPr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b="1" i="1" spc="-1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from</a:t>
            </a:r>
            <a:r>
              <a:rPr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the input</a:t>
            </a:r>
            <a:r>
              <a:rPr b="1" i="1" spc="-1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layer</a:t>
            </a:r>
            <a:r>
              <a:rPr b="1" i="1" spc="4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b="1" i="1" spc="-1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into</a:t>
            </a:r>
            <a:r>
              <a:rPr b="1" i="1" spc="-4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a </a:t>
            </a:r>
            <a:r>
              <a:rPr b="1" i="1" spc="-326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b="1" i="1" spc="-4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short </a:t>
            </a:r>
            <a:r>
              <a:rPr b="1" i="1" spc="-4" dirty="0">
                <a:solidFill>
                  <a:srgbClr val="FFC000"/>
                </a:solidFill>
                <a:latin typeface="Calibri"/>
                <a:cs typeface="Calibri"/>
              </a:rPr>
              <a:t>code</a:t>
            </a:r>
            <a:r>
              <a:rPr spc="-4" dirty="0">
                <a:latin typeface="Calibri"/>
                <a:cs typeface="Calibri"/>
              </a:rPr>
              <a:t>, </a:t>
            </a:r>
            <a:r>
              <a:rPr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and then </a:t>
            </a:r>
            <a:r>
              <a:rPr b="1" i="1" spc="-4" dirty="0">
                <a:solidFill>
                  <a:srgbClr val="FFC000"/>
                </a:solidFill>
                <a:latin typeface="Calibri"/>
                <a:cs typeface="Calibri"/>
              </a:rPr>
              <a:t>uncompress</a:t>
            </a:r>
            <a:r>
              <a:rPr b="1" i="1" spc="-4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that code </a:t>
            </a:r>
            <a:r>
              <a:rPr b="1" i="1" spc="-1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into </a:t>
            </a:r>
            <a:r>
              <a:rPr b="1" i="1" spc="-4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something that </a:t>
            </a:r>
            <a:r>
              <a:rPr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closely</a:t>
            </a:r>
            <a:r>
              <a:rPr b="1" i="1" spc="-4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b="1" i="1" spc="-8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matches</a:t>
            </a:r>
            <a:r>
              <a:rPr b="1" i="1" spc="8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the</a:t>
            </a:r>
            <a:r>
              <a:rPr b="1" i="1" spc="-8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b="1" i="1" spc="-4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original</a:t>
            </a:r>
            <a:r>
              <a:rPr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b="1" i="1" spc="-1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data</a:t>
            </a:r>
            <a:endParaRPr lang="en-US" b="1" i="1" dirty="0">
              <a:solidFill>
                <a:schemeClr val="tx2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 marL="567214" marR="157639" lvl="1" indent="-215265">
              <a:lnSpc>
                <a:spcPts val="1440"/>
              </a:lnSpc>
              <a:spcBef>
                <a:spcPts val="353"/>
              </a:spcBef>
              <a:buFont typeface="Arial"/>
              <a:buChar char="–"/>
              <a:tabLst>
                <a:tab pos="567214" algn="l"/>
                <a:tab pos="567690" algn="l"/>
              </a:tabLst>
            </a:pPr>
            <a:r>
              <a:rPr lang="en-US" b="1" i="1" spc="-4" dirty="0">
                <a:solidFill>
                  <a:srgbClr val="0070C0"/>
                </a:solidFill>
                <a:latin typeface="Calibri"/>
                <a:cs typeface="Calibri"/>
              </a:rPr>
              <a:t>P</a:t>
            </a:r>
            <a:r>
              <a:rPr b="1" i="1" spc="-4" dirty="0">
                <a:solidFill>
                  <a:srgbClr val="0070C0"/>
                </a:solidFill>
                <a:latin typeface="Calibri"/>
                <a:cs typeface="Calibri"/>
              </a:rPr>
              <a:t>reserving</a:t>
            </a:r>
            <a:r>
              <a:rPr b="1" i="1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b="1" i="1" spc="-4" dirty="0">
                <a:solidFill>
                  <a:srgbClr val="0070C0"/>
                </a:solidFill>
                <a:latin typeface="Calibri"/>
                <a:cs typeface="Calibri"/>
              </a:rPr>
              <a:t> important</a:t>
            </a:r>
            <a:r>
              <a:rPr b="1" i="1" spc="-2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b="1" i="1" spc="-8" dirty="0">
                <a:solidFill>
                  <a:srgbClr val="0070C0"/>
                </a:solidFill>
                <a:latin typeface="Calibri"/>
                <a:cs typeface="Calibri"/>
              </a:rPr>
              <a:t>features</a:t>
            </a:r>
            <a:r>
              <a:rPr b="1" i="1" spc="-1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b="1" i="1" spc="1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b="1" i="1" spc="-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b="1" i="1" spc="-8" dirty="0">
                <a:solidFill>
                  <a:srgbClr val="0070C0"/>
                </a:solidFill>
                <a:latin typeface="Calibri"/>
                <a:cs typeface="Calibri"/>
              </a:rPr>
              <a:t>data </a:t>
            </a:r>
            <a:r>
              <a:rPr b="1" i="1" dirty="0">
                <a:solidFill>
                  <a:srgbClr val="0070C0"/>
                </a:solidFill>
                <a:latin typeface="Calibri"/>
                <a:cs typeface="Calibri"/>
              </a:rPr>
              <a:t>while</a:t>
            </a:r>
            <a:r>
              <a:rPr b="1" i="1" spc="-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b="1" i="1" spc="-4" dirty="0">
                <a:solidFill>
                  <a:srgbClr val="0070C0"/>
                </a:solidFill>
                <a:latin typeface="Calibri"/>
                <a:cs typeface="Calibri"/>
              </a:rPr>
              <a:t>removing</a:t>
            </a:r>
            <a:r>
              <a:rPr b="1" i="1" spc="-1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b="1" i="1" spc="-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b="1" i="1" spc="4" dirty="0">
                <a:solidFill>
                  <a:srgbClr val="0070C0"/>
                </a:solidFill>
                <a:latin typeface="Calibri"/>
                <a:cs typeface="Calibri"/>
              </a:rPr>
              <a:t>non-</a:t>
            </a:r>
            <a:endParaRPr b="1" i="1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866775">
              <a:lnSpc>
                <a:spcPts val="1379"/>
              </a:lnSpc>
            </a:pPr>
            <a:r>
              <a:rPr b="1" i="1" dirty="0">
                <a:solidFill>
                  <a:srgbClr val="0070C0"/>
                </a:solidFill>
                <a:latin typeface="Calibri"/>
                <a:cs typeface="Calibri"/>
              </a:rPr>
              <a:t>essential</a:t>
            </a:r>
            <a:r>
              <a:rPr b="1" i="1" spc="-4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0070C0"/>
                </a:solidFill>
                <a:latin typeface="Calibri"/>
                <a:cs typeface="Calibri"/>
              </a:rPr>
              <a:t>parts</a:t>
            </a:r>
          </a:p>
          <a:p>
            <a:pPr marL="266700" indent="-257651">
              <a:spcBef>
                <a:spcPts val="975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pc="-19" dirty="0">
                <a:latin typeface="Calibri"/>
                <a:cs typeface="Calibri"/>
              </a:rPr>
              <a:t>Typical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use:</a:t>
            </a:r>
            <a:endParaRPr dirty="0">
              <a:latin typeface="Calibri"/>
              <a:cs typeface="Calibri"/>
            </a:endParaRPr>
          </a:p>
          <a:p>
            <a:pPr marL="567214" lvl="1" indent="-215265">
              <a:spcBef>
                <a:spcPts val="4"/>
              </a:spcBef>
              <a:buFont typeface="Arial"/>
              <a:buChar char="–"/>
              <a:tabLst>
                <a:tab pos="567214" algn="l"/>
                <a:tab pos="567690" algn="l"/>
              </a:tabLst>
            </a:pPr>
            <a:r>
              <a:rPr spc="-8" dirty="0">
                <a:latin typeface="Calibri"/>
                <a:cs typeface="Calibri"/>
              </a:rPr>
              <a:t>For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dimensionality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reduction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purposes</a:t>
            </a:r>
            <a:endParaRPr lang="en-US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1644" y="3758467"/>
            <a:ext cx="5700713" cy="13284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09550"/>
            <a:ext cx="3710368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spc="-8" dirty="0"/>
              <a:t>Autoencoder</a:t>
            </a:r>
            <a:endParaRPr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208875"/>
            <a:ext cx="7419023" cy="1266853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66700" marR="3810" indent="-257175">
              <a:spcBef>
                <a:spcPts val="79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1950" spc="-4" dirty="0">
                <a:latin typeface="Calibri"/>
                <a:cs typeface="Calibri"/>
              </a:rPr>
              <a:t>The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spc="-11" dirty="0">
                <a:latin typeface="Calibri"/>
                <a:cs typeface="Calibri"/>
              </a:rPr>
              <a:t>data</a:t>
            </a:r>
            <a:r>
              <a:rPr sz="1950" dirty="0">
                <a:latin typeface="Calibri"/>
                <a:cs typeface="Calibri"/>
              </a:rPr>
              <a:t> is</a:t>
            </a:r>
            <a:r>
              <a:rPr sz="1950" spc="-4" dirty="0">
                <a:latin typeface="Calibri"/>
                <a:cs typeface="Calibri"/>
              </a:rPr>
              <a:t> compressed</a:t>
            </a:r>
            <a:r>
              <a:rPr sz="1950" spc="-23" dirty="0">
                <a:latin typeface="Calibri"/>
                <a:cs typeface="Calibri"/>
              </a:rPr>
              <a:t> </a:t>
            </a:r>
            <a:r>
              <a:rPr sz="1950" spc="-8" dirty="0">
                <a:latin typeface="Calibri"/>
                <a:cs typeface="Calibri"/>
              </a:rPr>
              <a:t>at</a:t>
            </a:r>
            <a:r>
              <a:rPr sz="1950" dirty="0">
                <a:latin typeface="Calibri"/>
                <a:cs typeface="Calibri"/>
              </a:rPr>
              <a:t> the </a:t>
            </a:r>
            <a:r>
              <a:rPr sz="1950" spc="-4" dirty="0">
                <a:latin typeface="Calibri"/>
                <a:cs typeface="Calibri"/>
              </a:rPr>
              <a:t>bottleneck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spc="-38" dirty="0">
                <a:latin typeface="Calibri"/>
                <a:cs typeface="Calibri"/>
              </a:rPr>
              <a:t>layer,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-4" dirty="0">
                <a:latin typeface="Calibri"/>
                <a:cs typeface="Calibri"/>
              </a:rPr>
              <a:t>resulting</a:t>
            </a:r>
            <a:r>
              <a:rPr sz="1950" spc="-11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 </a:t>
            </a:r>
            <a:r>
              <a:rPr sz="1950" spc="-431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-4" dirty="0">
                <a:latin typeface="Calibri"/>
                <a:cs typeface="Calibri"/>
              </a:rPr>
              <a:t> lower-dimensional</a:t>
            </a:r>
            <a:r>
              <a:rPr sz="1950" spc="-11" dirty="0">
                <a:latin typeface="Calibri"/>
                <a:cs typeface="Calibri"/>
              </a:rPr>
              <a:t> </a:t>
            </a:r>
            <a:r>
              <a:rPr sz="1950" spc="-8" dirty="0">
                <a:latin typeface="Calibri"/>
                <a:cs typeface="Calibri"/>
              </a:rPr>
              <a:t>code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spc="-4" dirty="0">
                <a:latin typeface="Calibri"/>
                <a:cs typeface="Calibri"/>
              </a:rPr>
              <a:t>that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-8" dirty="0">
                <a:latin typeface="Calibri"/>
                <a:cs typeface="Calibri"/>
              </a:rPr>
              <a:t>“summarises”</a:t>
            </a:r>
            <a:r>
              <a:rPr sz="1950" spc="-34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-8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input</a:t>
            </a:r>
          </a:p>
          <a:p>
            <a:pPr marL="567214" lvl="1" indent="-215265">
              <a:spcBef>
                <a:spcPts val="420"/>
              </a:spcBef>
              <a:buFont typeface="Arial"/>
              <a:buChar char="–"/>
              <a:tabLst>
                <a:tab pos="567214" algn="l"/>
                <a:tab pos="567690" algn="l"/>
              </a:tabLst>
            </a:pPr>
            <a:r>
              <a:rPr sz="1650" spc="-4" dirty="0">
                <a:latin typeface="Calibri"/>
                <a:cs typeface="Calibri"/>
              </a:rPr>
              <a:t>Also</a:t>
            </a:r>
            <a:r>
              <a:rPr sz="1650" spc="4" dirty="0">
                <a:latin typeface="Calibri"/>
                <a:cs typeface="Calibri"/>
              </a:rPr>
              <a:t> </a:t>
            </a:r>
            <a:r>
              <a:rPr sz="1650" spc="-8" dirty="0">
                <a:latin typeface="Calibri"/>
                <a:cs typeface="Calibri"/>
              </a:rPr>
              <a:t>called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-4" dirty="0">
                <a:latin typeface="Calibri"/>
                <a:cs typeface="Calibri"/>
              </a:rPr>
              <a:t>the</a:t>
            </a:r>
            <a:r>
              <a:rPr sz="1650" spc="8" dirty="0">
                <a:latin typeface="Calibri"/>
                <a:cs typeface="Calibri"/>
              </a:rPr>
              <a:t> </a:t>
            </a:r>
            <a:r>
              <a:rPr sz="1650" spc="-8" dirty="0">
                <a:latin typeface="Calibri"/>
                <a:cs typeface="Calibri"/>
              </a:rPr>
              <a:t>latent-space</a:t>
            </a:r>
            <a:r>
              <a:rPr sz="1650" spc="8" dirty="0">
                <a:latin typeface="Calibri"/>
                <a:cs typeface="Calibri"/>
              </a:rPr>
              <a:t> </a:t>
            </a:r>
            <a:r>
              <a:rPr sz="1650" spc="-11" dirty="0">
                <a:latin typeface="Calibri"/>
                <a:cs typeface="Calibri"/>
              </a:rPr>
              <a:t>representation</a:t>
            </a:r>
            <a:endParaRPr sz="1650" dirty="0">
              <a:latin typeface="Calibri"/>
              <a:cs typeface="Calibri"/>
            </a:endParaRPr>
          </a:p>
          <a:p>
            <a:pPr marL="266700" marR="220504" indent="-257175">
              <a:spcBef>
                <a:spcPts val="446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1950" spc="-23" dirty="0">
                <a:latin typeface="Calibri"/>
                <a:cs typeface="Calibri"/>
              </a:rPr>
              <a:t>Typically,</a:t>
            </a:r>
            <a:r>
              <a:rPr sz="1950" spc="-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-11" dirty="0">
                <a:latin typeface="Calibri"/>
                <a:cs typeface="Calibri"/>
              </a:rPr>
              <a:t> </a:t>
            </a:r>
            <a:r>
              <a:rPr sz="1950" spc="-4" dirty="0">
                <a:latin typeface="Calibri"/>
                <a:cs typeface="Calibri"/>
              </a:rPr>
              <a:t>decoder</a:t>
            </a:r>
            <a:r>
              <a:rPr sz="1950" spc="-19" dirty="0">
                <a:latin typeface="Calibri"/>
                <a:cs typeface="Calibri"/>
              </a:rPr>
              <a:t> </a:t>
            </a:r>
            <a:r>
              <a:rPr sz="1950" spc="-4" dirty="0">
                <a:latin typeface="Calibri"/>
                <a:cs typeface="Calibri"/>
              </a:rPr>
              <a:t>architecture</a:t>
            </a:r>
            <a:r>
              <a:rPr sz="1950" spc="-34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is</a:t>
            </a:r>
            <a:r>
              <a:rPr sz="1950" spc="-4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-11" dirty="0">
                <a:latin typeface="Calibri"/>
                <a:cs typeface="Calibri"/>
              </a:rPr>
              <a:t> </a:t>
            </a:r>
            <a:r>
              <a:rPr sz="1950" spc="-4" dirty="0">
                <a:latin typeface="Calibri"/>
                <a:cs typeface="Calibri"/>
              </a:rPr>
              <a:t>mirror</a:t>
            </a:r>
            <a:r>
              <a:rPr sz="1950" spc="-11" dirty="0">
                <a:latin typeface="Calibri"/>
                <a:cs typeface="Calibri"/>
              </a:rPr>
              <a:t> </a:t>
            </a:r>
            <a:r>
              <a:rPr sz="1950" spc="-4" dirty="0">
                <a:latin typeface="Calibri"/>
                <a:cs typeface="Calibri"/>
              </a:rPr>
              <a:t>image of </a:t>
            </a:r>
            <a:r>
              <a:rPr sz="1950" spc="-431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-11" dirty="0">
                <a:latin typeface="Calibri"/>
                <a:cs typeface="Calibri"/>
              </a:rPr>
              <a:t> </a:t>
            </a:r>
            <a:r>
              <a:rPr sz="1950" spc="-4" dirty="0">
                <a:latin typeface="Calibri"/>
                <a:cs typeface="Calibri"/>
              </a:rPr>
              <a:t>encoder</a:t>
            </a:r>
            <a:endParaRPr sz="195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2691161"/>
            <a:ext cx="3006353" cy="21178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122302"/>
            <a:ext cx="8305799" cy="50206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3200" spc="-4" dirty="0"/>
              <a:t>Solution</a:t>
            </a:r>
            <a:r>
              <a:rPr sz="3200" dirty="0"/>
              <a:t> –</a:t>
            </a:r>
            <a:r>
              <a:rPr sz="3200" spc="-8" dirty="0"/>
              <a:t> </a:t>
            </a:r>
            <a:r>
              <a:rPr sz="3200" spc="-11" dirty="0"/>
              <a:t>Layer-wise</a:t>
            </a:r>
            <a:r>
              <a:rPr sz="3200" spc="-15" dirty="0"/>
              <a:t> </a:t>
            </a:r>
            <a:r>
              <a:rPr sz="3200" dirty="0"/>
              <a:t>Unsupervised</a:t>
            </a:r>
            <a:r>
              <a:rPr sz="3200" spc="-30" dirty="0"/>
              <a:t> </a:t>
            </a:r>
            <a:r>
              <a:rPr sz="3200" spc="-11" dirty="0"/>
              <a:t>Pre-training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207732"/>
            <a:ext cx="3827621" cy="2568812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266700" marR="288131" indent="-257651">
              <a:spcBef>
                <a:spcPts val="71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100" b="1" spc="-4" dirty="0">
                <a:latin typeface="Calibri"/>
                <a:cs typeface="Calibri"/>
              </a:rPr>
              <a:t>Unsupervised </a:t>
            </a:r>
            <a:r>
              <a:rPr sz="2100" b="1" spc="-11" dirty="0">
                <a:latin typeface="Calibri"/>
                <a:cs typeface="Calibri"/>
              </a:rPr>
              <a:t>pre- </a:t>
            </a:r>
            <a:r>
              <a:rPr sz="2100" b="1" spc="-465" dirty="0">
                <a:latin typeface="Calibri"/>
                <a:cs typeface="Calibri"/>
              </a:rPr>
              <a:t> </a:t>
            </a:r>
            <a:r>
              <a:rPr sz="2100" b="1" spc="-11" dirty="0">
                <a:latin typeface="Calibri"/>
                <a:cs typeface="Calibri"/>
              </a:rPr>
              <a:t>training</a:t>
            </a:r>
            <a:endParaRPr sz="2100" dirty="0">
              <a:latin typeface="Calibri"/>
              <a:cs typeface="Calibri"/>
            </a:endParaRPr>
          </a:p>
          <a:p>
            <a:pPr marL="567214" marR="3810" lvl="1" indent="-215265">
              <a:spcBef>
                <a:spcPts val="405"/>
              </a:spcBef>
              <a:buFont typeface="Arial"/>
              <a:buChar char="–"/>
              <a:tabLst>
                <a:tab pos="567214" algn="l"/>
                <a:tab pos="567690" algn="l"/>
              </a:tabLst>
            </a:pPr>
            <a:r>
              <a:rPr sz="1500" spc="-19" dirty="0">
                <a:latin typeface="Calibri"/>
                <a:cs typeface="Calibri"/>
              </a:rPr>
              <a:t>Work </a:t>
            </a:r>
            <a:r>
              <a:rPr sz="1500" spc="-8" dirty="0">
                <a:latin typeface="Calibri"/>
                <a:cs typeface="Calibri"/>
              </a:rPr>
              <a:t>bottom-up, stacking </a:t>
            </a:r>
            <a:r>
              <a:rPr sz="1500" spc="-330" dirty="0">
                <a:latin typeface="Calibri"/>
                <a:cs typeface="Calibri"/>
              </a:rPr>
              <a:t> </a:t>
            </a:r>
            <a:r>
              <a:rPr sz="1500" spc="-4" dirty="0">
                <a:latin typeface="Calibri"/>
                <a:cs typeface="Calibri"/>
              </a:rPr>
              <a:t>one </a:t>
            </a:r>
            <a:r>
              <a:rPr sz="1500" dirty="0">
                <a:latin typeface="Calibri"/>
                <a:cs typeface="Calibri"/>
              </a:rPr>
              <a:t>RBM </a:t>
            </a:r>
            <a:r>
              <a:rPr sz="1500" spc="-4" dirty="0">
                <a:latin typeface="Calibri"/>
                <a:cs typeface="Calibri"/>
              </a:rPr>
              <a:t>on </a:t>
            </a:r>
            <a:r>
              <a:rPr sz="1500" spc="-8" dirty="0">
                <a:latin typeface="Calibri"/>
                <a:cs typeface="Calibri"/>
              </a:rPr>
              <a:t>top </a:t>
            </a:r>
            <a:r>
              <a:rPr sz="1500" spc="-4" dirty="0">
                <a:latin typeface="Calibri"/>
                <a:cs typeface="Calibri"/>
              </a:rPr>
              <a:t>of </a:t>
            </a:r>
            <a:r>
              <a:rPr sz="1500" dirty="0">
                <a:latin typeface="Calibri"/>
                <a:cs typeface="Calibri"/>
              </a:rPr>
              <a:t> another:</a:t>
            </a:r>
          </a:p>
          <a:p>
            <a:pPr marL="866775" lvl="2" indent="-171926">
              <a:spcBef>
                <a:spcPts val="334"/>
              </a:spcBef>
              <a:buFont typeface="Arial"/>
              <a:buChar char="•"/>
              <a:tabLst>
                <a:tab pos="866775" algn="l"/>
                <a:tab pos="867251" algn="l"/>
              </a:tabLst>
            </a:pPr>
            <a:r>
              <a:rPr sz="1350" spc="-23" dirty="0">
                <a:latin typeface="Calibri"/>
                <a:cs typeface="Calibri"/>
              </a:rPr>
              <a:t>Train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4" dirty="0">
                <a:latin typeface="Calibri"/>
                <a:cs typeface="Calibri"/>
              </a:rPr>
              <a:t>hidden</a:t>
            </a:r>
            <a:r>
              <a:rPr sz="1350" spc="11" dirty="0">
                <a:latin typeface="Calibri"/>
                <a:cs typeface="Calibri"/>
              </a:rPr>
              <a:t> </a:t>
            </a:r>
            <a:r>
              <a:rPr sz="1350" spc="-11" dirty="0">
                <a:latin typeface="Calibri"/>
                <a:cs typeface="Calibri"/>
              </a:rPr>
              <a:t>layer</a:t>
            </a:r>
            <a:r>
              <a:rPr sz="1350" dirty="0">
                <a:latin typeface="Calibri"/>
                <a:cs typeface="Calibri"/>
              </a:rPr>
              <a:t> 1</a:t>
            </a:r>
          </a:p>
          <a:p>
            <a:pPr marL="866775" lvl="2" indent="-171926">
              <a:spcBef>
                <a:spcPts val="323"/>
              </a:spcBef>
              <a:buFont typeface="Arial"/>
              <a:buChar char="•"/>
              <a:tabLst>
                <a:tab pos="866775" algn="l"/>
                <a:tab pos="867251" algn="l"/>
              </a:tabLst>
            </a:pPr>
            <a:r>
              <a:rPr sz="1350" spc="-4" dirty="0">
                <a:latin typeface="Calibri"/>
                <a:cs typeface="Calibri"/>
              </a:rPr>
              <a:t>Then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4" dirty="0">
                <a:latin typeface="Calibri"/>
                <a:cs typeface="Calibri"/>
              </a:rPr>
              <a:t>fix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spc="-4" dirty="0">
                <a:latin typeface="Calibri"/>
                <a:cs typeface="Calibri"/>
              </a:rPr>
              <a:t>its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spc="-11" dirty="0">
                <a:latin typeface="Calibri"/>
                <a:cs typeface="Calibri"/>
              </a:rPr>
              <a:t>parameters</a:t>
            </a:r>
            <a:endParaRPr sz="1350" dirty="0">
              <a:latin typeface="Calibri"/>
              <a:cs typeface="Calibri"/>
            </a:endParaRPr>
          </a:p>
          <a:p>
            <a:pPr marL="866775" lvl="2" indent="-171926">
              <a:spcBef>
                <a:spcPts val="323"/>
              </a:spcBef>
              <a:buFont typeface="Arial"/>
              <a:buChar char="•"/>
              <a:tabLst>
                <a:tab pos="866775" algn="l"/>
                <a:tab pos="867251" algn="l"/>
              </a:tabLst>
            </a:pPr>
            <a:r>
              <a:rPr sz="1350" spc="-23" dirty="0">
                <a:latin typeface="Calibri"/>
                <a:cs typeface="Calibri"/>
              </a:rPr>
              <a:t>Train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4" dirty="0">
                <a:latin typeface="Calibri"/>
                <a:cs typeface="Calibri"/>
              </a:rPr>
              <a:t>hidden</a:t>
            </a:r>
            <a:r>
              <a:rPr sz="1350" spc="11" dirty="0">
                <a:latin typeface="Calibri"/>
                <a:cs typeface="Calibri"/>
              </a:rPr>
              <a:t> </a:t>
            </a:r>
            <a:r>
              <a:rPr sz="1350" spc="-11" dirty="0">
                <a:latin typeface="Calibri"/>
                <a:cs typeface="Calibri"/>
              </a:rPr>
              <a:t>layer</a:t>
            </a:r>
            <a:r>
              <a:rPr sz="1350" dirty="0">
                <a:latin typeface="Calibri"/>
                <a:cs typeface="Calibri"/>
              </a:rPr>
              <a:t> 2</a:t>
            </a:r>
          </a:p>
          <a:p>
            <a:pPr marL="866775" lvl="2" indent="-171926">
              <a:spcBef>
                <a:spcPts val="326"/>
              </a:spcBef>
              <a:buFont typeface="Arial"/>
              <a:buChar char="•"/>
              <a:tabLst>
                <a:tab pos="866775" algn="l"/>
                <a:tab pos="867251" algn="l"/>
              </a:tabLst>
            </a:pPr>
            <a:r>
              <a:rPr sz="1350" spc="-4" dirty="0">
                <a:latin typeface="Calibri"/>
                <a:cs typeface="Calibri"/>
              </a:rPr>
              <a:t>Then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4" dirty="0">
                <a:latin typeface="Calibri"/>
                <a:cs typeface="Calibri"/>
              </a:rPr>
              <a:t>fix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spc="-4" dirty="0">
                <a:latin typeface="Calibri"/>
                <a:cs typeface="Calibri"/>
              </a:rPr>
              <a:t>its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spc="-11" dirty="0">
                <a:latin typeface="Calibri"/>
                <a:cs typeface="Calibri"/>
              </a:rPr>
              <a:t>parameters</a:t>
            </a:r>
            <a:endParaRPr sz="1350" dirty="0">
              <a:latin typeface="Calibri"/>
              <a:cs typeface="Calibri"/>
            </a:endParaRPr>
          </a:p>
          <a:p>
            <a:pPr marL="866775" lvl="2" indent="-171926">
              <a:spcBef>
                <a:spcPts val="326"/>
              </a:spcBef>
              <a:buFont typeface="Arial"/>
              <a:buChar char="•"/>
              <a:tabLst>
                <a:tab pos="866775" algn="l"/>
                <a:tab pos="867251" algn="l"/>
              </a:tabLst>
            </a:pPr>
            <a:r>
              <a:rPr sz="1350" spc="4" dirty="0">
                <a:latin typeface="Calibri"/>
                <a:cs typeface="Calibri"/>
              </a:rPr>
              <a:t>….</a:t>
            </a:r>
            <a:endParaRPr sz="1350" dirty="0">
              <a:latin typeface="Calibri"/>
              <a:cs typeface="Calibri"/>
            </a:endParaRPr>
          </a:p>
          <a:p>
            <a:pPr marL="866775" lvl="2" indent="-171926">
              <a:spcBef>
                <a:spcPts val="323"/>
              </a:spcBef>
              <a:buFont typeface="Arial"/>
              <a:buChar char="•"/>
              <a:tabLst>
                <a:tab pos="866775" algn="l"/>
                <a:tab pos="867251" algn="l"/>
              </a:tabLst>
            </a:pPr>
            <a:r>
              <a:rPr sz="1350" spc="-23" dirty="0">
                <a:latin typeface="Calibri"/>
                <a:cs typeface="Calibri"/>
              </a:rPr>
              <a:t>Train</a:t>
            </a:r>
            <a:r>
              <a:rPr sz="1350" spc="-26" dirty="0">
                <a:latin typeface="Calibri"/>
                <a:cs typeface="Calibri"/>
              </a:rPr>
              <a:t> </a:t>
            </a:r>
            <a:r>
              <a:rPr sz="1350" spc="-4" dirty="0">
                <a:latin typeface="Calibri"/>
                <a:cs typeface="Calibri"/>
              </a:rPr>
              <a:t>hidden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1" dirty="0">
                <a:latin typeface="Calibri"/>
                <a:cs typeface="Calibri"/>
              </a:rPr>
              <a:t>layer </a:t>
            </a:r>
            <a:r>
              <a:rPr sz="1350" dirty="0">
                <a:latin typeface="Calibri"/>
                <a:cs typeface="Calibri"/>
              </a:rPr>
              <a:t>N</a:t>
            </a:r>
          </a:p>
          <a:p>
            <a:pPr marL="866775" lvl="2" indent="-171926">
              <a:spcBef>
                <a:spcPts val="323"/>
              </a:spcBef>
              <a:buFont typeface="Arial"/>
              <a:buChar char="•"/>
              <a:tabLst>
                <a:tab pos="866775" algn="l"/>
                <a:tab pos="867251" algn="l"/>
              </a:tabLst>
            </a:pPr>
            <a:r>
              <a:rPr sz="1350" spc="-4" dirty="0">
                <a:latin typeface="Calibri"/>
                <a:cs typeface="Calibri"/>
              </a:rPr>
              <a:t>Then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4" dirty="0">
                <a:latin typeface="Calibri"/>
                <a:cs typeface="Calibri"/>
              </a:rPr>
              <a:t>fix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spc="-4" dirty="0">
                <a:latin typeface="Calibri"/>
                <a:cs typeface="Calibri"/>
              </a:rPr>
              <a:t>its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spc="-11" dirty="0">
                <a:latin typeface="Calibri"/>
                <a:cs typeface="Calibri"/>
              </a:rPr>
              <a:t>parameters</a:t>
            </a:r>
            <a:endParaRPr sz="135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57600" y="1016128"/>
            <a:ext cx="5181599" cy="3585686"/>
            <a:chOff x="4555235" y="1354836"/>
            <a:chExt cx="4286885" cy="47809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5235" y="1354836"/>
              <a:ext cx="4286263" cy="47802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55235" y="1365504"/>
              <a:ext cx="3759835" cy="958850"/>
            </a:xfrm>
            <a:custGeom>
              <a:avLst/>
              <a:gdLst/>
              <a:ahLst/>
              <a:cxnLst/>
              <a:rect l="l" t="t" r="r" b="b"/>
              <a:pathLst>
                <a:path w="3759834" h="958850">
                  <a:moveTo>
                    <a:pt x="3759708" y="0"/>
                  </a:moveTo>
                  <a:lnTo>
                    <a:pt x="0" y="0"/>
                  </a:lnTo>
                  <a:lnTo>
                    <a:pt x="0" y="958596"/>
                  </a:lnTo>
                  <a:lnTo>
                    <a:pt x="3759708" y="958596"/>
                  </a:lnTo>
                  <a:lnTo>
                    <a:pt x="3759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</p:spTree>
    <p:extLst>
      <p:ext uri="{BB962C8B-B14F-4D97-AF65-F5344CB8AC3E}">
        <p14:creationId xmlns:p14="http://schemas.microsoft.com/office/powerpoint/2010/main" val="1114904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22302"/>
            <a:ext cx="8686799" cy="50206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3200" spc="-4" dirty="0"/>
              <a:t>Solution</a:t>
            </a:r>
            <a:r>
              <a:rPr sz="3200" dirty="0"/>
              <a:t> –</a:t>
            </a:r>
            <a:r>
              <a:rPr sz="3200" spc="-8" dirty="0"/>
              <a:t> </a:t>
            </a:r>
            <a:r>
              <a:rPr sz="3200" spc="-11" dirty="0"/>
              <a:t>Layer-wise</a:t>
            </a:r>
            <a:r>
              <a:rPr sz="3200" spc="-15" dirty="0"/>
              <a:t> </a:t>
            </a:r>
            <a:r>
              <a:rPr sz="3200" dirty="0"/>
              <a:t>Unsupervised</a:t>
            </a:r>
            <a:r>
              <a:rPr sz="3200" spc="-30" dirty="0"/>
              <a:t> </a:t>
            </a:r>
            <a:r>
              <a:rPr sz="3200" spc="-11" dirty="0"/>
              <a:t>Pre-training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809750"/>
            <a:ext cx="3481864" cy="1660872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266700" marR="238125" indent="-257651">
              <a:spcBef>
                <a:spcPts val="71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100" spc="-4" dirty="0">
                <a:latin typeface="Calibri"/>
                <a:cs typeface="Calibri"/>
              </a:rPr>
              <a:t>Add the final </a:t>
            </a:r>
            <a:r>
              <a:rPr sz="2100" spc="-8" dirty="0">
                <a:latin typeface="Calibri"/>
                <a:cs typeface="Calibri"/>
              </a:rPr>
              <a:t>output </a:t>
            </a:r>
            <a:r>
              <a:rPr sz="2100" spc="-465" dirty="0">
                <a:latin typeface="Calibri"/>
                <a:cs typeface="Calibri"/>
              </a:rPr>
              <a:t> </a:t>
            </a:r>
            <a:r>
              <a:rPr sz="2100" spc="-19" dirty="0">
                <a:latin typeface="Calibri"/>
                <a:cs typeface="Calibri"/>
              </a:rPr>
              <a:t>layer</a:t>
            </a:r>
            <a:endParaRPr sz="2100" dirty="0">
              <a:latin typeface="Calibri"/>
              <a:cs typeface="Calibri"/>
            </a:endParaRPr>
          </a:p>
          <a:p>
            <a:pPr marL="266700" marR="3810" indent="-257651">
              <a:spcBef>
                <a:spcPts val="506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100" spc="-4" dirty="0">
                <a:latin typeface="Calibri"/>
                <a:cs typeface="Calibri"/>
              </a:rPr>
              <a:t>Run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a</a:t>
            </a:r>
            <a:r>
              <a:rPr sz="2100" spc="-8" dirty="0">
                <a:latin typeface="Calibri"/>
                <a:cs typeface="Calibri"/>
              </a:rPr>
              <a:t> </a:t>
            </a:r>
            <a:r>
              <a:rPr sz="2100" b="1" spc="-8" dirty="0">
                <a:latin typeface="Calibri"/>
                <a:cs typeface="Calibri"/>
              </a:rPr>
              <a:t>final </a:t>
            </a:r>
            <a:r>
              <a:rPr sz="2100" b="1" spc="-4" dirty="0">
                <a:latin typeface="Calibri"/>
                <a:cs typeface="Calibri"/>
              </a:rPr>
              <a:t>supervised </a:t>
            </a:r>
            <a:r>
              <a:rPr sz="2100" b="1" spc="-465" dirty="0">
                <a:latin typeface="Calibri"/>
                <a:cs typeface="Calibri"/>
              </a:rPr>
              <a:t> </a:t>
            </a:r>
            <a:r>
              <a:rPr sz="2100" b="1" spc="-4" dirty="0">
                <a:latin typeface="Calibri"/>
                <a:cs typeface="Calibri"/>
              </a:rPr>
              <a:t>fine-tuning</a:t>
            </a:r>
            <a:endParaRPr sz="2100" dirty="0">
              <a:latin typeface="Calibri"/>
              <a:cs typeface="Calibri"/>
            </a:endParaRPr>
          </a:p>
          <a:p>
            <a:pPr marL="567214" marR="128111" indent="-215265">
              <a:spcBef>
                <a:spcPts val="458"/>
              </a:spcBef>
            </a:pPr>
            <a:r>
              <a:rPr dirty="0">
                <a:latin typeface="Arial"/>
                <a:cs typeface="Arial"/>
              </a:rPr>
              <a:t>–</a:t>
            </a:r>
            <a:r>
              <a:rPr spc="4" dirty="0">
                <a:latin typeface="Arial"/>
                <a:cs typeface="Arial"/>
              </a:rPr>
              <a:t> </a:t>
            </a:r>
            <a:r>
              <a:rPr spc="-4" dirty="0">
                <a:latin typeface="Calibri"/>
                <a:cs typeface="Calibri"/>
              </a:rPr>
              <a:t>Using </a:t>
            </a:r>
            <a:r>
              <a:rPr dirty="0">
                <a:latin typeface="Calibri"/>
                <a:cs typeface="Calibri"/>
              </a:rPr>
              <a:t> </a:t>
            </a:r>
            <a:r>
              <a:rPr b="1" spc="-8" dirty="0">
                <a:latin typeface="Calibri"/>
                <a:cs typeface="Calibri"/>
              </a:rPr>
              <a:t>backpropagation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 </a:t>
            </a:r>
            <a:r>
              <a:rPr spc="-394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update </a:t>
            </a:r>
            <a:r>
              <a:rPr dirty="0">
                <a:latin typeface="Calibri"/>
                <a:cs typeface="Calibri"/>
              </a:rPr>
              <a:t>all the 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parameters</a:t>
            </a:r>
            <a:endParaRPr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9427" y="1016128"/>
            <a:ext cx="3214697" cy="358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94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020" y="329667"/>
            <a:ext cx="1942624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spc="-19" dirty="0"/>
              <a:t>Why</a:t>
            </a:r>
            <a:r>
              <a:rPr sz="3300" spc="-71" dirty="0"/>
              <a:t> </a:t>
            </a:r>
            <a:r>
              <a:rPr sz="3300" dirty="0"/>
              <a:t>deep?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020" y="1047750"/>
            <a:ext cx="784383" cy="297678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266700" indent="-257651">
              <a:spcBef>
                <a:spcPts val="71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1875" spc="-8" dirty="0">
                <a:latin typeface="Calibri"/>
                <a:cs typeface="Calibri"/>
              </a:rPr>
              <a:t>Deep</a:t>
            </a:r>
            <a:endParaRPr sz="1875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5400" y="1158583"/>
            <a:ext cx="7010400" cy="1349248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4"/>
              </a:spcBef>
            </a:pPr>
            <a:r>
              <a:rPr sz="1875" spc="-4" dirty="0">
                <a:latin typeface="Calibri"/>
                <a:cs typeface="Calibri"/>
              </a:rPr>
              <a:t>→ Learning</a:t>
            </a:r>
            <a:r>
              <a:rPr sz="1875" spc="4" dirty="0">
                <a:latin typeface="Calibri"/>
                <a:cs typeface="Calibri"/>
              </a:rPr>
              <a:t> </a:t>
            </a:r>
            <a:r>
              <a:rPr sz="1875" spc="-4" dirty="0">
                <a:latin typeface="Calibri"/>
                <a:cs typeface="Calibri"/>
              </a:rPr>
              <a:t>a </a:t>
            </a:r>
            <a:r>
              <a:rPr sz="1875" spc="-15" dirty="0">
                <a:latin typeface="Calibri"/>
                <a:cs typeface="Calibri"/>
              </a:rPr>
              <a:t>hierarchy</a:t>
            </a:r>
            <a:r>
              <a:rPr sz="1875" spc="15" dirty="0">
                <a:latin typeface="Calibri"/>
                <a:cs typeface="Calibri"/>
              </a:rPr>
              <a:t> </a:t>
            </a:r>
            <a:r>
              <a:rPr sz="1875" spc="-4" dirty="0">
                <a:latin typeface="Calibri"/>
                <a:cs typeface="Calibri"/>
              </a:rPr>
              <a:t>of </a:t>
            </a:r>
            <a:r>
              <a:rPr sz="1875" spc="-8" dirty="0">
                <a:latin typeface="Calibri"/>
                <a:cs typeface="Calibri"/>
              </a:rPr>
              <a:t>internal</a:t>
            </a:r>
            <a:r>
              <a:rPr sz="1875" dirty="0">
                <a:latin typeface="Calibri"/>
                <a:cs typeface="Calibri"/>
              </a:rPr>
              <a:t> </a:t>
            </a:r>
            <a:r>
              <a:rPr sz="1875" spc="-11" dirty="0">
                <a:latin typeface="Calibri"/>
                <a:cs typeface="Calibri"/>
              </a:rPr>
              <a:t>representations</a:t>
            </a:r>
            <a:endParaRPr sz="1875" dirty="0">
              <a:latin typeface="Calibri"/>
              <a:cs typeface="Calibri"/>
            </a:endParaRPr>
          </a:p>
          <a:p>
            <a:pPr marL="352425" marR="237173" indent="-342900">
              <a:lnSpc>
                <a:spcPts val="1800"/>
              </a:lnSpc>
              <a:spcBef>
                <a:spcPts val="435"/>
              </a:spcBef>
            </a:pPr>
            <a:r>
              <a:rPr sz="1875" spc="-4" dirty="0">
                <a:latin typeface="Calibri"/>
                <a:cs typeface="Calibri"/>
              </a:rPr>
              <a:t>→ </a:t>
            </a:r>
            <a:endParaRPr lang="en-US" sz="1875" spc="-4" dirty="0">
              <a:latin typeface="Calibri"/>
              <a:cs typeface="Calibri"/>
            </a:endParaRPr>
          </a:p>
          <a:p>
            <a:pPr marL="352425" marR="237173" indent="-342900">
              <a:lnSpc>
                <a:spcPts val="1800"/>
              </a:lnSpc>
              <a:spcBef>
                <a:spcPts val="435"/>
              </a:spcBef>
            </a:pPr>
            <a:r>
              <a:rPr sz="1875" spc="-11" dirty="0">
                <a:latin typeface="Calibri"/>
                <a:cs typeface="Calibri"/>
              </a:rPr>
              <a:t>from</a:t>
            </a:r>
            <a:r>
              <a:rPr sz="1875" spc="-4" dirty="0">
                <a:latin typeface="Calibri"/>
                <a:cs typeface="Calibri"/>
              </a:rPr>
              <a:t> low-level</a:t>
            </a:r>
            <a:r>
              <a:rPr sz="1875" dirty="0">
                <a:latin typeface="Calibri"/>
                <a:cs typeface="Calibri"/>
              </a:rPr>
              <a:t> </a:t>
            </a:r>
            <a:r>
              <a:rPr sz="1875" spc="-15" dirty="0">
                <a:latin typeface="Calibri"/>
                <a:cs typeface="Calibri"/>
              </a:rPr>
              <a:t>features</a:t>
            </a:r>
            <a:r>
              <a:rPr sz="1875" spc="8" dirty="0">
                <a:latin typeface="Calibri"/>
                <a:cs typeface="Calibri"/>
              </a:rPr>
              <a:t> </a:t>
            </a:r>
            <a:r>
              <a:rPr sz="1875" spc="-11" dirty="0">
                <a:latin typeface="Calibri"/>
                <a:cs typeface="Calibri"/>
              </a:rPr>
              <a:t>to</a:t>
            </a:r>
            <a:r>
              <a:rPr sz="1875" spc="-4" dirty="0">
                <a:latin typeface="Calibri"/>
                <a:cs typeface="Calibri"/>
              </a:rPr>
              <a:t> </a:t>
            </a:r>
            <a:r>
              <a:rPr sz="1875" spc="-8" dirty="0">
                <a:latin typeface="Calibri"/>
                <a:cs typeface="Calibri"/>
              </a:rPr>
              <a:t>mid-level</a:t>
            </a:r>
            <a:r>
              <a:rPr sz="1875" spc="34" dirty="0">
                <a:latin typeface="Calibri"/>
                <a:cs typeface="Calibri"/>
              </a:rPr>
              <a:t> </a:t>
            </a:r>
            <a:r>
              <a:rPr sz="1875" spc="-11" dirty="0">
                <a:latin typeface="Calibri"/>
                <a:cs typeface="Calibri"/>
              </a:rPr>
              <a:t>invariant </a:t>
            </a:r>
            <a:r>
              <a:rPr sz="1875" spc="-413" dirty="0">
                <a:latin typeface="Calibri"/>
                <a:cs typeface="Calibri"/>
              </a:rPr>
              <a:t> </a:t>
            </a:r>
            <a:r>
              <a:rPr sz="1875" spc="-11" dirty="0">
                <a:latin typeface="Calibri"/>
                <a:cs typeface="Calibri"/>
              </a:rPr>
              <a:t>representations,</a:t>
            </a:r>
            <a:r>
              <a:rPr sz="1875" spc="8" dirty="0">
                <a:latin typeface="Calibri"/>
                <a:cs typeface="Calibri"/>
              </a:rPr>
              <a:t> </a:t>
            </a:r>
            <a:r>
              <a:rPr sz="1875" spc="-11" dirty="0">
                <a:latin typeface="Calibri"/>
                <a:cs typeface="Calibri"/>
              </a:rPr>
              <a:t>to</a:t>
            </a:r>
            <a:r>
              <a:rPr sz="1875" spc="-4" dirty="0">
                <a:latin typeface="Calibri"/>
                <a:cs typeface="Calibri"/>
              </a:rPr>
              <a:t> </a:t>
            </a:r>
            <a:r>
              <a:rPr sz="1875" spc="-8" dirty="0">
                <a:latin typeface="Calibri"/>
                <a:cs typeface="Calibri"/>
              </a:rPr>
              <a:t>object</a:t>
            </a:r>
            <a:r>
              <a:rPr sz="1875" spc="-4" dirty="0">
                <a:latin typeface="Calibri"/>
                <a:cs typeface="Calibri"/>
              </a:rPr>
              <a:t> identities</a:t>
            </a:r>
            <a:endParaRPr sz="1875" dirty="0">
              <a:latin typeface="Calibri"/>
              <a:cs typeface="Calibri"/>
            </a:endParaRPr>
          </a:p>
          <a:p>
            <a:pPr marL="9525">
              <a:lnSpc>
                <a:spcPts val="2025"/>
              </a:lnSpc>
              <a:spcBef>
                <a:spcPts val="15"/>
              </a:spcBef>
            </a:pPr>
            <a:endParaRPr sz="1875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85900" y="2940939"/>
            <a:ext cx="6468428" cy="1837849"/>
            <a:chOff x="457200" y="3921252"/>
            <a:chExt cx="8624570" cy="24504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091940"/>
              <a:ext cx="8071104" cy="227958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7200" y="3921251"/>
              <a:ext cx="8624570" cy="428625"/>
            </a:xfrm>
            <a:custGeom>
              <a:avLst/>
              <a:gdLst/>
              <a:ahLst/>
              <a:cxnLst/>
              <a:rect l="l" t="t" r="r" b="b"/>
              <a:pathLst>
                <a:path w="8624570" h="428625">
                  <a:moveTo>
                    <a:pt x="8624316" y="99060"/>
                  </a:moveTo>
                  <a:lnTo>
                    <a:pt x="8467331" y="99060"/>
                  </a:lnTo>
                  <a:lnTo>
                    <a:pt x="8467331" y="0"/>
                  </a:lnTo>
                  <a:lnTo>
                    <a:pt x="7642860" y="0"/>
                  </a:lnTo>
                  <a:lnTo>
                    <a:pt x="7642860" y="99060"/>
                  </a:lnTo>
                  <a:lnTo>
                    <a:pt x="0" y="99060"/>
                  </a:lnTo>
                  <a:lnTo>
                    <a:pt x="0" y="216408"/>
                  </a:lnTo>
                  <a:lnTo>
                    <a:pt x="7642860" y="216408"/>
                  </a:lnTo>
                  <a:lnTo>
                    <a:pt x="7642860" y="428244"/>
                  </a:lnTo>
                  <a:lnTo>
                    <a:pt x="8467331" y="428244"/>
                  </a:lnTo>
                  <a:lnTo>
                    <a:pt x="8467331" y="216408"/>
                  </a:lnTo>
                  <a:lnTo>
                    <a:pt x="8624316" y="216408"/>
                  </a:lnTo>
                  <a:lnTo>
                    <a:pt x="8624316" y="99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213005"/>
            <a:ext cx="2303716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spc="-4" dirty="0"/>
              <a:t>CNNs</a:t>
            </a:r>
            <a:endParaRPr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000935"/>
            <a:ext cx="7157085" cy="2015776"/>
          </a:xfrm>
          <a:prstGeom prst="rect">
            <a:avLst/>
          </a:prstGeom>
        </p:spPr>
        <p:txBody>
          <a:bodyPr vert="horz" wrap="square" lIns="0" tIns="78581" rIns="0" bIns="0" rtlCol="0">
            <a:spAutoFit/>
          </a:bodyPr>
          <a:lstStyle/>
          <a:p>
            <a:pPr marL="266700" indent="-257651">
              <a:spcBef>
                <a:spcPts val="619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250" spc="-4" dirty="0">
                <a:latin typeface="Calibri"/>
                <a:cs typeface="Calibri"/>
              </a:rPr>
              <a:t>CNNs: </a:t>
            </a:r>
            <a:r>
              <a:rPr sz="2250" spc="-8" dirty="0">
                <a:latin typeface="Calibri"/>
                <a:cs typeface="Calibri"/>
              </a:rPr>
              <a:t>Convolutional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spc="-11" dirty="0">
                <a:latin typeface="Calibri"/>
                <a:cs typeface="Calibri"/>
              </a:rPr>
              <a:t>Neural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-8" dirty="0">
                <a:latin typeface="Calibri"/>
                <a:cs typeface="Calibri"/>
              </a:rPr>
              <a:t>Networks,</a:t>
            </a:r>
            <a:r>
              <a:rPr sz="2250" spc="4" dirty="0">
                <a:latin typeface="Calibri"/>
                <a:cs typeface="Calibri"/>
              </a:rPr>
              <a:t> </a:t>
            </a:r>
            <a:r>
              <a:rPr sz="2250" spc="-11" dirty="0" err="1">
                <a:latin typeface="Calibri"/>
                <a:cs typeface="Calibri"/>
              </a:rPr>
              <a:t>ConvNets</a:t>
            </a:r>
            <a:endParaRPr lang="en-US" sz="2250" spc="-11" dirty="0">
              <a:latin typeface="Calibri"/>
              <a:cs typeface="Calibri"/>
            </a:endParaRPr>
          </a:p>
          <a:p>
            <a:pPr marL="266700" indent="-257651">
              <a:spcBef>
                <a:spcPts val="619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endParaRPr sz="2250" dirty="0">
              <a:latin typeface="Calibri"/>
              <a:cs typeface="Calibri"/>
            </a:endParaRPr>
          </a:p>
          <a:p>
            <a:pPr marL="266700" marR="40005" indent="-257651">
              <a:spcBef>
                <a:spcPts val="540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250" b="1" i="1" dirty="0">
                <a:solidFill>
                  <a:srgbClr val="0070C0"/>
                </a:solidFill>
                <a:latin typeface="Calibri"/>
                <a:cs typeface="Calibri"/>
              </a:rPr>
              <a:t>A class </a:t>
            </a:r>
            <a:r>
              <a:rPr sz="2250" b="1" i="1" spc="-4" dirty="0">
                <a:solidFill>
                  <a:srgbClr val="0070C0"/>
                </a:solidFill>
                <a:latin typeface="Calibri"/>
                <a:cs typeface="Calibri"/>
              </a:rPr>
              <a:t>of deep </a:t>
            </a:r>
            <a:r>
              <a:rPr sz="2250" b="1" i="1" spc="-11" dirty="0">
                <a:solidFill>
                  <a:srgbClr val="0070C0"/>
                </a:solidFill>
                <a:latin typeface="Calibri"/>
                <a:cs typeface="Calibri"/>
              </a:rPr>
              <a:t>neural </a:t>
            </a:r>
            <a:r>
              <a:rPr sz="2250" b="1" i="1" spc="-8" dirty="0">
                <a:solidFill>
                  <a:srgbClr val="0070C0"/>
                </a:solidFill>
                <a:latin typeface="Calibri"/>
                <a:cs typeface="Calibri"/>
              </a:rPr>
              <a:t>networks most commonly </a:t>
            </a:r>
            <a:r>
              <a:rPr sz="2250" b="1" i="1" spc="-49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50" b="1" i="1" spc="-4" dirty="0">
                <a:solidFill>
                  <a:srgbClr val="0070C0"/>
                </a:solidFill>
                <a:latin typeface="Calibri"/>
                <a:cs typeface="Calibri"/>
              </a:rPr>
              <a:t>applied</a:t>
            </a:r>
            <a:r>
              <a:rPr sz="2250" b="1" i="1" spc="-8" dirty="0">
                <a:solidFill>
                  <a:srgbClr val="0070C0"/>
                </a:solidFill>
                <a:latin typeface="Calibri"/>
                <a:cs typeface="Calibri"/>
              </a:rPr>
              <a:t> to</a:t>
            </a:r>
            <a:r>
              <a:rPr sz="2250" b="1" i="1" spc="-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50" b="1" i="1" spc="-8" dirty="0">
                <a:solidFill>
                  <a:srgbClr val="0070C0"/>
                </a:solidFill>
                <a:latin typeface="Calibri"/>
                <a:cs typeface="Calibri"/>
              </a:rPr>
              <a:t>analyzing</a:t>
            </a:r>
            <a:r>
              <a:rPr sz="2250" b="1" i="1" spc="-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50" b="1" i="1" dirty="0">
                <a:solidFill>
                  <a:srgbClr val="0070C0"/>
                </a:solidFill>
                <a:latin typeface="Calibri"/>
                <a:cs typeface="Calibri"/>
              </a:rPr>
              <a:t>visual</a:t>
            </a:r>
            <a:r>
              <a:rPr sz="2250" b="1" i="1" spc="-1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50" b="1" i="1" spc="-4" dirty="0">
                <a:solidFill>
                  <a:srgbClr val="0070C0"/>
                </a:solidFill>
                <a:latin typeface="Calibri"/>
                <a:cs typeface="Calibri"/>
              </a:rPr>
              <a:t>imagery</a:t>
            </a:r>
            <a:endParaRPr sz="2250" b="1" i="1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266700" indent="-257651">
              <a:spcBef>
                <a:spcPts val="540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endParaRPr sz="22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955" y="182828"/>
            <a:ext cx="2286000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spc="-4" dirty="0"/>
              <a:t>CNNs</a:t>
            </a:r>
            <a:endParaRPr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000935"/>
            <a:ext cx="7157085" cy="2002952"/>
          </a:xfrm>
          <a:prstGeom prst="rect">
            <a:avLst/>
          </a:prstGeom>
        </p:spPr>
        <p:txBody>
          <a:bodyPr vert="horz" wrap="square" lIns="0" tIns="78581" rIns="0" bIns="0" rtlCol="0">
            <a:spAutoFit/>
          </a:bodyPr>
          <a:lstStyle/>
          <a:p>
            <a:pPr marL="266700" indent="-257651">
              <a:spcBef>
                <a:spcPts val="619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250" spc="-4" dirty="0">
                <a:latin typeface="Calibri"/>
                <a:cs typeface="Calibri"/>
              </a:rPr>
              <a:t>CNNs: </a:t>
            </a:r>
            <a:r>
              <a:rPr sz="2250" spc="-8" dirty="0">
                <a:latin typeface="Calibri"/>
                <a:cs typeface="Calibri"/>
              </a:rPr>
              <a:t>Convolutional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spc="-11" dirty="0">
                <a:latin typeface="Calibri"/>
                <a:cs typeface="Calibri"/>
              </a:rPr>
              <a:t>Neural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-8" dirty="0">
                <a:latin typeface="Calibri"/>
                <a:cs typeface="Calibri"/>
              </a:rPr>
              <a:t>Networks,</a:t>
            </a:r>
            <a:r>
              <a:rPr sz="2250" spc="4" dirty="0">
                <a:latin typeface="Calibri"/>
                <a:cs typeface="Calibri"/>
              </a:rPr>
              <a:t> </a:t>
            </a:r>
            <a:r>
              <a:rPr sz="2250" spc="-11" dirty="0">
                <a:latin typeface="Calibri"/>
                <a:cs typeface="Calibri"/>
              </a:rPr>
              <a:t>ConvNets</a:t>
            </a:r>
            <a:endParaRPr sz="2250" dirty="0">
              <a:latin typeface="Calibri"/>
              <a:cs typeface="Calibri"/>
            </a:endParaRPr>
          </a:p>
          <a:p>
            <a:pPr marL="266700" marR="40005" indent="-257651">
              <a:spcBef>
                <a:spcPts val="540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250" b="1" i="1" dirty="0">
                <a:solidFill>
                  <a:srgbClr val="0070C0"/>
                </a:solidFill>
                <a:latin typeface="Calibri"/>
                <a:cs typeface="Calibri"/>
              </a:rPr>
              <a:t>A class </a:t>
            </a:r>
            <a:r>
              <a:rPr sz="2250" b="1" i="1" spc="-4" dirty="0">
                <a:solidFill>
                  <a:srgbClr val="0070C0"/>
                </a:solidFill>
                <a:latin typeface="Calibri"/>
                <a:cs typeface="Calibri"/>
              </a:rPr>
              <a:t>of deep </a:t>
            </a:r>
            <a:r>
              <a:rPr sz="2250" b="1" i="1" spc="-11" dirty="0">
                <a:solidFill>
                  <a:srgbClr val="0070C0"/>
                </a:solidFill>
                <a:latin typeface="Calibri"/>
                <a:cs typeface="Calibri"/>
              </a:rPr>
              <a:t>neural </a:t>
            </a:r>
            <a:r>
              <a:rPr sz="2250" b="1" i="1" spc="-8" dirty="0">
                <a:solidFill>
                  <a:srgbClr val="0070C0"/>
                </a:solidFill>
                <a:latin typeface="Calibri"/>
                <a:cs typeface="Calibri"/>
              </a:rPr>
              <a:t>networks most commonly </a:t>
            </a:r>
            <a:r>
              <a:rPr sz="2250" b="1" i="1" spc="-49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50" b="1" i="1" spc="-4" dirty="0">
                <a:solidFill>
                  <a:srgbClr val="0070C0"/>
                </a:solidFill>
                <a:latin typeface="Calibri"/>
                <a:cs typeface="Calibri"/>
              </a:rPr>
              <a:t>applied</a:t>
            </a:r>
            <a:r>
              <a:rPr sz="2250" b="1" i="1" spc="-8" dirty="0">
                <a:solidFill>
                  <a:srgbClr val="0070C0"/>
                </a:solidFill>
                <a:latin typeface="Calibri"/>
                <a:cs typeface="Calibri"/>
              </a:rPr>
              <a:t> to</a:t>
            </a:r>
            <a:r>
              <a:rPr sz="2250" b="1" i="1" spc="-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50" b="1" i="1" spc="-8" dirty="0">
                <a:solidFill>
                  <a:srgbClr val="0070C0"/>
                </a:solidFill>
                <a:latin typeface="Calibri"/>
                <a:cs typeface="Calibri"/>
              </a:rPr>
              <a:t>analyzing</a:t>
            </a:r>
            <a:r>
              <a:rPr sz="2250" b="1" i="1" spc="-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50" b="1" i="1" dirty="0">
                <a:solidFill>
                  <a:srgbClr val="0070C0"/>
                </a:solidFill>
                <a:latin typeface="Calibri"/>
                <a:cs typeface="Calibri"/>
              </a:rPr>
              <a:t>visual</a:t>
            </a:r>
            <a:r>
              <a:rPr sz="2250" b="1" i="1" spc="-1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50" b="1" i="1" spc="-4" dirty="0">
                <a:solidFill>
                  <a:srgbClr val="0070C0"/>
                </a:solidFill>
                <a:latin typeface="Calibri"/>
                <a:cs typeface="Calibri"/>
              </a:rPr>
              <a:t>imagery</a:t>
            </a:r>
            <a:endParaRPr sz="2250" b="1" i="1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266700" marR="4241959" indent="-266700">
              <a:spcBef>
                <a:spcPts val="518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endParaRPr lang="en-US" sz="2250" spc="-4" dirty="0">
              <a:latin typeface="Calibri"/>
              <a:cs typeface="Calibri"/>
            </a:endParaRPr>
          </a:p>
          <a:p>
            <a:pPr marL="266700" marR="4241959" indent="-266700">
              <a:spcBef>
                <a:spcPts val="518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250" spc="-4" dirty="0">
                <a:latin typeface="Calibri"/>
                <a:cs typeface="Calibri"/>
              </a:rPr>
              <a:t>Co</a:t>
            </a:r>
            <a:r>
              <a:rPr sz="2250" spc="-41" dirty="0">
                <a:latin typeface="Calibri"/>
                <a:cs typeface="Calibri"/>
              </a:rPr>
              <a:t>n</a:t>
            </a:r>
            <a:r>
              <a:rPr sz="2250" spc="-19" dirty="0">
                <a:latin typeface="Calibri"/>
                <a:cs typeface="Calibri"/>
              </a:rPr>
              <a:t>v</a:t>
            </a:r>
            <a:r>
              <a:rPr sz="2250" spc="-4" dirty="0">
                <a:latin typeface="Calibri"/>
                <a:cs typeface="Calibri"/>
              </a:rPr>
              <a:t>olut</a:t>
            </a:r>
            <a:r>
              <a:rPr sz="2250" spc="-8" dirty="0">
                <a:latin typeface="Calibri"/>
                <a:cs typeface="Calibri"/>
              </a:rPr>
              <a:t>i</a:t>
            </a:r>
            <a:r>
              <a:rPr sz="2250" spc="-4" dirty="0">
                <a:latin typeface="Calibri"/>
                <a:cs typeface="Calibri"/>
              </a:rPr>
              <a:t>on  </a:t>
            </a:r>
            <a:r>
              <a:rPr sz="2250" spc="-11" dirty="0">
                <a:latin typeface="Calibri"/>
                <a:cs typeface="Calibri"/>
              </a:rPr>
              <a:t>operation</a:t>
            </a:r>
            <a:endParaRPr sz="225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2952750"/>
            <a:ext cx="3492596" cy="14267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59749"/>
            <a:ext cx="5442204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spc="-8" dirty="0"/>
              <a:t>Local</a:t>
            </a:r>
            <a:r>
              <a:rPr sz="3300" spc="-30" dirty="0"/>
              <a:t> </a:t>
            </a:r>
            <a:r>
              <a:rPr sz="3300" dirty="0"/>
              <a:t>Connectivity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1530" y="1210018"/>
            <a:ext cx="4207669" cy="22777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6700" indent="-257651">
              <a:spcBef>
                <a:spcPts val="75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pc="-4" dirty="0">
                <a:latin typeface="Calibri"/>
                <a:cs typeface="Calibri"/>
              </a:rPr>
              <a:t>Image: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32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*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32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*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volume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45"/>
              </a:spcBef>
              <a:buFont typeface="Arial"/>
              <a:buChar char="•"/>
            </a:pPr>
            <a:endParaRPr sz="1913" dirty="0">
              <a:latin typeface="Calibri"/>
              <a:cs typeface="Calibri"/>
            </a:endParaRPr>
          </a:p>
          <a:p>
            <a:pPr marL="266700" marR="74295" indent="-257651"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pc="-15" dirty="0">
                <a:latin typeface="Calibri"/>
                <a:cs typeface="Calibri"/>
              </a:rPr>
              <a:t>Before: </a:t>
            </a:r>
            <a:r>
              <a:rPr spc="-4" dirty="0">
                <a:latin typeface="Calibri"/>
                <a:cs typeface="Calibri"/>
              </a:rPr>
              <a:t>full </a:t>
            </a:r>
            <a:r>
              <a:rPr spc="-8" dirty="0">
                <a:latin typeface="Calibri"/>
                <a:cs typeface="Calibri"/>
              </a:rPr>
              <a:t>connectivity: </a:t>
            </a:r>
            <a:r>
              <a:rPr dirty="0">
                <a:latin typeface="Calibri"/>
                <a:cs typeface="Calibri"/>
              </a:rPr>
              <a:t>32 * </a:t>
            </a:r>
            <a:r>
              <a:rPr spc="-39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32 * 3 </a:t>
            </a:r>
            <a:r>
              <a:rPr spc="-8" dirty="0">
                <a:latin typeface="Calibri"/>
                <a:cs typeface="Calibri"/>
              </a:rPr>
              <a:t>weights </a:t>
            </a:r>
            <a:r>
              <a:rPr spc="-15" dirty="0">
                <a:latin typeface="Calibri"/>
                <a:cs typeface="Calibri"/>
              </a:rPr>
              <a:t>for </a:t>
            </a:r>
            <a:r>
              <a:rPr dirty="0">
                <a:latin typeface="Calibri"/>
                <a:cs typeface="Calibri"/>
              </a:rPr>
              <a:t>each 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neuron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41"/>
              </a:spcBef>
              <a:buFont typeface="Arial"/>
              <a:buChar char="•"/>
            </a:pPr>
            <a:endParaRPr sz="1913" dirty="0">
              <a:latin typeface="Calibri"/>
              <a:cs typeface="Calibri"/>
            </a:endParaRPr>
          </a:p>
          <a:p>
            <a:pPr marL="266700" marR="3810" indent="-257651"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pc="-4" dirty="0">
                <a:latin typeface="Calibri"/>
                <a:cs typeface="Calibri"/>
              </a:rPr>
              <a:t>Now: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one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unit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will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connect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spc="-23" dirty="0">
                <a:latin typeface="Calibri"/>
                <a:cs typeface="Calibri"/>
              </a:rPr>
              <a:t>to, </a:t>
            </a:r>
            <a:r>
              <a:rPr spc="-39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e.g., 5 * 5 * 3 chunk and </a:t>
            </a:r>
            <a:r>
              <a:rPr spc="-4" dirty="0">
                <a:latin typeface="Calibri"/>
                <a:cs typeface="Calibri"/>
              </a:rPr>
              <a:t>only 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have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5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* 5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*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8" dirty="0">
                <a:latin typeface="Calibri"/>
                <a:cs typeface="Calibri"/>
              </a:rPr>
              <a:t> weights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45"/>
              </a:spcBef>
              <a:buFont typeface="Arial"/>
              <a:buChar char="•"/>
            </a:pPr>
            <a:endParaRPr sz="1913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829" y="1057275"/>
            <a:ext cx="3261349" cy="36557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02055" y="4954296"/>
            <a:ext cx="1263491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7E7E7E"/>
                </a:solidFill>
                <a:latin typeface="Calibri"/>
                <a:cs typeface="Calibri"/>
              </a:rPr>
              <a:t>Adapted</a:t>
            </a:r>
            <a:r>
              <a:rPr sz="1050" spc="-8" dirty="0">
                <a:solidFill>
                  <a:srgbClr val="7E7E7E"/>
                </a:solidFill>
                <a:latin typeface="Calibri"/>
                <a:cs typeface="Calibri"/>
              </a:rPr>
              <a:t> from</a:t>
            </a:r>
            <a:r>
              <a:rPr sz="105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7E7E7E"/>
                </a:solidFill>
                <a:latin typeface="Calibri"/>
                <a:cs typeface="Calibri"/>
              </a:rPr>
              <a:t>Eric</a:t>
            </a:r>
            <a:r>
              <a:rPr sz="1050" spc="-19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7E7E7E"/>
                </a:solidFill>
                <a:latin typeface="Calibri"/>
                <a:cs typeface="Calibri"/>
              </a:rPr>
              <a:t>Xing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22511"/>
            <a:ext cx="3858959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spc="-11" dirty="0"/>
              <a:t>Convolution</a:t>
            </a:r>
            <a:endParaRPr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154885"/>
            <a:ext cx="7924800" cy="622286"/>
          </a:xfrm>
          <a:prstGeom prst="rect">
            <a:avLst/>
          </a:prstGeom>
        </p:spPr>
        <p:txBody>
          <a:bodyPr vert="horz" wrap="square" lIns="0" tIns="37148" rIns="0" bIns="0" rtlCol="0">
            <a:spAutoFit/>
          </a:bodyPr>
          <a:lstStyle/>
          <a:p>
            <a:pPr marL="266700" indent="-257651">
              <a:spcBef>
                <a:spcPts val="293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pc="-4" dirty="0">
                <a:latin typeface="Calibri"/>
                <a:cs typeface="Calibri"/>
              </a:rPr>
              <a:t>One </a:t>
            </a:r>
            <a:r>
              <a:rPr spc="-8" dirty="0">
                <a:latin typeface="Calibri"/>
                <a:cs typeface="Calibri"/>
              </a:rPr>
              <a:t>local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region</a:t>
            </a:r>
            <a:r>
              <a:rPr spc="-8" dirty="0">
                <a:latin typeface="Calibri"/>
                <a:cs typeface="Calibri"/>
              </a:rPr>
              <a:t> only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gives</a:t>
            </a:r>
            <a:r>
              <a:rPr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one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output</a:t>
            </a:r>
            <a:endParaRPr dirty="0">
              <a:latin typeface="Calibri"/>
              <a:cs typeface="Calibri"/>
            </a:endParaRPr>
          </a:p>
          <a:p>
            <a:pPr marL="266700" marR="3810" indent="-257651">
              <a:lnSpc>
                <a:spcPts val="1943"/>
              </a:lnSpc>
              <a:spcBef>
                <a:spcPts val="465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pc="-11" dirty="0">
                <a:latin typeface="Calibri"/>
                <a:cs typeface="Calibri"/>
              </a:rPr>
              <a:t>Convolution: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replicate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column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of</a:t>
            </a:r>
            <a:r>
              <a:rPr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hidden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units </a:t>
            </a:r>
            <a:r>
              <a:rPr spc="-8" dirty="0">
                <a:latin typeface="Calibri"/>
                <a:cs typeface="Calibri"/>
              </a:rPr>
              <a:t>across </a:t>
            </a:r>
            <a:r>
              <a:rPr spc="-39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space,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 </a:t>
            </a:r>
            <a:r>
              <a:rPr spc="-4" dirty="0">
                <a:latin typeface="Calibri"/>
                <a:cs typeface="Calibri"/>
              </a:rPr>
              <a:t>some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stride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00" y="3928268"/>
            <a:ext cx="2727008" cy="919322"/>
          </a:xfrm>
          <a:prstGeom prst="rect">
            <a:avLst/>
          </a:prstGeom>
        </p:spPr>
        <p:txBody>
          <a:bodyPr vert="horz" wrap="square" lIns="0" tIns="36671" rIns="0" bIns="0" rtlCol="0">
            <a:spAutoFit/>
          </a:bodyPr>
          <a:lstStyle/>
          <a:p>
            <a:pPr marL="266700" indent="-257651">
              <a:spcBef>
                <a:spcPts val="289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dirty="0">
                <a:latin typeface="Calibri"/>
                <a:cs typeface="Calibri"/>
              </a:rPr>
              <a:t>7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*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7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input,</a:t>
            </a:r>
          </a:p>
          <a:p>
            <a:pPr marL="266700" indent="-257651">
              <a:spcBef>
                <a:spcPts val="217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dirty="0">
                <a:latin typeface="Calibri"/>
                <a:cs typeface="Calibri"/>
              </a:rPr>
              <a:t>Assume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*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connectivity,</a:t>
            </a:r>
            <a:endParaRPr dirty="0">
              <a:latin typeface="Calibri"/>
              <a:cs typeface="Calibri"/>
            </a:endParaRPr>
          </a:p>
          <a:p>
            <a:pPr marL="266700" indent="-257651">
              <a:spcBef>
                <a:spcPts val="217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pc="-4" dirty="0">
                <a:latin typeface="Calibri"/>
                <a:cs typeface="Calibri"/>
              </a:rPr>
              <a:t>Stride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04149" y="4048125"/>
            <a:ext cx="2802255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24314" indent="-215265">
              <a:spcBef>
                <a:spcPts val="75"/>
              </a:spcBef>
              <a:buFont typeface="Arial"/>
              <a:buChar char="•"/>
              <a:tabLst>
                <a:tab pos="224314" algn="l"/>
                <a:tab pos="224790" algn="l"/>
              </a:tabLst>
            </a:pPr>
            <a:r>
              <a:rPr spc="-8" dirty="0">
                <a:latin typeface="Calibri"/>
                <a:cs typeface="Calibri"/>
              </a:rPr>
              <a:t>Produces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map</a:t>
            </a:r>
            <a:endParaRPr>
              <a:latin typeface="Calibri"/>
              <a:cs typeface="Calibri"/>
            </a:endParaRPr>
          </a:p>
          <a:p>
            <a:pPr marL="224314" indent="-215265">
              <a:buFont typeface="Arial"/>
              <a:buChar char="•"/>
              <a:tabLst>
                <a:tab pos="224314" algn="l"/>
                <a:tab pos="224790" algn="l"/>
              </a:tabLst>
            </a:pPr>
            <a:r>
              <a:rPr i="1" spc="-11" dirty="0">
                <a:latin typeface="Calibri"/>
                <a:cs typeface="Calibri"/>
              </a:rPr>
              <a:t>What’s</a:t>
            </a:r>
            <a:r>
              <a:rPr i="1" spc="-1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the</a:t>
            </a:r>
            <a:r>
              <a:rPr i="1" spc="-15" dirty="0">
                <a:latin typeface="Calibri"/>
                <a:cs typeface="Calibri"/>
              </a:rPr>
              <a:t> </a:t>
            </a:r>
            <a:r>
              <a:rPr i="1" spc="-11" dirty="0">
                <a:latin typeface="Calibri"/>
                <a:cs typeface="Calibri"/>
              </a:rPr>
              <a:t>size</a:t>
            </a:r>
            <a:r>
              <a:rPr i="1" spc="-8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of</a:t>
            </a:r>
            <a:r>
              <a:rPr i="1" spc="-1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the</a:t>
            </a:r>
            <a:r>
              <a:rPr i="1" spc="-8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map?</a:t>
            </a:r>
            <a:endParaRPr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06747" y="4255389"/>
            <a:ext cx="488633" cy="264319"/>
            <a:chOff x="4218330" y="5673852"/>
            <a:chExt cx="651510" cy="35242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8330" y="5674961"/>
              <a:ext cx="651077" cy="35122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6532" y="5678424"/>
              <a:ext cx="586739" cy="29413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256532" y="5678424"/>
              <a:ext cx="586740" cy="294640"/>
            </a:xfrm>
            <a:custGeom>
              <a:avLst/>
              <a:gdLst/>
              <a:ahLst/>
              <a:cxnLst/>
              <a:rect l="l" t="t" r="r" b="b"/>
              <a:pathLst>
                <a:path w="586739" h="294639">
                  <a:moveTo>
                    <a:pt x="0" y="73532"/>
                  </a:moveTo>
                  <a:lnTo>
                    <a:pt x="439673" y="73532"/>
                  </a:lnTo>
                  <a:lnTo>
                    <a:pt x="439673" y="0"/>
                  </a:lnTo>
                  <a:lnTo>
                    <a:pt x="586739" y="147065"/>
                  </a:lnTo>
                  <a:lnTo>
                    <a:pt x="439673" y="294131"/>
                  </a:lnTo>
                  <a:lnTo>
                    <a:pt x="439673" y="220598"/>
                  </a:lnTo>
                  <a:lnTo>
                    <a:pt x="0" y="220598"/>
                  </a:lnTo>
                  <a:lnTo>
                    <a:pt x="0" y="73532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45A73F6-18D8-4FD3-90D8-4A33C4195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467" y="2196980"/>
            <a:ext cx="6519863" cy="171529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77216"/>
            <a:ext cx="3782759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spc="-11" dirty="0"/>
              <a:t>Convolution</a:t>
            </a:r>
            <a:endParaRPr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1154885"/>
            <a:ext cx="7924799" cy="622286"/>
          </a:xfrm>
          <a:prstGeom prst="rect">
            <a:avLst/>
          </a:prstGeom>
        </p:spPr>
        <p:txBody>
          <a:bodyPr vert="horz" wrap="square" lIns="0" tIns="37148" rIns="0" bIns="0" rtlCol="0">
            <a:spAutoFit/>
          </a:bodyPr>
          <a:lstStyle/>
          <a:p>
            <a:pPr marL="266700" indent="-257651">
              <a:spcBef>
                <a:spcPts val="293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pc="-4" dirty="0">
                <a:latin typeface="Calibri"/>
                <a:cs typeface="Calibri"/>
              </a:rPr>
              <a:t>One </a:t>
            </a:r>
            <a:r>
              <a:rPr spc="-8" dirty="0">
                <a:latin typeface="Calibri"/>
                <a:cs typeface="Calibri"/>
              </a:rPr>
              <a:t>local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region</a:t>
            </a:r>
            <a:r>
              <a:rPr spc="-8" dirty="0">
                <a:latin typeface="Calibri"/>
                <a:cs typeface="Calibri"/>
              </a:rPr>
              <a:t> only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gives</a:t>
            </a:r>
            <a:r>
              <a:rPr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one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output</a:t>
            </a:r>
            <a:endParaRPr dirty="0">
              <a:latin typeface="Calibri"/>
              <a:cs typeface="Calibri"/>
            </a:endParaRPr>
          </a:p>
          <a:p>
            <a:pPr marL="266700" marR="3810" indent="-257651">
              <a:lnSpc>
                <a:spcPts val="1943"/>
              </a:lnSpc>
              <a:spcBef>
                <a:spcPts val="465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pc="-11" dirty="0">
                <a:latin typeface="Calibri"/>
                <a:cs typeface="Calibri"/>
              </a:rPr>
              <a:t>Convolution: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replicate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column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of</a:t>
            </a:r>
            <a:r>
              <a:rPr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hidden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units </a:t>
            </a:r>
            <a:r>
              <a:rPr spc="-8" dirty="0">
                <a:latin typeface="Calibri"/>
                <a:cs typeface="Calibri"/>
              </a:rPr>
              <a:t>across </a:t>
            </a:r>
            <a:r>
              <a:rPr spc="-39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space,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 </a:t>
            </a:r>
            <a:r>
              <a:rPr spc="-4" dirty="0">
                <a:latin typeface="Calibri"/>
                <a:cs typeface="Calibri"/>
              </a:rPr>
              <a:t>some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stride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4955" y="4043325"/>
            <a:ext cx="2727008" cy="919322"/>
          </a:xfrm>
          <a:prstGeom prst="rect">
            <a:avLst/>
          </a:prstGeom>
        </p:spPr>
        <p:txBody>
          <a:bodyPr vert="horz" wrap="square" lIns="0" tIns="36671" rIns="0" bIns="0" rtlCol="0">
            <a:spAutoFit/>
          </a:bodyPr>
          <a:lstStyle/>
          <a:p>
            <a:pPr marL="266700" indent="-257651">
              <a:spcBef>
                <a:spcPts val="289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dirty="0">
                <a:latin typeface="Calibri"/>
                <a:cs typeface="Calibri"/>
              </a:rPr>
              <a:t>7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*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7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input,</a:t>
            </a:r>
            <a:endParaRPr>
              <a:latin typeface="Calibri"/>
              <a:cs typeface="Calibri"/>
            </a:endParaRPr>
          </a:p>
          <a:p>
            <a:pPr marL="266700" indent="-257651">
              <a:spcBef>
                <a:spcPts val="217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dirty="0">
                <a:latin typeface="Calibri"/>
                <a:cs typeface="Calibri"/>
              </a:rPr>
              <a:t>Assume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*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connectivity,</a:t>
            </a:r>
            <a:endParaRPr>
              <a:latin typeface="Calibri"/>
              <a:cs typeface="Calibri"/>
            </a:endParaRPr>
          </a:p>
          <a:p>
            <a:pPr marL="266700" indent="-257651">
              <a:spcBef>
                <a:spcPts val="217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pc="-4" dirty="0">
                <a:latin typeface="Calibri"/>
                <a:cs typeface="Calibri"/>
              </a:rPr>
              <a:t>Stride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</a:t>
            </a:r>
            <a:endParaRPr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4149" y="4048125"/>
            <a:ext cx="2802255" cy="840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24314" indent="-215265">
              <a:spcBef>
                <a:spcPts val="75"/>
              </a:spcBef>
              <a:buFont typeface="Arial"/>
              <a:buChar char="•"/>
              <a:tabLst>
                <a:tab pos="224314" algn="l"/>
                <a:tab pos="224790" algn="l"/>
              </a:tabLst>
            </a:pPr>
            <a:r>
              <a:rPr spc="-8" dirty="0">
                <a:latin typeface="Calibri"/>
                <a:cs typeface="Calibri"/>
              </a:rPr>
              <a:t>Produces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map</a:t>
            </a:r>
            <a:endParaRPr>
              <a:latin typeface="Calibri"/>
              <a:cs typeface="Calibri"/>
            </a:endParaRPr>
          </a:p>
          <a:p>
            <a:pPr marL="224314" indent="-215265">
              <a:buFont typeface="Arial"/>
              <a:buChar char="•"/>
              <a:tabLst>
                <a:tab pos="224314" algn="l"/>
                <a:tab pos="224790" algn="l"/>
              </a:tabLst>
            </a:pPr>
            <a:r>
              <a:rPr i="1" spc="-11" dirty="0">
                <a:latin typeface="Calibri"/>
                <a:cs typeface="Calibri"/>
              </a:rPr>
              <a:t>What’s</a:t>
            </a:r>
            <a:r>
              <a:rPr i="1" spc="-1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the</a:t>
            </a:r>
            <a:r>
              <a:rPr i="1" spc="-15" dirty="0">
                <a:latin typeface="Calibri"/>
                <a:cs typeface="Calibri"/>
              </a:rPr>
              <a:t> </a:t>
            </a:r>
            <a:r>
              <a:rPr i="1" spc="-11" dirty="0">
                <a:latin typeface="Calibri"/>
                <a:cs typeface="Calibri"/>
              </a:rPr>
              <a:t>size</a:t>
            </a:r>
            <a:r>
              <a:rPr i="1" spc="-8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of</a:t>
            </a:r>
            <a:r>
              <a:rPr i="1" spc="-1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the</a:t>
            </a:r>
            <a:r>
              <a:rPr i="1" spc="-8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map?</a:t>
            </a:r>
            <a:endParaRPr>
              <a:latin typeface="Calibri"/>
              <a:cs typeface="Calibri"/>
            </a:endParaRPr>
          </a:p>
          <a:p>
            <a:pPr marL="567214" lvl="1" indent="-215265">
              <a:buFont typeface="Arial"/>
              <a:buChar char="•"/>
              <a:tabLst>
                <a:tab pos="567214" algn="l"/>
                <a:tab pos="567690" algn="l"/>
              </a:tabLst>
            </a:pP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5</a:t>
            </a:r>
            <a:r>
              <a:rPr spc="-19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*</a:t>
            </a:r>
            <a:r>
              <a:rPr spc="-1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5</a:t>
            </a:r>
            <a:endParaRPr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06747" y="4255389"/>
            <a:ext cx="488633" cy="264319"/>
            <a:chOff x="4218330" y="5673852"/>
            <a:chExt cx="651510" cy="35242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8330" y="5674961"/>
              <a:ext cx="651077" cy="35122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6532" y="5678424"/>
              <a:ext cx="586739" cy="29413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256532" y="5678424"/>
              <a:ext cx="586740" cy="294640"/>
            </a:xfrm>
            <a:custGeom>
              <a:avLst/>
              <a:gdLst/>
              <a:ahLst/>
              <a:cxnLst/>
              <a:rect l="l" t="t" r="r" b="b"/>
              <a:pathLst>
                <a:path w="586739" h="294639">
                  <a:moveTo>
                    <a:pt x="0" y="73532"/>
                  </a:moveTo>
                  <a:lnTo>
                    <a:pt x="439673" y="73532"/>
                  </a:lnTo>
                  <a:lnTo>
                    <a:pt x="439673" y="0"/>
                  </a:lnTo>
                  <a:lnTo>
                    <a:pt x="586739" y="147065"/>
                  </a:lnTo>
                  <a:lnTo>
                    <a:pt x="439673" y="294131"/>
                  </a:lnTo>
                  <a:lnTo>
                    <a:pt x="439673" y="220598"/>
                  </a:lnTo>
                  <a:lnTo>
                    <a:pt x="0" y="220598"/>
                  </a:lnTo>
                  <a:lnTo>
                    <a:pt x="0" y="73532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3505DF9-2290-4CD6-B879-4B7A97919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937" y="2205074"/>
            <a:ext cx="7096125" cy="1866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Convolutional Deep Nets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185" y="1029153"/>
            <a:ext cx="3479006" cy="13001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19" y="2701244"/>
            <a:ext cx="1978819" cy="13787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824" y="2744107"/>
            <a:ext cx="1914525" cy="13358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248" y="2754821"/>
            <a:ext cx="1764506" cy="1314450"/>
          </a:xfrm>
          <a:prstGeom prst="rect">
            <a:avLst/>
          </a:prstGeom>
        </p:spPr>
      </p:pic>
      <p:cxnSp>
        <p:nvCxnSpPr>
          <p:cNvPr id="9" name="Straight Arrow Connector 8"/>
          <p:cNvCxnSpPr>
            <a:endCxn id="7" idx="1"/>
          </p:cNvCxnSpPr>
          <p:nvPr/>
        </p:nvCxnSpPr>
        <p:spPr>
          <a:xfrm>
            <a:off x="5046260" y="3390616"/>
            <a:ext cx="1529988" cy="214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576248" y="4680448"/>
            <a:ext cx="2368544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25" dirty="0"/>
              <a:t>https://medium.com/@RaghavPrabhu/understanding-of-convolutional-neural-network-cnn-deep-learning-99760835f148</a:t>
            </a:r>
          </a:p>
        </p:txBody>
      </p:sp>
    </p:spTree>
    <p:extLst>
      <p:ext uri="{BB962C8B-B14F-4D97-AF65-F5344CB8AC3E}">
        <p14:creationId xmlns:p14="http://schemas.microsoft.com/office/powerpoint/2010/main" val="1603266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30745"/>
            <a:ext cx="4498943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spc="-8" dirty="0"/>
              <a:t>Pooling</a:t>
            </a:r>
            <a:r>
              <a:rPr sz="3300" spc="-75" dirty="0"/>
              <a:t> </a:t>
            </a:r>
            <a:r>
              <a:rPr sz="3300" spc="-26" dirty="0"/>
              <a:t>Layers</a:t>
            </a:r>
            <a:endParaRPr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1152868"/>
            <a:ext cx="8534400" cy="1203919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66700" marR="394335" indent="-257651">
              <a:lnSpc>
                <a:spcPts val="1950"/>
              </a:lnSpc>
              <a:spcBef>
                <a:spcPts val="540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025" dirty="0">
                <a:latin typeface="Calibri"/>
                <a:cs typeface="Calibri"/>
              </a:rPr>
              <a:t>In </a:t>
            </a:r>
            <a:r>
              <a:rPr sz="2025" spc="-4" dirty="0">
                <a:latin typeface="Calibri"/>
                <a:cs typeface="Calibri"/>
              </a:rPr>
              <a:t>CNNs, </a:t>
            </a:r>
            <a:r>
              <a:rPr sz="2025" spc="-11" dirty="0">
                <a:latin typeface="Calibri"/>
                <a:cs typeface="Calibri"/>
              </a:rPr>
              <a:t>convolutional </a:t>
            </a:r>
            <a:r>
              <a:rPr sz="2025" spc="-19" dirty="0">
                <a:latin typeface="Calibri"/>
                <a:cs typeface="Calibri"/>
              </a:rPr>
              <a:t>layers </a:t>
            </a:r>
            <a:r>
              <a:rPr sz="2025" spc="-11" dirty="0">
                <a:latin typeface="Calibri"/>
                <a:cs typeface="Calibri"/>
              </a:rPr>
              <a:t>are </a:t>
            </a:r>
            <a:r>
              <a:rPr sz="2025" spc="-8" dirty="0">
                <a:latin typeface="Calibri"/>
                <a:cs typeface="Calibri"/>
              </a:rPr>
              <a:t>often </a:t>
            </a:r>
            <a:r>
              <a:rPr sz="2025" spc="-11" dirty="0">
                <a:latin typeface="Calibri"/>
                <a:cs typeface="Calibri"/>
              </a:rPr>
              <a:t>followed </a:t>
            </a:r>
            <a:r>
              <a:rPr sz="2025" spc="-8" dirty="0">
                <a:latin typeface="Calibri"/>
                <a:cs typeface="Calibri"/>
              </a:rPr>
              <a:t>by </a:t>
            </a:r>
            <a:r>
              <a:rPr sz="2025" spc="-450" dirty="0">
                <a:latin typeface="Calibri"/>
                <a:cs typeface="Calibri"/>
              </a:rPr>
              <a:t> </a:t>
            </a:r>
            <a:r>
              <a:rPr sz="2025" spc="-11" dirty="0">
                <a:latin typeface="Calibri"/>
                <a:cs typeface="Calibri"/>
              </a:rPr>
              <a:t>Pool</a:t>
            </a:r>
            <a:r>
              <a:rPr sz="2025" spc="-4" dirty="0">
                <a:latin typeface="Calibri"/>
                <a:cs typeface="Calibri"/>
              </a:rPr>
              <a:t> </a:t>
            </a:r>
            <a:r>
              <a:rPr sz="2025" spc="-19" dirty="0">
                <a:latin typeface="Calibri"/>
                <a:cs typeface="Calibri"/>
              </a:rPr>
              <a:t>layers</a:t>
            </a:r>
            <a:endParaRPr sz="2025" dirty="0">
              <a:latin typeface="Calibri"/>
              <a:cs typeface="Calibri"/>
            </a:endParaRPr>
          </a:p>
          <a:p>
            <a:pPr marL="266700" marR="328613" indent="-257651">
              <a:lnSpc>
                <a:spcPct val="80000"/>
              </a:lnSpc>
              <a:spcBef>
                <a:spcPts val="499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025" b="1" i="1" spc="-4" dirty="0">
                <a:solidFill>
                  <a:srgbClr val="0070C0"/>
                </a:solidFill>
                <a:latin typeface="Calibri"/>
                <a:cs typeface="Calibri"/>
              </a:rPr>
              <a:t>Help </a:t>
            </a:r>
            <a:r>
              <a:rPr sz="2025" b="1" i="1" spc="-11" dirty="0">
                <a:solidFill>
                  <a:srgbClr val="0070C0"/>
                </a:solidFill>
                <a:latin typeface="Calibri"/>
                <a:cs typeface="Calibri"/>
              </a:rPr>
              <a:t>to </a:t>
            </a:r>
            <a:r>
              <a:rPr sz="2025" b="1" i="1" spc="-19" dirty="0">
                <a:solidFill>
                  <a:srgbClr val="0070C0"/>
                </a:solidFill>
                <a:latin typeface="Calibri"/>
                <a:cs typeface="Calibri"/>
              </a:rPr>
              <a:t>make </a:t>
            </a:r>
            <a:r>
              <a:rPr sz="2025" b="1" i="1" dirty="0">
                <a:solidFill>
                  <a:srgbClr val="0070C0"/>
                </a:solidFill>
                <a:latin typeface="Calibri"/>
                <a:cs typeface="Calibri"/>
              </a:rPr>
              <a:t>the </a:t>
            </a:r>
            <a:r>
              <a:rPr sz="2025" b="1" i="1" spc="-11" dirty="0">
                <a:solidFill>
                  <a:srgbClr val="0070C0"/>
                </a:solidFill>
                <a:latin typeface="Calibri"/>
                <a:cs typeface="Calibri"/>
              </a:rPr>
              <a:t>representations </a:t>
            </a:r>
            <a:r>
              <a:rPr sz="2025" b="1" i="1" spc="-4" dirty="0">
                <a:solidFill>
                  <a:srgbClr val="0070C0"/>
                </a:solidFill>
                <a:latin typeface="Calibri"/>
                <a:cs typeface="Calibri"/>
              </a:rPr>
              <a:t>smaller </a:t>
            </a:r>
            <a:r>
              <a:rPr sz="2025" b="1" i="1" dirty="0">
                <a:solidFill>
                  <a:srgbClr val="0070C0"/>
                </a:solidFill>
                <a:latin typeface="Calibri"/>
                <a:cs typeface="Calibri"/>
              </a:rPr>
              <a:t>and </a:t>
            </a:r>
            <a:r>
              <a:rPr sz="2025" b="1" i="1" spc="-8" dirty="0">
                <a:solidFill>
                  <a:srgbClr val="0070C0"/>
                </a:solidFill>
                <a:latin typeface="Calibri"/>
                <a:cs typeface="Calibri"/>
              </a:rPr>
              <a:t>more </a:t>
            </a:r>
            <a:r>
              <a:rPr sz="2025" b="1" i="1" spc="-4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25" b="1" i="1" spc="-4" dirty="0">
                <a:solidFill>
                  <a:srgbClr val="0070C0"/>
                </a:solidFill>
                <a:latin typeface="Calibri"/>
                <a:cs typeface="Calibri"/>
              </a:rPr>
              <a:t>manageable</a:t>
            </a:r>
            <a:r>
              <a:rPr sz="2025" b="1" i="1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25" b="1" i="1" dirty="0">
                <a:solidFill>
                  <a:srgbClr val="0070C0"/>
                </a:solidFill>
                <a:latin typeface="Calibri"/>
                <a:cs typeface="Calibri"/>
              </a:rPr>
              <a:t>without</a:t>
            </a:r>
            <a:r>
              <a:rPr sz="2025" b="1" i="1" spc="-1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25" b="1" i="1" spc="-4" dirty="0">
                <a:solidFill>
                  <a:srgbClr val="0070C0"/>
                </a:solidFill>
                <a:latin typeface="Calibri"/>
                <a:cs typeface="Calibri"/>
              </a:rPr>
              <a:t>losing</a:t>
            </a:r>
            <a:r>
              <a:rPr sz="2025" b="1" i="1" spc="-8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25" b="1" i="1" spc="-11" dirty="0">
                <a:solidFill>
                  <a:srgbClr val="0070C0"/>
                </a:solidFill>
                <a:latin typeface="Calibri"/>
                <a:cs typeface="Calibri"/>
              </a:rPr>
              <a:t>too</a:t>
            </a:r>
            <a:r>
              <a:rPr sz="2025" b="1" i="1" spc="-8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25" b="1" i="1" dirty="0">
                <a:solidFill>
                  <a:srgbClr val="0070C0"/>
                </a:solidFill>
                <a:latin typeface="Calibri"/>
                <a:cs typeface="Calibri"/>
              </a:rPr>
              <a:t>much</a:t>
            </a:r>
            <a:r>
              <a:rPr sz="2025" b="1" i="1" spc="-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25" b="1" i="1" spc="-8" dirty="0">
                <a:solidFill>
                  <a:srgbClr val="0070C0"/>
                </a:solidFill>
                <a:latin typeface="Calibri"/>
                <a:cs typeface="Calibri"/>
              </a:rPr>
              <a:t>information</a:t>
            </a:r>
            <a:endParaRPr sz="2025" b="1" i="1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266700" marR="3810" indent="-257651">
              <a:lnSpc>
                <a:spcPts val="1943"/>
              </a:lnSpc>
              <a:spcBef>
                <a:spcPts val="469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025" spc="-8" dirty="0">
                <a:latin typeface="Calibri"/>
                <a:cs typeface="Calibri"/>
              </a:rPr>
              <a:t>Computes </a:t>
            </a:r>
            <a:r>
              <a:rPr sz="2025" dirty="0">
                <a:latin typeface="Calibri"/>
                <a:cs typeface="Calibri"/>
              </a:rPr>
              <a:t>the </a:t>
            </a:r>
            <a:r>
              <a:rPr sz="2025" spc="-4" dirty="0">
                <a:latin typeface="Calibri"/>
                <a:cs typeface="Calibri"/>
              </a:rPr>
              <a:t>MAX </a:t>
            </a:r>
            <a:r>
              <a:rPr sz="2025" spc="-11" dirty="0">
                <a:latin typeface="Calibri"/>
                <a:cs typeface="Calibri"/>
              </a:rPr>
              <a:t>operation </a:t>
            </a:r>
            <a:r>
              <a:rPr sz="2025" spc="-8" dirty="0">
                <a:latin typeface="Calibri"/>
                <a:cs typeface="Calibri"/>
              </a:rPr>
              <a:t>(most common, but </a:t>
            </a:r>
            <a:r>
              <a:rPr sz="2025" dirty="0">
                <a:latin typeface="Calibri"/>
                <a:cs typeface="Calibri"/>
              </a:rPr>
              <a:t>also </a:t>
            </a:r>
            <a:r>
              <a:rPr sz="2025" spc="-450" dirty="0">
                <a:latin typeface="Calibri"/>
                <a:cs typeface="Calibri"/>
              </a:rPr>
              <a:t> </a:t>
            </a:r>
            <a:r>
              <a:rPr sz="2025" spc="-11" dirty="0">
                <a:latin typeface="Calibri"/>
                <a:cs typeface="Calibri"/>
              </a:rPr>
              <a:t>others</a:t>
            </a:r>
            <a:r>
              <a:rPr sz="2025" spc="-15" dirty="0">
                <a:latin typeface="Calibri"/>
                <a:cs typeface="Calibri"/>
              </a:rPr>
              <a:t> </a:t>
            </a:r>
            <a:r>
              <a:rPr sz="2025" spc="-11" dirty="0">
                <a:latin typeface="Calibri"/>
                <a:cs typeface="Calibri"/>
              </a:rPr>
              <a:t>are</a:t>
            </a:r>
            <a:r>
              <a:rPr sz="2025" spc="-8" dirty="0">
                <a:latin typeface="Calibri"/>
                <a:cs typeface="Calibri"/>
              </a:rPr>
              <a:t> </a:t>
            </a:r>
            <a:r>
              <a:rPr sz="2025" spc="-4" dirty="0">
                <a:latin typeface="Calibri"/>
                <a:cs typeface="Calibri"/>
              </a:rPr>
              <a:t>used)</a:t>
            </a:r>
            <a:endParaRPr sz="2025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3126" y="2778101"/>
            <a:ext cx="4393692" cy="18577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6447" y="3706961"/>
            <a:ext cx="9667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Calibri"/>
                <a:cs typeface="Calibri"/>
              </a:rPr>
              <a:t>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86000" y="4600418"/>
            <a:ext cx="9334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Convolutional Deep Nets</a:t>
            </a:r>
            <a:endParaRPr lang="en-US" dirty="0"/>
          </a:p>
        </p:txBody>
      </p:sp>
      <p:pic>
        <p:nvPicPr>
          <p:cNvPr id="4098" name="Picture 2" descr="Image result for convolutional neural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55" y="1853110"/>
            <a:ext cx="6850244" cy="2650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687491" y="4616402"/>
            <a:ext cx="1039067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50" dirty="0">
                <a:solidFill>
                  <a:srgbClr val="111111"/>
                </a:solidFill>
                <a:latin typeface="Open Sans" panose="020B0606030504020204" pitchFamily="34" charset="0"/>
              </a:rPr>
              <a:t>© 2019 </a:t>
            </a:r>
            <a:r>
              <a:rPr lang="en-US" sz="750" dirty="0" err="1">
                <a:solidFill>
                  <a:srgbClr val="111111"/>
                </a:solidFill>
                <a:latin typeface="Open Sans" panose="020B0606030504020204" pitchFamily="34" charset="0"/>
              </a:rPr>
              <a:t>KDnuggets</a:t>
            </a:r>
            <a:r>
              <a:rPr lang="en-US" sz="750" dirty="0">
                <a:solidFill>
                  <a:srgbClr val="111111"/>
                </a:solidFill>
                <a:latin typeface="Open Sans" panose="020B0606030504020204" pitchFamily="34" charset="0"/>
              </a:rPr>
              <a:t>. </a:t>
            </a:r>
            <a:endParaRPr lang="en-US" sz="750" dirty="0"/>
          </a:p>
        </p:txBody>
      </p:sp>
      <p:sp>
        <p:nvSpPr>
          <p:cNvPr id="5" name="Rectangle 4"/>
          <p:cNvSpPr/>
          <p:nvPr/>
        </p:nvSpPr>
        <p:spPr>
          <a:xfrm>
            <a:off x="6501842" y="4801068"/>
            <a:ext cx="237129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50" dirty="0"/>
              <a:t>https://www.kdnuggets.com/2016/04/deep-learning-vs-svm-random-forest.html</a:t>
            </a:r>
          </a:p>
        </p:txBody>
      </p:sp>
    </p:spTree>
    <p:extLst>
      <p:ext uri="{BB962C8B-B14F-4D97-AF65-F5344CB8AC3E}">
        <p14:creationId xmlns:p14="http://schemas.microsoft.com/office/powerpoint/2010/main" val="1836342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083360"/>
            <a:ext cx="5428296" cy="524503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lang="en-US" sz="2400" spc="-15" dirty="0">
                <a:solidFill>
                  <a:srgbClr val="00026A"/>
                </a:solidFill>
                <a:latin typeface="Calibri"/>
                <a:cs typeface="Calibri"/>
              </a:rPr>
              <a:t>CNN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558069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lang="en-US" sz="4000" spc="-15" dirty="0">
                <a:latin typeface="Calibri"/>
                <a:cs typeface="Calibri"/>
              </a:rPr>
              <a:t>Python Exercise </a:t>
            </a:r>
          </a:p>
        </p:txBody>
      </p:sp>
    </p:spTree>
    <p:extLst>
      <p:ext uri="{BB962C8B-B14F-4D97-AF65-F5344CB8AC3E}">
        <p14:creationId xmlns:p14="http://schemas.microsoft.com/office/powerpoint/2010/main" val="3412325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9EB2E9FB630D499918B8F6CAC84B60" ma:contentTypeVersion="3" ma:contentTypeDescription="Create a new document." ma:contentTypeScope="" ma:versionID="4fd7eb3e58b85baec0fd0cf169f544d9">
  <xsd:schema xmlns:xsd="http://www.w3.org/2001/XMLSchema" xmlns:xs="http://www.w3.org/2001/XMLSchema" xmlns:p="http://schemas.microsoft.com/office/2006/metadata/properties" xmlns:ns2="c974d4e5-f305-4feb-a004-2bd06caf3c2b" targetNamespace="http://schemas.microsoft.com/office/2006/metadata/properties" ma:root="true" ma:fieldsID="ff8484fd76a4646b7414ae59c5a5f383" ns2:_="">
    <xsd:import namespace="c974d4e5-f305-4feb-a004-2bd06caf3c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74d4e5-f305-4feb-a004-2bd06caf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B0BD860-A943-4899-9637-DF38CDC78B3B}"/>
</file>

<file path=customXml/itemProps2.xml><?xml version="1.0" encoding="utf-8"?>
<ds:datastoreItem xmlns:ds="http://schemas.openxmlformats.org/officeDocument/2006/customXml" ds:itemID="{50618EDA-CB01-4848-A701-52DFCD7B4402}"/>
</file>

<file path=customXml/itemProps3.xml><?xml version="1.0" encoding="utf-8"?>
<ds:datastoreItem xmlns:ds="http://schemas.openxmlformats.org/officeDocument/2006/customXml" ds:itemID="{DA54CC67-1F96-475E-94D0-76A9DF03F41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1555</TotalTime>
  <Words>747</Words>
  <Application>Microsoft Office PowerPoint</Application>
  <PresentationFormat>On-screen Show (16:9)</PresentationFormat>
  <Paragraphs>156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 Math</vt:lpstr>
      <vt:lpstr>Corbel</vt:lpstr>
      <vt:lpstr>Open Sans</vt:lpstr>
      <vt:lpstr>Times New Roman</vt:lpstr>
      <vt:lpstr>Office Theme</vt:lpstr>
      <vt:lpstr>PowerPoint Presentation</vt:lpstr>
      <vt:lpstr>In this lesson … Part-2</vt:lpstr>
      <vt:lpstr>Neural Network Types</vt:lpstr>
      <vt:lpstr>The Neural  Network  Zoo</vt:lpstr>
      <vt:lpstr>Deep Neural Networks</vt:lpstr>
      <vt:lpstr>Vanishing gradient problem</vt:lpstr>
      <vt:lpstr>Vanishing gradient problem</vt:lpstr>
      <vt:lpstr>Vanishing gradient problem</vt:lpstr>
      <vt:lpstr>Solution – Layer-wise Unsupervised Pre-training</vt:lpstr>
      <vt:lpstr>Autoencoder</vt:lpstr>
      <vt:lpstr>Autoencoder</vt:lpstr>
      <vt:lpstr>Solution – Layer-wise Unsupervised Pre-training</vt:lpstr>
      <vt:lpstr>Solution – Layer-wise Unsupervised Pre-training</vt:lpstr>
      <vt:lpstr>Why deep?</vt:lpstr>
      <vt:lpstr>CNNs</vt:lpstr>
      <vt:lpstr>CNNs</vt:lpstr>
      <vt:lpstr>Local Connectivity</vt:lpstr>
      <vt:lpstr>Convolution</vt:lpstr>
      <vt:lpstr>Convolution</vt:lpstr>
      <vt:lpstr>Convolutional Deep Nets  </vt:lpstr>
      <vt:lpstr>Pooling Layers</vt:lpstr>
      <vt:lpstr>Convolutional Deep Nets</vt:lpstr>
      <vt:lpstr>Python Exercise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 this lesson … Part 1</dc:title>
  <cp:lastModifiedBy>Maha Saadeh</cp:lastModifiedBy>
  <cp:revision>270</cp:revision>
  <dcterms:created xsi:type="dcterms:W3CDTF">2020-12-02T08:32:33Z</dcterms:created>
  <dcterms:modified xsi:type="dcterms:W3CDTF">2026-02-12T08:36:14Z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2020-11-30T00:00:00Z</vt:filetime>
  </property>
  <property fmtid="{D5CDD505-2E9C-101B-9397-08002B2CF9AE}" pid="3" name="LastSaved">
    <vt:filetime>2020-12-02T00:00:00Z</vt:filetime>
  </property>
  <property fmtid="{D5CDD505-2E9C-101B-9397-08002B2CF9AE}" pid="4" name="ContentTypeId">
    <vt:lpwstr>0x0101003A9EB2E9FB630D499918B8F6CAC84B60</vt:lpwstr>
  </property>
</Properties>
</file>