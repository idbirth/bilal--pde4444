
<file path=[Content_Types].xml><?xml version="1.0" encoding="utf-8"?>
<Types xmlns="http://schemas.openxmlformats.org/package/2006/content-types">
  <Default Extension="gif" ContentType="image/gif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348" r:id="rId2"/>
    <p:sldId id="284" r:id="rId3"/>
    <p:sldId id="461" r:id="rId4"/>
    <p:sldId id="462" r:id="rId5"/>
    <p:sldId id="458" r:id="rId6"/>
    <p:sldId id="476" r:id="rId7"/>
    <p:sldId id="475" r:id="rId8"/>
    <p:sldId id="474" r:id="rId9"/>
    <p:sldId id="269" r:id="rId10"/>
    <p:sldId id="273" r:id="rId11"/>
    <p:sldId id="264" r:id="rId12"/>
    <p:sldId id="265" r:id="rId13"/>
    <p:sldId id="266" r:id="rId14"/>
    <p:sldId id="267" r:id="rId15"/>
    <p:sldId id="465" r:id="rId16"/>
    <p:sldId id="466" r:id="rId17"/>
    <p:sldId id="468" r:id="rId18"/>
    <p:sldId id="467" r:id="rId19"/>
    <p:sldId id="286" r:id="rId20"/>
    <p:sldId id="469" r:id="rId21"/>
    <p:sldId id="472" r:id="rId22"/>
    <p:sldId id="470" r:id="rId23"/>
    <p:sldId id="481" r:id="rId24"/>
    <p:sldId id="471" r:id="rId25"/>
    <p:sldId id="479" r:id="rId26"/>
    <p:sldId id="478" r:id="rId27"/>
    <p:sldId id="480" r:id="rId28"/>
    <p:sldId id="343" r:id="rId29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588" y="6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38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 Saadeh" userId="3cb906ed-5449-4556-905f-2231327ddc1a" providerId="ADAL" clId="{454ED7F6-9BA2-4548-88F5-A2FE5F82DAC2}"/>
    <pc:docChg chg="undo custSel addSld delSld modSld">
      <pc:chgData name="Maha Saadeh" userId="3cb906ed-5449-4556-905f-2231327ddc1a" providerId="ADAL" clId="{454ED7F6-9BA2-4548-88F5-A2FE5F82DAC2}" dt="2026-02-23T06:14:38.509" v="456" actId="1076"/>
      <pc:docMkLst>
        <pc:docMk/>
      </pc:docMkLst>
      <pc:sldChg chg="modSp mod">
        <pc:chgData name="Maha Saadeh" userId="3cb906ed-5449-4556-905f-2231327ddc1a" providerId="ADAL" clId="{454ED7F6-9BA2-4548-88F5-A2FE5F82DAC2}" dt="2026-02-23T06:12:56.080" v="454" actId="255"/>
        <pc:sldMkLst>
          <pc:docMk/>
          <pc:sldMk cId="0" sldId="264"/>
        </pc:sldMkLst>
        <pc:spChg chg="mod">
          <ac:chgData name="Maha Saadeh" userId="3cb906ed-5449-4556-905f-2231327ddc1a" providerId="ADAL" clId="{454ED7F6-9BA2-4548-88F5-A2FE5F82DAC2}" dt="2026-02-23T06:12:56.080" v="454" actId="255"/>
          <ac:spMkLst>
            <pc:docMk/>
            <pc:sldMk cId="0" sldId="264"/>
            <ac:spMk id="10" creationId="{00000000-0000-0000-0000-000000000000}"/>
          </ac:spMkLst>
        </pc:spChg>
      </pc:sldChg>
      <pc:sldChg chg="delSp mod">
        <pc:chgData name="Maha Saadeh" userId="3cb906ed-5449-4556-905f-2231327ddc1a" providerId="ADAL" clId="{454ED7F6-9BA2-4548-88F5-A2FE5F82DAC2}" dt="2026-02-23T06:13:58.687" v="455" actId="478"/>
        <pc:sldMkLst>
          <pc:docMk/>
          <pc:sldMk cId="0" sldId="267"/>
        </pc:sldMkLst>
        <pc:spChg chg="del">
          <ac:chgData name="Maha Saadeh" userId="3cb906ed-5449-4556-905f-2231327ddc1a" providerId="ADAL" clId="{454ED7F6-9BA2-4548-88F5-A2FE5F82DAC2}" dt="2026-02-23T06:13:58.687" v="455" actId="478"/>
          <ac:spMkLst>
            <pc:docMk/>
            <pc:sldMk cId="0" sldId="267"/>
            <ac:spMk id="5" creationId="{00000000-0000-0000-0000-000000000000}"/>
          </ac:spMkLst>
        </pc:spChg>
      </pc:sldChg>
      <pc:sldChg chg="modSp mod">
        <pc:chgData name="Maha Saadeh" userId="3cb906ed-5449-4556-905f-2231327ddc1a" providerId="ADAL" clId="{454ED7F6-9BA2-4548-88F5-A2FE5F82DAC2}" dt="2026-02-23T06:10:17.994" v="449" actId="255"/>
        <pc:sldMkLst>
          <pc:docMk/>
          <pc:sldMk cId="0" sldId="269"/>
        </pc:sldMkLst>
        <pc:spChg chg="mod">
          <ac:chgData name="Maha Saadeh" userId="3cb906ed-5449-4556-905f-2231327ddc1a" providerId="ADAL" clId="{454ED7F6-9BA2-4548-88F5-A2FE5F82DAC2}" dt="2026-02-23T06:10:17.994" v="449" actId="255"/>
          <ac:spMkLst>
            <pc:docMk/>
            <pc:sldMk cId="0" sldId="269"/>
            <ac:spMk id="25" creationId="{00000000-0000-0000-0000-000000000000}"/>
          </ac:spMkLst>
        </pc:spChg>
      </pc:sldChg>
      <pc:sldChg chg="modSp mod">
        <pc:chgData name="Maha Saadeh" userId="3cb906ed-5449-4556-905f-2231327ddc1a" providerId="ADAL" clId="{454ED7F6-9BA2-4548-88F5-A2FE5F82DAC2}" dt="2026-02-23T06:12:40.856" v="453" actId="14100"/>
        <pc:sldMkLst>
          <pc:docMk/>
          <pc:sldMk cId="0" sldId="273"/>
        </pc:sldMkLst>
        <pc:spChg chg="mod">
          <ac:chgData name="Maha Saadeh" userId="3cb906ed-5449-4556-905f-2231327ddc1a" providerId="ADAL" clId="{454ED7F6-9BA2-4548-88F5-A2FE5F82DAC2}" dt="2026-02-23T06:12:40.856" v="453" actId="14100"/>
          <ac:spMkLst>
            <pc:docMk/>
            <pc:sldMk cId="0" sldId="273"/>
            <ac:spMk id="3" creationId="{00000000-0000-0000-0000-000000000000}"/>
          </ac:spMkLst>
        </pc:spChg>
      </pc:sldChg>
      <pc:sldChg chg="modSp add mod">
        <pc:chgData name="Maha Saadeh" userId="3cb906ed-5449-4556-905f-2231327ddc1a" providerId="ADAL" clId="{454ED7F6-9BA2-4548-88F5-A2FE5F82DAC2}" dt="2026-02-12T09:06:13.879" v="426" actId="20577"/>
        <pc:sldMkLst>
          <pc:docMk/>
          <pc:sldMk cId="741890330" sldId="348"/>
        </pc:sldMkLst>
        <pc:spChg chg="mod">
          <ac:chgData name="Maha Saadeh" userId="3cb906ed-5449-4556-905f-2231327ddc1a" providerId="ADAL" clId="{454ED7F6-9BA2-4548-88F5-A2FE5F82DAC2}" dt="2026-02-12T09:06:13.879" v="426" actId="20577"/>
          <ac:spMkLst>
            <pc:docMk/>
            <pc:sldMk cId="741890330" sldId="348"/>
            <ac:spMk id="10" creationId="{FF2038AF-3454-BA65-9BFB-197720AA5C7F}"/>
          </ac:spMkLst>
        </pc:spChg>
      </pc:sldChg>
      <pc:sldChg chg="modSp mod">
        <pc:chgData name="Maha Saadeh" userId="3cb906ed-5449-4556-905f-2231327ddc1a" providerId="ADAL" clId="{454ED7F6-9BA2-4548-88F5-A2FE5F82DAC2}" dt="2026-02-23T06:07:58.654" v="448" actId="255"/>
        <pc:sldMkLst>
          <pc:docMk/>
          <pc:sldMk cId="0" sldId="458"/>
        </pc:sldMkLst>
        <pc:spChg chg="mod">
          <ac:chgData name="Maha Saadeh" userId="3cb906ed-5449-4556-905f-2231327ddc1a" providerId="ADAL" clId="{454ED7F6-9BA2-4548-88F5-A2FE5F82DAC2}" dt="2026-02-23T06:07:58.654" v="448" actId="255"/>
          <ac:spMkLst>
            <pc:docMk/>
            <pc:sldMk cId="0" sldId="458"/>
            <ac:spMk id="4" creationId="{00000000-0000-0000-0000-000000000000}"/>
          </ac:spMkLst>
        </pc:spChg>
      </pc:sldChg>
      <pc:sldChg chg="modSp mod">
        <pc:chgData name="Maha Saadeh" userId="3cb906ed-5449-4556-905f-2231327ddc1a" providerId="ADAL" clId="{454ED7F6-9BA2-4548-88F5-A2FE5F82DAC2}" dt="2026-02-23T06:06:41.863" v="447" actId="20577"/>
        <pc:sldMkLst>
          <pc:docMk/>
          <pc:sldMk cId="254322658" sldId="461"/>
        </pc:sldMkLst>
        <pc:spChg chg="mod">
          <ac:chgData name="Maha Saadeh" userId="3cb906ed-5449-4556-905f-2231327ddc1a" providerId="ADAL" clId="{454ED7F6-9BA2-4548-88F5-A2FE5F82DAC2}" dt="2026-02-23T06:06:41.863" v="447" actId="20577"/>
          <ac:spMkLst>
            <pc:docMk/>
            <pc:sldMk cId="254322658" sldId="461"/>
            <ac:spMk id="4" creationId="{00000000-0000-0000-0000-000000000000}"/>
          </ac:spMkLst>
        </pc:spChg>
      </pc:sldChg>
      <pc:sldChg chg="modSp mod">
        <pc:chgData name="Maha Saadeh" userId="3cb906ed-5449-4556-905f-2231327ddc1a" providerId="ADAL" clId="{454ED7F6-9BA2-4548-88F5-A2FE5F82DAC2}" dt="2026-02-23T06:14:38.509" v="456" actId="1076"/>
        <pc:sldMkLst>
          <pc:docMk/>
          <pc:sldMk cId="1525725976" sldId="466"/>
        </pc:sldMkLst>
        <pc:picChg chg="mod">
          <ac:chgData name="Maha Saadeh" userId="3cb906ed-5449-4556-905f-2231327ddc1a" providerId="ADAL" clId="{454ED7F6-9BA2-4548-88F5-A2FE5F82DAC2}" dt="2026-02-23T06:14:38.509" v="456" actId="1076"/>
          <ac:picMkLst>
            <pc:docMk/>
            <pc:sldMk cId="1525725976" sldId="466"/>
            <ac:picMk id="5" creationId="{3678EA9C-4D9B-401D-901E-1BBCB8CFF0E4}"/>
          </ac:picMkLst>
        </pc:picChg>
      </pc:sldChg>
      <pc:sldMasterChg chg="delSldLayout">
        <pc:chgData name="Maha Saadeh" userId="3cb906ed-5449-4556-905f-2231327ddc1a" providerId="ADAL" clId="{454ED7F6-9BA2-4548-88F5-A2FE5F82DAC2}" dt="2026-02-16T08:47:47.113" v="431" actId="47"/>
        <pc:sldMasterMkLst>
          <pc:docMk/>
          <pc:sldMasterMk cId="0" sldId="2147483648"/>
        </pc:sldMasterMkLst>
      </pc:sldMasterChg>
    </pc:docChg>
  </pc:docChgLst>
  <pc:docChgLst>
    <pc:chgData name="Maha Saadeh" userId="3cb906ed-5449-4556-905f-2231327ddc1a" providerId="ADAL" clId="{963B9E5A-81D2-4E5B-A529-70FD4E8C9C46}"/>
    <pc:docChg chg="addSld delSld modSld">
      <pc:chgData name="Maha Saadeh" userId="3cb906ed-5449-4556-905f-2231327ddc1a" providerId="ADAL" clId="{963B9E5A-81D2-4E5B-A529-70FD4E8C9C46}" dt="2026-02-20T05:45:35.303" v="128"/>
      <pc:docMkLst>
        <pc:docMk/>
      </pc:docMkLst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0" sldId="264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0" sldId="265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0" sldId="266"/>
        </pc:sldMkLst>
      </pc:sldChg>
      <pc:sldChg chg="add">
        <pc:chgData name="Maha Saadeh" userId="3cb906ed-5449-4556-905f-2231327ddc1a" providerId="ADAL" clId="{963B9E5A-81D2-4E5B-A529-70FD4E8C9C46}" dt="2026-02-20T05:45:35.303" v="128"/>
        <pc:sldMkLst>
          <pc:docMk/>
          <pc:sldMk cId="0" sldId="267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0" sldId="269"/>
        </pc:sldMkLst>
      </pc:sldChg>
      <pc:sldChg chg="add">
        <pc:chgData name="Maha Saadeh" userId="3cb906ed-5449-4556-905f-2231327ddc1a" providerId="ADAL" clId="{963B9E5A-81D2-4E5B-A529-70FD4E8C9C46}" dt="2026-02-20T05:44:46.982" v="127"/>
        <pc:sldMkLst>
          <pc:docMk/>
          <pc:sldMk cId="0" sldId="273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0" sldId="284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0" sldId="286"/>
        </pc:sldMkLst>
      </pc:sldChg>
      <pc:sldChg chg="modSp add mod">
        <pc:chgData name="Maha Saadeh" userId="3cb906ed-5449-4556-905f-2231327ddc1a" providerId="ADAL" clId="{963B9E5A-81D2-4E5B-A529-70FD4E8C9C46}" dt="2026-02-20T05:42:43.459" v="125" actId="20577"/>
        <pc:sldMkLst>
          <pc:docMk/>
          <pc:sldMk cId="3412325057" sldId="343"/>
        </pc:sldMkLst>
        <pc:spChg chg="mod">
          <ac:chgData name="Maha Saadeh" userId="3cb906ed-5449-4556-905f-2231327ddc1a" providerId="ADAL" clId="{963B9E5A-81D2-4E5B-A529-70FD4E8C9C46}" dt="2026-02-20T05:42:43.459" v="125" actId="20577"/>
          <ac:spMkLst>
            <pc:docMk/>
            <pc:sldMk cId="3412325057" sldId="343"/>
            <ac:spMk id="2" creationId="{00000000-0000-0000-0000-000000000000}"/>
          </ac:spMkLst>
        </pc:spChg>
        <pc:spChg chg="mod">
          <ac:chgData name="Maha Saadeh" userId="3cb906ed-5449-4556-905f-2231327ddc1a" providerId="ADAL" clId="{963B9E5A-81D2-4E5B-A529-70FD4E8C9C46}" dt="2026-02-20T05:42:39.362" v="122" actId="20577"/>
          <ac:spMkLst>
            <pc:docMk/>
            <pc:sldMk cId="3412325057" sldId="343"/>
            <ac:spMk id="3" creationId="{00000000-0000-0000-0000-000000000000}"/>
          </ac:spMkLst>
        </pc:spChg>
      </pc:sldChg>
      <pc:sldChg chg="modSp mod">
        <pc:chgData name="Maha Saadeh" userId="3cb906ed-5449-4556-905f-2231327ddc1a" providerId="ADAL" clId="{963B9E5A-81D2-4E5B-A529-70FD4E8C9C46}" dt="2026-02-20T05:40:29.543" v="99" actId="20577"/>
        <pc:sldMkLst>
          <pc:docMk/>
          <pc:sldMk cId="741890330" sldId="348"/>
        </pc:sldMkLst>
        <pc:spChg chg="mod">
          <ac:chgData name="Maha Saadeh" userId="3cb906ed-5449-4556-905f-2231327ddc1a" providerId="ADAL" clId="{963B9E5A-81D2-4E5B-A529-70FD4E8C9C46}" dt="2026-02-20T05:40:29.543" v="99" actId="20577"/>
          <ac:spMkLst>
            <pc:docMk/>
            <pc:sldMk cId="741890330" sldId="348"/>
            <ac:spMk id="10" creationId="{FF2038AF-3454-BA65-9BFB-197720AA5C7F}"/>
          </ac:spMkLst>
        </pc:spChg>
      </pc:sldChg>
      <pc:sldChg chg="add">
        <pc:chgData name="Maha Saadeh" userId="3cb906ed-5449-4556-905f-2231327ddc1a" providerId="ADAL" clId="{963B9E5A-81D2-4E5B-A529-70FD4E8C9C46}" dt="2026-02-20T05:44:16.431" v="126"/>
        <pc:sldMkLst>
          <pc:docMk/>
          <pc:sldMk cId="0" sldId="458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254322658" sldId="461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239446212" sldId="462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786822647" sldId="465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1525725976" sldId="466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2419315873" sldId="467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198956679" sldId="468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1634105451" sldId="469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2455193671" sldId="470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496098221" sldId="471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2517423662" sldId="472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1979483231" sldId="474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4099430004" sldId="475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1803920248" sldId="476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3142350438" sldId="478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227642603" sldId="479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3407170718" sldId="480"/>
        </pc:sldMkLst>
      </pc:sldChg>
      <pc:sldChg chg="add">
        <pc:chgData name="Maha Saadeh" userId="3cb906ed-5449-4556-905f-2231327ddc1a" providerId="ADAL" clId="{963B9E5A-81D2-4E5B-A529-70FD4E8C9C46}" dt="2026-02-20T05:36:28.141" v="86"/>
        <pc:sldMkLst>
          <pc:docMk/>
          <pc:sldMk cId="4139519665" sldId="48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97BAC4-41F0-4ADE-8482-0210655DA60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BF6CE5-7E93-4212-8C77-8741B88A91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263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934689"/>
            <a:ext cx="9144000" cy="0"/>
          </a:xfrm>
          <a:custGeom>
            <a:avLst/>
            <a:gdLst/>
            <a:ahLst/>
            <a:cxnLst/>
            <a:rect l="l" t="t" r="r" b="b"/>
            <a:pathLst>
              <a:path w="9144000">
                <a:moveTo>
                  <a:pt x="0" y="0"/>
                </a:moveTo>
                <a:lnTo>
                  <a:pt x="9144000" y="1"/>
                </a:lnTo>
              </a:path>
            </a:pathLst>
          </a:custGeom>
          <a:ln w="50800">
            <a:solidFill>
              <a:srgbClr val="3366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604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 b="0" i="0">
                <a:solidFill>
                  <a:srgbClr val="00026A"/>
                </a:solidFill>
                <a:latin typeface="Corbel"/>
                <a:cs typeface="Corbe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22567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78437" y="4862148"/>
            <a:ext cx="2677795" cy="196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rgbClr val="A6A6A6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pc="-5" dirty="0"/>
              <a:t>Dr. Giovanni Quattrone, Middlesex University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simovinstitute.org/author/fjodorvanveen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gif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gi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gif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99CB5F3-7E1B-3C01-5EDD-ACE15FD56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F2038AF-3454-BA65-9BFB-197720AA5C7F}"/>
              </a:ext>
            </a:extLst>
          </p:cNvPr>
          <p:cNvSpPr txBox="1"/>
          <p:nvPr/>
        </p:nvSpPr>
        <p:spPr>
          <a:xfrm>
            <a:off x="1905000" y="2800350"/>
            <a:ext cx="5638800" cy="830997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Week 6: Sequence Data Analysis and RNN</a:t>
            </a:r>
          </a:p>
          <a:p>
            <a:pPr algn="ctr"/>
            <a:r>
              <a:rPr lang="en-US" sz="2400" b="1" dirty="0">
                <a:solidFill>
                  <a:schemeClr val="bg1"/>
                </a:solidFill>
              </a:rPr>
              <a:t>Part 2- RNN</a:t>
            </a:r>
            <a:endParaRPr lang="en-AE" sz="24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5DCFF84-8DC6-5772-8AC5-D21CBDD4573D}"/>
              </a:ext>
            </a:extLst>
          </p:cNvPr>
          <p:cNvSpPr txBox="1"/>
          <p:nvPr/>
        </p:nvSpPr>
        <p:spPr>
          <a:xfrm>
            <a:off x="1752600" y="4552950"/>
            <a:ext cx="5638800" cy="369332"/>
          </a:xfrm>
          <a:prstGeom prst="rect">
            <a:avLst/>
          </a:prstGeom>
          <a:solidFill>
            <a:srgbClr val="312455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Dr Maha Saadeh</a:t>
            </a:r>
          </a:p>
        </p:txBody>
      </p:sp>
    </p:spTree>
    <p:extLst>
      <p:ext uri="{BB962C8B-B14F-4D97-AF65-F5344CB8AC3E}">
        <p14:creationId xmlns:p14="http://schemas.microsoft.com/office/powerpoint/2010/main" val="741890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7543" y="1643851"/>
            <a:ext cx="1709738" cy="1855797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algn="ctr">
              <a:spcBef>
                <a:spcPts val="71"/>
              </a:spcBef>
            </a:pPr>
            <a:r>
              <a:rPr sz="3000" spc="-8" dirty="0"/>
              <a:t>The</a:t>
            </a:r>
            <a:r>
              <a:rPr sz="3000" spc="-49" dirty="0"/>
              <a:t> </a:t>
            </a:r>
            <a:r>
              <a:rPr sz="3000" spc="-15" dirty="0"/>
              <a:t>Neural </a:t>
            </a:r>
            <a:r>
              <a:rPr sz="3000" spc="-668" dirty="0"/>
              <a:t> </a:t>
            </a:r>
            <a:r>
              <a:rPr sz="3000" spc="-11" dirty="0"/>
              <a:t>Network </a:t>
            </a:r>
            <a:r>
              <a:rPr sz="3000" spc="-8" dirty="0"/>
              <a:t> </a:t>
            </a:r>
            <a:r>
              <a:rPr sz="3000" spc="-23" dirty="0"/>
              <a:t>Zoo</a:t>
            </a:r>
            <a:endParaRPr sz="3000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1800" y="65150"/>
            <a:ext cx="5867400" cy="491718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02055" y="4930293"/>
            <a:ext cx="2300764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spc="-8" dirty="0">
                <a:latin typeface="Calibri"/>
                <a:cs typeface="Calibri"/>
                <a:hlinkClick r:id="rId3"/>
              </a:rPr>
              <a:t>www.asimovinstitute.org/author/fjodorvanveen/</a:t>
            </a:r>
            <a:endParaRPr sz="9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552" y="193005"/>
            <a:ext cx="7236619" cy="59487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15" dirty="0"/>
              <a:t>Recurrent</a:t>
            </a:r>
            <a:r>
              <a:rPr spc="-38" dirty="0"/>
              <a:t> </a:t>
            </a:r>
            <a:r>
              <a:rPr spc="-11" dirty="0"/>
              <a:t>Neural</a:t>
            </a:r>
            <a:r>
              <a:rPr spc="-26" dirty="0"/>
              <a:t> </a:t>
            </a:r>
            <a:r>
              <a:rPr spc="-8" dirty="0"/>
              <a:t>Networks</a:t>
            </a:r>
            <a:r>
              <a:rPr spc="-30" dirty="0"/>
              <a:t> </a:t>
            </a:r>
            <a:r>
              <a:rPr dirty="0"/>
              <a:t>(RNNs)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11552" y="1047750"/>
            <a:ext cx="8375248" cy="2450831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lvl="1">
              <a:spcBef>
                <a:spcPts val="11"/>
              </a:spcBef>
              <a:buFont typeface="Arial"/>
              <a:buChar char="–"/>
            </a:pPr>
            <a:endParaRPr sz="2000" dirty="0">
              <a:latin typeface="Calibri"/>
              <a:cs typeface="Calibri"/>
            </a:endParaRPr>
          </a:p>
          <a:p>
            <a:pPr marL="266700" indent="-257175"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2000" b="1" spc="-11" dirty="0">
                <a:solidFill>
                  <a:srgbClr val="C00000"/>
                </a:solidFill>
                <a:latin typeface="Calibri"/>
                <a:cs typeface="Calibri"/>
              </a:rPr>
              <a:t>Recurrent</a:t>
            </a:r>
            <a:r>
              <a:rPr sz="2000" b="1" spc="15" dirty="0">
                <a:solidFill>
                  <a:srgbClr val="C00000"/>
                </a:solidFill>
                <a:latin typeface="Calibri"/>
                <a:cs typeface="Calibri"/>
              </a:rPr>
              <a:t> </a:t>
            </a:r>
            <a:r>
              <a:rPr sz="2000" b="1" spc="-11" dirty="0">
                <a:solidFill>
                  <a:srgbClr val="C00000"/>
                </a:solidFill>
                <a:latin typeface="Calibri"/>
                <a:cs typeface="Calibri"/>
              </a:rPr>
              <a:t>Networks</a:t>
            </a:r>
            <a:endParaRPr sz="2000" dirty="0">
              <a:latin typeface="Calibri"/>
              <a:cs typeface="Calibri"/>
            </a:endParaRPr>
          </a:p>
          <a:p>
            <a:pPr marL="567214" lvl="1" indent="-215265">
              <a:buFont typeface="Arial"/>
              <a:buChar char="–"/>
              <a:tabLst>
                <a:tab pos="567214" algn="l"/>
                <a:tab pos="567690" algn="l"/>
              </a:tabLst>
            </a:pPr>
            <a:endParaRPr lang="en-US" sz="2000" spc="-11" dirty="0">
              <a:latin typeface="Calibri"/>
              <a:cs typeface="Calibri"/>
            </a:endParaRPr>
          </a:p>
          <a:p>
            <a:pPr marL="567214" lvl="1" indent="-215265">
              <a:buFont typeface="Arial"/>
              <a:buChar char="–"/>
              <a:tabLst>
                <a:tab pos="567214" algn="l"/>
                <a:tab pos="567690" algn="l"/>
              </a:tabLst>
            </a:pPr>
            <a:r>
              <a:rPr sz="2000" spc="-11" dirty="0">
                <a:latin typeface="Calibri"/>
                <a:cs typeface="Calibri"/>
              </a:rPr>
              <a:t>Operate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4" dirty="0">
                <a:latin typeface="Calibri"/>
                <a:cs typeface="Calibri"/>
              </a:rPr>
              <a:t>on sequences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4" dirty="0">
                <a:latin typeface="Calibri"/>
                <a:cs typeface="Calibri"/>
              </a:rPr>
              <a:t>of</a:t>
            </a:r>
            <a:r>
              <a:rPr sz="2000" spc="-8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input</a:t>
            </a:r>
            <a:r>
              <a:rPr sz="2000" spc="-8" dirty="0">
                <a:latin typeface="Calibri"/>
                <a:cs typeface="Calibri"/>
              </a:rPr>
              <a:t> </a:t>
            </a:r>
            <a:r>
              <a:rPr sz="2000" spc="-11" dirty="0">
                <a:latin typeface="Calibri"/>
                <a:cs typeface="Calibri"/>
              </a:rPr>
              <a:t>vectors</a:t>
            </a:r>
            <a:endParaRPr sz="2000" dirty="0">
              <a:latin typeface="Calibri"/>
              <a:cs typeface="Calibri"/>
            </a:endParaRPr>
          </a:p>
          <a:p>
            <a:pPr marL="567214" marR="2566511" lvl="1" indent="-215265">
              <a:lnSpc>
                <a:spcPct val="80000"/>
              </a:lnSpc>
              <a:spcBef>
                <a:spcPts val="360"/>
              </a:spcBef>
              <a:buFont typeface="Arial"/>
              <a:buChar char="–"/>
              <a:tabLst>
                <a:tab pos="567214" algn="l"/>
                <a:tab pos="567690" algn="l"/>
              </a:tabLst>
            </a:pPr>
            <a:r>
              <a:rPr sz="2000" dirty="0">
                <a:latin typeface="Calibri"/>
                <a:cs typeface="Calibri"/>
              </a:rPr>
              <a:t>Nodes </a:t>
            </a:r>
            <a:r>
              <a:rPr sz="2000" spc="-4" dirty="0">
                <a:latin typeface="Calibri"/>
                <a:cs typeface="Calibri"/>
              </a:rPr>
              <a:t>connect </a:t>
            </a:r>
            <a:r>
              <a:rPr sz="2000" dirty="0">
                <a:latin typeface="Calibri"/>
                <a:cs typeface="Calibri"/>
              </a:rPr>
              <a:t>back </a:t>
            </a:r>
            <a:r>
              <a:rPr sz="2000" spc="-11" dirty="0">
                <a:latin typeface="Calibri"/>
                <a:cs typeface="Calibri"/>
              </a:rPr>
              <a:t>to </a:t>
            </a:r>
            <a:r>
              <a:rPr sz="2000" spc="-4" dirty="0">
                <a:latin typeface="Calibri"/>
                <a:cs typeface="Calibri"/>
              </a:rPr>
              <a:t>other </a:t>
            </a:r>
            <a:r>
              <a:rPr sz="2000" dirty="0">
                <a:latin typeface="Calibri"/>
                <a:cs typeface="Calibri"/>
              </a:rPr>
              <a:t>nodes </a:t>
            </a:r>
            <a:r>
              <a:rPr sz="2000" spc="-4" dirty="0">
                <a:latin typeface="Calibri"/>
                <a:cs typeface="Calibri"/>
              </a:rPr>
              <a:t>or</a:t>
            </a:r>
            <a:r>
              <a:rPr lang="en-US" sz="2000" spc="-4" dirty="0">
                <a:latin typeface="Calibri"/>
                <a:cs typeface="Calibri"/>
              </a:rPr>
              <a:t> </a:t>
            </a:r>
            <a:r>
              <a:rPr sz="2000" spc="-4" dirty="0">
                <a:latin typeface="Calibri"/>
                <a:cs typeface="Calibri"/>
              </a:rPr>
              <a:t>themselves</a:t>
            </a:r>
            <a:endParaRPr sz="2000" dirty="0">
              <a:latin typeface="Calibri"/>
              <a:cs typeface="Calibri"/>
            </a:endParaRPr>
          </a:p>
          <a:p>
            <a:pPr marL="567214" lvl="1" indent="-215265">
              <a:buFont typeface="Arial"/>
              <a:buChar char="–"/>
              <a:tabLst>
                <a:tab pos="567214" algn="l"/>
                <a:tab pos="567690" algn="l"/>
              </a:tabLst>
            </a:pPr>
            <a:r>
              <a:rPr sz="2000" spc="-8" dirty="0">
                <a:latin typeface="Calibri"/>
                <a:cs typeface="Calibri"/>
              </a:rPr>
              <a:t>Information </a:t>
            </a:r>
            <a:r>
              <a:rPr sz="2000" spc="-4" dirty="0">
                <a:latin typeface="Calibri"/>
                <a:cs typeface="Calibri"/>
              </a:rPr>
              <a:t>flow is</a:t>
            </a:r>
            <a:r>
              <a:rPr sz="2000" spc="-8" dirty="0">
                <a:latin typeface="Calibri"/>
                <a:cs typeface="Calibri"/>
              </a:rPr>
              <a:t> </a:t>
            </a:r>
            <a:r>
              <a:rPr sz="2000" spc="-4" dirty="0">
                <a:latin typeface="Calibri"/>
                <a:cs typeface="Calibri"/>
              </a:rPr>
              <a:t>multidirectional</a:t>
            </a:r>
            <a:endParaRPr sz="2000" dirty="0">
              <a:latin typeface="Calibri"/>
              <a:cs typeface="Calibri"/>
            </a:endParaRPr>
          </a:p>
          <a:p>
            <a:pPr marL="567214" marR="2531269" lvl="1" indent="-215265">
              <a:lnSpc>
                <a:spcPct val="80000"/>
              </a:lnSpc>
              <a:spcBef>
                <a:spcPts val="360"/>
              </a:spcBef>
              <a:buFont typeface="Arial"/>
              <a:buChar char="–"/>
              <a:tabLst>
                <a:tab pos="567214" algn="l"/>
                <a:tab pos="567690" algn="l"/>
              </a:tabLst>
            </a:pPr>
            <a:r>
              <a:rPr sz="2000" spc="-4" dirty="0">
                <a:latin typeface="Calibri"/>
                <a:cs typeface="Calibri"/>
              </a:rPr>
              <a:t>Sense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4" dirty="0">
                <a:latin typeface="Calibri"/>
                <a:cs typeface="Calibri"/>
              </a:rPr>
              <a:t>of memory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4" dirty="0">
                <a:latin typeface="Calibri"/>
                <a:cs typeface="Calibri"/>
              </a:rPr>
              <a:t>of </a:t>
            </a:r>
            <a:r>
              <a:rPr sz="2000" spc="-8" dirty="0">
                <a:latin typeface="Calibri"/>
                <a:cs typeface="Calibri"/>
              </a:rPr>
              <a:t>previous </a:t>
            </a:r>
            <a:r>
              <a:rPr sz="2000" spc="-330" dirty="0">
                <a:latin typeface="Calibri"/>
                <a:cs typeface="Calibri"/>
              </a:rPr>
              <a:t> </a:t>
            </a:r>
            <a:r>
              <a:rPr sz="2000" spc="-11" dirty="0">
                <a:latin typeface="Calibri"/>
                <a:cs typeface="Calibri"/>
              </a:rPr>
              <a:t>state(s)</a:t>
            </a:r>
            <a:endParaRPr sz="2000" dirty="0">
              <a:latin typeface="Calibri"/>
              <a:cs typeface="Calibri"/>
            </a:endParaRPr>
          </a:p>
          <a:p>
            <a:pPr>
              <a:spcBef>
                <a:spcPts val="4"/>
              </a:spcBef>
            </a:pPr>
            <a:endParaRPr sz="2000" dirty="0">
              <a:latin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9CF9F8-2AFB-48D7-9FE3-F0B3B083A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552" y="3586708"/>
            <a:ext cx="8191500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226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C14956EE-5630-4762-B13D-137DCE7D4A3D}"/>
              </a:ext>
            </a:extLst>
          </p:cNvPr>
          <p:cNvSpPr/>
          <p:nvPr/>
        </p:nvSpPr>
        <p:spPr>
          <a:xfrm>
            <a:off x="381000" y="270511"/>
            <a:ext cx="7175939" cy="67710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800" spc="-15" dirty="0">
                <a:solidFill>
                  <a:srgbClr val="002060"/>
                </a:solidFill>
                <a:latin typeface="Corbel" panose="020B0503020204020204" pitchFamily="34" charset="0"/>
              </a:rPr>
              <a:t>Recurrent</a:t>
            </a:r>
            <a:r>
              <a:rPr lang="en-US" sz="3800" spc="-38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lang="en-US" sz="3800" spc="-11" dirty="0">
                <a:solidFill>
                  <a:srgbClr val="002060"/>
                </a:solidFill>
                <a:latin typeface="Corbel" panose="020B0503020204020204" pitchFamily="34" charset="0"/>
              </a:rPr>
              <a:t>Neural</a:t>
            </a:r>
            <a:r>
              <a:rPr lang="en-US" sz="3800" spc="-26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lang="en-US" sz="3800" spc="-8" dirty="0">
                <a:solidFill>
                  <a:srgbClr val="002060"/>
                </a:solidFill>
                <a:latin typeface="Corbel" panose="020B0503020204020204" pitchFamily="34" charset="0"/>
              </a:rPr>
              <a:t>Networks</a:t>
            </a:r>
            <a:r>
              <a:rPr lang="en-US" sz="3800" spc="-30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lang="en-US" sz="3800" dirty="0">
                <a:solidFill>
                  <a:srgbClr val="002060"/>
                </a:solidFill>
                <a:latin typeface="Corbel" panose="020B0503020204020204" pitchFamily="34" charset="0"/>
              </a:rPr>
              <a:t>(RNNs)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36CF9E5-D669-440A-B3A1-8A51A22B7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" y="1962150"/>
            <a:ext cx="8455503" cy="223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446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346186"/>
            <a:ext cx="7312819" cy="59487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15" dirty="0"/>
              <a:t>Recurrent</a:t>
            </a:r>
            <a:r>
              <a:rPr spc="-38" dirty="0"/>
              <a:t> </a:t>
            </a:r>
            <a:r>
              <a:rPr spc="-11" dirty="0"/>
              <a:t>Neural</a:t>
            </a:r>
            <a:r>
              <a:rPr spc="-26" dirty="0"/>
              <a:t> </a:t>
            </a:r>
            <a:r>
              <a:rPr spc="-8" dirty="0"/>
              <a:t>Networks</a:t>
            </a:r>
            <a:r>
              <a:rPr spc="-30" dirty="0"/>
              <a:t> </a:t>
            </a:r>
            <a:r>
              <a:rPr dirty="0"/>
              <a:t>(RNNs)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485" y="1352550"/>
            <a:ext cx="5642990" cy="2904362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269789" y="4922698"/>
            <a:ext cx="1588770" cy="1617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358"/>
              </a:lnSpc>
            </a:pPr>
            <a:r>
              <a:rPr sz="800" spc="-4" dirty="0">
                <a:solidFill>
                  <a:srgbClr val="A6A6A6"/>
                </a:solidFill>
                <a:latin typeface="Calibri"/>
                <a:cs typeface="Calibri"/>
              </a:rPr>
              <a:t>Slide</a:t>
            </a:r>
            <a:r>
              <a:rPr sz="80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800" spc="-4" dirty="0">
                <a:solidFill>
                  <a:srgbClr val="A6A6A6"/>
                </a:solidFill>
                <a:latin typeface="Calibri"/>
                <a:cs typeface="Calibri"/>
              </a:rPr>
              <a:t>by</a:t>
            </a:r>
            <a:r>
              <a:rPr sz="80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800" spc="-8" dirty="0">
                <a:solidFill>
                  <a:srgbClr val="A6A6A6"/>
                </a:solidFill>
                <a:latin typeface="Calibri"/>
                <a:cs typeface="Calibri"/>
              </a:rPr>
              <a:t>Fei-Fei</a:t>
            </a:r>
            <a:r>
              <a:rPr sz="800" spc="-11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800" spc="-4" dirty="0">
                <a:solidFill>
                  <a:srgbClr val="A6A6A6"/>
                </a:solidFill>
                <a:latin typeface="Calibri"/>
                <a:cs typeface="Calibri"/>
              </a:rPr>
              <a:t>Li et</a:t>
            </a:r>
            <a:r>
              <a:rPr sz="800" spc="-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800" spc="-4" dirty="0">
                <a:solidFill>
                  <a:srgbClr val="A6A6A6"/>
                </a:solidFill>
                <a:latin typeface="Calibri"/>
                <a:cs typeface="Calibri"/>
              </a:rPr>
              <a:t>al.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0C5462F-86C6-4998-BFE6-C76050F055FE}"/>
              </a:ext>
            </a:extLst>
          </p:cNvPr>
          <p:cNvSpPr/>
          <p:nvPr/>
        </p:nvSpPr>
        <p:spPr>
          <a:xfrm>
            <a:off x="5802438" y="1279088"/>
            <a:ext cx="3123077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92929"/>
                </a:solidFill>
                <a:latin typeface="charter"/>
              </a:rPr>
              <a:t>W 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is 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weight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, </a:t>
            </a:r>
            <a:r>
              <a:rPr lang="en-US" b="1" dirty="0">
                <a:solidFill>
                  <a:srgbClr val="292929"/>
                </a:solidFill>
                <a:latin typeface="charter"/>
              </a:rPr>
              <a:t>h 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is the 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single hidden vector,</a:t>
            </a:r>
            <a:r>
              <a:rPr lang="en-US" b="1" dirty="0">
                <a:solidFill>
                  <a:srgbClr val="292929"/>
                </a:solidFill>
                <a:latin typeface="charter"/>
              </a:rPr>
              <a:t> W</a:t>
            </a:r>
            <a:r>
              <a:rPr lang="en-US" b="1" baseline="-25000" dirty="0">
                <a:solidFill>
                  <a:srgbClr val="292929"/>
                </a:solidFill>
                <a:latin typeface="charter"/>
              </a:rPr>
              <a:t>hh</a:t>
            </a:r>
            <a:r>
              <a:rPr lang="en-US" b="1" dirty="0">
                <a:solidFill>
                  <a:srgbClr val="292929"/>
                </a:solidFill>
                <a:latin typeface="charter"/>
              </a:rPr>
              <a:t> 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is 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the weight at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 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previous hidden state, </a:t>
            </a:r>
            <a:r>
              <a:rPr lang="en-US" b="1" dirty="0">
                <a:solidFill>
                  <a:srgbClr val="292929"/>
                </a:solidFill>
                <a:latin typeface="charter"/>
              </a:rPr>
              <a:t>W</a:t>
            </a:r>
            <a:r>
              <a:rPr lang="en-US" b="1" baseline="-25000" dirty="0">
                <a:solidFill>
                  <a:srgbClr val="292929"/>
                </a:solidFill>
                <a:latin typeface="charter"/>
              </a:rPr>
              <a:t>hx</a:t>
            </a:r>
            <a:r>
              <a:rPr lang="en-US" b="1" dirty="0">
                <a:solidFill>
                  <a:srgbClr val="292929"/>
                </a:solidFill>
                <a:latin typeface="charter"/>
              </a:rPr>
              <a:t> 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is the 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weight at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 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current input state, </a:t>
            </a:r>
            <a:r>
              <a:rPr lang="en-US" b="1" dirty="0">
                <a:solidFill>
                  <a:srgbClr val="292929"/>
                </a:solidFill>
                <a:latin typeface="charter"/>
              </a:rPr>
              <a:t>tanh 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is the 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Activation </a:t>
            </a:r>
            <a:r>
              <a:rPr lang="en-US" i="1" dirty="0" err="1">
                <a:solidFill>
                  <a:srgbClr val="292929"/>
                </a:solidFill>
                <a:latin typeface="charter"/>
              </a:rPr>
              <a:t>funtion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, 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that implements a Non-linearity that squashes the activations to the range[-1 , 1]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EA1202-D726-4ABA-AB3D-29DEAC0BC77C}"/>
              </a:ext>
            </a:extLst>
          </p:cNvPr>
          <p:cNvSpPr/>
          <p:nvPr/>
        </p:nvSpPr>
        <p:spPr>
          <a:xfrm>
            <a:off x="5821675" y="3897959"/>
            <a:ext cx="273196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292929"/>
                </a:solidFill>
                <a:latin typeface="charter"/>
              </a:rPr>
              <a:t>Y</a:t>
            </a:r>
            <a:r>
              <a:rPr lang="en-US" b="1" baseline="-25000" dirty="0">
                <a:solidFill>
                  <a:srgbClr val="292929"/>
                </a:solidFill>
                <a:latin typeface="charter"/>
              </a:rPr>
              <a:t>t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 is the 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output state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. </a:t>
            </a:r>
            <a:r>
              <a:rPr lang="en-US" b="1" dirty="0">
                <a:solidFill>
                  <a:srgbClr val="292929"/>
                </a:solidFill>
                <a:latin typeface="charter"/>
              </a:rPr>
              <a:t>W</a:t>
            </a:r>
            <a:r>
              <a:rPr lang="en-US" b="1" baseline="-25000" dirty="0">
                <a:solidFill>
                  <a:srgbClr val="292929"/>
                </a:solidFill>
                <a:latin typeface="charter"/>
              </a:rPr>
              <a:t>hy</a:t>
            </a:r>
            <a:r>
              <a:rPr lang="en-US" dirty="0">
                <a:solidFill>
                  <a:srgbClr val="292929"/>
                </a:solidFill>
                <a:latin typeface="charter"/>
              </a:rPr>
              <a:t> is the </a:t>
            </a:r>
            <a:r>
              <a:rPr lang="en-US" i="1" dirty="0">
                <a:solidFill>
                  <a:srgbClr val="292929"/>
                </a:solidFill>
                <a:latin typeface="charter"/>
              </a:rPr>
              <a:t>weight at the output state.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EBDE-8966-4AFC-A5C3-52B9CCB0B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584775"/>
          </a:xfrm>
        </p:spPr>
        <p:txBody>
          <a:bodyPr/>
          <a:lstStyle/>
          <a:p>
            <a:r>
              <a:rPr lang="en-US" spc="-15" dirty="0">
                <a:solidFill>
                  <a:srgbClr val="002060"/>
                </a:solidFill>
                <a:latin typeface="Corbel" panose="020B0503020204020204" pitchFamily="34" charset="0"/>
              </a:rPr>
              <a:t>Recurrent</a:t>
            </a:r>
            <a:r>
              <a:rPr lang="en-US" spc="-38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lang="en-US" spc="-11" dirty="0">
                <a:solidFill>
                  <a:srgbClr val="002060"/>
                </a:solidFill>
                <a:latin typeface="Corbel" panose="020B0503020204020204" pitchFamily="34" charset="0"/>
              </a:rPr>
              <a:t>Neural</a:t>
            </a:r>
            <a:r>
              <a:rPr lang="en-US" spc="-26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lang="en-US" spc="-8" dirty="0">
                <a:solidFill>
                  <a:srgbClr val="002060"/>
                </a:solidFill>
                <a:latin typeface="Corbel" panose="020B0503020204020204" pitchFamily="34" charset="0"/>
              </a:rPr>
              <a:t>Networks</a:t>
            </a:r>
            <a:r>
              <a:rPr lang="en-US" spc="-30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Corbel" panose="020B0503020204020204" pitchFamily="34" charset="0"/>
              </a:rPr>
              <a:t>(RNNs)</a:t>
            </a:r>
            <a:endParaRPr lang="en-US" dirty="0"/>
          </a:p>
        </p:txBody>
      </p:sp>
      <p:pic>
        <p:nvPicPr>
          <p:cNvPr id="1030" name="Picture 6" descr="Image for post">
            <a:extLst>
              <a:ext uri="{FF2B5EF4-FFF2-40B4-BE49-F238E27FC236}">
                <a16:creationId xmlns:a16="http://schemas.microsoft.com/office/drawing/2014/main" id="{ADEA6B61-6FAD-4A52-ABD6-96C7A5B3D658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1" y="1581150"/>
            <a:ext cx="9048750" cy="3009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920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EBDE-8966-4AFC-A5C3-52B9CCB0B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584775"/>
          </a:xfrm>
        </p:spPr>
        <p:txBody>
          <a:bodyPr/>
          <a:lstStyle/>
          <a:p>
            <a:r>
              <a:rPr lang="en-US" spc="-15" dirty="0">
                <a:solidFill>
                  <a:srgbClr val="002060"/>
                </a:solidFill>
                <a:latin typeface="Corbel" panose="020B0503020204020204" pitchFamily="34" charset="0"/>
              </a:rPr>
              <a:t>Recurrent</a:t>
            </a:r>
            <a:r>
              <a:rPr lang="en-US" spc="-38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lang="en-US" spc="-11" dirty="0">
                <a:solidFill>
                  <a:srgbClr val="002060"/>
                </a:solidFill>
                <a:latin typeface="Corbel" panose="020B0503020204020204" pitchFamily="34" charset="0"/>
              </a:rPr>
              <a:t>Neural</a:t>
            </a:r>
            <a:r>
              <a:rPr lang="en-US" spc="-26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lang="en-US" spc="-8" dirty="0">
                <a:solidFill>
                  <a:srgbClr val="002060"/>
                </a:solidFill>
                <a:latin typeface="Corbel" panose="020B0503020204020204" pitchFamily="34" charset="0"/>
              </a:rPr>
              <a:t>Networks</a:t>
            </a:r>
            <a:r>
              <a:rPr lang="en-US" spc="-30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Corbel" panose="020B0503020204020204" pitchFamily="34" charset="0"/>
              </a:rPr>
              <a:t>(RNNs)</a:t>
            </a:r>
            <a:endParaRPr lang="en-US" dirty="0"/>
          </a:p>
        </p:txBody>
      </p:sp>
      <p:pic>
        <p:nvPicPr>
          <p:cNvPr id="1028" name="Picture 4" descr="Image for post">
            <a:extLst>
              <a:ext uri="{FF2B5EF4-FFF2-40B4-BE49-F238E27FC236}">
                <a16:creationId xmlns:a16="http://schemas.microsoft.com/office/drawing/2014/main" id="{E5BF0689-997A-4A2D-8ACB-5933226569F3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038350"/>
            <a:ext cx="6734175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9430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FEBDE-8966-4AFC-A5C3-52B9CCB0B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2904" y="163068"/>
            <a:ext cx="8418191" cy="584775"/>
          </a:xfrm>
        </p:spPr>
        <p:txBody>
          <a:bodyPr/>
          <a:lstStyle/>
          <a:p>
            <a:r>
              <a:rPr lang="en-US" spc="-15" dirty="0">
                <a:solidFill>
                  <a:srgbClr val="002060"/>
                </a:solidFill>
                <a:latin typeface="Corbel" panose="020B0503020204020204" pitchFamily="34" charset="0"/>
              </a:rPr>
              <a:t>Recurrent</a:t>
            </a:r>
            <a:r>
              <a:rPr lang="en-US" spc="-38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lang="en-US" spc="-11" dirty="0">
                <a:solidFill>
                  <a:srgbClr val="002060"/>
                </a:solidFill>
                <a:latin typeface="Corbel" panose="020B0503020204020204" pitchFamily="34" charset="0"/>
              </a:rPr>
              <a:t>Neural</a:t>
            </a:r>
            <a:r>
              <a:rPr lang="en-US" spc="-26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lang="en-US" spc="-8" dirty="0">
                <a:solidFill>
                  <a:srgbClr val="002060"/>
                </a:solidFill>
                <a:latin typeface="Corbel" panose="020B0503020204020204" pitchFamily="34" charset="0"/>
              </a:rPr>
              <a:t>Networks</a:t>
            </a:r>
            <a:r>
              <a:rPr lang="en-US" spc="-30" dirty="0">
                <a:solidFill>
                  <a:srgbClr val="002060"/>
                </a:solidFill>
                <a:latin typeface="Corbel" panose="020B0503020204020204" pitchFamily="34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Corbel" panose="020B0503020204020204" pitchFamily="34" charset="0"/>
              </a:rPr>
              <a:t>(RNNs)</a:t>
            </a:r>
            <a:endParaRPr lang="en-US" dirty="0"/>
          </a:p>
        </p:txBody>
      </p:sp>
      <p:pic>
        <p:nvPicPr>
          <p:cNvPr id="1026" name="Picture 2" descr="Image for post">
            <a:extLst>
              <a:ext uri="{FF2B5EF4-FFF2-40B4-BE49-F238E27FC236}">
                <a16:creationId xmlns:a16="http://schemas.microsoft.com/office/drawing/2014/main" id="{6120354B-C8B1-4B15-A8BA-2D4ED2FFB15E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625" y="1276350"/>
            <a:ext cx="9048750" cy="2819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94832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224343"/>
            <a:ext cx="6475119" cy="59487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dirty="0"/>
              <a:t>RNN</a:t>
            </a:r>
            <a:r>
              <a:rPr spc="-30" dirty="0"/>
              <a:t> </a:t>
            </a:r>
            <a:r>
              <a:rPr dirty="0"/>
              <a:t>–</a:t>
            </a:r>
            <a:r>
              <a:rPr spc="-19" dirty="0"/>
              <a:t> </a:t>
            </a:r>
            <a:r>
              <a:rPr dirty="0"/>
              <a:t>mapping</a:t>
            </a:r>
            <a:r>
              <a:rPr spc="-26" dirty="0"/>
              <a:t> </a:t>
            </a:r>
            <a:r>
              <a:rPr dirty="0"/>
              <a:t>sequences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43000" y="1062990"/>
            <a:ext cx="6817995" cy="3970020"/>
            <a:chOff x="0" y="1417320"/>
            <a:chExt cx="9090660" cy="52933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577083"/>
              <a:ext cx="8727947" cy="276003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500" y="1417320"/>
              <a:ext cx="2781299" cy="58673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85615" y="1979676"/>
              <a:ext cx="312419" cy="73913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921678" y="2004822"/>
              <a:ext cx="120650" cy="509905"/>
            </a:xfrm>
            <a:custGeom>
              <a:avLst/>
              <a:gdLst/>
              <a:ahLst/>
              <a:cxnLst/>
              <a:rect l="l" t="t" r="r" b="b"/>
              <a:pathLst>
                <a:path w="120650" h="509905">
                  <a:moveTo>
                    <a:pt x="120561" y="0"/>
                  </a:moveTo>
                  <a:lnTo>
                    <a:pt x="0" y="509638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8"/>
            <p:cNvSpPr/>
            <p:nvPr/>
          </p:nvSpPr>
          <p:spPr>
            <a:xfrm>
              <a:off x="3886843" y="2492913"/>
              <a:ext cx="76200" cy="85090"/>
            </a:xfrm>
            <a:custGeom>
              <a:avLst/>
              <a:gdLst/>
              <a:ahLst/>
              <a:cxnLst/>
              <a:rect l="l" t="t" r="r" b="b"/>
              <a:pathLst>
                <a:path w="76200" h="85089">
                  <a:moveTo>
                    <a:pt x="0" y="0"/>
                  </a:moveTo>
                  <a:lnTo>
                    <a:pt x="19926" y="84582"/>
                  </a:lnTo>
                  <a:lnTo>
                    <a:pt x="75641" y="17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9915" y="6065519"/>
              <a:ext cx="2217419" cy="23621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02336" y="5340096"/>
              <a:ext cx="352043" cy="77571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57962" y="5503683"/>
              <a:ext cx="157480" cy="546100"/>
            </a:xfrm>
            <a:custGeom>
              <a:avLst/>
              <a:gdLst/>
              <a:ahLst/>
              <a:cxnLst/>
              <a:rect l="l" t="t" r="r" b="b"/>
              <a:pathLst>
                <a:path w="157479" h="546100">
                  <a:moveTo>
                    <a:pt x="0" y="545934"/>
                  </a:moveTo>
                  <a:lnTo>
                    <a:pt x="157073" y="0"/>
                  </a:lnTo>
                </a:path>
              </a:pathLst>
            </a:custGeom>
            <a:ln w="25907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74099" y="5441446"/>
              <a:ext cx="74930" cy="85725"/>
            </a:xfrm>
            <a:custGeom>
              <a:avLst/>
              <a:gdLst/>
              <a:ahLst/>
              <a:cxnLst/>
              <a:rect l="l" t="t" r="r" b="b"/>
              <a:pathLst>
                <a:path w="74929" h="85725">
                  <a:moveTo>
                    <a:pt x="58839" y="0"/>
                  </a:moveTo>
                  <a:lnTo>
                    <a:pt x="0" y="63944"/>
                  </a:lnTo>
                  <a:lnTo>
                    <a:pt x="74701" y="85432"/>
                  </a:lnTo>
                  <a:lnTo>
                    <a:pt x="58839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13" name="object 1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51660" y="5484876"/>
              <a:ext cx="2392679" cy="47243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171700" y="5145023"/>
              <a:ext cx="321563" cy="373379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330927" y="5298772"/>
              <a:ext cx="109220" cy="149860"/>
            </a:xfrm>
            <a:custGeom>
              <a:avLst/>
              <a:gdLst/>
              <a:ahLst/>
              <a:cxnLst/>
              <a:rect l="l" t="t" r="r" b="b"/>
              <a:pathLst>
                <a:path w="109219" h="149860">
                  <a:moveTo>
                    <a:pt x="108686" y="149580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6" name="object 16"/>
            <p:cNvSpPr/>
            <p:nvPr/>
          </p:nvSpPr>
          <p:spPr>
            <a:xfrm>
              <a:off x="2292864" y="5246367"/>
              <a:ext cx="77470" cy="85725"/>
            </a:xfrm>
            <a:custGeom>
              <a:avLst/>
              <a:gdLst/>
              <a:ahLst/>
              <a:cxnLst/>
              <a:rect l="l" t="t" r="r" b="b"/>
              <a:pathLst>
                <a:path w="77469" h="85725">
                  <a:moveTo>
                    <a:pt x="0" y="0"/>
                  </a:moveTo>
                  <a:lnTo>
                    <a:pt x="14236" y="85724"/>
                  </a:lnTo>
                  <a:lnTo>
                    <a:pt x="77114" y="400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80559" y="5590032"/>
              <a:ext cx="2424646" cy="563879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144768" y="5239511"/>
              <a:ext cx="310895" cy="423671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296427" y="5397994"/>
              <a:ext cx="105410" cy="196850"/>
            </a:xfrm>
            <a:custGeom>
              <a:avLst/>
              <a:gdLst/>
              <a:ahLst/>
              <a:cxnLst/>
              <a:rect l="l" t="t" r="r" b="b"/>
              <a:pathLst>
                <a:path w="105410" h="196850">
                  <a:moveTo>
                    <a:pt x="104965" y="196697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0" name="object 20"/>
            <p:cNvSpPr/>
            <p:nvPr/>
          </p:nvSpPr>
          <p:spPr>
            <a:xfrm>
              <a:off x="6265921" y="5340858"/>
              <a:ext cx="71120" cy="86995"/>
            </a:xfrm>
            <a:custGeom>
              <a:avLst/>
              <a:gdLst/>
              <a:ahLst/>
              <a:cxnLst/>
              <a:rect l="l" t="t" r="r" b="b"/>
              <a:pathLst>
                <a:path w="71120" h="86995">
                  <a:moveTo>
                    <a:pt x="0" y="0"/>
                  </a:moveTo>
                  <a:lnTo>
                    <a:pt x="2311" y="86868"/>
                  </a:lnTo>
                  <a:lnTo>
                    <a:pt x="70878" y="502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21" name="object 2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638800" y="6489191"/>
              <a:ext cx="3451859" cy="22097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940040" y="5347715"/>
              <a:ext cx="242315" cy="1101851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061197" y="5513827"/>
              <a:ext cx="0" cy="873125"/>
            </a:xfrm>
            <a:custGeom>
              <a:avLst/>
              <a:gdLst/>
              <a:ahLst/>
              <a:cxnLst/>
              <a:rect l="l" t="t" r="r" b="b"/>
              <a:pathLst>
                <a:path h="873125">
                  <a:moveTo>
                    <a:pt x="0" y="873036"/>
                  </a:move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4" name="object 24"/>
            <p:cNvSpPr/>
            <p:nvPr/>
          </p:nvSpPr>
          <p:spPr>
            <a:xfrm>
              <a:off x="8022341" y="5449059"/>
              <a:ext cx="78105" cy="78105"/>
            </a:xfrm>
            <a:custGeom>
              <a:avLst/>
              <a:gdLst/>
              <a:ahLst/>
              <a:cxnLst/>
              <a:rect l="l" t="t" r="r" b="b"/>
              <a:pathLst>
                <a:path w="78104" h="78104">
                  <a:moveTo>
                    <a:pt x="38862" y="0"/>
                  </a:moveTo>
                  <a:lnTo>
                    <a:pt x="0" y="77724"/>
                  </a:lnTo>
                  <a:lnTo>
                    <a:pt x="77724" y="77724"/>
                  </a:lnTo>
                  <a:lnTo>
                    <a:pt x="38862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269789" y="4922698"/>
            <a:ext cx="1588770" cy="1617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358"/>
              </a:lnSpc>
            </a:pPr>
            <a:r>
              <a:rPr sz="800" spc="-4" dirty="0">
                <a:solidFill>
                  <a:srgbClr val="A6A6A6"/>
                </a:solidFill>
                <a:latin typeface="Calibri"/>
                <a:cs typeface="Calibri"/>
              </a:rPr>
              <a:t>Slide</a:t>
            </a:r>
            <a:r>
              <a:rPr sz="80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800" spc="-4" dirty="0">
                <a:solidFill>
                  <a:srgbClr val="A6A6A6"/>
                </a:solidFill>
                <a:latin typeface="Calibri"/>
                <a:cs typeface="Calibri"/>
              </a:rPr>
              <a:t>by</a:t>
            </a:r>
            <a:r>
              <a:rPr sz="80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800" spc="-8" dirty="0">
                <a:solidFill>
                  <a:srgbClr val="A6A6A6"/>
                </a:solidFill>
                <a:latin typeface="Calibri"/>
                <a:cs typeface="Calibri"/>
              </a:rPr>
              <a:t>Fei-Fei</a:t>
            </a:r>
            <a:r>
              <a:rPr sz="800" spc="-11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800" spc="-4" dirty="0">
                <a:solidFill>
                  <a:srgbClr val="A6A6A6"/>
                </a:solidFill>
                <a:latin typeface="Calibri"/>
                <a:cs typeface="Calibri"/>
              </a:rPr>
              <a:t>Li et</a:t>
            </a:r>
            <a:r>
              <a:rPr sz="800" spc="-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800" spc="-4" dirty="0">
                <a:solidFill>
                  <a:srgbClr val="A6A6A6"/>
                </a:solidFill>
                <a:latin typeface="Calibri"/>
                <a:cs typeface="Calibri"/>
              </a:rPr>
              <a:t>al.</a:t>
            </a:r>
            <a:endParaRPr sz="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302813"/>
            <a:ext cx="5828371" cy="59487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8" dirty="0"/>
              <a:t>Applications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RNNs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1000" y="2038350"/>
            <a:ext cx="4114800" cy="1789592"/>
          </a:xfrm>
          <a:prstGeom prst="rect">
            <a:avLst/>
          </a:prstGeom>
        </p:spPr>
        <p:txBody>
          <a:bodyPr vert="horz" wrap="square" lIns="0" tIns="55245" rIns="0" bIns="0" rtlCol="0">
            <a:spAutoFit/>
          </a:bodyPr>
          <a:lstStyle/>
          <a:p>
            <a:pPr marL="266700" indent="-257175">
              <a:spcBef>
                <a:spcPts val="435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1600" dirty="0">
                <a:latin typeface="Calibri"/>
                <a:cs typeface="Calibri"/>
              </a:rPr>
              <a:t>Speech</a:t>
            </a:r>
            <a:r>
              <a:rPr sz="1600" spc="-11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recognition</a:t>
            </a:r>
            <a:r>
              <a:rPr sz="1600" spc="-19" dirty="0">
                <a:latin typeface="Calibri"/>
                <a:cs typeface="Calibri"/>
              </a:rPr>
              <a:t> </a:t>
            </a:r>
            <a:r>
              <a:rPr sz="1600" spc="-8" dirty="0">
                <a:latin typeface="Calibri"/>
                <a:cs typeface="Calibri"/>
              </a:rPr>
              <a:t>(many-to-many)</a:t>
            </a:r>
            <a:endParaRPr sz="1600" dirty="0">
              <a:latin typeface="Calibri"/>
              <a:cs typeface="Calibri"/>
            </a:endParaRPr>
          </a:p>
          <a:p>
            <a:pPr marL="266700" indent="-257175">
              <a:spcBef>
                <a:spcPts val="360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1600" spc="-8" dirty="0">
                <a:latin typeface="Calibri"/>
                <a:cs typeface="Calibri"/>
              </a:rPr>
              <a:t>Sentiment</a:t>
            </a:r>
            <a:r>
              <a:rPr sz="1600" spc="11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analysis</a:t>
            </a:r>
            <a:r>
              <a:rPr sz="1600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(many-to-one)</a:t>
            </a:r>
            <a:endParaRPr sz="1600" dirty="0">
              <a:latin typeface="Calibri"/>
              <a:cs typeface="Calibri"/>
            </a:endParaRPr>
          </a:p>
          <a:p>
            <a:pPr marL="266700" indent="-257175">
              <a:spcBef>
                <a:spcPts val="360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1600" dirty="0">
                <a:latin typeface="Calibri"/>
                <a:cs typeface="Calibri"/>
              </a:rPr>
              <a:t>Machine</a:t>
            </a:r>
            <a:r>
              <a:rPr sz="1600" spc="-11" dirty="0">
                <a:latin typeface="Calibri"/>
                <a:cs typeface="Calibri"/>
              </a:rPr>
              <a:t> </a:t>
            </a:r>
            <a:r>
              <a:rPr sz="1600" spc="-8" dirty="0">
                <a:latin typeface="Calibri"/>
                <a:cs typeface="Calibri"/>
              </a:rPr>
              <a:t>translation</a:t>
            </a:r>
            <a:r>
              <a:rPr sz="1600" spc="11" dirty="0">
                <a:latin typeface="Calibri"/>
                <a:cs typeface="Calibri"/>
              </a:rPr>
              <a:t> </a:t>
            </a:r>
            <a:r>
              <a:rPr sz="1600" spc="-8" dirty="0">
                <a:latin typeface="Calibri"/>
                <a:cs typeface="Calibri"/>
              </a:rPr>
              <a:t>(many-to-many)</a:t>
            </a:r>
            <a:endParaRPr sz="1600" dirty="0">
              <a:latin typeface="Calibri"/>
              <a:cs typeface="Calibri"/>
            </a:endParaRPr>
          </a:p>
          <a:p>
            <a:pPr marL="266700" indent="-257175">
              <a:spcBef>
                <a:spcPts val="360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1600" spc="-4" dirty="0">
                <a:latin typeface="Calibri"/>
                <a:cs typeface="Calibri"/>
              </a:rPr>
              <a:t>Video</a:t>
            </a:r>
            <a:r>
              <a:rPr sz="1600" spc="-8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activity</a:t>
            </a:r>
            <a:r>
              <a:rPr sz="1600" spc="8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recognition</a:t>
            </a:r>
            <a:r>
              <a:rPr sz="1600" spc="-11" dirty="0">
                <a:latin typeface="Calibri"/>
                <a:cs typeface="Calibri"/>
              </a:rPr>
              <a:t> </a:t>
            </a:r>
            <a:r>
              <a:rPr sz="1600" spc="-8" dirty="0">
                <a:latin typeface="Calibri"/>
                <a:cs typeface="Calibri"/>
              </a:rPr>
              <a:t>(many-to-one)</a:t>
            </a:r>
            <a:endParaRPr sz="1600" dirty="0">
              <a:latin typeface="Calibri"/>
              <a:cs typeface="Calibri"/>
            </a:endParaRPr>
          </a:p>
          <a:p>
            <a:pPr marL="266700" indent="-257175">
              <a:spcBef>
                <a:spcPts val="360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1600" dirty="0">
                <a:latin typeface="Calibri"/>
                <a:cs typeface="Calibri"/>
              </a:rPr>
              <a:t>POS</a:t>
            </a:r>
            <a:r>
              <a:rPr sz="1600" spc="-11" dirty="0">
                <a:latin typeface="Calibri"/>
                <a:cs typeface="Calibri"/>
              </a:rPr>
              <a:t> </a:t>
            </a:r>
            <a:r>
              <a:rPr sz="1600" spc="-15" dirty="0">
                <a:latin typeface="Calibri"/>
                <a:cs typeface="Calibri"/>
              </a:rPr>
              <a:t>Tagging</a:t>
            </a:r>
            <a:r>
              <a:rPr sz="1600" spc="-26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in</a:t>
            </a:r>
            <a:r>
              <a:rPr sz="1600" dirty="0">
                <a:latin typeface="Calibri"/>
                <a:cs typeface="Calibri"/>
              </a:rPr>
              <a:t> NLP</a:t>
            </a:r>
            <a:r>
              <a:rPr sz="1600" spc="-11" dirty="0">
                <a:latin typeface="Calibri"/>
                <a:cs typeface="Calibri"/>
              </a:rPr>
              <a:t> </a:t>
            </a:r>
            <a:r>
              <a:rPr sz="1600" spc="-8" dirty="0">
                <a:latin typeface="Calibri"/>
                <a:cs typeface="Calibri"/>
              </a:rPr>
              <a:t>(many-to-many)</a:t>
            </a:r>
            <a:endParaRPr sz="1600" dirty="0">
              <a:latin typeface="Calibri"/>
              <a:cs typeface="Calibri"/>
            </a:endParaRPr>
          </a:p>
          <a:p>
            <a:pPr marL="266700" indent="-257175">
              <a:spcBef>
                <a:spcPts val="360"/>
              </a:spcBef>
              <a:buFont typeface="Arial"/>
              <a:buChar char="•"/>
              <a:tabLst>
                <a:tab pos="266224" algn="l"/>
                <a:tab pos="266700" algn="l"/>
              </a:tabLst>
            </a:pPr>
            <a:r>
              <a:rPr sz="1600" spc="-4" dirty="0">
                <a:latin typeface="Calibri"/>
                <a:cs typeface="Calibri"/>
              </a:rPr>
              <a:t>Image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4" dirty="0">
                <a:latin typeface="Calibri"/>
                <a:cs typeface="Calibri"/>
              </a:rPr>
              <a:t>captioning</a:t>
            </a:r>
            <a:r>
              <a:rPr lang="en-US" sz="1600" spc="-4" dirty="0">
                <a:latin typeface="Calibri"/>
                <a:cs typeface="Calibri"/>
              </a:rPr>
              <a:t> (one –to-many)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95800" y="1138756"/>
            <a:ext cx="3850518" cy="353548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320" y="2338578"/>
            <a:ext cx="6406515" cy="2713672"/>
            <a:chOff x="365760" y="3118104"/>
            <a:chExt cx="8542020" cy="3618229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580" y="4325112"/>
              <a:ext cx="8356091" cy="241096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0" y="3118104"/>
              <a:ext cx="8542019" cy="1328837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20213" y="185044"/>
            <a:ext cx="4676691" cy="59487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34" dirty="0"/>
              <a:t>Training</a:t>
            </a:r>
            <a:r>
              <a:rPr spc="-30" dirty="0"/>
              <a:t> </a:t>
            </a:r>
            <a:r>
              <a:rPr dirty="0"/>
              <a:t>an</a:t>
            </a:r>
            <a:r>
              <a:rPr spc="-34" dirty="0"/>
              <a:t> </a:t>
            </a:r>
            <a:r>
              <a:rPr dirty="0"/>
              <a:t>RNN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269789" y="4922698"/>
            <a:ext cx="1588770" cy="16177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358"/>
              </a:lnSpc>
            </a:pPr>
            <a:r>
              <a:rPr sz="800" spc="-4" dirty="0">
                <a:solidFill>
                  <a:srgbClr val="A6A6A6"/>
                </a:solidFill>
                <a:latin typeface="Calibri"/>
                <a:cs typeface="Calibri"/>
              </a:rPr>
              <a:t>Slide</a:t>
            </a:r>
            <a:r>
              <a:rPr sz="80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800" spc="-4" dirty="0">
                <a:solidFill>
                  <a:srgbClr val="A6A6A6"/>
                </a:solidFill>
                <a:latin typeface="Calibri"/>
                <a:cs typeface="Calibri"/>
              </a:rPr>
              <a:t>by</a:t>
            </a:r>
            <a:r>
              <a:rPr sz="80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800" spc="-8" dirty="0">
                <a:solidFill>
                  <a:srgbClr val="A6A6A6"/>
                </a:solidFill>
                <a:latin typeface="Calibri"/>
                <a:cs typeface="Calibri"/>
              </a:rPr>
              <a:t>Fei-Fei</a:t>
            </a:r>
            <a:r>
              <a:rPr sz="800" spc="-11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800" spc="-4" dirty="0">
                <a:solidFill>
                  <a:srgbClr val="A6A6A6"/>
                </a:solidFill>
                <a:latin typeface="Calibri"/>
                <a:cs typeface="Calibri"/>
              </a:rPr>
              <a:t>Li et</a:t>
            </a:r>
            <a:r>
              <a:rPr sz="800" spc="-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800" spc="-4" dirty="0">
                <a:solidFill>
                  <a:srgbClr val="A6A6A6"/>
                </a:solidFill>
                <a:latin typeface="Calibri"/>
                <a:cs typeface="Calibri"/>
              </a:rPr>
              <a:t>al.</a:t>
            </a:r>
            <a:endParaRPr sz="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79751" y="2069973"/>
            <a:ext cx="207749" cy="639127"/>
          </a:xfrm>
          <a:prstGeom prst="rect">
            <a:avLst/>
          </a:prstGeom>
          <a:solidFill>
            <a:srgbClr val="FBD4B5"/>
          </a:solidFill>
          <a:ln w="9144">
            <a:solidFill>
              <a:srgbClr val="404040"/>
            </a:solidFill>
          </a:ln>
        </p:spPr>
        <p:txBody>
          <a:bodyPr vert="vert270" wrap="square" lIns="0" tIns="60960" rIns="0" bIns="0" rtlCol="0">
            <a:spAutoFit/>
          </a:bodyPr>
          <a:lstStyle/>
          <a:p>
            <a:pPr marL="71438">
              <a:spcBef>
                <a:spcPts val="480"/>
              </a:spcBef>
            </a:pPr>
            <a:r>
              <a:rPr sz="1350" spc="-4" dirty="0">
                <a:latin typeface="Calibri"/>
                <a:cs typeface="Calibri"/>
              </a:rPr>
              <a:t>Label</a:t>
            </a:r>
            <a:r>
              <a:rPr sz="1350" spc="-19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1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50208" y="2050541"/>
            <a:ext cx="207749" cy="640080"/>
          </a:xfrm>
          <a:prstGeom prst="rect">
            <a:avLst/>
          </a:prstGeom>
          <a:solidFill>
            <a:srgbClr val="FBD4B5"/>
          </a:solidFill>
          <a:ln w="9144">
            <a:solidFill>
              <a:srgbClr val="404040"/>
            </a:solidFill>
          </a:ln>
        </p:spPr>
        <p:txBody>
          <a:bodyPr vert="vert270" wrap="square" lIns="0" tIns="61436" rIns="0" bIns="0" rtlCol="0">
            <a:spAutoFit/>
          </a:bodyPr>
          <a:lstStyle/>
          <a:p>
            <a:pPr marL="72390">
              <a:spcBef>
                <a:spcPts val="484"/>
              </a:spcBef>
            </a:pPr>
            <a:r>
              <a:rPr sz="1350" spc="-4" dirty="0">
                <a:latin typeface="Calibri"/>
                <a:cs typeface="Calibri"/>
              </a:rPr>
              <a:t>Label</a:t>
            </a:r>
            <a:r>
              <a:rPr sz="1350" spc="-19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2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286375" y="2050541"/>
            <a:ext cx="207749" cy="640080"/>
          </a:xfrm>
          <a:prstGeom prst="rect">
            <a:avLst/>
          </a:prstGeom>
          <a:solidFill>
            <a:srgbClr val="FBD4B5"/>
          </a:solidFill>
          <a:ln w="9144">
            <a:solidFill>
              <a:srgbClr val="404040"/>
            </a:solidFill>
          </a:ln>
        </p:spPr>
        <p:txBody>
          <a:bodyPr vert="vert270" wrap="square" lIns="0" tIns="61436" rIns="0" bIns="0" rtlCol="0">
            <a:spAutoFit/>
          </a:bodyPr>
          <a:lstStyle/>
          <a:p>
            <a:pPr marL="72390">
              <a:spcBef>
                <a:spcPts val="484"/>
              </a:spcBef>
            </a:pPr>
            <a:r>
              <a:rPr sz="1350" spc="-4" dirty="0">
                <a:latin typeface="Calibri"/>
                <a:cs typeface="Calibri"/>
              </a:rPr>
              <a:t>Label</a:t>
            </a:r>
            <a:r>
              <a:rPr sz="1350" spc="-19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3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2834" y="2033397"/>
            <a:ext cx="207749" cy="610552"/>
          </a:xfrm>
          <a:prstGeom prst="rect">
            <a:avLst/>
          </a:prstGeom>
          <a:solidFill>
            <a:srgbClr val="FBD4B5"/>
          </a:solidFill>
          <a:ln w="9144">
            <a:solidFill>
              <a:srgbClr val="404040"/>
            </a:solidFill>
          </a:ln>
        </p:spPr>
        <p:txBody>
          <a:bodyPr vert="vert270" wrap="square" lIns="0" tIns="60960" rIns="0" bIns="0" rtlCol="0">
            <a:spAutoFit/>
          </a:bodyPr>
          <a:lstStyle/>
          <a:p>
            <a:pPr marL="71438">
              <a:spcBef>
                <a:spcPts val="480"/>
              </a:spcBef>
            </a:pPr>
            <a:r>
              <a:rPr sz="1350" spc="-4" dirty="0">
                <a:latin typeface="Calibri"/>
                <a:cs typeface="Calibri"/>
              </a:rPr>
              <a:t>Label</a:t>
            </a:r>
            <a:r>
              <a:rPr sz="1350" spc="-19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320" y="2069973"/>
            <a:ext cx="6406515" cy="2982278"/>
            <a:chOff x="365760" y="2759964"/>
            <a:chExt cx="8542020" cy="39763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580" y="4325112"/>
              <a:ext cx="8356091" cy="241096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0" y="3118104"/>
              <a:ext cx="8542019" cy="13288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15668" y="2759964"/>
              <a:ext cx="467995" cy="852169"/>
            </a:xfrm>
            <a:custGeom>
              <a:avLst/>
              <a:gdLst/>
              <a:ahLst/>
              <a:cxnLst/>
              <a:rect l="l" t="t" r="r" b="b"/>
              <a:pathLst>
                <a:path w="467994" h="852170">
                  <a:moveTo>
                    <a:pt x="467868" y="0"/>
                  </a:moveTo>
                  <a:lnTo>
                    <a:pt x="0" y="0"/>
                  </a:lnTo>
                  <a:lnTo>
                    <a:pt x="0" y="851915"/>
                  </a:lnTo>
                  <a:lnTo>
                    <a:pt x="467868" y="851915"/>
                  </a:lnTo>
                  <a:lnTo>
                    <a:pt x="467868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53594" y="225977"/>
            <a:ext cx="5108280" cy="59487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34" dirty="0"/>
              <a:t>Training</a:t>
            </a:r>
            <a:r>
              <a:rPr spc="-30" dirty="0"/>
              <a:t> </a:t>
            </a:r>
            <a:r>
              <a:rPr dirty="0"/>
              <a:t>an</a:t>
            </a:r>
            <a:r>
              <a:rPr spc="-34" dirty="0"/>
              <a:t> </a:t>
            </a:r>
            <a:r>
              <a:rPr dirty="0"/>
              <a:t>RNN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79751" y="2069973"/>
            <a:ext cx="207749" cy="639127"/>
          </a:xfrm>
          <a:prstGeom prst="rect">
            <a:avLst/>
          </a:prstGeom>
          <a:ln w="9144">
            <a:solidFill>
              <a:srgbClr val="404040"/>
            </a:solidFill>
          </a:ln>
        </p:spPr>
        <p:txBody>
          <a:bodyPr vert="vert270" wrap="square" lIns="0" tIns="60960" rIns="0" bIns="0" rtlCol="0">
            <a:spAutoFit/>
          </a:bodyPr>
          <a:lstStyle/>
          <a:p>
            <a:pPr marL="71438">
              <a:spcBef>
                <a:spcPts val="480"/>
              </a:spcBef>
            </a:pPr>
            <a:r>
              <a:rPr sz="1350" spc="-4" dirty="0">
                <a:latin typeface="Calibri"/>
                <a:cs typeface="Calibri"/>
              </a:rPr>
              <a:t>Label</a:t>
            </a:r>
            <a:r>
              <a:rPr sz="1350" spc="-19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1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50209" y="2050541"/>
            <a:ext cx="350996" cy="640080"/>
          </a:xfrm>
          <a:custGeom>
            <a:avLst/>
            <a:gdLst/>
            <a:ahLst/>
            <a:cxnLst/>
            <a:rect l="l" t="t" r="r" b="b"/>
            <a:pathLst>
              <a:path w="467995" h="853439">
                <a:moveTo>
                  <a:pt x="467868" y="0"/>
                </a:moveTo>
                <a:lnTo>
                  <a:pt x="0" y="0"/>
                </a:lnTo>
                <a:lnTo>
                  <a:pt x="0" y="853439"/>
                </a:lnTo>
                <a:lnTo>
                  <a:pt x="467868" y="853439"/>
                </a:lnTo>
                <a:lnTo>
                  <a:pt x="467868" y="0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 txBox="1"/>
          <p:nvPr/>
        </p:nvSpPr>
        <p:spPr>
          <a:xfrm>
            <a:off x="3950208" y="2050541"/>
            <a:ext cx="207749" cy="640080"/>
          </a:xfrm>
          <a:prstGeom prst="rect">
            <a:avLst/>
          </a:prstGeom>
          <a:ln w="9144">
            <a:solidFill>
              <a:srgbClr val="404040"/>
            </a:solidFill>
          </a:ln>
        </p:spPr>
        <p:txBody>
          <a:bodyPr vert="vert270" wrap="square" lIns="0" tIns="61436" rIns="0" bIns="0" rtlCol="0">
            <a:spAutoFit/>
          </a:bodyPr>
          <a:lstStyle/>
          <a:p>
            <a:pPr marL="72390">
              <a:spcBef>
                <a:spcPts val="484"/>
              </a:spcBef>
            </a:pPr>
            <a:r>
              <a:rPr sz="1350" spc="-4" dirty="0">
                <a:latin typeface="Calibri"/>
                <a:cs typeface="Calibri"/>
              </a:rPr>
              <a:t>Label</a:t>
            </a:r>
            <a:r>
              <a:rPr sz="1350" spc="-19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2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86376" y="2050541"/>
            <a:ext cx="350996" cy="640080"/>
          </a:xfrm>
          <a:custGeom>
            <a:avLst/>
            <a:gdLst/>
            <a:ahLst/>
            <a:cxnLst/>
            <a:rect l="l" t="t" r="r" b="b"/>
            <a:pathLst>
              <a:path w="467995" h="853439">
                <a:moveTo>
                  <a:pt x="467868" y="0"/>
                </a:moveTo>
                <a:lnTo>
                  <a:pt x="0" y="0"/>
                </a:lnTo>
                <a:lnTo>
                  <a:pt x="0" y="853439"/>
                </a:lnTo>
                <a:lnTo>
                  <a:pt x="467868" y="853439"/>
                </a:lnTo>
                <a:lnTo>
                  <a:pt x="467868" y="0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 txBox="1"/>
          <p:nvPr/>
        </p:nvSpPr>
        <p:spPr>
          <a:xfrm>
            <a:off x="5286375" y="2050541"/>
            <a:ext cx="207749" cy="640080"/>
          </a:xfrm>
          <a:prstGeom prst="rect">
            <a:avLst/>
          </a:prstGeom>
          <a:ln w="9144">
            <a:solidFill>
              <a:srgbClr val="404040"/>
            </a:solidFill>
          </a:ln>
        </p:spPr>
        <p:txBody>
          <a:bodyPr vert="vert270" wrap="square" lIns="0" tIns="61436" rIns="0" bIns="0" rtlCol="0">
            <a:spAutoFit/>
          </a:bodyPr>
          <a:lstStyle/>
          <a:p>
            <a:pPr marL="72390">
              <a:spcBef>
                <a:spcPts val="484"/>
              </a:spcBef>
            </a:pPr>
            <a:r>
              <a:rPr sz="1350" spc="-4" dirty="0">
                <a:latin typeface="Calibri"/>
                <a:cs typeface="Calibri"/>
              </a:rPr>
              <a:t>Label</a:t>
            </a:r>
            <a:r>
              <a:rPr sz="1350" spc="-19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3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72834" y="2033397"/>
            <a:ext cx="350996" cy="610552"/>
          </a:xfrm>
          <a:custGeom>
            <a:avLst/>
            <a:gdLst/>
            <a:ahLst/>
            <a:cxnLst/>
            <a:rect l="l" t="t" r="r" b="b"/>
            <a:pathLst>
              <a:path w="467995" h="814070">
                <a:moveTo>
                  <a:pt x="467868" y="0"/>
                </a:moveTo>
                <a:lnTo>
                  <a:pt x="0" y="0"/>
                </a:lnTo>
                <a:lnTo>
                  <a:pt x="0" y="813815"/>
                </a:lnTo>
                <a:lnTo>
                  <a:pt x="467868" y="813815"/>
                </a:lnTo>
                <a:lnTo>
                  <a:pt x="467868" y="0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 txBox="1"/>
          <p:nvPr/>
        </p:nvSpPr>
        <p:spPr>
          <a:xfrm>
            <a:off x="6672834" y="2033397"/>
            <a:ext cx="207749" cy="610552"/>
          </a:xfrm>
          <a:prstGeom prst="rect">
            <a:avLst/>
          </a:prstGeom>
          <a:ln w="9144">
            <a:solidFill>
              <a:srgbClr val="404040"/>
            </a:solidFill>
          </a:ln>
        </p:spPr>
        <p:txBody>
          <a:bodyPr vert="vert270" wrap="square" lIns="0" tIns="60960" rIns="0" bIns="0" rtlCol="0">
            <a:spAutoFit/>
          </a:bodyPr>
          <a:lstStyle/>
          <a:p>
            <a:pPr marL="71438">
              <a:spcBef>
                <a:spcPts val="480"/>
              </a:spcBef>
            </a:pPr>
            <a:r>
              <a:rPr sz="1350" spc="-4" dirty="0">
                <a:latin typeface="Calibri"/>
                <a:cs typeface="Calibri"/>
              </a:rPr>
              <a:t>Label</a:t>
            </a:r>
            <a:r>
              <a:rPr sz="1350" spc="-19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14626" y="1699642"/>
            <a:ext cx="456056" cy="41719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28108" y="1677925"/>
            <a:ext cx="456056" cy="41719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79133" y="1668781"/>
            <a:ext cx="456056" cy="417194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2746630" y="1666495"/>
            <a:ext cx="4625816" cy="939641"/>
            <a:chOff x="2138172" y="2221992"/>
            <a:chExt cx="6167755" cy="1252855"/>
          </a:xfrm>
        </p:grpSpPr>
        <p:sp>
          <p:nvSpPr>
            <p:cNvPr id="18" name="object 18"/>
            <p:cNvSpPr/>
            <p:nvPr/>
          </p:nvSpPr>
          <p:spPr>
            <a:xfrm>
              <a:off x="2151126" y="2373226"/>
              <a:ext cx="367665" cy="387350"/>
            </a:xfrm>
            <a:custGeom>
              <a:avLst/>
              <a:gdLst/>
              <a:ahLst/>
              <a:cxnLst/>
              <a:rect l="l" t="t" r="r" b="b"/>
              <a:pathLst>
                <a:path w="367664" h="387350">
                  <a:moveTo>
                    <a:pt x="0" y="386829"/>
                  </a:moveTo>
                  <a:lnTo>
                    <a:pt x="3555" y="342753"/>
                  </a:lnTo>
                  <a:lnTo>
                    <a:pt x="13857" y="299174"/>
                  </a:lnTo>
                  <a:lnTo>
                    <a:pt x="30359" y="256589"/>
                  </a:lnTo>
                  <a:lnTo>
                    <a:pt x="52513" y="215493"/>
                  </a:lnTo>
                  <a:lnTo>
                    <a:pt x="79773" y="176385"/>
                  </a:lnTo>
                  <a:lnTo>
                    <a:pt x="111591" y="139760"/>
                  </a:lnTo>
                  <a:lnTo>
                    <a:pt x="147421" y="106116"/>
                  </a:lnTo>
                  <a:lnTo>
                    <a:pt x="186716" y="75950"/>
                  </a:lnTo>
                  <a:lnTo>
                    <a:pt x="228928" y="49758"/>
                  </a:lnTo>
                  <a:lnTo>
                    <a:pt x="273511" y="28038"/>
                  </a:lnTo>
                  <a:lnTo>
                    <a:pt x="319918" y="11286"/>
                  </a:lnTo>
                  <a:lnTo>
                    <a:pt x="367601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9" name="object 19"/>
            <p:cNvSpPr/>
            <p:nvPr/>
          </p:nvSpPr>
          <p:spPr>
            <a:xfrm>
              <a:off x="2502509" y="2335638"/>
              <a:ext cx="81280" cy="77470"/>
            </a:xfrm>
            <a:custGeom>
              <a:avLst/>
              <a:gdLst/>
              <a:ahLst/>
              <a:cxnLst/>
              <a:rect l="l" t="t" r="r" b="b"/>
              <a:pathLst>
                <a:path w="81280" h="77469">
                  <a:moveTo>
                    <a:pt x="0" y="0"/>
                  </a:moveTo>
                  <a:lnTo>
                    <a:pt x="6819" y="77419"/>
                  </a:lnTo>
                  <a:lnTo>
                    <a:pt x="80835" y="319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6772" y="2438400"/>
              <a:ext cx="327659" cy="85191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99678" y="2604969"/>
              <a:ext cx="149225" cy="623570"/>
            </a:xfrm>
            <a:custGeom>
              <a:avLst/>
              <a:gdLst/>
              <a:ahLst/>
              <a:cxnLst/>
              <a:rect l="l" t="t" r="r" b="b"/>
              <a:pathLst>
                <a:path w="149225" h="623569">
                  <a:moveTo>
                    <a:pt x="148856" y="623265"/>
                  </a:moveTo>
                  <a:lnTo>
                    <a:pt x="147165" y="559055"/>
                  </a:lnTo>
                  <a:lnTo>
                    <a:pt x="142384" y="496862"/>
                  </a:lnTo>
                  <a:lnTo>
                    <a:pt x="134957" y="438703"/>
                  </a:lnTo>
                  <a:lnTo>
                    <a:pt x="125323" y="386595"/>
                  </a:lnTo>
                  <a:lnTo>
                    <a:pt x="113925" y="342556"/>
                  </a:lnTo>
                  <a:lnTo>
                    <a:pt x="87601" y="286751"/>
                  </a:lnTo>
                  <a:lnTo>
                    <a:pt x="73558" y="279019"/>
                  </a:lnTo>
                  <a:lnTo>
                    <a:pt x="57235" y="268617"/>
                  </a:lnTo>
                  <a:lnTo>
                    <a:pt x="41609" y="239534"/>
                  </a:lnTo>
                  <a:lnTo>
                    <a:pt x="27378" y="194949"/>
                  </a:lnTo>
                  <a:lnTo>
                    <a:pt x="15235" y="138045"/>
                  </a:lnTo>
                  <a:lnTo>
                    <a:pt x="5877" y="72001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2" name="object 22"/>
            <p:cNvSpPr/>
            <p:nvPr/>
          </p:nvSpPr>
          <p:spPr>
            <a:xfrm>
              <a:off x="6261161" y="2539743"/>
              <a:ext cx="78105" cy="78740"/>
            </a:xfrm>
            <a:custGeom>
              <a:avLst/>
              <a:gdLst/>
              <a:ahLst/>
              <a:cxnLst/>
              <a:rect l="l" t="t" r="r" b="b"/>
              <a:pathLst>
                <a:path w="78104" h="78739">
                  <a:moveTo>
                    <a:pt x="36766" y="0"/>
                  </a:moveTo>
                  <a:lnTo>
                    <a:pt x="0" y="78740"/>
                  </a:lnTo>
                  <a:lnTo>
                    <a:pt x="77698" y="76657"/>
                  </a:lnTo>
                  <a:lnTo>
                    <a:pt x="3676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1439" y="2221992"/>
              <a:ext cx="608075" cy="55625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957066" y="2329030"/>
              <a:ext cx="367665" cy="387350"/>
            </a:xfrm>
            <a:custGeom>
              <a:avLst/>
              <a:gdLst/>
              <a:ahLst/>
              <a:cxnLst/>
              <a:rect l="l" t="t" r="r" b="b"/>
              <a:pathLst>
                <a:path w="367664" h="387350">
                  <a:moveTo>
                    <a:pt x="0" y="386829"/>
                  </a:moveTo>
                  <a:lnTo>
                    <a:pt x="3555" y="342753"/>
                  </a:lnTo>
                  <a:lnTo>
                    <a:pt x="13857" y="299174"/>
                  </a:lnTo>
                  <a:lnTo>
                    <a:pt x="30359" y="256589"/>
                  </a:lnTo>
                  <a:lnTo>
                    <a:pt x="52513" y="215493"/>
                  </a:lnTo>
                  <a:lnTo>
                    <a:pt x="79773" y="176385"/>
                  </a:lnTo>
                  <a:lnTo>
                    <a:pt x="111591" y="139760"/>
                  </a:lnTo>
                  <a:lnTo>
                    <a:pt x="147421" y="106116"/>
                  </a:lnTo>
                  <a:lnTo>
                    <a:pt x="186716" y="75950"/>
                  </a:lnTo>
                  <a:lnTo>
                    <a:pt x="228928" y="49758"/>
                  </a:lnTo>
                  <a:lnTo>
                    <a:pt x="273511" y="28038"/>
                  </a:lnTo>
                  <a:lnTo>
                    <a:pt x="319918" y="11286"/>
                  </a:lnTo>
                  <a:lnTo>
                    <a:pt x="367601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5" name="object 25"/>
            <p:cNvSpPr/>
            <p:nvPr/>
          </p:nvSpPr>
          <p:spPr>
            <a:xfrm>
              <a:off x="4308449" y="2291442"/>
              <a:ext cx="81280" cy="77470"/>
            </a:xfrm>
            <a:custGeom>
              <a:avLst/>
              <a:gdLst/>
              <a:ahLst/>
              <a:cxnLst/>
              <a:rect l="l" t="t" r="r" b="b"/>
              <a:pathLst>
                <a:path w="81279" h="77469">
                  <a:moveTo>
                    <a:pt x="0" y="0"/>
                  </a:moveTo>
                  <a:lnTo>
                    <a:pt x="6819" y="77419"/>
                  </a:lnTo>
                  <a:lnTo>
                    <a:pt x="80835" y="319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6928" y="2426208"/>
              <a:ext cx="327659" cy="85191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499834" y="2592776"/>
              <a:ext cx="149225" cy="623570"/>
            </a:xfrm>
            <a:custGeom>
              <a:avLst/>
              <a:gdLst/>
              <a:ahLst/>
              <a:cxnLst/>
              <a:rect l="l" t="t" r="r" b="b"/>
              <a:pathLst>
                <a:path w="149225" h="623569">
                  <a:moveTo>
                    <a:pt x="148856" y="623265"/>
                  </a:moveTo>
                  <a:lnTo>
                    <a:pt x="147165" y="559055"/>
                  </a:lnTo>
                  <a:lnTo>
                    <a:pt x="142384" y="496862"/>
                  </a:lnTo>
                  <a:lnTo>
                    <a:pt x="134957" y="438703"/>
                  </a:lnTo>
                  <a:lnTo>
                    <a:pt x="125323" y="386595"/>
                  </a:lnTo>
                  <a:lnTo>
                    <a:pt x="113925" y="342556"/>
                  </a:lnTo>
                  <a:lnTo>
                    <a:pt x="87601" y="286751"/>
                  </a:lnTo>
                  <a:lnTo>
                    <a:pt x="73558" y="279019"/>
                  </a:lnTo>
                  <a:lnTo>
                    <a:pt x="57235" y="268617"/>
                  </a:lnTo>
                  <a:lnTo>
                    <a:pt x="41609" y="239534"/>
                  </a:lnTo>
                  <a:lnTo>
                    <a:pt x="27378" y="194949"/>
                  </a:lnTo>
                  <a:lnTo>
                    <a:pt x="15235" y="138045"/>
                  </a:lnTo>
                  <a:lnTo>
                    <a:pt x="5877" y="72001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8" name="object 28"/>
            <p:cNvSpPr/>
            <p:nvPr/>
          </p:nvSpPr>
          <p:spPr>
            <a:xfrm>
              <a:off x="4461317" y="2527551"/>
              <a:ext cx="78105" cy="78740"/>
            </a:xfrm>
            <a:custGeom>
              <a:avLst/>
              <a:gdLst/>
              <a:ahLst/>
              <a:cxnLst/>
              <a:rect l="l" t="t" r="r" b="b"/>
              <a:pathLst>
                <a:path w="78104" h="78739">
                  <a:moveTo>
                    <a:pt x="36766" y="0"/>
                  </a:moveTo>
                  <a:lnTo>
                    <a:pt x="0" y="78740"/>
                  </a:lnTo>
                  <a:lnTo>
                    <a:pt x="77698" y="76657"/>
                  </a:lnTo>
                  <a:lnTo>
                    <a:pt x="3676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9" name="object 29"/>
            <p:cNvSpPr/>
            <p:nvPr/>
          </p:nvSpPr>
          <p:spPr>
            <a:xfrm>
              <a:off x="5769101" y="2344270"/>
              <a:ext cx="367665" cy="387350"/>
            </a:xfrm>
            <a:custGeom>
              <a:avLst/>
              <a:gdLst/>
              <a:ahLst/>
              <a:cxnLst/>
              <a:rect l="l" t="t" r="r" b="b"/>
              <a:pathLst>
                <a:path w="367664" h="387350">
                  <a:moveTo>
                    <a:pt x="0" y="386829"/>
                  </a:moveTo>
                  <a:lnTo>
                    <a:pt x="3555" y="342753"/>
                  </a:lnTo>
                  <a:lnTo>
                    <a:pt x="13857" y="299174"/>
                  </a:lnTo>
                  <a:lnTo>
                    <a:pt x="30359" y="256589"/>
                  </a:lnTo>
                  <a:lnTo>
                    <a:pt x="52513" y="215493"/>
                  </a:lnTo>
                  <a:lnTo>
                    <a:pt x="79773" y="176385"/>
                  </a:lnTo>
                  <a:lnTo>
                    <a:pt x="111591" y="139760"/>
                  </a:lnTo>
                  <a:lnTo>
                    <a:pt x="147421" y="106116"/>
                  </a:lnTo>
                  <a:lnTo>
                    <a:pt x="186716" y="75950"/>
                  </a:lnTo>
                  <a:lnTo>
                    <a:pt x="228928" y="49758"/>
                  </a:lnTo>
                  <a:lnTo>
                    <a:pt x="273511" y="28038"/>
                  </a:lnTo>
                  <a:lnTo>
                    <a:pt x="319918" y="11286"/>
                  </a:lnTo>
                  <a:lnTo>
                    <a:pt x="367601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0" name="object 30"/>
            <p:cNvSpPr/>
            <p:nvPr/>
          </p:nvSpPr>
          <p:spPr>
            <a:xfrm>
              <a:off x="6120485" y="2306682"/>
              <a:ext cx="81280" cy="77470"/>
            </a:xfrm>
            <a:custGeom>
              <a:avLst/>
              <a:gdLst/>
              <a:ahLst/>
              <a:cxnLst/>
              <a:rect l="l" t="t" r="r" b="b"/>
              <a:pathLst>
                <a:path w="81279" h="77469">
                  <a:moveTo>
                    <a:pt x="0" y="0"/>
                  </a:moveTo>
                  <a:lnTo>
                    <a:pt x="6819" y="77419"/>
                  </a:lnTo>
                  <a:lnTo>
                    <a:pt x="80835" y="319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1864" y="2622804"/>
              <a:ext cx="327659" cy="85191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844770" y="2789372"/>
              <a:ext cx="149225" cy="623570"/>
            </a:xfrm>
            <a:custGeom>
              <a:avLst/>
              <a:gdLst/>
              <a:ahLst/>
              <a:cxnLst/>
              <a:rect l="l" t="t" r="r" b="b"/>
              <a:pathLst>
                <a:path w="149225" h="623570">
                  <a:moveTo>
                    <a:pt x="148856" y="623265"/>
                  </a:moveTo>
                  <a:lnTo>
                    <a:pt x="147165" y="559055"/>
                  </a:lnTo>
                  <a:lnTo>
                    <a:pt x="142384" y="496862"/>
                  </a:lnTo>
                  <a:lnTo>
                    <a:pt x="134957" y="438703"/>
                  </a:lnTo>
                  <a:lnTo>
                    <a:pt x="125323" y="386595"/>
                  </a:lnTo>
                  <a:lnTo>
                    <a:pt x="113925" y="342556"/>
                  </a:lnTo>
                  <a:lnTo>
                    <a:pt x="87601" y="286751"/>
                  </a:lnTo>
                  <a:lnTo>
                    <a:pt x="73558" y="279019"/>
                  </a:lnTo>
                  <a:lnTo>
                    <a:pt x="57235" y="268617"/>
                  </a:lnTo>
                  <a:lnTo>
                    <a:pt x="41609" y="239534"/>
                  </a:lnTo>
                  <a:lnTo>
                    <a:pt x="27378" y="194949"/>
                  </a:lnTo>
                  <a:lnTo>
                    <a:pt x="15235" y="138045"/>
                  </a:lnTo>
                  <a:lnTo>
                    <a:pt x="5877" y="72001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3" name="object 33"/>
            <p:cNvSpPr/>
            <p:nvPr/>
          </p:nvSpPr>
          <p:spPr>
            <a:xfrm>
              <a:off x="2806252" y="2724147"/>
              <a:ext cx="78105" cy="78740"/>
            </a:xfrm>
            <a:custGeom>
              <a:avLst/>
              <a:gdLst/>
              <a:ahLst/>
              <a:cxnLst/>
              <a:rect l="l" t="t" r="r" b="b"/>
              <a:pathLst>
                <a:path w="78105" h="78739">
                  <a:moveTo>
                    <a:pt x="36766" y="0"/>
                  </a:moveTo>
                  <a:lnTo>
                    <a:pt x="0" y="78740"/>
                  </a:lnTo>
                  <a:lnTo>
                    <a:pt x="77698" y="76657"/>
                  </a:lnTo>
                  <a:lnTo>
                    <a:pt x="3676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78140" y="2426208"/>
              <a:ext cx="327659" cy="85191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101046" y="2592776"/>
              <a:ext cx="149225" cy="623570"/>
            </a:xfrm>
            <a:custGeom>
              <a:avLst/>
              <a:gdLst/>
              <a:ahLst/>
              <a:cxnLst/>
              <a:rect l="l" t="t" r="r" b="b"/>
              <a:pathLst>
                <a:path w="149225" h="623569">
                  <a:moveTo>
                    <a:pt x="148856" y="623265"/>
                  </a:moveTo>
                  <a:lnTo>
                    <a:pt x="147165" y="559055"/>
                  </a:lnTo>
                  <a:lnTo>
                    <a:pt x="142384" y="496862"/>
                  </a:lnTo>
                  <a:lnTo>
                    <a:pt x="134957" y="438703"/>
                  </a:lnTo>
                  <a:lnTo>
                    <a:pt x="125323" y="386595"/>
                  </a:lnTo>
                  <a:lnTo>
                    <a:pt x="113925" y="342556"/>
                  </a:lnTo>
                  <a:lnTo>
                    <a:pt x="87601" y="286751"/>
                  </a:lnTo>
                  <a:lnTo>
                    <a:pt x="73558" y="279019"/>
                  </a:lnTo>
                  <a:lnTo>
                    <a:pt x="57235" y="268617"/>
                  </a:lnTo>
                  <a:lnTo>
                    <a:pt x="41609" y="239534"/>
                  </a:lnTo>
                  <a:lnTo>
                    <a:pt x="27378" y="194949"/>
                  </a:lnTo>
                  <a:lnTo>
                    <a:pt x="15235" y="138045"/>
                  </a:lnTo>
                  <a:lnTo>
                    <a:pt x="5877" y="72001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6" name="object 36"/>
            <p:cNvSpPr/>
            <p:nvPr/>
          </p:nvSpPr>
          <p:spPr>
            <a:xfrm>
              <a:off x="8062528" y="2527551"/>
              <a:ext cx="78105" cy="78740"/>
            </a:xfrm>
            <a:custGeom>
              <a:avLst/>
              <a:gdLst/>
              <a:ahLst/>
              <a:cxnLst/>
              <a:rect l="l" t="t" r="r" b="b"/>
              <a:pathLst>
                <a:path w="78104" h="78739">
                  <a:moveTo>
                    <a:pt x="36766" y="0"/>
                  </a:moveTo>
                  <a:lnTo>
                    <a:pt x="0" y="78740"/>
                  </a:lnTo>
                  <a:lnTo>
                    <a:pt x="77698" y="76657"/>
                  </a:lnTo>
                  <a:lnTo>
                    <a:pt x="3676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7" name="object 37"/>
            <p:cNvSpPr/>
            <p:nvPr/>
          </p:nvSpPr>
          <p:spPr>
            <a:xfrm>
              <a:off x="7570469" y="2332078"/>
              <a:ext cx="367665" cy="387350"/>
            </a:xfrm>
            <a:custGeom>
              <a:avLst/>
              <a:gdLst/>
              <a:ahLst/>
              <a:cxnLst/>
              <a:rect l="l" t="t" r="r" b="b"/>
              <a:pathLst>
                <a:path w="367665" h="387350">
                  <a:moveTo>
                    <a:pt x="0" y="386829"/>
                  </a:moveTo>
                  <a:lnTo>
                    <a:pt x="3555" y="342753"/>
                  </a:lnTo>
                  <a:lnTo>
                    <a:pt x="13857" y="299174"/>
                  </a:lnTo>
                  <a:lnTo>
                    <a:pt x="30359" y="256589"/>
                  </a:lnTo>
                  <a:lnTo>
                    <a:pt x="52513" y="215493"/>
                  </a:lnTo>
                  <a:lnTo>
                    <a:pt x="79773" y="176385"/>
                  </a:lnTo>
                  <a:lnTo>
                    <a:pt x="111591" y="139760"/>
                  </a:lnTo>
                  <a:lnTo>
                    <a:pt x="147421" y="106116"/>
                  </a:lnTo>
                  <a:lnTo>
                    <a:pt x="186716" y="75950"/>
                  </a:lnTo>
                  <a:lnTo>
                    <a:pt x="228928" y="49758"/>
                  </a:lnTo>
                  <a:lnTo>
                    <a:pt x="273511" y="28038"/>
                  </a:lnTo>
                  <a:lnTo>
                    <a:pt x="319918" y="11286"/>
                  </a:lnTo>
                  <a:lnTo>
                    <a:pt x="367601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8" name="object 38"/>
            <p:cNvSpPr/>
            <p:nvPr/>
          </p:nvSpPr>
          <p:spPr>
            <a:xfrm>
              <a:off x="7921852" y="2294490"/>
              <a:ext cx="81280" cy="77470"/>
            </a:xfrm>
            <a:custGeom>
              <a:avLst/>
              <a:gdLst/>
              <a:ahLst/>
              <a:cxnLst/>
              <a:rect l="l" t="t" r="r" b="b"/>
              <a:pathLst>
                <a:path w="81279" h="77469">
                  <a:moveTo>
                    <a:pt x="0" y="0"/>
                  </a:moveTo>
                  <a:lnTo>
                    <a:pt x="6819" y="77419"/>
                  </a:lnTo>
                  <a:lnTo>
                    <a:pt x="80835" y="319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162525" y="1714814"/>
            <a:ext cx="44196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4" dirty="0">
                <a:latin typeface="Calibri"/>
                <a:cs typeface="Calibri"/>
              </a:rPr>
              <a:t>Loss</a:t>
            </a:r>
            <a:r>
              <a:rPr sz="1350" spc="-5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1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269789" y="4922698"/>
            <a:ext cx="1588770" cy="18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358"/>
              </a:lnSpc>
            </a:pPr>
            <a:r>
              <a:rPr sz="1350" spc="-4" dirty="0">
                <a:solidFill>
                  <a:srgbClr val="A6A6A6"/>
                </a:solidFill>
                <a:latin typeface="Calibri"/>
                <a:cs typeface="Calibri"/>
              </a:rPr>
              <a:t>Slide</a:t>
            </a:r>
            <a:r>
              <a:rPr sz="135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350" spc="-4" dirty="0">
                <a:solidFill>
                  <a:srgbClr val="A6A6A6"/>
                </a:solidFill>
                <a:latin typeface="Calibri"/>
                <a:cs typeface="Calibri"/>
              </a:rPr>
              <a:t>by</a:t>
            </a:r>
            <a:r>
              <a:rPr sz="135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350" spc="-8" dirty="0">
                <a:solidFill>
                  <a:srgbClr val="A6A6A6"/>
                </a:solidFill>
                <a:latin typeface="Calibri"/>
                <a:cs typeface="Calibri"/>
              </a:rPr>
              <a:t>Fei-Fei</a:t>
            </a:r>
            <a:r>
              <a:rPr sz="1350" spc="-11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350" spc="-4" dirty="0">
                <a:solidFill>
                  <a:srgbClr val="A6A6A6"/>
                </a:solidFill>
                <a:latin typeface="Calibri"/>
                <a:cs typeface="Calibri"/>
              </a:rPr>
              <a:t>Li et</a:t>
            </a:r>
            <a:r>
              <a:rPr sz="1350" spc="-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350" spc="-4" dirty="0">
                <a:solidFill>
                  <a:srgbClr val="A6A6A6"/>
                </a:solidFill>
                <a:latin typeface="Calibri"/>
                <a:cs typeface="Calibri"/>
              </a:rPr>
              <a:t>al.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94349" y="1668866"/>
            <a:ext cx="44196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4" dirty="0">
                <a:latin typeface="Calibri"/>
                <a:cs typeface="Calibri"/>
              </a:rPr>
              <a:t>Loss</a:t>
            </a:r>
            <a:r>
              <a:rPr sz="1350" spc="-5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2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26173" y="1674352"/>
            <a:ext cx="44196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4" dirty="0">
                <a:latin typeface="Calibri"/>
                <a:cs typeface="Calibri"/>
              </a:rPr>
              <a:t>Loss</a:t>
            </a:r>
            <a:r>
              <a:rPr sz="1350" spc="-5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3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36177" y="1640748"/>
            <a:ext cx="412433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4" dirty="0">
                <a:latin typeface="Calibri"/>
                <a:cs typeface="Calibri"/>
              </a:rPr>
              <a:t>Loss</a:t>
            </a:r>
            <a:r>
              <a:rPr sz="1350" spc="-5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320" y="2069973"/>
            <a:ext cx="6406515" cy="2982278"/>
            <a:chOff x="365760" y="2759964"/>
            <a:chExt cx="8542020" cy="39763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9580" y="4325112"/>
              <a:ext cx="8356091" cy="2410967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5760" y="3118104"/>
              <a:ext cx="8542019" cy="1328837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915668" y="2759964"/>
              <a:ext cx="467995" cy="852169"/>
            </a:xfrm>
            <a:custGeom>
              <a:avLst/>
              <a:gdLst/>
              <a:ahLst/>
              <a:cxnLst/>
              <a:rect l="l" t="t" r="r" b="b"/>
              <a:pathLst>
                <a:path w="467994" h="852170">
                  <a:moveTo>
                    <a:pt x="467868" y="0"/>
                  </a:moveTo>
                  <a:lnTo>
                    <a:pt x="0" y="0"/>
                  </a:lnTo>
                  <a:lnTo>
                    <a:pt x="0" y="851915"/>
                  </a:lnTo>
                  <a:lnTo>
                    <a:pt x="467868" y="851915"/>
                  </a:lnTo>
                  <a:lnTo>
                    <a:pt x="467868" y="0"/>
                  </a:lnTo>
                  <a:close/>
                </a:path>
              </a:pathLst>
            </a:custGeom>
            <a:solidFill>
              <a:srgbClr val="FBD4B5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35295" y="346186"/>
            <a:ext cx="5511186" cy="59487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pc="-34" dirty="0"/>
              <a:t>Training</a:t>
            </a:r>
            <a:r>
              <a:rPr spc="-30" dirty="0"/>
              <a:t> </a:t>
            </a:r>
            <a:r>
              <a:rPr dirty="0"/>
              <a:t>an</a:t>
            </a:r>
            <a:r>
              <a:rPr spc="-34" dirty="0"/>
              <a:t> </a:t>
            </a:r>
            <a:r>
              <a:rPr dirty="0"/>
              <a:t>RNN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79751" y="2069973"/>
            <a:ext cx="207749" cy="639127"/>
          </a:xfrm>
          <a:prstGeom prst="rect">
            <a:avLst/>
          </a:prstGeom>
          <a:ln w="9144">
            <a:solidFill>
              <a:srgbClr val="404040"/>
            </a:solidFill>
          </a:ln>
        </p:spPr>
        <p:txBody>
          <a:bodyPr vert="vert270" wrap="square" lIns="0" tIns="60960" rIns="0" bIns="0" rtlCol="0">
            <a:spAutoFit/>
          </a:bodyPr>
          <a:lstStyle/>
          <a:p>
            <a:pPr marL="71438">
              <a:spcBef>
                <a:spcPts val="480"/>
              </a:spcBef>
            </a:pPr>
            <a:r>
              <a:rPr sz="1350" spc="-4" dirty="0">
                <a:latin typeface="Calibri"/>
                <a:cs typeface="Calibri"/>
              </a:rPr>
              <a:t>Label</a:t>
            </a:r>
            <a:r>
              <a:rPr sz="1350" spc="-19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1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950209" y="2050541"/>
            <a:ext cx="350996" cy="640080"/>
          </a:xfrm>
          <a:custGeom>
            <a:avLst/>
            <a:gdLst/>
            <a:ahLst/>
            <a:cxnLst/>
            <a:rect l="l" t="t" r="r" b="b"/>
            <a:pathLst>
              <a:path w="467995" h="853439">
                <a:moveTo>
                  <a:pt x="467868" y="0"/>
                </a:moveTo>
                <a:lnTo>
                  <a:pt x="0" y="0"/>
                </a:lnTo>
                <a:lnTo>
                  <a:pt x="0" y="853439"/>
                </a:lnTo>
                <a:lnTo>
                  <a:pt x="467868" y="853439"/>
                </a:lnTo>
                <a:lnTo>
                  <a:pt x="467868" y="0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 txBox="1"/>
          <p:nvPr/>
        </p:nvSpPr>
        <p:spPr>
          <a:xfrm>
            <a:off x="3950208" y="2050541"/>
            <a:ext cx="207749" cy="640080"/>
          </a:xfrm>
          <a:prstGeom prst="rect">
            <a:avLst/>
          </a:prstGeom>
          <a:ln w="9144">
            <a:solidFill>
              <a:srgbClr val="404040"/>
            </a:solidFill>
          </a:ln>
        </p:spPr>
        <p:txBody>
          <a:bodyPr vert="vert270" wrap="square" lIns="0" tIns="61436" rIns="0" bIns="0" rtlCol="0">
            <a:spAutoFit/>
          </a:bodyPr>
          <a:lstStyle/>
          <a:p>
            <a:pPr marL="72390">
              <a:spcBef>
                <a:spcPts val="484"/>
              </a:spcBef>
            </a:pPr>
            <a:r>
              <a:rPr sz="1350" spc="-4" dirty="0">
                <a:latin typeface="Calibri"/>
                <a:cs typeface="Calibri"/>
              </a:rPr>
              <a:t>Label</a:t>
            </a:r>
            <a:r>
              <a:rPr sz="1350" spc="-19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2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86376" y="2050541"/>
            <a:ext cx="350996" cy="640080"/>
          </a:xfrm>
          <a:custGeom>
            <a:avLst/>
            <a:gdLst/>
            <a:ahLst/>
            <a:cxnLst/>
            <a:rect l="l" t="t" r="r" b="b"/>
            <a:pathLst>
              <a:path w="467995" h="853439">
                <a:moveTo>
                  <a:pt x="467868" y="0"/>
                </a:moveTo>
                <a:lnTo>
                  <a:pt x="0" y="0"/>
                </a:lnTo>
                <a:lnTo>
                  <a:pt x="0" y="853439"/>
                </a:lnTo>
                <a:lnTo>
                  <a:pt x="467868" y="853439"/>
                </a:lnTo>
                <a:lnTo>
                  <a:pt x="467868" y="0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 txBox="1"/>
          <p:nvPr/>
        </p:nvSpPr>
        <p:spPr>
          <a:xfrm>
            <a:off x="5286375" y="2050541"/>
            <a:ext cx="207749" cy="640080"/>
          </a:xfrm>
          <a:prstGeom prst="rect">
            <a:avLst/>
          </a:prstGeom>
          <a:ln w="9144">
            <a:solidFill>
              <a:srgbClr val="404040"/>
            </a:solidFill>
          </a:ln>
        </p:spPr>
        <p:txBody>
          <a:bodyPr vert="vert270" wrap="square" lIns="0" tIns="61436" rIns="0" bIns="0" rtlCol="0">
            <a:spAutoFit/>
          </a:bodyPr>
          <a:lstStyle/>
          <a:p>
            <a:pPr marL="72390">
              <a:spcBef>
                <a:spcPts val="484"/>
              </a:spcBef>
            </a:pPr>
            <a:r>
              <a:rPr sz="1350" spc="-4" dirty="0">
                <a:latin typeface="Calibri"/>
                <a:cs typeface="Calibri"/>
              </a:rPr>
              <a:t>Label</a:t>
            </a:r>
            <a:r>
              <a:rPr sz="1350" spc="-19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3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672834" y="2033397"/>
            <a:ext cx="350996" cy="610552"/>
          </a:xfrm>
          <a:custGeom>
            <a:avLst/>
            <a:gdLst/>
            <a:ahLst/>
            <a:cxnLst/>
            <a:rect l="l" t="t" r="r" b="b"/>
            <a:pathLst>
              <a:path w="467995" h="814070">
                <a:moveTo>
                  <a:pt x="467868" y="0"/>
                </a:moveTo>
                <a:lnTo>
                  <a:pt x="0" y="0"/>
                </a:lnTo>
                <a:lnTo>
                  <a:pt x="0" y="813815"/>
                </a:lnTo>
                <a:lnTo>
                  <a:pt x="467868" y="813815"/>
                </a:lnTo>
                <a:lnTo>
                  <a:pt x="467868" y="0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 txBox="1"/>
          <p:nvPr/>
        </p:nvSpPr>
        <p:spPr>
          <a:xfrm>
            <a:off x="6672834" y="2033397"/>
            <a:ext cx="207749" cy="610552"/>
          </a:xfrm>
          <a:prstGeom prst="rect">
            <a:avLst/>
          </a:prstGeom>
          <a:ln w="9144">
            <a:solidFill>
              <a:srgbClr val="404040"/>
            </a:solidFill>
          </a:ln>
        </p:spPr>
        <p:txBody>
          <a:bodyPr vert="vert270" wrap="square" lIns="0" tIns="60960" rIns="0" bIns="0" rtlCol="0">
            <a:spAutoFit/>
          </a:bodyPr>
          <a:lstStyle/>
          <a:p>
            <a:pPr marL="71438">
              <a:spcBef>
                <a:spcPts val="480"/>
              </a:spcBef>
            </a:pPr>
            <a:r>
              <a:rPr sz="1350" spc="-4" dirty="0">
                <a:latin typeface="Calibri"/>
                <a:cs typeface="Calibri"/>
              </a:rPr>
              <a:t>Label</a:t>
            </a:r>
            <a:r>
              <a:rPr sz="1350" spc="-19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endParaRPr sz="1350">
              <a:latin typeface="Calibri"/>
              <a:cs typeface="Calibri"/>
            </a:endParaRPr>
          </a:p>
        </p:txBody>
      </p: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14626" y="1699642"/>
            <a:ext cx="456056" cy="41719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28108" y="1677925"/>
            <a:ext cx="456056" cy="41719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79133" y="1668781"/>
            <a:ext cx="456056" cy="417194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2746582" y="1666495"/>
            <a:ext cx="4625816" cy="939641"/>
            <a:chOff x="2138108" y="2221992"/>
            <a:chExt cx="6167755" cy="1252855"/>
          </a:xfrm>
        </p:grpSpPr>
        <p:sp>
          <p:nvSpPr>
            <p:cNvPr id="18" name="object 18"/>
            <p:cNvSpPr/>
            <p:nvPr/>
          </p:nvSpPr>
          <p:spPr>
            <a:xfrm>
              <a:off x="2151125" y="2373226"/>
              <a:ext cx="367665" cy="387350"/>
            </a:xfrm>
            <a:custGeom>
              <a:avLst/>
              <a:gdLst/>
              <a:ahLst/>
              <a:cxnLst/>
              <a:rect l="l" t="t" r="r" b="b"/>
              <a:pathLst>
                <a:path w="367664" h="387350">
                  <a:moveTo>
                    <a:pt x="0" y="386829"/>
                  </a:moveTo>
                  <a:lnTo>
                    <a:pt x="3555" y="342753"/>
                  </a:lnTo>
                  <a:lnTo>
                    <a:pt x="13857" y="299174"/>
                  </a:lnTo>
                  <a:lnTo>
                    <a:pt x="30359" y="256589"/>
                  </a:lnTo>
                  <a:lnTo>
                    <a:pt x="52513" y="215493"/>
                  </a:lnTo>
                  <a:lnTo>
                    <a:pt x="79773" y="176385"/>
                  </a:lnTo>
                  <a:lnTo>
                    <a:pt x="111591" y="139760"/>
                  </a:lnTo>
                  <a:lnTo>
                    <a:pt x="147421" y="106116"/>
                  </a:lnTo>
                  <a:lnTo>
                    <a:pt x="186716" y="75950"/>
                  </a:lnTo>
                  <a:lnTo>
                    <a:pt x="228928" y="49758"/>
                  </a:lnTo>
                  <a:lnTo>
                    <a:pt x="273511" y="28038"/>
                  </a:lnTo>
                  <a:lnTo>
                    <a:pt x="319918" y="11286"/>
                  </a:lnTo>
                  <a:lnTo>
                    <a:pt x="367601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9" name="object 19"/>
            <p:cNvSpPr/>
            <p:nvPr/>
          </p:nvSpPr>
          <p:spPr>
            <a:xfrm>
              <a:off x="2502509" y="2335638"/>
              <a:ext cx="81280" cy="77470"/>
            </a:xfrm>
            <a:custGeom>
              <a:avLst/>
              <a:gdLst/>
              <a:ahLst/>
              <a:cxnLst/>
              <a:rect l="l" t="t" r="r" b="b"/>
              <a:pathLst>
                <a:path w="81280" h="77469">
                  <a:moveTo>
                    <a:pt x="0" y="0"/>
                  </a:moveTo>
                  <a:lnTo>
                    <a:pt x="6819" y="77419"/>
                  </a:lnTo>
                  <a:lnTo>
                    <a:pt x="80835" y="319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6772" y="2438400"/>
              <a:ext cx="327659" cy="85191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299678" y="2604969"/>
              <a:ext cx="149225" cy="623570"/>
            </a:xfrm>
            <a:custGeom>
              <a:avLst/>
              <a:gdLst/>
              <a:ahLst/>
              <a:cxnLst/>
              <a:rect l="l" t="t" r="r" b="b"/>
              <a:pathLst>
                <a:path w="149225" h="623569">
                  <a:moveTo>
                    <a:pt x="148856" y="623265"/>
                  </a:moveTo>
                  <a:lnTo>
                    <a:pt x="147165" y="559055"/>
                  </a:lnTo>
                  <a:lnTo>
                    <a:pt x="142384" y="496862"/>
                  </a:lnTo>
                  <a:lnTo>
                    <a:pt x="134957" y="438703"/>
                  </a:lnTo>
                  <a:lnTo>
                    <a:pt x="125323" y="386595"/>
                  </a:lnTo>
                  <a:lnTo>
                    <a:pt x="113925" y="342556"/>
                  </a:lnTo>
                  <a:lnTo>
                    <a:pt x="87601" y="286751"/>
                  </a:lnTo>
                  <a:lnTo>
                    <a:pt x="73558" y="279019"/>
                  </a:lnTo>
                  <a:lnTo>
                    <a:pt x="57235" y="268617"/>
                  </a:lnTo>
                  <a:lnTo>
                    <a:pt x="41609" y="239534"/>
                  </a:lnTo>
                  <a:lnTo>
                    <a:pt x="27378" y="194949"/>
                  </a:lnTo>
                  <a:lnTo>
                    <a:pt x="15235" y="138045"/>
                  </a:lnTo>
                  <a:lnTo>
                    <a:pt x="5877" y="72001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2" name="object 22"/>
            <p:cNvSpPr/>
            <p:nvPr/>
          </p:nvSpPr>
          <p:spPr>
            <a:xfrm>
              <a:off x="6261161" y="2539743"/>
              <a:ext cx="78105" cy="78740"/>
            </a:xfrm>
            <a:custGeom>
              <a:avLst/>
              <a:gdLst/>
              <a:ahLst/>
              <a:cxnLst/>
              <a:rect l="l" t="t" r="r" b="b"/>
              <a:pathLst>
                <a:path w="78104" h="78739">
                  <a:moveTo>
                    <a:pt x="36766" y="0"/>
                  </a:moveTo>
                  <a:lnTo>
                    <a:pt x="0" y="78740"/>
                  </a:lnTo>
                  <a:lnTo>
                    <a:pt x="77698" y="76657"/>
                  </a:lnTo>
                  <a:lnTo>
                    <a:pt x="3676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01439" y="2221992"/>
              <a:ext cx="608075" cy="55625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957066" y="2329030"/>
              <a:ext cx="367665" cy="387350"/>
            </a:xfrm>
            <a:custGeom>
              <a:avLst/>
              <a:gdLst/>
              <a:ahLst/>
              <a:cxnLst/>
              <a:rect l="l" t="t" r="r" b="b"/>
              <a:pathLst>
                <a:path w="367664" h="387350">
                  <a:moveTo>
                    <a:pt x="0" y="386829"/>
                  </a:moveTo>
                  <a:lnTo>
                    <a:pt x="3555" y="342753"/>
                  </a:lnTo>
                  <a:lnTo>
                    <a:pt x="13857" y="299174"/>
                  </a:lnTo>
                  <a:lnTo>
                    <a:pt x="30359" y="256589"/>
                  </a:lnTo>
                  <a:lnTo>
                    <a:pt x="52513" y="215493"/>
                  </a:lnTo>
                  <a:lnTo>
                    <a:pt x="79773" y="176385"/>
                  </a:lnTo>
                  <a:lnTo>
                    <a:pt x="111591" y="139760"/>
                  </a:lnTo>
                  <a:lnTo>
                    <a:pt x="147421" y="106116"/>
                  </a:lnTo>
                  <a:lnTo>
                    <a:pt x="186716" y="75950"/>
                  </a:lnTo>
                  <a:lnTo>
                    <a:pt x="228928" y="49758"/>
                  </a:lnTo>
                  <a:lnTo>
                    <a:pt x="273511" y="28038"/>
                  </a:lnTo>
                  <a:lnTo>
                    <a:pt x="319918" y="11286"/>
                  </a:lnTo>
                  <a:lnTo>
                    <a:pt x="367601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5" name="object 25"/>
            <p:cNvSpPr/>
            <p:nvPr/>
          </p:nvSpPr>
          <p:spPr>
            <a:xfrm>
              <a:off x="4308449" y="2291442"/>
              <a:ext cx="81280" cy="77470"/>
            </a:xfrm>
            <a:custGeom>
              <a:avLst/>
              <a:gdLst/>
              <a:ahLst/>
              <a:cxnLst/>
              <a:rect l="l" t="t" r="r" b="b"/>
              <a:pathLst>
                <a:path w="81279" h="77469">
                  <a:moveTo>
                    <a:pt x="0" y="0"/>
                  </a:moveTo>
                  <a:lnTo>
                    <a:pt x="6819" y="77419"/>
                  </a:lnTo>
                  <a:lnTo>
                    <a:pt x="80835" y="319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76928" y="2426208"/>
              <a:ext cx="327659" cy="85191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499834" y="2592776"/>
              <a:ext cx="149225" cy="623570"/>
            </a:xfrm>
            <a:custGeom>
              <a:avLst/>
              <a:gdLst/>
              <a:ahLst/>
              <a:cxnLst/>
              <a:rect l="l" t="t" r="r" b="b"/>
              <a:pathLst>
                <a:path w="149225" h="623569">
                  <a:moveTo>
                    <a:pt x="148856" y="623265"/>
                  </a:moveTo>
                  <a:lnTo>
                    <a:pt x="147165" y="559055"/>
                  </a:lnTo>
                  <a:lnTo>
                    <a:pt x="142384" y="496862"/>
                  </a:lnTo>
                  <a:lnTo>
                    <a:pt x="134957" y="438703"/>
                  </a:lnTo>
                  <a:lnTo>
                    <a:pt x="125323" y="386595"/>
                  </a:lnTo>
                  <a:lnTo>
                    <a:pt x="113925" y="342556"/>
                  </a:lnTo>
                  <a:lnTo>
                    <a:pt x="87601" y="286751"/>
                  </a:lnTo>
                  <a:lnTo>
                    <a:pt x="73558" y="279019"/>
                  </a:lnTo>
                  <a:lnTo>
                    <a:pt x="57235" y="268617"/>
                  </a:lnTo>
                  <a:lnTo>
                    <a:pt x="41609" y="239534"/>
                  </a:lnTo>
                  <a:lnTo>
                    <a:pt x="27378" y="194949"/>
                  </a:lnTo>
                  <a:lnTo>
                    <a:pt x="15235" y="138045"/>
                  </a:lnTo>
                  <a:lnTo>
                    <a:pt x="5877" y="72001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8" name="object 28"/>
            <p:cNvSpPr/>
            <p:nvPr/>
          </p:nvSpPr>
          <p:spPr>
            <a:xfrm>
              <a:off x="4461316" y="2527551"/>
              <a:ext cx="78105" cy="78740"/>
            </a:xfrm>
            <a:custGeom>
              <a:avLst/>
              <a:gdLst/>
              <a:ahLst/>
              <a:cxnLst/>
              <a:rect l="l" t="t" r="r" b="b"/>
              <a:pathLst>
                <a:path w="78104" h="78739">
                  <a:moveTo>
                    <a:pt x="36766" y="0"/>
                  </a:moveTo>
                  <a:lnTo>
                    <a:pt x="0" y="78740"/>
                  </a:lnTo>
                  <a:lnTo>
                    <a:pt x="77698" y="76657"/>
                  </a:lnTo>
                  <a:lnTo>
                    <a:pt x="3676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9" name="object 29"/>
            <p:cNvSpPr/>
            <p:nvPr/>
          </p:nvSpPr>
          <p:spPr>
            <a:xfrm>
              <a:off x="5769101" y="2344270"/>
              <a:ext cx="367665" cy="387350"/>
            </a:xfrm>
            <a:custGeom>
              <a:avLst/>
              <a:gdLst/>
              <a:ahLst/>
              <a:cxnLst/>
              <a:rect l="l" t="t" r="r" b="b"/>
              <a:pathLst>
                <a:path w="367664" h="387350">
                  <a:moveTo>
                    <a:pt x="0" y="386829"/>
                  </a:moveTo>
                  <a:lnTo>
                    <a:pt x="3555" y="342753"/>
                  </a:lnTo>
                  <a:lnTo>
                    <a:pt x="13857" y="299174"/>
                  </a:lnTo>
                  <a:lnTo>
                    <a:pt x="30359" y="256589"/>
                  </a:lnTo>
                  <a:lnTo>
                    <a:pt x="52513" y="215493"/>
                  </a:lnTo>
                  <a:lnTo>
                    <a:pt x="79773" y="176385"/>
                  </a:lnTo>
                  <a:lnTo>
                    <a:pt x="111591" y="139760"/>
                  </a:lnTo>
                  <a:lnTo>
                    <a:pt x="147421" y="106116"/>
                  </a:lnTo>
                  <a:lnTo>
                    <a:pt x="186716" y="75950"/>
                  </a:lnTo>
                  <a:lnTo>
                    <a:pt x="228928" y="49758"/>
                  </a:lnTo>
                  <a:lnTo>
                    <a:pt x="273511" y="28038"/>
                  </a:lnTo>
                  <a:lnTo>
                    <a:pt x="319918" y="11286"/>
                  </a:lnTo>
                  <a:lnTo>
                    <a:pt x="367601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0" name="object 30"/>
            <p:cNvSpPr/>
            <p:nvPr/>
          </p:nvSpPr>
          <p:spPr>
            <a:xfrm>
              <a:off x="6120485" y="2306682"/>
              <a:ext cx="81280" cy="77470"/>
            </a:xfrm>
            <a:custGeom>
              <a:avLst/>
              <a:gdLst/>
              <a:ahLst/>
              <a:cxnLst/>
              <a:rect l="l" t="t" r="r" b="b"/>
              <a:pathLst>
                <a:path w="81279" h="77469">
                  <a:moveTo>
                    <a:pt x="0" y="0"/>
                  </a:moveTo>
                  <a:lnTo>
                    <a:pt x="6819" y="77419"/>
                  </a:lnTo>
                  <a:lnTo>
                    <a:pt x="80835" y="319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721864" y="2622804"/>
              <a:ext cx="327659" cy="85191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844770" y="2789372"/>
              <a:ext cx="149225" cy="623570"/>
            </a:xfrm>
            <a:custGeom>
              <a:avLst/>
              <a:gdLst/>
              <a:ahLst/>
              <a:cxnLst/>
              <a:rect l="l" t="t" r="r" b="b"/>
              <a:pathLst>
                <a:path w="149225" h="623570">
                  <a:moveTo>
                    <a:pt x="148856" y="623265"/>
                  </a:moveTo>
                  <a:lnTo>
                    <a:pt x="147165" y="559055"/>
                  </a:lnTo>
                  <a:lnTo>
                    <a:pt x="142384" y="496862"/>
                  </a:lnTo>
                  <a:lnTo>
                    <a:pt x="134957" y="438703"/>
                  </a:lnTo>
                  <a:lnTo>
                    <a:pt x="125323" y="386595"/>
                  </a:lnTo>
                  <a:lnTo>
                    <a:pt x="113925" y="342556"/>
                  </a:lnTo>
                  <a:lnTo>
                    <a:pt x="87601" y="286751"/>
                  </a:lnTo>
                  <a:lnTo>
                    <a:pt x="73558" y="279019"/>
                  </a:lnTo>
                  <a:lnTo>
                    <a:pt x="57235" y="268617"/>
                  </a:lnTo>
                  <a:lnTo>
                    <a:pt x="41609" y="239534"/>
                  </a:lnTo>
                  <a:lnTo>
                    <a:pt x="27378" y="194949"/>
                  </a:lnTo>
                  <a:lnTo>
                    <a:pt x="15235" y="138045"/>
                  </a:lnTo>
                  <a:lnTo>
                    <a:pt x="5877" y="72001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3" name="object 33"/>
            <p:cNvSpPr/>
            <p:nvPr/>
          </p:nvSpPr>
          <p:spPr>
            <a:xfrm>
              <a:off x="2806252" y="2724147"/>
              <a:ext cx="78105" cy="78740"/>
            </a:xfrm>
            <a:custGeom>
              <a:avLst/>
              <a:gdLst/>
              <a:ahLst/>
              <a:cxnLst/>
              <a:rect l="l" t="t" r="r" b="b"/>
              <a:pathLst>
                <a:path w="78105" h="78739">
                  <a:moveTo>
                    <a:pt x="36766" y="0"/>
                  </a:moveTo>
                  <a:lnTo>
                    <a:pt x="0" y="78740"/>
                  </a:lnTo>
                  <a:lnTo>
                    <a:pt x="77698" y="76657"/>
                  </a:lnTo>
                  <a:lnTo>
                    <a:pt x="3676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978139" y="2426208"/>
              <a:ext cx="327659" cy="85191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8101046" y="2592776"/>
              <a:ext cx="149225" cy="623570"/>
            </a:xfrm>
            <a:custGeom>
              <a:avLst/>
              <a:gdLst/>
              <a:ahLst/>
              <a:cxnLst/>
              <a:rect l="l" t="t" r="r" b="b"/>
              <a:pathLst>
                <a:path w="149225" h="623569">
                  <a:moveTo>
                    <a:pt x="148856" y="623265"/>
                  </a:moveTo>
                  <a:lnTo>
                    <a:pt x="147165" y="559055"/>
                  </a:lnTo>
                  <a:lnTo>
                    <a:pt x="142384" y="496862"/>
                  </a:lnTo>
                  <a:lnTo>
                    <a:pt x="134957" y="438703"/>
                  </a:lnTo>
                  <a:lnTo>
                    <a:pt x="125323" y="386595"/>
                  </a:lnTo>
                  <a:lnTo>
                    <a:pt x="113925" y="342556"/>
                  </a:lnTo>
                  <a:lnTo>
                    <a:pt x="87601" y="286751"/>
                  </a:lnTo>
                  <a:lnTo>
                    <a:pt x="73558" y="279019"/>
                  </a:lnTo>
                  <a:lnTo>
                    <a:pt x="57235" y="268617"/>
                  </a:lnTo>
                  <a:lnTo>
                    <a:pt x="41609" y="239534"/>
                  </a:lnTo>
                  <a:lnTo>
                    <a:pt x="27378" y="194949"/>
                  </a:lnTo>
                  <a:lnTo>
                    <a:pt x="15235" y="138045"/>
                  </a:lnTo>
                  <a:lnTo>
                    <a:pt x="5877" y="72001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6" name="object 36"/>
            <p:cNvSpPr/>
            <p:nvPr/>
          </p:nvSpPr>
          <p:spPr>
            <a:xfrm>
              <a:off x="8062528" y="2527551"/>
              <a:ext cx="78105" cy="78740"/>
            </a:xfrm>
            <a:custGeom>
              <a:avLst/>
              <a:gdLst/>
              <a:ahLst/>
              <a:cxnLst/>
              <a:rect l="l" t="t" r="r" b="b"/>
              <a:pathLst>
                <a:path w="78104" h="78739">
                  <a:moveTo>
                    <a:pt x="36766" y="0"/>
                  </a:moveTo>
                  <a:lnTo>
                    <a:pt x="0" y="78740"/>
                  </a:lnTo>
                  <a:lnTo>
                    <a:pt x="77698" y="76657"/>
                  </a:lnTo>
                  <a:lnTo>
                    <a:pt x="36766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7" name="object 37"/>
            <p:cNvSpPr/>
            <p:nvPr/>
          </p:nvSpPr>
          <p:spPr>
            <a:xfrm>
              <a:off x="7570469" y="2332078"/>
              <a:ext cx="367665" cy="387350"/>
            </a:xfrm>
            <a:custGeom>
              <a:avLst/>
              <a:gdLst/>
              <a:ahLst/>
              <a:cxnLst/>
              <a:rect l="l" t="t" r="r" b="b"/>
              <a:pathLst>
                <a:path w="367665" h="387350">
                  <a:moveTo>
                    <a:pt x="0" y="386829"/>
                  </a:moveTo>
                  <a:lnTo>
                    <a:pt x="3555" y="342753"/>
                  </a:lnTo>
                  <a:lnTo>
                    <a:pt x="13857" y="299174"/>
                  </a:lnTo>
                  <a:lnTo>
                    <a:pt x="30359" y="256589"/>
                  </a:lnTo>
                  <a:lnTo>
                    <a:pt x="52513" y="215493"/>
                  </a:lnTo>
                  <a:lnTo>
                    <a:pt x="79773" y="176385"/>
                  </a:lnTo>
                  <a:lnTo>
                    <a:pt x="111591" y="139760"/>
                  </a:lnTo>
                  <a:lnTo>
                    <a:pt x="147421" y="106116"/>
                  </a:lnTo>
                  <a:lnTo>
                    <a:pt x="186716" y="75950"/>
                  </a:lnTo>
                  <a:lnTo>
                    <a:pt x="228928" y="49758"/>
                  </a:lnTo>
                  <a:lnTo>
                    <a:pt x="273511" y="28038"/>
                  </a:lnTo>
                  <a:lnTo>
                    <a:pt x="319918" y="11286"/>
                  </a:lnTo>
                  <a:lnTo>
                    <a:pt x="367601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8" name="object 38"/>
            <p:cNvSpPr/>
            <p:nvPr/>
          </p:nvSpPr>
          <p:spPr>
            <a:xfrm>
              <a:off x="7921852" y="2294490"/>
              <a:ext cx="81280" cy="77470"/>
            </a:xfrm>
            <a:custGeom>
              <a:avLst/>
              <a:gdLst/>
              <a:ahLst/>
              <a:cxnLst/>
              <a:rect l="l" t="t" r="r" b="b"/>
              <a:pathLst>
                <a:path w="81279" h="77469">
                  <a:moveTo>
                    <a:pt x="0" y="0"/>
                  </a:moveTo>
                  <a:lnTo>
                    <a:pt x="6819" y="77419"/>
                  </a:lnTo>
                  <a:lnTo>
                    <a:pt x="80835" y="319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162525" y="1714814"/>
            <a:ext cx="44196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4" dirty="0">
                <a:latin typeface="Calibri"/>
                <a:cs typeface="Calibri"/>
              </a:rPr>
              <a:t>Loss</a:t>
            </a:r>
            <a:r>
              <a:rPr sz="1350" spc="-5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1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94349" y="1668866"/>
            <a:ext cx="44196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4" dirty="0">
                <a:latin typeface="Calibri"/>
                <a:cs typeface="Calibri"/>
              </a:rPr>
              <a:t>Loss</a:t>
            </a:r>
            <a:r>
              <a:rPr sz="1350" spc="-5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2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26173" y="1674352"/>
            <a:ext cx="441960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4" dirty="0">
                <a:latin typeface="Calibri"/>
                <a:cs typeface="Calibri"/>
              </a:rPr>
              <a:t>Loss</a:t>
            </a:r>
            <a:r>
              <a:rPr sz="1350" spc="-5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3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236177" y="1640748"/>
            <a:ext cx="412433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4" dirty="0">
                <a:latin typeface="Calibri"/>
                <a:cs typeface="Calibri"/>
              </a:rPr>
              <a:t>Loss</a:t>
            </a:r>
            <a:r>
              <a:rPr sz="1350" spc="-53" dirty="0">
                <a:latin typeface="Calibri"/>
                <a:cs typeface="Calibri"/>
              </a:rPr>
              <a:t> </a:t>
            </a:r>
            <a:r>
              <a:rPr sz="1350" dirty="0">
                <a:latin typeface="Calibri"/>
                <a:cs typeface="Calibri"/>
              </a:rPr>
              <a:t>t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528566" y="1059560"/>
            <a:ext cx="1450658" cy="278130"/>
          </a:xfrm>
          <a:custGeom>
            <a:avLst/>
            <a:gdLst/>
            <a:ahLst/>
            <a:cxnLst/>
            <a:rect l="l" t="t" r="r" b="b"/>
            <a:pathLst>
              <a:path w="1934210" h="370839">
                <a:moveTo>
                  <a:pt x="1933956" y="0"/>
                </a:moveTo>
                <a:lnTo>
                  <a:pt x="0" y="0"/>
                </a:lnTo>
                <a:lnTo>
                  <a:pt x="0" y="370332"/>
                </a:lnTo>
                <a:lnTo>
                  <a:pt x="1933956" y="370332"/>
                </a:lnTo>
                <a:lnTo>
                  <a:pt x="1933956" y="0"/>
                </a:lnTo>
                <a:close/>
              </a:path>
            </a:pathLst>
          </a:custGeom>
          <a:solidFill>
            <a:srgbClr val="FBD4B5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4" name="object 44"/>
          <p:cNvSpPr txBox="1"/>
          <p:nvPr/>
        </p:nvSpPr>
        <p:spPr>
          <a:xfrm>
            <a:off x="4528566" y="1059561"/>
            <a:ext cx="1450658" cy="232274"/>
          </a:xfrm>
          <a:prstGeom prst="rect">
            <a:avLst/>
          </a:prstGeom>
          <a:ln w="9144">
            <a:solidFill>
              <a:srgbClr val="404040"/>
            </a:solidFill>
          </a:ln>
        </p:spPr>
        <p:txBody>
          <a:bodyPr vert="horz" wrap="square" lIns="0" tIns="24288" rIns="0" bIns="0" rtlCol="0">
            <a:spAutoFit/>
          </a:bodyPr>
          <a:lstStyle/>
          <a:p>
            <a:pPr algn="ctr">
              <a:spcBef>
                <a:spcPts val="191"/>
              </a:spcBef>
            </a:pPr>
            <a:r>
              <a:rPr sz="1350" dirty="0">
                <a:latin typeface="Calibri"/>
                <a:cs typeface="Calibri"/>
              </a:rPr>
              <a:t>Sum</a:t>
            </a:r>
            <a:endParaRPr sz="1350">
              <a:latin typeface="Calibri"/>
              <a:cs typeface="Calibri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3344418" y="1122426"/>
            <a:ext cx="3961924" cy="643889"/>
            <a:chOff x="2935223" y="1496567"/>
            <a:chExt cx="5282565" cy="858519"/>
          </a:xfrm>
        </p:grpSpPr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935223" y="1496567"/>
              <a:ext cx="1699259" cy="83515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2990849" y="1598753"/>
              <a:ext cx="1457325" cy="670560"/>
            </a:xfrm>
            <a:custGeom>
              <a:avLst/>
              <a:gdLst/>
              <a:ahLst/>
              <a:cxnLst/>
              <a:rect l="l" t="t" r="r" b="b"/>
              <a:pathLst>
                <a:path w="1457325" h="670560">
                  <a:moveTo>
                    <a:pt x="0" y="669963"/>
                  </a:moveTo>
                  <a:lnTo>
                    <a:pt x="6528" y="615736"/>
                  </a:lnTo>
                  <a:lnTo>
                    <a:pt x="25636" y="561825"/>
                  </a:lnTo>
                  <a:lnTo>
                    <a:pt x="56606" y="508546"/>
                  </a:lnTo>
                  <a:lnTo>
                    <a:pt x="98720" y="456215"/>
                  </a:lnTo>
                  <a:lnTo>
                    <a:pt x="151261" y="405147"/>
                  </a:lnTo>
                  <a:lnTo>
                    <a:pt x="181218" y="380186"/>
                  </a:lnTo>
                  <a:lnTo>
                    <a:pt x="213513" y="355660"/>
                  </a:lnTo>
                  <a:lnTo>
                    <a:pt x="248056" y="331607"/>
                  </a:lnTo>
                  <a:lnTo>
                    <a:pt x="284757" y="308068"/>
                  </a:lnTo>
                  <a:lnTo>
                    <a:pt x="323527" y="285081"/>
                  </a:lnTo>
                  <a:lnTo>
                    <a:pt x="364277" y="262687"/>
                  </a:lnTo>
                  <a:lnTo>
                    <a:pt x="406916" y="240924"/>
                  </a:lnTo>
                  <a:lnTo>
                    <a:pt x="451354" y="219833"/>
                  </a:lnTo>
                  <a:lnTo>
                    <a:pt x="497503" y="199453"/>
                  </a:lnTo>
                  <a:lnTo>
                    <a:pt x="545273" y="179823"/>
                  </a:lnTo>
                  <a:lnTo>
                    <a:pt x="594573" y="160983"/>
                  </a:lnTo>
                  <a:lnTo>
                    <a:pt x="645315" y="142972"/>
                  </a:lnTo>
                  <a:lnTo>
                    <a:pt x="697408" y="125829"/>
                  </a:lnTo>
                  <a:lnTo>
                    <a:pt x="750763" y="109595"/>
                  </a:lnTo>
                  <a:lnTo>
                    <a:pt x="805291" y="94309"/>
                  </a:lnTo>
                  <a:lnTo>
                    <a:pt x="860901" y="80010"/>
                  </a:lnTo>
                  <a:lnTo>
                    <a:pt x="917503" y="66737"/>
                  </a:lnTo>
                  <a:lnTo>
                    <a:pt x="975010" y="54531"/>
                  </a:lnTo>
                  <a:lnTo>
                    <a:pt x="1033329" y="43430"/>
                  </a:lnTo>
                  <a:lnTo>
                    <a:pt x="1092373" y="33474"/>
                  </a:lnTo>
                  <a:lnTo>
                    <a:pt x="1152051" y="24703"/>
                  </a:lnTo>
                  <a:lnTo>
                    <a:pt x="1212273" y="17157"/>
                  </a:lnTo>
                  <a:lnTo>
                    <a:pt x="1272951" y="10873"/>
                  </a:lnTo>
                  <a:lnTo>
                    <a:pt x="1333994" y="5893"/>
                  </a:lnTo>
                  <a:lnTo>
                    <a:pt x="1395312" y="2255"/>
                  </a:lnTo>
                  <a:lnTo>
                    <a:pt x="1456817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8" name="object 48"/>
            <p:cNvSpPr/>
            <p:nvPr/>
          </p:nvSpPr>
          <p:spPr>
            <a:xfrm>
              <a:off x="4435698" y="1560034"/>
              <a:ext cx="78740" cy="78105"/>
            </a:xfrm>
            <a:custGeom>
              <a:avLst/>
              <a:gdLst/>
              <a:ahLst/>
              <a:cxnLst/>
              <a:rect l="l" t="t" r="r" b="b"/>
              <a:pathLst>
                <a:path w="78739" h="78105">
                  <a:moveTo>
                    <a:pt x="0" y="0"/>
                  </a:moveTo>
                  <a:lnTo>
                    <a:pt x="977" y="77724"/>
                  </a:lnTo>
                  <a:lnTo>
                    <a:pt x="78206" y="378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712207" y="1688591"/>
              <a:ext cx="249935" cy="58216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4767833" y="1854936"/>
              <a:ext cx="72390" cy="354330"/>
            </a:xfrm>
            <a:custGeom>
              <a:avLst/>
              <a:gdLst/>
              <a:ahLst/>
              <a:cxnLst/>
              <a:rect l="l" t="t" r="r" b="b"/>
              <a:pathLst>
                <a:path w="72389" h="354330">
                  <a:moveTo>
                    <a:pt x="0" y="353822"/>
                  </a:moveTo>
                  <a:lnTo>
                    <a:pt x="2075" y="291838"/>
                  </a:lnTo>
                  <a:lnTo>
                    <a:pt x="7708" y="234879"/>
                  </a:lnTo>
                  <a:lnTo>
                    <a:pt x="16009" y="187970"/>
                  </a:lnTo>
                  <a:lnTo>
                    <a:pt x="37058" y="144411"/>
                  </a:lnTo>
                  <a:lnTo>
                    <a:pt x="47898" y="132966"/>
                  </a:lnTo>
                  <a:lnTo>
                    <a:pt x="57880" y="101857"/>
                  </a:lnTo>
                  <a:lnTo>
                    <a:pt x="66147" y="55922"/>
                  </a:lnTo>
                  <a:lnTo>
                    <a:pt x="71843" y="0"/>
                  </a:lnTo>
                </a:path>
              </a:pathLst>
            </a:custGeom>
            <a:ln w="25907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1" name="object 51"/>
            <p:cNvSpPr/>
            <p:nvPr/>
          </p:nvSpPr>
          <p:spPr>
            <a:xfrm>
              <a:off x="4800391" y="1789935"/>
              <a:ext cx="78105" cy="79375"/>
            </a:xfrm>
            <a:custGeom>
              <a:avLst/>
              <a:gdLst/>
              <a:ahLst/>
              <a:cxnLst/>
              <a:rect l="l" t="t" r="r" b="b"/>
              <a:pathLst>
                <a:path w="78104" h="79375">
                  <a:moveTo>
                    <a:pt x="41567" y="0"/>
                  </a:moveTo>
                  <a:lnTo>
                    <a:pt x="0" y="76314"/>
                  </a:lnTo>
                  <a:lnTo>
                    <a:pt x="77673" y="79044"/>
                  </a:lnTo>
                  <a:lnTo>
                    <a:pt x="41567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61431" y="1682495"/>
              <a:ext cx="978407" cy="672083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5491571" y="1848323"/>
              <a:ext cx="805815" cy="431165"/>
            </a:xfrm>
            <a:custGeom>
              <a:avLst/>
              <a:gdLst/>
              <a:ahLst/>
              <a:cxnLst/>
              <a:rect l="l" t="t" r="r" b="b"/>
              <a:pathLst>
                <a:path w="805814" h="431164">
                  <a:moveTo>
                    <a:pt x="805700" y="430847"/>
                  </a:moveTo>
                  <a:lnTo>
                    <a:pt x="749953" y="429322"/>
                  </a:lnTo>
                  <a:lnTo>
                    <a:pt x="694439" y="424842"/>
                  </a:lnTo>
                  <a:lnTo>
                    <a:pt x="639389" y="417548"/>
                  </a:lnTo>
                  <a:lnTo>
                    <a:pt x="585037" y="407581"/>
                  </a:lnTo>
                  <a:lnTo>
                    <a:pt x="531616" y="395083"/>
                  </a:lnTo>
                  <a:lnTo>
                    <a:pt x="479357" y="380195"/>
                  </a:lnTo>
                  <a:lnTo>
                    <a:pt x="428493" y="363058"/>
                  </a:lnTo>
                  <a:lnTo>
                    <a:pt x="379257" y="343815"/>
                  </a:lnTo>
                  <a:lnTo>
                    <a:pt x="331881" y="322606"/>
                  </a:lnTo>
                  <a:lnTo>
                    <a:pt x="286597" y="299572"/>
                  </a:lnTo>
                  <a:lnTo>
                    <a:pt x="243639" y="274855"/>
                  </a:lnTo>
                  <a:lnTo>
                    <a:pt x="203238" y="248597"/>
                  </a:lnTo>
                  <a:lnTo>
                    <a:pt x="165627" y="220939"/>
                  </a:lnTo>
                  <a:lnTo>
                    <a:pt x="131038" y="192021"/>
                  </a:lnTo>
                  <a:lnTo>
                    <a:pt x="99705" y="161987"/>
                  </a:lnTo>
                  <a:lnTo>
                    <a:pt x="71859" y="130976"/>
                  </a:lnTo>
                  <a:lnTo>
                    <a:pt x="47733" y="99130"/>
                  </a:lnTo>
                  <a:lnTo>
                    <a:pt x="27559" y="66592"/>
                  </a:lnTo>
                  <a:lnTo>
                    <a:pt x="11571" y="33501"/>
                  </a:lnTo>
                  <a:lnTo>
                    <a:pt x="0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4" name="object 54"/>
            <p:cNvSpPr/>
            <p:nvPr/>
          </p:nvSpPr>
          <p:spPr>
            <a:xfrm>
              <a:off x="5454817" y="1783835"/>
              <a:ext cx="77470" cy="82550"/>
            </a:xfrm>
            <a:custGeom>
              <a:avLst/>
              <a:gdLst/>
              <a:ahLst/>
              <a:cxnLst/>
              <a:rect l="l" t="t" r="r" b="b"/>
              <a:pathLst>
                <a:path w="77470" h="82550">
                  <a:moveTo>
                    <a:pt x="27774" y="0"/>
                  </a:moveTo>
                  <a:lnTo>
                    <a:pt x="0" y="82346"/>
                  </a:lnTo>
                  <a:lnTo>
                    <a:pt x="76987" y="71627"/>
                  </a:lnTo>
                  <a:lnTo>
                    <a:pt x="27774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55" name="object 5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141719" y="1716023"/>
              <a:ext cx="2075687" cy="566927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6197806" y="1867104"/>
              <a:ext cx="1977389" cy="340360"/>
            </a:xfrm>
            <a:custGeom>
              <a:avLst/>
              <a:gdLst/>
              <a:ahLst/>
              <a:cxnLst/>
              <a:rect l="l" t="t" r="r" b="b"/>
              <a:pathLst>
                <a:path w="1977390" h="340360">
                  <a:moveTo>
                    <a:pt x="1977351" y="340296"/>
                  </a:moveTo>
                  <a:lnTo>
                    <a:pt x="1905024" y="340123"/>
                  </a:lnTo>
                  <a:lnTo>
                    <a:pt x="1832783" y="339611"/>
                  </a:lnTo>
                  <a:lnTo>
                    <a:pt x="1760713" y="338768"/>
                  </a:lnTo>
                  <a:lnTo>
                    <a:pt x="1688902" y="337602"/>
                  </a:lnTo>
                  <a:lnTo>
                    <a:pt x="1617436" y="336122"/>
                  </a:lnTo>
                  <a:lnTo>
                    <a:pt x="1546399" y="334337"/>
                  </a:lnTo>
                  <a:lnTo>
                    <a:pt x="1475879" y="332254"/>
                  </a:lnTo>
                  <a:lnTo>
                    <a:pt x="1405961" y="329883"/>
                  </a:lnTo>
                  <a:lnTo>
                    <a:pt x="1336732" y="327232"/>
                  </a:lnTo>
                  <a:lnTo>
                    <a:pt x="1268278" y="324309"/>
                  </a:lnTo>
                  <a:lnTo>
                    <a:pt x="1200684" y="321122"/>
                  </a:lnTo>
                  <a:lnTo>
                    <a:pt x="1134037" y="317682"/>
                  </a:lnTo>
                  <a:lnTo>
                    <a:pt x="1068422" y="313995"/>
                  </a:lnTo>
                  <a:lnTo>
                    <a:pt x="1003927" y="310070"/>
                  </a:lnTo>
                  <a:lnTo>
                    <a:pt x="940637" y="305916"/>
                  </a:lnTo>
                  <a:lnTo>
                    <a:pt x="878637" y="301541"/>
                  </a:lnTo>
                  <a:lnTo>
                    <a:pt x="818015" y="296954"/>
                  </a:lnTo>
                  <a:lnTo>
                    <a:pt x="758856" y="292164"/>
                  </a:lnTo>
                  <a:lnTo>
                    <a:pt x="701246" y="287178"/>
                  </a:lnTo>
                  <a:lnTo>
                    <a:pt x="645271" y="282006"/>
                  </a:lnTo>
                  <a:lnTo>
                    <a:pt x="591018" y="276655"/>
                  </a:lnTo>
                  <a:lnTo>
                    <a:pt x="538573" y="271134"/>
                  </a:lnTo>
                  <a:lnTo>
                    <a:pt x="488021" y="265452"/>
                  </a:lnTo>
                  <a:lnTo>
                    <a:pt x="439448" y="259617"/>
                  </a:lnTo>
                  <a:lnTo>
                    <a:pt x="392941" y="253638"/>
                  </a:lnTo>
                  <a:lnTo>
                    <a:pt x="348586" y="247524"/>
                  </a:lnTo>
                  <a:lnTo>
                    <a:pt x="306469" y="241281"/>
                  </a:lnTo>
                  <a:lnTo>
                    <a:pt x="266675" y="234920"/>
                  </a:lnTo>
                  <a:lnTo>
                    <a:pt x="194405" y="221876"/>
                  </a:lnTo>
                  <a:lnTo>
                    <a:pt x="132463" y="208458"/>
                  </a:lnTo>
                  <a:lnTo>
                    <a:pt x="81537" y="194734"/>
                  </a:lnTo>
                  <a:lnTo>
                    <a:pt x="42318" y="180773"/>
                  </a:lnTo>
                  <a:lnTo>
                    <a:pt x="6943" y="159533"/>
                  </a:lnTo>
                  <a:lnTo>
                    <a:pt x="0" y="145275"/>
                  </a:lnTo>
                  <a:lnTo>
                    <a:pt x="1821" y="105097"/>
                  </a:lnTo>
                  <a:lnTo>
                    <a:pt x="6934" y="66460"/>
                  </a:lnTo>
                  <a:lnTo>
                    <a:pt x="14808" y="30912"/>
                  </a:lnTo>
                  <a:lnTo>
                    <a:pt x="24917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7" name="object 57"/>
            <p:cNvSpPr/>
            <p:nvPr/>
          </p:nvSpPr>
          <p:spPr>
            <a:xfrm>
              <a:off x="6184698" y="1817371"/>
              <a:ext cx="80010" cy="85090"/>
            </a:xfrm>
            <a:custGeom>
              <a:avLst/>
              <a:gdLst/>
              <a:ahLst/>
              <a:cxnLst/>
              <a:rect l="l" t="t" r="r" b="b"/>
              <a:pathLst>
                <a:path w="80010" h="85089">
                  <a:moveTo>
                    <a:pt x="79705" y="0"/>
                  </a:moveTo>
                  <a:lnTo>
                    <a:pt x="0" y="34620"/>
                  </a:lnTo>
                  <a:lnTo>
                    <a:pt x="59575" y="84531"/>
                  </a:lnTo>
                  <a:lnTo>
                    <a:pt x="79705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05371" y="1496567"/>
              <a:ext cx="934211" cy="242315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6448805" y="1597913"/>
              <a:ext cx="706120" cy="0"/>
            </a:xfrm>
            <a:custGeom>
              <a:avLst/>
              <a:gdLst/>
              <a:ahLst/>
              <a:cxnLst/>
              <a:rect l="l" t="t" r="r" b="b"/>
              <a:pathLst>
                <a:path w="706120">
                  <a:moveTo>
                    <a:pt x="0" y="0"/>
                  </a:moveTo>
                  <a:lnTo>
                    <a:pt x="705688" y="0"/>
                  </a:lnTo>
                </a:path>
              </a:pathLst>
            </a:custGeom>
            <a:ln w="25908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0" name="object 60"/>
            <p:cNvSpPr/>
            <p:nvPr/>
          </p:nvSpPr>
          <p:spPr>
            <a:xfrm>
              <a:off x="7141540" y="1559049"/>
              <a:ext cx="78105" cy="78105"/>
            </a:xfrm>
            <a:custGeom>
              <a:avLst/>
              <a:gdLst/>
              <a:ahLst/>
              <a:cxnLst/>
              <a:rect l="l" t="t" r="r" b="b"/>
              <a:pathLst>
                <a:path w="78104" h="78105">
                  <a:moveTo>
                    <a:pt x="0" y="0"/>
                  </a:moveTo>
                  <a:lnTo>
                    <a:pt x="0" y="77724"/>
                  </a:lnTo>
                  <a:lnTo>
                    <a:pt x="77724" y="388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F81BC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1" name="object 61"/>
          <p:cNvSpPr txBox="1"/>
          <p:nvPr/>
        </p:nvSpPr>
        <p:spPr>
          <a:xfrm>
            <a:off x="6642331" y="1064913"/>
            <a:ext cx="67675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120" dirty="0">
                <a:latin typeface="Calibri"/>
                <a:cs typeface="Calibri"/>
              </a:rPr>
              <a:t>T</a:t>
            </a:r>
            <a:r>
              <a:rPr sz="1350" b="1" dirty="0">
                <a:latin typeface="Calibri"/>
                <a:cs typeface="Calibri"/>
              </a:rPr>
              <a:t>o</a:t>
            </a:r>
            <a:r>
              <a:rPr sz="1350" b="1" spc="-11" dirty="0">
                <a:latin typeface="Calibri"/>
                <a:cs typeface="Calibri"/>
              </a:rPr>
              <a:t>t</a:t>
            </a:r>
            <a:r>
              <a:rPr sz="1350" b="1" spc="-4" dirty="0">
                <a:latin typeface="Calibri"/>
                <a:cs typeface="Calibri"/>
              </a:rPr>
              <a:t>a</a:t>
            </a:r>
            <a:r>
              <a:rPr sz="1350" b="1" dirty="0">
                <a:latin typeface="Calibri"/>
                <a:cs typeface="Calibri"/>
              </a:rPr>
              <a:t>l</a:t>
            </a:r>
            <a:r>
              <a:rPr sz="1350" b="1" spc="-8" dirty="0">
                <a:latin typeface="Calibri"/>
                <a:cs typeface="Calibri"/>
              </a:rPr>
              <a:t> </a:t>
            </a:r>
            <a:r>
              <a:rPr sz="1350" b="1" dirty="0">
                <a:latin typeface="Calibri"/>
                <a:cs typeface="Calibri"/>
              </a:rPr>
              <a:t>loss</a:t>
            </a:r>
            <a:endParaRPr sz="1350">
              <a:latin typeface="Calibri"/>
              <a:cs typeface="Calibri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269789" y="4922698"/>
            <a:ext cx="1588770" cy="180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25">
              <a:lnSpc>
                <a:spcPts val="1358"/>
              </a:lnSpc>
            </a:pPr>
            <a:r>
              <a:rPr sz="1350" spc="-4" dirty="0">
                <a:solidFill>
                  <a:srgbClr val="A6A6A6"/>
                </a:solidFill>
                <a:latin typeface="Calibri"/>
                <a:cs typeface="Calibri"/>
              </a:rPr>
              <a:t>Slide</a:t>
            </a:r>
            <a:r>
              <a:rPr sz="135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350" spc="-4" dirty="0">
                <a:solidFill>
                  <a:srgbClr val="A6A6A6"/>
                </a:solidFill>
                <a:latin typeface="Calibri"/>
                <a:cs typeface="Calibri"/>
              </a:rPr>
              <a:t>by</a:t>
            </a:r>
            <a:r>
              <a:rPr sz="1350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350" spc="-8" dirty="0">
                <a:solidFill>
                  <a:srgbClr val="A6A6A6"/>
                </a:solidFill>
                <a:latin typeface="Calibri"/>
                <a:cs typeface="Calibri"/>
              </a:rPr>
              <a:t>Fei-Fei</a:t>
            </a:r>
            <a:r>
              <a:rPr sz="1350" spc="-11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350" spc="-4" dirty="0">
                <a:solidFill>
                  <a:srgbClr val="A6A6A6"/>
                </a:solidFill>
                <a:latin typeface="Calibri"/>
                <a:cs typeface="Calibri"/>
              </a:rPr>
              <a:t>Li et</a:t>
            </a:r>
            <a:r>
              <a:rPr sz="1350" spc="-15" dirty="0">
                <a:solidFill>
                  <a:srgbClr val="A6A6A6"/>
                </a:solidFill>
                <a:latin typeface="Calibri"/>
                <a:cs typeface="Calibri"/>
              </a:rPr>
              <a:t> </a:t>
            </a:r>
            <a:r>
              <a:rPr sz="1350" spc="-4" dirty="0">
                <a:solidFill>
                  <a:srgbClr val="A6A6A6"/>
                </a:solidFill>
                <a:latin typeface="Calibri"/>
                <a:cs typeface="Calibri"/>
              </a:rPr>
              <a:t>al.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1" y="372475"/>
            <a:ext cx="7177968" cy="470802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3000" spc="-11" dirty="0"/>
              <a:t>Backpropagation</a:t>
            </a:r>
            <a:r>
              <a:rPr sz="3000" spc="-41" dirty="0"/>
              <a:t> </a:t>
            </a:r>
            <a:r>
              <a:rPr lang="en-US" sz="3000" spc="-11" dirty="0"/>
              <a:t>T</a:t>
            </a:r>
            <a:r>
              <a:rPr sz="3000" spc="-11" dirty="0"/>
              <a:t>hrough</a:t>
            </a:r>
            <a:r>
              <a:rPr sz="3000" spc="-23" dirty="0"/>
              <a:t> </a:t>
            </a:r>
            <a:r>
              <a:rPr lang="en-US" sz="3000" spc="-4" dirty="0"/>
              <a:t>T</a:t>
            </a:r>
            <a:r>
              <a:rPr sz="3000" spc="-4" dirty="0"/>
              <a:t>ime</a:t>
            </a:r>
            <a:r>
              <a:rPr sz="3000" spc="-19" dirty="0"/>
              <a:t> </a:t>
            </a:r>
            <a:r>
              <a:rPr sz="3000" dirty="0"/>
              <a:t>(BPTT)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381000" y="1165379"/>
            <a:ext cx="7696200" cy="1590981"/>
          </a:xfrm>
          <a:prstGeom prst="rect">
            <a:avLst/>
          </a:prstGeom>
        </p:spPr>
        <p:txBody>
          <a:bodyPr vert="horz" wrap="square" lIns="0" tIns="64294" rIns="0" bIns="0" rtlCol="0">
            <a:spAutoFit/>
          </a:bodyPr>
          <a:lstStyle/>
          <a:p>
            <a:pPr marL="268129" marR="3810" indent="-257175">
              <a:lnSpc>
                <a:spcPts val="1800"/>
              </a:lnSpc>
              <a:spcBef>
                <a:spcPts val="506"/>
              </a:spcBef>
              <a:buFont typeface="Arial"/>
              <a:buChar char="•"/>
              <a:tabLst>
                <a:tab pos="267653" algn="l"/>
                <a:tab pos="268129" algn="l"/>
              </a:tabLst>
            </a:pPr>
            <a:r>
              <a:rPr b="1" spc="-11" dirty="0"/>
              <a:t>Forward</a:t>
            </a:r>
            <a:r>
              <a:rPr b="1" spc="-19" dirty="0"/>
              <a:t> </a:t>
            </a:r>
            <a:r>
              <a:rPr spc="-8" dirty="0"/>
              <a:t>through</a:t>
            </a:r>
            <a:r>
              <a:rPr spc="-4" dirty="0"/>
              <a:t> </a:t>
            </a:r>
            <a:r>
              <a:rPr spc="-11" dirty="0"/>
              <a:t>entire</a:t>
            </a:r>
            <a:r>
              <a:rPr spc="11" dirty="0"/>
              <a:t> </a:t>
            </a:r>
            <a:r>
              <a:rPr spc="-4" dirty="0"/>
              <a:t>sequence</a:t>
            </a:r>
            <a:r>
              <a:rPr spc="23" dirty="0"/>
              <a:t> </a:t>
            </a:r>
            <a:r>
              <a:rPr spc="-11" dirty="0"/>
              <a:t>to compute</a:t>
            </a:r>
            <a:r>
              <a:rPr lang="en-US" spc="-11" dirty="0"/>
              <a:t> the</a:t>
            </a:r>
            <a:r>
              <a:rPr spc="11" dirty="0"/>
              <a:t> </a:t>
            </a:r>
            <a:r>
              <a:rPr spc="-4" dirty="0"/>
              <a:t>loss</a:t>
            </a:r>
            <a:r>
              <a:rPr lang="en-US" spc="-4" dirty="0"/>
              <a:t> function</a:t>
            </a:r>
            <a:r>
              <a:rPr spc="-4" dirty="0"/>
              <a:t>,</a:t>
            </a:r>
            <a:r>
              <a:rPr dirty="0"/>
              <a:t> then </a:t>
            </a:r>
            <a:r>
              <a:rPr spc="4" dirty="0"/>
              <a:t> </a:t>
            </a:r>
            <a:r>
              <a:rPr b="1" spc="-8" dirty="0"/>
              <a:t>backward</a:t>
            </a:r>
            <a:r>
              <a:rPr b="1" spc="4" dirty="0"/>
              <a:t> </a:t>
            </a:r>
            <a:r>
              <a:rPr spc="-8" dirty="0"/>
              <a:t>through</a:t>
            </a:r>
            <a:r>
              <a:rPr spc="-11" dirty="0"/>
              <a:t> </a:t>
            </a:r>
            <a:r>
              <a:rPr spc="-4" dirty="0"/>
              <a:t>the</a:t>
            </a:r>
            <a:r>
              <a:rPr spc="11" dirty="0"/>
              <a:t> </a:t>
            </a:r>
            <a:r>
              <a:rPr spc="-8" dirty="0"/>
              <a:t>entire</a:t>
            </a:r>
            <a:r>
              <a:rPr spc="8" dirty="0"/>
              <a:t> </a:t>
            </a:r>
            <a:r>
              <a:rPr spc="-4" dirty="0"/>
              <a:t>sequence</a:t>
            </a:r>
            <a:r>
              <a:rPr spc="23" dirty="0"/>
              <a:t> </a:t>
            </a:r>
            <a:r>
              <a:rPr spc="-11" dirty="0"/>
              <a:t>to</a:t>
            </a:r>
            <a:r>
              <a:rPr spc="-8" dirty="0"/>
              <a:t> </a:t>
            </a:r>
            <a:r>
              <a:rPr spc="-11" dirty="0"/>
              <a:t>compute</a:t>
            </a:r>
            <a:r>
              <a:rPr spc="19" dirty="0"/>
              <a:t> </a:t>
            </a:r>
            <a:r>
              <a:rPr spc="-11" dirty="0"/>
              <a:t>gradient</a:t>
            </a:r>
          </a:p>
          <a:p>
            <a:pPr marL="268129" indent="-257175">
              <a:spcBef>
                <a:spcPts val="15"/>
              </a:spcBef>
              <a:buFont typeface="Arial"/>
              <a:buChar char="•"/>
              <a:tabLst>
                <a:tab pos="267653" algn="l"/>
                <a:tab pos="268129" algn="l"/>
              </a:tabLst>
            </a:pPr>
            <a:endParaRPr lang="en-US" dirty="0"/>
          </a:p>
          <a:p>
            <a:pPr marL="268129" indent="-257175">
              <a:spcBef>
                <a:spcPts val="15"/>
              </a:spcBef>
              <a:buFont typeface="Arial"/>
              <a:buChar char="•"/>
              <a:tabLst>
                <a:tab pos="267653" algn="l"/>
                <a:tab pos="268129" algn="l"/>
              </a:tabLst>
            </a:pPr>
            <a:r>
              <a:rPr dirty="0"/>
              <a:t>Deep</a:t>
            </a:r>
            <a:r>
              <a:rPr spc="-4" dirty="0"/>
              <a:t> </a:t>
            </a:r>
            <a:r>
              <a:rPr spc="-8" dirty="0"/>
              <a:t>network</a:t>
            </a:r>
          </a:p>
          <a:p>
            <a:pPr marL="568643" lvl="1" indent="-215265">
              <a:lnSpc>
                <a:spcPts val="1976"/>
              </a:lnSpc>
              <a:spcBef>
                <a:spcPts val="8"/>
              </a:spcBef>
              <a:buFont typeface="Arial"/>
              <a:buChar char="–"/>
              <a:tabLst>
                <a:tab pos="568643" algn="l"/>
                <a:tab pos="569119" algn="l"/>
              </a:tabLst>
            </a:pPr>
            <a:r>
              <a:rPr spc="-8" dirty="0"/>
              <a:t>Problem</a:t>
            </a:r>
            <a:r>
              <a:rPr spc="-11" dirty="0"/>
              <a:t> </a:t>
            </a:r>
            <a:r>
              <a:rPr spc="-4" dirty="0"/>
              <a:t>of</a:t>
            </a:r>
            <a:r>
              <a:rPr spc="-11" dirty="0"/>
              <a:t> </a:t>
            </a:r>
            <a:r>
              <a:rPr spc="-8" dirty="0"/>
              <a:t>vanishing</a:t>
            </a:r>
            <a:r>
              <a:rPr dirty="0"/>
              <a:t> </a:t>
            </a:r>
            <a:r>
              <a:rPr spc="-8" dirty="0"/>
              <a:t>gradients</a:t>
            </a:r>
          </a:p>
          <a:p>
            <a:pPr marL="1025843" lvl="2" indent="-215265">
              <a:spcBef>
                <a:spcPts val="11"/>
              </a:spcBef>
              <a:buFont typeface="Arial"/>
              <a:buChar char="–"/>
              <a:tabLst>
                <a:tab pos="568643" algn="l"/>
                <a:tab pos="569119" algn="l"/>
              </a:tabLst>
            </a:pPr>
            <a:endParaRPr sz="165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29100" y="2500997"/>
            <a:ext cx="4386368" cy="22395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3681BAA-104C-4E01-AAF8-E81EF4605508}"/>
              </a:ext>
            </a:extLst>
          </p:cNvPr>
          <p:cNvSpPr/>
          <p:nvPr/>
        </p:nvSpPr>
        <p:spPr>
          <a:xfrm>
            <a:off x="228600" y="3586194"/>
            <a:ext cx="40005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51565E"/>
                </a:solidFill>
                <a:latin typeface="Roboto"/>
              </a:rPr>
              <a:t>when the gradient becomes too small, the parameter updates become insignificant. This makes the learning of long data sequences difficult.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09C05-B4FC-4815-B5ED-9A40CD5E3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8" dirty="0"/>
              <a:t>Training RNN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3FFB60-2DB5-456B-9EA0-C722BCD1D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57350"/>
            <a:ext cx="6858000" cy="3081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822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5FBB9-E438-4AAB-9AB1-16D50729D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Memory Problem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3A920C-9ADF-4337-8D5D-DB01D450DD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1170" y="1827657"/>
            <a:ext cx="3209925" cy="31527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678EA9C-4D9B-401D-901E-1BBCB8CFF0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0917"/>
            <a:ext cx="4224609" cy="18240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463362-FE05-40F9-9F18-1948107F5CAE}"/>
              </a:ext>
            </a:extLst>
          </p:cNvPr>
          <p:cNvSpPr txBox="1"/>
          <p:nvPr/>
        </p:nvSpPr>
        <p:spPr>
          <a:xfrm>
            <a:off x="231594" y="3604684"/>
            <a:ext cx="48948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 the RNN processes more steps, </a:t>
            </a:r>
            <a:r>
              <a:rPr lang="en-US" b="1" i="1" dirty="0">
                <a:solidFill>
                  <a:srgbClr val="0070C0"/>
                </a:solidFill>
              </a:rPr>
              <a:t>it has to pass information from previous steps,</a:t>
            </a:r>
            <a:r>
              <a:rPr lang="en-US" dirty="0"/>
              <a:t> so the end state may </a:t>
            </a:r>
            <a:r>
              <a:rPr lang="en-US" b="1" i="1" dirty="0">
                <a:solidFill>
                  <a:srgbClr val="0070C0"/>
                </a:solidFill>
              </a:rPr>
              <a:t>not remember the information from the early states </a:t>
            </a:r>
            <a:r>
              <a:rPr lang="en-US" dirty="0"/>
              <a:t>so these information are not considered when we do the prediction.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E6396D-65E5-41DD-AFB1-13C744BC683E}"/>
              </a:ext>
            </a:extLst>
          </p:cNvPr>
          <p:cNvSpPr/>
          <p:nvPr/>
        </p:nvSpPr>
        <p:spPr>
          <a:xfrm>
            <a:off x="0" y="1013809"/>
            <a:ext cx="632460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56285" lvl="1" indent="-287020">
              <a:lnSpc>
                <a:spcPct val="100000"/>
              </a:lnSpc>
              <a:buFont typeface="Arial"/>
              <a:buChar char="–"/>
              <a:tabLst>
                <a:tab pos="756285" algn="l"/>
                <a:tab pos="756920" algn="l"/>
              </a:tabLst>
            </a:pPr>
            <a:r>
              <a:rPr lang="en-US" sz="2200" spc="-10" dirty="0">
                <a:cs typeface="Calibri"/>
              </a:rPr>
              <a:t>long-distance</a:t>
            </a:r>
            <a:r>
              <a:rPr lang="en-US" sz="2200" spc="-20" dirty="0">
                <a:cs typeface="Calibri"/>
              </a:rPr>
              <a:t> </a:t>
            </a:r>
            <a:r>
              <a:rPr lang="en-US" sz="2200" spc="-5" dirty="0">
                <a:cs typeface="Calibri"/>
              </a:rPr>
              <a:t>dependencies</a:t>
            </a:r>
            <a:r>
              <a:rPr lang="en-US" sz="2200" spc="30" dirty="0">
                <a:cs typeface="Calibri"/>
              </a:rPr>
              <a:t> </a:t>
            </a:r>
            <a:r>
              <a:rPr lang="en-US" sz="2200" spc="-5" dirty="0">
                <a:cs typeface="Calibri"/>
              </a:rPr>
              <a:t>in</a:t>
            </a:r>
            <a:r>
              <a:rPr lang="en-US" sz="2200" spc="-20" dirty="0">
                <a:cs typeface="Calibri"/>
              </a:rPr>
              <a:t> </a:t>
            </a:r>
            <a:r>
              <a:rPr lang="en-US" sz="2200" spc="-5" dirty="0">
                <a:cs typeface="Calibri"/>
              </a:rPr>
              <a:t>sequence</a:t>
            </a:r>
            <a:r>
              <a:rPr lang="en-US" sz="2200" spc="10" dirty="0">
                <a:cs typeface="Calibri"/>
              </a:rPr>
              <a:t> </a:t>
            </a:r>
            <a:r>
              <a:rPr lang="en-US" sz="2200" spc="-20" dirty="0">
                <a:cs typeface="Calibri"/>
              </a:rPr>
              <a:t>data</a:t>
            </a:r>
            <a:endParaRPr lang="en-US" sz="22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5725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67F70-A30F-4DF8-9A3E-57FBBF54A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Short Memory Problem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36F7B9-9610-4CCC-9FF2-486C6FA081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3" y="1102447"/>
            <a:ext cx="8418191" cy="3600986"/>
          </a:xfrm>
        </p:spPr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Long-Distance Dependencies</a:t>
            </a:r>
          </a:p>
          <a:p>
            <a:endParaRPr lang="en-US" b="1" dirty="0">
              <a:solidFill>
                <a:srgbClr val="0070C0"/>
              </a:solidFill>
            </a:endParaRPr>
          </a:p>
          <a:p>
            <a:r>
              <a:rPr lang="en-US" b="1" dirty="0">
                <a:solidFill>
                  <a:srgbClr val="FFC000"/>
                </a:solidFill>
              </a:rPr>
              <a:t>Example: </a:t>
            </a:r>
            <a:r>
              <a:rPr lang="en-US" dirty="0"/>
              <a:t>Suppose you want to predict the last word in the text: </a:t>
            </a:r>
          </a:p>
          <a:p>
            <a:endParaRPr lang="en-US" dirty="0"/>
          </a:p>
          <a:p>
            <a:r>
              <a:rPr lang="en-US" dirty="0"/>
              <a:t>“The Sun is in the ______.”   The most obvious answer to this is the “sky.”</a:t>
            </a:r>
          </a:p>
          <a:p>
            <a:endParaRPr lang="en-US" dirty="0"/>
          </a:p>
          <a:p>
            <a:r>
              <a:rPr lang="en-US" dirty="0"/>
              <a:t>Now, Consider this sentence: “I have been learning English for more than 10 years, I can speak fluent ______</a:t>
            </a:r>
            <a:r>
              <a:rPr lang="en-US" i="1" dirty="0"/>
              <a:t>.</a:t>
            </a:r>
            <a:r>
              <a:rPr lang="en-US" dirty="0"/>
              <a:t>”</a:t>
            </a:r>
          </a:p>
          <a:p>
            <a:r>
              <a:rPr lang="en-US" dirty="0"/>
              <a:t>The word you predict will depend on the previous few words in context. Here we need the context of English to predict the word “English.” </a:t>
            </a:r>
          </a:p>
          <a:p>
            <a:endParaRPr lang="en-US" dirty="0"/>
          </a:p>
          <a:p>
            <a:r>
              <a:rPr lang="en-US" dirty="0"/>
              <a:t>Notice </a:t>
            </a:r>
            <a:r>
              <a:rPr lang="en-US" b="1" dirty="0">
                <a:solidFill>
                  <a:srgbClr val="0070C0"/>
                </a:solidFill>
              </a:rPr>
              <a:t>the gap between the relevant information and the point where it's needed. </a:t>
            </a:r>
            <a:r>
              <a:rPr lang="en-US" dirty="0"/>
              <a:t>This is Long-Distance Dependencies </a:t>
            </a:r>
          </a:p>
        </p:txBody>
      </p:sp>
    </p:spTree>
    <p:extLst>
      <p:ext uri="{BB962C8B-B14F-4D97-AF65-F5344CB8AC3E}">
        <p14:creationId xmlns:p14="http://schemas.microsoft.com/office/powerpoint/2010/main" val="1989566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AA057-FB61-4BD3-A72E-9C08CAF00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RNN Variant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776B15-375B-49CD-99DC-FA34E306D0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430887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Gated RNNs</a:t>
            </a:r>
          </a:p>
        </p:txBody>
      </p:sp>
    </p:spTree>
    <p:extLst>
      <p:ext uri="{BB962C8B-B14F-4D97-AF65-F5344CB8AC3E}">
        <p14:creationId xmlns:p14="http://schemas.microsoft.com/office/powerpoint/2010/main" val="24193158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3400" y="346186"/>
            <a:ext cx="5699760" cy="59487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lang="en-US" spc="-4" dirty="0"/>
              <a:t>Gated RNNs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74931" y="1736753"/>
            <a:ext cx="4425669" cy="31770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0A3FEB-3971-4F43-8FFF-235280E4B484}"/>
              </a:ext>
            </a:extLst>
          </p:cNvPr>
          <p:cNvSpPr txBox="1"/>
          <p:nvPr/>
        </p:nvSpPr>
        <p:spPr>
          <a:xfrm>
            <a:off x="381000" y="1152639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70C0"/>
                </a:solidFill>
              </a:rPr>
              <a:t>Help to solve short memory problems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3AB1D27-B46E-402F-B987-F0237A2C9B39}"/>
              </a:ext>
            </a:extLst>
          </p:cNvPr>
          <p:cNvSpPr/>
          <p:nvPr/>
        </p:nvSpPr>
        <p:spPr>
          <a:xfrm>
            <a:off x="5029200" y="2114550"/>
            <a:ext cx="39657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tabLst>
                <a:tab pos="354965" algn="l"/>
                <a:tab pos="355600" algn="l"/>
              </a:tabLst>
            </a:pPr>
            <a:endParaRPr lang="en-US" dirty="0"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en-US" spc="-15" dirty="0">
                <a:cs typeface="Calibri"/>
              </a:rPr>
              <a:t>Gates</a:t>
            </a:r>
            <a:r>
              <a:rPr lang="en-US" spc="15" dirty="0">
                <a:cs typeface="Calibri"/>
              </a:rPr>
              <a:t> </a:t>
            </a:r>
            <a:r>
              <a:rPr lang="en-US" spc="-20" dirty="0">
                <a:cs typeface="Calibri"/>
              </a:rPr>
              <a:t>to</a:t>
            </a:r>
            <a:r>
              <a:rPr lang="en-US" spc="10" dirty="0">
                <a:cs typeface="Calibri"/>
              </a:rPr>
              <a:t> </a:t>
            </a:r>
            <a:r>
              <a:rPr lang="en-US" spc="-15" dirty="0">
                <a:cs typeface="Calibri"/>
              </a:rPr>
              <a:t>control</a:t>
            </a:r>
            <a:r>
              <a:rPr lang="en-US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the</a:t>
            </a:r>
            <a:r>
              <a:rPr lang="en-US" spc="15" dirty="0">
                <a:cs typeface="Calibri"/>
              </a:rPr>
              <a:t> </a:t>
            </a:r>
            <a:r>
              <a:rPr lang="en-US" spc="-15" dirty="0">
                <a:cs typeface="Calibri"/>
              </a:rPr>
              <a:t>information</a:t>
            </a:r>
            <a:r>
              <a:rPr lang="en-US" spc="-10" dirty="0">
                <a:cs typeface="Calibri"/>
              </a:rPr>
              <a:t> flow</a:t>
            </a:r>
            <a:endParaRPr lang="en-US" dirty="0"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64F0B-6190-4426-9687-45E4205DC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2FF43-CC35-4910-B99C-F7CBEE3848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1938992"/>
          </a:xfrm>
        </p:spPr>
        <p:txBody>
          <a:bodyPr/>
          <a:lstStyle/>
          <a:p>
            <a:r>
              <a:rPr lang="en-US" b="1" i="1" dirty="0">
                <a:solidFill>
                  <a:srgbClr val="0070C0"/>
                </a:solidFill>
              </a:rPr>
              <a:t>LSTMs are a special kind of Recurrent Neural Network — capable of learning long-term dependencies by remembering information for long periods is the default behavior.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i="1" dirty="0">
                <a:solidFill>
                  <a:srgbClr val="0070C0"/>
                </a:solidFill>
              </a:rPr>
              <a:t>Just like the traditional RNN, LSTMs also have a </a:t>
            </a:r>
            <a:r>
              <a:rPr lang="en-US" b="1" i="1" dirty="0">
                <a:solidFill>
                  <a:srgbClr val="FF0000"/>
                </a:solidFill>
              </a:rPr>
              <a:t>chain-like structure</a:t>
            </a:r>
            <a:r>
              <a:rPr lang="en-US" b="1" i="1" dirty="0">
                <a:solidFill>
                  <a:srgbClr val="0070C0"/>
                </a:solidFill>
              </a:rPr>
              <a:t>, but the repeating module is a bit different structure.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1054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AF4B3E-B7E8-4082-B63B-1D750E976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519" y="2800350"/>
            <a:ext cx="7467600" cy="225455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9815AF8-09EC-42D9-B645-F80A90916C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" y="971550"/>
            <a:ext cx="7696200" cy="16764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BDF0872D-8667-4CE4-8DBC-DFEC3230620A}"/>
              </a:ext>
            </a:extLst>
          </p:cNvPr>
          <p:cNvSpPr txBox="1">
            <a:spLocks/>
          </p:cNvSpPr>
          <p:nvPr/>
        </p:nvSpPr>
        <p:spPr>
          <a:xfrm>
            <a:off x="362904" y="163068"/>
            <a:ext cx="8418191" cy="604520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r>
              <a:rPr lang="en-US" sz="3800" kern="0" dirty="0">
                <a:solidFill>
                  <a:srgbClr val="002060"/>
                </a:solidFill>
                <a:latin typeface="Corbel" panose="020B0503020204020204" pitchFamily="34" charset="0"/>
              </a:rPr>
              <a:t>LSTM Vs RNN</a:t>
            </a:r>
          </a:p>
        </p:txBody>
      </p:sp>
    </p:spTree>
    <p:extLst>
      <p:ext uri="{BB962C8B-B14F-4D97-AF65-F5344CB8AC3E}">
        <p14:creationId xmlns:p14="http://schemas.microsoft.com/office/powerpoint/2010/main" val="25174236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4F7D4-B2B2-492E-B05A-F10CD9389B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Structure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9781A1-60A9-4992-9042-C84D8A2497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175" y="1504950"/>
            <a:ext cx="5581650" cy="32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1936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97710-78E2-4B4A-B691-84FCB22C5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Gates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9EB02-96FA-4847-B7B6-2C6FF1C80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4" y="1224788"/>
            <a:ext cx="8418191" cy="861774"/>
          </a:xfrm>
        </p:spPr>
        <p:txBody>
          <a:bodyPr/>
          <a:lstStyle/>
          <a:p>
            <a:r>
              <a:rPr lang="en-US" sz="2800" dirty="0"/>
              <a:t>The gates decide which information is allowed on the cell state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EAF069F-2536-4ED1-BEB8-CA5C45E644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086562"/>
            <a:ext cx="5448301" cy="282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5196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25B7C-5F3E-457F-8EFE-14E24008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Gates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6B54D-C557-41DB-9FAC-1B4BDE612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24788"/>
            <a:ext cx="4666296" cy="2215991"/>
          </a:xfrm>
        </p:spPr>
        <p:txBody>
          <a:bodyPr/>
          <a:lstStyle/>
          <a:p>
            <a:r>
              <a:rPr lang="en-US" b="1" dirty="0"/>
              <a:t>The forget gate: </a:t>
            </a:r>
            <a:r>
              <a:rPr lang="en-US" dirty="0"/>
              <a:t>Decide </a:t>
            </a:r>
            <a:r>
              <a:rPr lang="en-US" dirty="0">
                <a:solidFill>
                  <a:srgbClr val="FF0000"/>
                </a:solidFill>
              </a:rPr>
              <a:t>how much past data it should remember. </a:t>
            </a:r>
            <a:r>
              <a:rPr lang="en-US" dirty="0"/>
              <a:t>This is calculated using Sigmoid function, so if the result is </a:t>
            </a:r>
            <a:r>
              <a:rPr lang="en-US" dirty="0">
                <a:solidFill>
                  <a:srgbClr val="FF0000"/>
                </a:solidFill>
              </a:rPr>
              <a:t>mapped to 0</a:t>
            </a:r>
            <a:r>
              <a:rPr lang="en-US" dirty="0"/>
              <a:t>, then it will be deleted.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BD6B73A-A496-4364-90C6-B7E40B2E1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070" y="1123950"/>
            <a:ext cx="3248025" cy="1105711"/>
          </a:xfrm>
          <a:prstGeom prst="rect">
            <a:avLst/>
          </a:prstGeom>
        </p:spPr>
      </p:pic>
      <p:pic>
        <p:nvPicPr>
          <p:cNvPr id="7" name="Picture 2" descr="Image for post">
            <a:extLst>
              <a:ext uri="{FF2B5EF4-FFF2-40B4-BE49-F238E27FC236}">
                <a16:creationId xmlns:a16="http://schemas.microsoft.com/office/drawing/2014/main" id="{3C8E9377-B89D-4C7D-9644-15BAF3D74A4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0711" y="2495550"/>
            <a:ext cx="5362575" cy="24414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0982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25B7C-5F3E-457F-8EFE-14E24008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Gates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6B54D-C557-41DB-9FAC-1B4BDE612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24788"/>
            <a:ext cx="4666296" cy="1384995"/>
          </a:xfrm>
        </p:spPr>
        <p:txBody>
          <a:bodyPr/>
          <a:lstStyle/>
          <a:p>
            <a:r>
              <a:rPr lang="en-US" b="1" dirty="0"/>
              <a:t>The input gate</a:t>
            </a:r>
            <a:r>
              <a:rPr lang="en-US" dirty="0"/>
              <a:t>: Decide </a:t>
            </a:r>
            <a:r>
              <a:rPr lang="en-US" dirty="0">
                <a:solidFill>
                  <a:srgbClr val="FF0000"/>
                </a:solidFill>
              </a:rPr>
              <a:t>how much this unit adds </a:t>
            </a:r>
            <a:r>
              <a:rPr lang="en-US" dirty="0"/>
              <a:t>to the current state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A94C62-18FE-4748-B75C-A12C1CBA0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123950"/>
            <a:ext cx="3362325" cy="1041005"/>
          </a:xfrm>
          <a:prstGeom prst="rect">
            <a:avLst/>
          </a:prstGeom>
        </p:spPr>
      </p:pic>
      <p:pic>
        <p:nvPicPr>
          <p:cNvPr id="5122" name="Picture 2" descr="Image for post">
            <a:extLst>
              <a:ext uri="{FF2B5EF4-FFF2-40B4-BE49-F238E27FC236}">
                <a16:creationId xmlns:a16="http://schemas.microsoft.com/office/drawing/2014/main" id="{113F97C3-8406-4D97-90E1-A427F7E708E7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9268" y="2419350"/>
            <a:ext cx="4642908" cy="2199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6426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78FEA-CC15-4E46-9648-01C601010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Cell</a:t>
            </a:r>
          </a:p>
        </p:txBody>
      </p:sp>
      <p:pic>
        <p:nvPicPr>
          <p:cNvPr id="2052" name="Picture 4" descr="Image for post">
            <a:extLst>
              <a:ext uri="{FF2B5EF4-FFF2-40B4-BE49-F238E27FC236}">
                <a16:creationId xmlns:a16="http://schemas.microsoft.com/office/drawing/2014/main" id="{C1B083CF-280D-4E6A-B71D-B74CE753DE56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962150"/>
            <a:ext cx="5514975" cy="29026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C333E7F-FA49-481F-B231-249EAE9B6CB4}"/>
              </a:ext>
            </a:extLst>
          </p:cNvPr>
          <p:cNvSpPr/>
          <p:nvPr/>
        </p:nvSpPr>
        <p:spPr>
          <a:xfrm>
            <a:off x="228600" y="1276350"/>
            <a:ext cx="8839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The Cell : </a:t>
            </a:r>
            <a:r>
              <a:rPr lang="en-US" dirty="0"/>
              <a:t>The cell state act as a transport highway that </a:t>
            </a:r>
            <a:r>
              <a:rPr lang="en-US" b="1" i="1" dirty="0">
                <a:solidFill>
                  <a:srgbClr val="0070C0"/>
                </a:solidFill>
              </a:rPr>
              <a:t>transfers relative information all the way down the sequence chain</a:t>
            </a:r>
            <a:r>
              <a:rPr lang="en-US" dirty="0"/>
              <a:t>. You can think of it as the “memory” of the network.</a:t>
            </a:r>
          </a:p>
        </p:txBody>
      </p:sp>
    </p:spTree>
    <p:extLst>
      <p:ext uri="{BB962C8B-B14F-4D97-AF65-F5344CB8AC3E}">
        <p14:creationId xmlns:p14="http://schemas.microsoft.com/office/powerpoint/2010/main" val="31423504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25B7C-5F3E-457F-8EFE-14E2400813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LSTM Gates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6B54D-C557-41DB-9FAC-1B4BDE612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2905" y="1224788"/>
            <a:ext cx="4666296" cy="1107996"/>
          </a:xfrm>
        </p:spPr>
        <p:txBody>
          <a:bodyPr/>
          <a:lstStyle/>
          <a:p>
            <a:r>
              <a:rPr lang="en-US" b="1" dirty="0"/>
              <a:t>The output gate: </a:t>
            </a:r>
            <a:r>
              <a:rPr lang="en-US" dirty="0"/>
              <a:t>Decide </a:t>
            </a:r>
            <a:r>
              <a:rPr lang="en-US" dirty="0">
                <a:solidFill>
                  <a:srgbClr val="FF0000"/>
                </a:solidFill>
              </a:rPr>
              <a:t>what part of the current cell state makes it to the output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D5A8392-39A3-4F88-8636-4D9BAF7DD9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312779"/>
            <a:ext cx="3495675" cy="1047484"/>
          </a:xfrm>
          <a:prstGeom prst="rect">
            <a:avLst/>
          </a:prstGeom>
        </p:spPr>
      </p:pic>
      <p:pic>
        <p:nvPicPr>
          <p:cNvPr id="7170" name="Picture 2" descr="Image for post">
            <a:extLst>
              <a:ext uri="{FF2B5EF4-FFF2-40B4-BE49-F238E27FC236}">
                <a16:creationId xmlns:a16="http://schemas.microsoft.com/office/drawing/2014/main" id="{01187779-9A05-4136-9912-7345799C3FA5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339" y="2190750"/>
            <a:ext cx="5362575" cy="2540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170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903" y="1083360"/>
            <a:ext cx="7257097" cy="524503"/>
          </a:xfrm>
          <a:prstGeom prst="rect">
            <a:avLst/>
          </a:prstGeom>
        </p:spPr>
        <p:txBody>
          <a:bodyPr vert="horz" wrap="square" lIns="0" tIns="1536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10"/>
              </a:spcBef>
            </a:pPr>
            <a:r>
              <a:rPr lang="en-US" sz="2400" spc="-15">
                <a:solidFill>
                  <a:srgbClr val="00026A"/>
                </a:solidFill>
                <a:latin typeface="Calibri"/>
                <a:cs typeface="Calibri"/>
              </a:rPr>
              <a:t>RNN</a:t>
            </a:r>
            <a:endParaRPr lang="en-US" sz="2400" spc="-15" dirty="0">
              <a:solidFill>
                <a:srgbClr val="00026A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62904" y="163068"/>
            <a:ext cx="5580696" cy="5975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GB" dirty="0"/>
              <a:t>Python Example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123250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9EB2E9FB630D499918B8F6CAC84B60" ma:contentTypeVersion="3" ma:contentTypeDescription="Create a new document." ma:contentTypeScope="" ma:versionID="4fd7eb3e58b85baec0fd0cf169f544d9">
  <xsd:schema xmlns:xsd="http://www.w3.org/2001/XMLSchema" xmlns:xs="http://www.w3.org/2001/XMLSchema" xmlns:p="http://schemas.microsoft.com/office/2006/metadata/properties" xmlns:ns2="c974d4e5-f305-4feb-a004-2bd06caf3c2b" targetNamespace="http://schemas.microsoft.com/office/2006/metadata/properties" ma:root="true" ma:fieldsID="ff8484fd76a4646b7414ae59c5a5f383" ns2:_="">
    <xsd:import namespace="c974d4e5-f305-4feb-a004-2bd06caf3c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74d4e5-f305-4feb-a004-2bd06caf3c2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ACEE3F0-2536-4EC0-A018-6683E6637B47}"/>
</file>

<file path=customXml/itemProps2.xml><?xml version="1.0" encoding="utf-8"?>
<ds:datastoreItem xmlns:ds="http://schemas.openxmlformats.org/officeDocument/2006/customXml" ds:itemID="{6440AEF6-3BC3-414F-A312-BCCE8F5D6D07}"/>
</file>

<file path=customXml/itemProps3.xml><?xml version="1.0" encoding="utf-8"?>
<ds:datastoreItem xmlns:ds="http://schemas.openxmlformats.org/officeDocument/2006/customXml" ds:itemID="{91825DF0-7696-4018-8E9E-CC8A07025510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1581</TotalTime>
  <Words>701</Words>
  <Application>Microsoft Office PowerPoint</Application>
  <PresentationFormat>On-screen Show (16:9)</PresentationFormat>
  <Paragraphs>107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charter</vt:lpstr>
      <vt:lpstr>Corbel</vt:lpstr>
      <vt:lpstr>Roboto</vt:lpstr>
      <vt:lpstr>Office Theme</vt:lpstr>
      <vt:lpstr>PowerPoint Presentation</vt:lpstr>
      <vt:lpstr>The Neural  Network  Zoo</vt:lpstr>
      <vt:lpstr>Recurrent Neural Networks (RNNs)</vt:lpstr>
      <vt:lpstr>PowerPoint Presentation</vt:lpstr>
      <vt:lpstr>Recurrent Neural Networks (RNNs)</vt:lpstr>
      <vt:lpstr>Recurrent Neural Networks (RNNs)</vt:lpstr>
      <vt:lpstr>Recurrent Neural Networks (RNNs)</vt:lpstr>
      <vt:lpstr>Recurrent Neural Networks (RNNs)</vt:lpstr>
      <vt:lpstr>RNN – mapping sequences</vt:lpstr>
      <vt:lpstr>Applications of RNNs</vt:lpstr>
      <vt:lpstr>Training an RNN</vt:lpstr>
      <vt:lpstr>Training an RNN</vt:lpstr>
      <vt:lpstr>Training an RNN</vt:lpstr>
      <vt:lpstr>Backpropagation Through Time (BPTT)</vt:lpstr>
      <vt:lpstr>Training RNN</vt:lpstr>
      <vt:lpstr>Short Memory Problem</vt:lpstr>
      <vt:lpstr>Short Memory Problem</vt:lpstr>
      <vt:lpstr>RNN Variant</vt:lpstr>
      <vt:lpstr>Gated RNNs</vt:lpstr>
      <vt:lpstr>LSTM</vt:lpstr>
      <vt:lpstr>PowerPoint Presentation</vt:lpstr>
      <vt:lpstr>LSTM Structure</vt:lpstr>
      <vt:lpstr>LSTM Gates</vt:lpstr>
      <vt:lpstr>LSTM Gates</vt:lpstr>
      <vt:lpstr>LSTM Gates</vt:lpstr>
      <vt:lpstr>LSTM Cell</vt:lpstr>
      <vt:lpstr>LSTM Gates</vt:lpstr>
      <vt:lpstr>Python 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 this lesson … Part 1</dc:title>
  <cp:lastModifiedBy>Maha Saadeh</cp:lastModifiedBy>
  <cp:revision>270</cp:revision>
  <dcterms:created xsi:type="dcterms:W3CDTF">2020-12-02T08:32:33Z</dcterms:created>
  <dcterms:modified xsi:type="dcterms:W3CDTF">2026-02-23T06:14:49Z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2020-11-30T00:00:00Z</vt:filetime>
  </property>
  <property fmtid="{D5CDD505-2E9C-101B-9397-08002B2CF9AE}" pid="3" name="LastSaved">
    <vt:filetime>2020-12-02T00:00:00Z</vt:filetime>
  </property>
  <property fmtid="{D5CDD505-2E9C-101B-9397-08002B2CF9AE}" pid="4" name="ContentTypeId">
    <vt:lpwstr>0x0101003A9EB2E9FB630D499918B8F6CAC84B60</vt:lpwstr>
  </property>
</Properties>
</file>