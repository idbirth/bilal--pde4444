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48" r:id="rId2"/>
    <p:sldId id="258" r:id="rId3"/>
    <p:sldId id="259" r:id="rId4"/>
    <p:sldId id="499" r:id="rId5"/>
    <p:sldId id="260" r:id="rId6"/>
    <p:sldId id="424" r:id="rId7"/>
    <p:sldId id="261" r:id="rId8"/>
    <p:sldId id="262" r:id="rId9"/>
    <p:sldId id="497" r:id="rId10"/>
    <p:sldId id="263" r:id="rId11"/>
    <p:sldId id="498" r:id="rId12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B7B"/>
    <a:srgbClr val="FFB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6B5C3-8E3F-452B-B2F5-DA0DE0B0064D}" v="2" dt="2026-02-23T06:02:33.6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58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undo custSel addSld delSld modSld">
      <pc:chgData name="Maha Saadeh" userId="3cb906ed-5449-4556-905f-2231327ddc1a" providerId="ADAL" clId="{454ED7F6-9BA2-4548-88F5-A2FE5F82DAC2}" dt="2026-02-23T06:05:26.712" v="656" actId="20577"/>
      <pc:docMkLst>
        <pc:docMk/>
      </pc:docMkLst>
      <pc:sldChg chg="modSp mod">
        <pc:chgData name="Maha Saadeh" userId="3cb906ed-5449-4556-905f-2231327ddc1a" providerId="ADAL" clId="{454ED7F6-9BA2-4548-88F5-A2FE5F82DAC2}" dt="2026-02-23T06:02:22.268" v="451" actId="5793"/>
        <pc:sldMkLst>
          <pc:docMk/>
          <pc:sldMk cId="0" sldId="260"/>
        </pc:sldMkLst>
        <pc:spChg chg="mod">
          <ac:chgData name="Maha Saadeh" userId="3cb906ed-5449-4556-905f-2231327ddc1a" providerId="ADAL" clId="{454ED7F6-9BA2-4548-88F5-A2FE5F82DAC2}" dt="2026-02-23T06:02:22.268" v="451" actId="5793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">
        <pc:chgData name="Maha Saadeh" userId="3cb906ed-5449-4556-905f-2231327ddc1a" providerId="ADAL" clId="{454ED7F6-9BA2-4548-88F5-A2FE5F82DAC2}" dt="2026-02-22T09:30:26.662" v="449" actId="478"/>
        <pc:sldMkLst>
          <pc:docMk/>
          <pc:sldMk cId="0" sldId="263"/>
        </pc:sldMkLst>
        <pc:spChg chg="add del mod">
          <ac:chgData name="Maha Saadeh" userId="3cb906ed-5449-4556-905f-2231327ddc1a" providerId="ADAL" clId="{454ED7F6-9BA2-4548-88F5-A2FE5F82DAC2}" dt="2026-02-22T09:30:26.662" v="449" actId="478"/>
          <ac:spMkLst>
            <pc:docMk/>
            <pc:sldMk cId="0" sldId="263"/>
            <ac:spMk id="5" creationId="{58EB70F7-81F7-A56C-5F2C-58D97DFBD14C}"/>
          </ac:spMkLst>
        </pc:spChg>
      </pc:sldChg>
      <pc:sldChg chg="modSp add mod">
        <pc:chgData name="Maha Saadeh" userId="3cb906ed-5449-4556-905f-2231327ddc1a" providerId="ADAL" clId="{454ED7F6-9BA2-4548-88F5-A2FE5F82DAC2}" dt="2026-02-12T09:06:13.879" v="426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12T09:06:13.879" v="426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modSp add mod">
        <pc:chgData name="Maha Saadeh" userId="3cb906ed-5449-4556-905f-2231327ddc1a" providerId="ADAL" clId="{454ED7F6-9BA2-4548-88F5-A2FE5F82DAC2}" dt="2026-02-23T06:05:26.712" v="656" actId="20577"/>
        <pc:sldMkLst>
          <pc:docMk/>
          <pc:sldMk cId="2781048189" sldId="498"/>
        </pc:sldMkLst>
        <pc:spChg chg="mod">
          <ac:chgData name="Maha Saadeh" userId="3cb906ed-5449-4556-905f-2231327ddc1a" providerId="ADAL" clId="{454ED7F6-9BA2-4548-88F5-A2FE5F82DAC2}" dt="2026-02-23T06:05:26.712" v="656" actId="20577"/>
          <ac:spMkLst>
            <pc:docMk/>
            <pc:sldMk cId="2781048189" sldId="498"/>
            <ac:spMk id="3" creationId="{AC371A98-C41D-B53E-9748-E40B0F8AD090}"/>
          </ac:spMkLst>
        </pc:spChg>
      </pc:sldChg>
      <pc:sldChg chg="modSp add mod">
        <pc:chgData name="Maha Saadeh" userId="3cb906ed-5449-4556-905f-2231327ddc1a" providerId="ADAL" clId="{454ED7F6-9BA2-4548-88F5-A2FE5F82DAC2}" dt="2026-02-23T06:03:43.517" v="559" actId="20577"/>
        <pc:sldMkLst>
          <pc:docMk/>
          <pc:sldMk cId="455129507" sldId="499"/>
        </pc:sldMkLst>
        <pc:spChg chg="mod">
          <ac:chgData name="Maha Saadeh" userId="3cb906ed-5449-4556-905f-2231327ddc1a" providerId="ADAL" clId="{454ED7F6-9BA2-4548-88F5-A2FE5F82DAC2}" dt="2026-02-23T06:03:43.517" v="559" actId="20577"/>
          <ac:spMkLst>
            <pc:docMk/>
            <pc:sldMk cId="455129507" sldId="499"/>
            <ac:spMk id="3" creationId="{DC2DF04F-EA41-487B-BBA4-B055861D67A1}"/>
          </ac:spMkLst>
        </pc:spChg>
      </pc:sldChg>
      <pc:sldMasterChg chg="delSldLayout">
        <pc:chgData name="Maha Saadeh" userId="3cb906ed-5449-4556-905f-2231327ddc1a" providerId="ADAL" clId="{454ED7F6-9BA2-4548-88F5-A2FE5F82DAC2}" dt="2026-02-16T08:47:47.113" v="431" actId="47"/>
        <pc:sldMasterMkLst>
          <pc:docMk/>
          <pc:sldMasterMk cId="0" sldId="2147483648"/>
        </pc:sldMasterMkLst>
      </pc:sldMasterChg>
    </pc:docChg>
  </pc:docChgLst>
  <pc:docChgLst>
    <pc:chgData name="Maha Saadeh" userId="3cb906ed-5449-4556-905f-2231327ddc1a" providerId="ADAL" clId="{963B9E5A-81D2-4E5B-A529-70FD4E8C9C46}"/>
    <pc:docChg chg="addSld delSld modSld">
      <pc:chgData name="Maha Saadeh" userId="3cb906ed-5449-4556-905f-2231327ddc1a" providerId="ADAL" clId="{963B9E5A-81D2-4E5B-A529-70FD4E8C9C46}" dt="2026-02-20T05:39:55.841" v="119" actId="47"/>
      <pc:docMkLst>
        <pc:docMk/>
      </pc:docMkLst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0" sldId="258"/>
        </pc:sldMkLst>
      </pc:sldChg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0" sldId="259"/>
        </pc:sldMkLst>
      </pc:sldChg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0" sldId="260"/>
        </pc:sldMkLst>
      </pc:sldChg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0" sldId="261"/>
        </pc:sldMkLst>
      </pc:sldChg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0" sldId="262"/>
        </pc:sldMkLst>
      </pc:sldChg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0" sldId="263"/>
        </pc:sldMkLst>
      </pc:sldChg>
      <pc:sldChg chg="modSp mod">
        <pc:chgData name="Maha Saadeh" userId="3cb906ed-5449-4556-905f-2231327ddc1a" providerId="ADAL" clId="{963B9E5A-81D2-4E5B-A529-70FD4E8C9C46}" dt="2026-02-20T05:39:25.601" v="94" actId="20577"/>
        <pc:sldMkLst>
          <pc:docMk/>
          <pc:sldMk cId="741890330" sldId="348"/>
        </pc:sldMkLst>
        <pc:spChg chg="mod">
          <ac:chgData name="Maha Saadeh" userId="3cb906ed-5449-4556-905f-2231327ddc1a" providerId="ADAL" clId="{963B9E5A-81D2-4E5B-A529-70FD4E8C9C46}" dt="2026-02-20T05:39:25.601" v="94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2853866530" sldId="424"/>
        </pc:sldMkLst>
      </pc:sldChg>
      <pc:sldChg chg="add">
        <pc:chgData name="Maha Saadeh" userId="3cb906ed-5449-4556-905f-2231327ddc1a" providerId="ADAL" clId="{963B9E5A-81D2-4E5B-A529-70FD4E8C9C46}" dt="2026-02-20T05:32:53.031" v="0"/>
        <pc:sldMkLst>
          <pc:docMk/>
          <pc:sldMk cId="3848976098" sldId="4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BAC4-41F0-4ADE-8482-0210655DA60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6CE5-7E93-4212-8C77-8741B88A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1905000" y="2800350"/>
            <a:ext cx="5638800" cy="830997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Week 6: Sequence Data Analysis and RNN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Part 1- Understanding Sequence Data</a:t>
            </a:r>
            <a:endParaRPr lang="en-AE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1752600" y="4552950"/>
            <a:ext cx="5638800" cy="369332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1133932"/>
            <a:ext cx="8382000" cy="3748527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04800" indent="-257175">
              <a:spcBef>
                <a:spcPts val="360"/>
              </a:spcBef>
              <a:buFont typeface="Arial"/>
              <a:buChar char="•"/>
              <a:tabLst>
                <a:tab pos="304324" algn="l"/>
                <a:tab pos="304800" algn="l"/>
                <a:tab pos="3603308" algn="l"/>
              </a:tabLst>
            </a:pPr>
            <a:r>
              <a:rPr sz="2400" b="1" i="1" spc="-11" dirty="0">
                <a:solidFill>
                  <a:schemeClr val="tx2"/>
                </a:solidFill>
                <a:latin typeface="Calibri"/>
                <a:cs typeface="Calibri"/>
              </a:rPr>
              <a:t>Ordered</a:t>
            </a:r>
            <a:r>
              <a:rPr sz="2400" b="1" i="1" spc="-4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400" b="1" i="1" spc="-8" dirty="0">
                <a:solidFill>
                  <a:schemeClr val="tx2"/>
                </a:solidFill>
                <a:latin typeface="Calibri"/>
                <a:cs typeface="Calibri"/>
              </a:rPr>
              <a:t>set</a:t>
            </a:r>
            <a:r>
              <a:rPr sz="2400" b="1" i="1" spc="-4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chemeClr val="tx2"/>
                </a:solidFill>
                <a:latin typeface="Calibri"/>
                <a:cs typeface="Calibri"/>
              </a:rPr>
              <a:t>of</a:t>
            </a:r>
            <a:r>
              <a:rPr sz="2400" b="1" i="1" spc="-4" dirty="0">
                <a:solidFill>
                  <a:schemeClr val="tx2"/>
                </a:solidFill>
                <a:latin typeface="Calibri"/>
                <a:cs typeface="Calibri"/>
              </a:rPr>
              <a:t> elements:	</a:t>
            </a:r>
            <a:r>
              <a:rPr sz="2400" b="1" i="1" dirty="0">
                <a:solidFill>
                  <a:schemeClr val="tx2"/>
                </a:solidFill>
                <a:latin typeface="Times New Roman"/>
                <a:cs typeface="Times New Roman"/>
              </a:rPr>
              <a:t>x</a:t>
            </a:r>
            <a:r>
              <a:rPr sz="2400" b="1" i="1" spc="-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chemeClr val="tx2"/>
                </a:solidFill>
                <a:latin typeface="Times New Roman"/>
                <a:cs typeface="Times New Roman"/>
              </a:rPr>
              <a:t>=</a:t>
            </a:r>
            <a:r>
              <a:rPr sz="2400" b="1" i="1" spc="-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b="1" i="1" spc="4" dirty="0">
                <a:solidFill>
                  <a:schemeClr val="tx2"/>
                </a:solidFill>
                <a:latin typeface="Times New Roman"/>
                <a:cs typeface="Times New Roman"/>
              </a:rPr>
              <a:t>x</a:t>
            </a:r>
            <a:r>
              <a:rPr sz="2363" b="1" i="1" spc="5" baseline="-21164" dirty="0">
                <a:solidFill>
                  <a:schemeClr val="tx2"/>
                </a:solidFill>
                <a:latin typeface="Times New Roman"/>
                <a:cs typeface="Times New Roman"/>
              </a:rPr>
              <a:t>1</a:t>
            </a:r>
            <a:r>
              <a:rPr sz="2400" b="1" i="1" spc="4" dirty="0">
                <a:solidFill>
                  <a:schemeClr val="tx2"/>
                </a:solidFill>
                <a:latin typeface="Times New Roman"/>
                <a:cs typeface="Times New Roman"/>
              </a:rPr>
              <a:t>,</a:t>
            </a:r>
            <a:r>
              <a:rPr sz="2400" b="1" i="1" spc="-3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b="1" i="1" spc="4" dirty="0">
                <a:solidFill>
                  <a:schemeClr val="tx2"/>
                </a:solidFill>
                <a:latin typeface="Times New Roman"/>
                <a:cs typeface="Times New Roman"/>
              </a:rPr>
              <a:t>x</a:t>
            </a:r>
            <a:r>
              <a:rPr sz="2363" b="1" i="1" spc="5" baseline="-21164" dirty="0">
                <a:solidFill>
                  <a:schemeClr val="tx2"/>
                </a:solidFill>
                <a:latin typeface="Times New Roman"/>
                <a:cs typeface="Times New Roman"/>
              </a:rPr>
              <a:t>2</a:t>
            </a:r>
            <a:r>
              <a:rPr sz="2400" b="1" i="1" spc="4" dirty="0">
                <a:solidFill>
                  <a:schemeClr val="tx2"/>
                </a:solidFill>
                <a:latin typeface="Times New Roman"/>
                <a:cs typeface="Times New Roman"/>
              </a:rPr>
              <a:t>,…</a:t>
            </a:r>
            <a:r>
              <a:rPr sz="2400" b="1" i="1" spc="-26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b="1" i="1" spc="11" dirty="0" err="1">
                <a:solidFill>
                  <a:schemeClr val="tx2"/>
                </a:solidFill>
                <a:latin typeface="Times New Roman"/>
                <a:cs typeface="Times New Roman"/>
              </a:rPr>
              <a:t>x</a:t>
            </a:r>
            <a:r>
              <a:rPr sz="2363" b="1" i="1" spc="17" baseline="-21164" dirty="0" err="1">
                <a:solidFill>
                  <a:schemeClr val="tx2"/>
                </a:solidFill>
                <a:latin typeface="Times New Roman"/>
                <a:cs typeface="Times New Roman"/>
              </a:rPr>
              <a:t>N</a:t>
            </a:r>
            <a:endParaRPr lang="en-US" sz="2363" b="1" i="1" spc="17" baseline="-21164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304800" indent="-257175">
              <a:spcBef>
                <a:spcPts val="360"/>
              </a:spcBef>
              <a:buFont typeface="Arial"/>
              <a:buChar char="•"/>
              <a:tabLst>
                <a:tab pos="304324" algn="l"/>
                <a:tab pos="304800" algn="l"/>
                <a:tab pos="3603308" algn="l"/>
              </a:tabLst>
            </a:pPr>
            <a:endParaRPr sz="2363" b="1" i="1" baseline="-21164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304800" indent="-257175">
              <a:spcBef>
                <a:spcPts val="289"/>
              </a:spcBef>
              <a:buFont typeface="Arial"/>
              <a:buChar char="•"/>
              <a:tabLst>
                <a:tab pos="304324" algn="l"/>
                <a:tab pos="304800" algn="l"/>
              </a:tabLst>
            </a:pPr>
            <a:r>
              <a:rPr sz="2400" spc="-11" dirty="0">
                <a:latin typeface="Calibri"/>
                <a:cs typeface="Calibri"/>
              </a:rPr>
              <a:t>Each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element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spc="4" dirty="0">
                <a:latin typeface="Times New Roman"/>
                <a:cs typeface="Times New Roman"/>
              </a:rPr>
              <a:t>x</a:t>
            </a:r>
            <a:r>
              <a:rPr sz="2363" i="1" spc="5" baseline="-21164" dirty="0">
                <a:latin typeface="Times New Roman"/>
                <a:cs typeface="Times New Roman"/>
              </a:rPr>
              <a:t>i</a:t>
            </a:r>
            <a:r>
              <a:rPr sz="2363" i="1" spc="197" baseline="-21164" dirty="0">
                <a:latin typeface="Times New Roman"/>
                <a:cs typeface="Times New Roman"/>
              </a:rPr>
              <a:t> </a:t>
            </a:r>
            <a:r>
              <a:rPr sz="2400" spc="-8" dirty="0">
                <a:latin typeface="Calibri"/>
                <a:cs typeface="Calibri"/>
              </a:rPr>
              <a:t>could</a:t>
            </a:r>
            <a:r>
              <a:rPr sz="2400" spc="-4" dirty="0">
                <a:latin typeface="Calibri"/>
                <a:cs typeface="Calibri"/>
              </a:rPr>
              <a:t> be</a:t>
            </a:r>
            <a:endParaRPr sz="2400" dirty="0">
              <a:latin typeface="Calibri"/>
              <a:cs typeface="Calibri"/>
            </a:endParaRPr>
          </a:p>
          <a:p>
            <a:pPr marL="605314" lvl="1" indent="-215265">
              <a:spcBef>
                <a:spcPts val="255"/>
              </a:spcBef>
              <a:buFont typeface="Arial"/>
              <a:buChar char="–"/>
              <a:tabLst>
                <a:tab pos="605790" algn="l"/>
              </a:tabLst>
            </a:pPr>
            <a:r>
              <a:rPr sz="2100" spc="-8" dirty="0">
                <a:latin typeface="Calibri"/>
                <a:cs typeface="Calibri"/>
              </a:rPr>
              <a:t>Numerical</a:t>
            </a:r>
            <a:endParaRPr sz="2100" dirty="0">
              <a:latin typeface="Calibri"/>
              <a:cs typeface="Calibri"/>
            </a:endParaRPr>
          </a:p>
          <a:p>
            <a:pPr marL="605314" lvl="1" indent="-215265">
              <a:lnSpc>
                <a:spcPts val="2396"/>
              </a:lnSpc>
              <a:spcBef>
                <a:spcPts val="281"/>
              </a:spcBef>
              <a:buFont typeface="Arial"/>
              <a:buChar char="–"/>
              <a:tabLst>
                <a:tab pos="605790" algn="l"/>
                <a:tab pos="1998345" algn="l"/>
              </a:tabLst>
            </a:pPr>
            <a:r>
              <a:rPr sz="2100" spc="-11" dirty="0">
                <a:latin typeface="Calibri"/>
                <a:cs typeface="Calibri"/>
              </a:rPr>
              <a:t>Categorical:	</a:t>
            </a:r>
            <a:r>
              <a:rPr sz="2100" spc="-8" dirty="0">
                <a:latin typeface="Calibri"/>
                <a:cs typeface="Calibri"/>
              </a:rPr>
              <a:t>domain</a:t>
            </a:r>
            <a:r>
              <a:rPr sz="2100" spc="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is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 </a:t>
            </a:r>
            <a:r>
              <a:rPr sz="2100" spc="-11" dirty="0">
                <a:latin typeface="Calibri"/>
                <a:cs typeface="Calibri"/>
              </a:rPr>
              <a:t>finite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set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of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symbols</a:t>
            </a:r>
            <a:r>
              <a:rPr sz="2100" spc="41" dirty="0">
                <a:latin typeface="Calibri"/>
                <a:cs typeface="Calibri"/>
              </a:rPr>
              <a:t> </a:t>
            </a:r>
            <a:r>
              <a:rPr sz="2100" spc="-4" dirty="0">
                <a:latin typeface="Symbol"/>
                <a:cs typeface="Symbol"/>
              </a:rPr>
              <a:t></a:t>
            </a:r>
            <a:r>
              <a:rPr sz="2100" spc="-4" dirty="0">
                <a:latin typeface="Calibri"/>
                <a:cs typeface="Calibri"/>
              </a:rPr>
              <a:t>,</a:t>
            </a:r>
            <a:r>
              <a:rPr lang="en-US" sz="2100" spc="-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|</a:t>
            </a:r>
            <a:r>
              <a:rPr sz="2100" spc="-8" dirty="0">
                <a:latin typeface="Symbol"/>
                <a:cs typeface="Symbol"/>
              </a:rPr>
              <a:t></a:t>
            </a:r>
            <a:r>
              <a:rPr sz="2100" spc="-8" dirty="0">
                <a:latin typeface="Calibri"/>
                <a:cs typeface="Calibri"/>
              </a:rPr>
              <a:t>|=m</a:t>
            </a:r>
            <a:endParaRPr sz="2100" dirty="0">
              <a:latin typeface="Calibri"/>
              <a:cs typeface="Calibri"/>
            </a:endParaRPr>
          </a:p>
          <a:p>
            <a:pPr marL="605314" lvl="1" indent="-215265">
              <a:spcBef>
                <a:spcPts val="221"/>
              </a:spcBef>
              <a:buFont typeface="Arial"/>
              <a:buChar char="–"/>
              <a:tabLst>
                <a:tab pos="605790" algn="l"/>
              </a:tabLst>
            </a:pPr>
            <a:r>
              <a:rPr sz="2100" spc="-8" dirty="0">
                <a:latin typeface="Calibri"/>
                <a:cs typeface="Calibri"/>
              </a:rPr>
              <a:t>Multiple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attributes</a:t>
            </a:r>
            <a:endParaRPr lang="en-US" sz="2100" spc="-11" dirty="0">
              <a:latin typeface="Calibri"/>
              <a:cs typeface="Calibri"/>
            </a:endParaRPr>
          </a:p>
          <a:p>
            <a:pPr marL="605314" lvl="1" indent="-215265">
              <a:spcBef>
                <a:spcPts val="221"/>
              </a:spcBef>
              <a:buFont typeface="Arial"/>
              <a:buChar char="–"/>
              <a:tabLst>
                <a:tab pos="605790" algn="l"/>
              </a:tabLst>
            </a:pPr>
            <a:endParaRPr sz="2100" dirty="0">
              <a:latin typeface="Calibri"/>
              <a:cs typeface="Calibri"/>
            </a:endParaRPr>
          </a:p>
          <a:p>
            <a:pPr marL="304800" indent="-257175">
              <a:spcBef>
                <a:spcPts val="285"/>
              </a:spcBef>
              <a:buFont typeface="Arial"/>
              <a:buChar char="•"/>
              <a:tabLst>
                <a:tab pos="304324" algn="l"/>
                <a:tab pos="304800" algn="l"/>
              </a:tabLst>
            </a:pPr>
            <a:r>
              <a:rPr sz="2400" b="1" i="1" spc="-4" dirty="0">
                <a:solidFill>
                  <a:schemeClr val="tx2"/>
                </a:solidFill>
                <a:latin typeface="Calibri"/>
                <a:cs typeface="Calibri"/>
              </a:rPr>
              <a:t>The</a:t>
            </a:r>
            <a:r>
              <a:rPr sz="2400" b="1" i="1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400" b="1" i="1" spc="-8" dirty="0">
                <a:solidFill>
                  <a:schemeClr val="tx2"/>
                </a:solidFill>
                <a:latin typeface="Calibri"/>
                <a:cs typeface="Calibri"/>
              </a:rPr>
              <a:t>length</a:t>
            </a:r>
            <a:r>
              <a:rPr sz="2400" b="1" i="1" spc="19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chemeClr val="tx2"/>
                </a:solidFill>
                <a:latin typeface="Times New Roman"/>
                <a:cs typeface="Times New Roman"/>
              </a:rPr>
              <a:t>N</a:t>
            </a:r>
            <a:r>
              <a:rPr sz="2400" b="1" i="1" spc="-68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chemeClr val="tx2"/>
                </a:solidFill>
                <a:latin typeface="Calibri"/>
                <a:cs typeface="Calibri"/>
              </a:rPr>
              <a:t>of</a:t>
            </a:r>
            <a:r>
              <a:rPr sz="2400" b="1" i="1" spc="-8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chemeClr val="tx2"/>
                </a:solidFill>
                <a:latin typeface="Calibri"/>
                <a:cs typeface="Calibri"/>
              </a:rPr>
              <a:t>a </a:t>
            </a:r>
            <a:r>
              <a:rPr sz="2400" b="1" i="1" spc="-4" dirty="0">
                <a:solidFill>
                  <a:schemeClr val="tx2"/>
                </a:solidFill>
                <a:latin typeface="Calibri"/>
                <a:cs typeface="Calibri"/>
              </a:rPr>
              <a:t>sequence</a:t>
            </a:r>
            <a:r>
              <a:rPr sz="2400" b="1" i="1" spc="-8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400" b="1" i="1" spc="-4" dirty="0">
                <a:solidFill>
                  <a:schemeClr val="tx2"/>
                </a:solidFill>
                <a:latin typeface="Calibri"/>
                <a:cs typeface="Calibri"/>
              </a:rPr>
              <a:t>is</a:t>
            </a:r>
            <a:r>
              <a:rPr sz="2400" b="1" i="1" dirty="0">
                <a:solidFill>
                  <a:schemeClr val="tx2"/>
                </a:solidFill>
                <a:latin typeface="Calibri"/>
                <a:cs typeface="Calibri"/>
              </a:rPr>
              <a:t> not</a:t>
            </a:r>
            <a:r>
              <a:rPr sz="2400" b="1" i="1" spc="-4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400" b="1" i="1" spc="-15" dirty="0">
                <a:solidFill>
                  <a:schemeClr val="tx2"/>
                </a:solidFill>
                <a:latin typeface="Calibri"/>
                <a:cs typeface="Calibri"/>
              </a:rPr>
              <a:t>fixed</a:t>
            </a:r>
            <a:endParaRPr lang="en-US" sz="2400" b="1" i="1" spc="-15" dirty="0">
              <a:solidFill>
                <a:schemeClr val="tx2"/>
              </a:solidFill>
              <a:latin typeface="Calibri"/>
              <a:cs typeface="Calibri"/>
            </a:endParaRPr>
          </a:p>
          <a:p>
            <a:pPr marL="304800" indent="-257175">
              <a:spcBef>
                <a:spcPts val="285"/>
              </a:spcBef>
              <a:buFont typeface="Arial"/>
              <a:buChar char="•"/>
              <a:tabLst>
                <a:tab pos="304324" algn="l"/>
                <a:tab pos="304800" algn="l"/>
              </a:tabLst>
            </a:pPr>
            <a:endParaRPr sz="2400" b="1" i="1" dirty="0">
              <a:solidFill>
                <a:schemeClr val="tx2"/>
              </a:solidFill>
              <a:latin typeface="Calibri"/>
              <a:cs typeface="Calibri"/>
            </a:endParaRPr>
          </a:p>
          <a:p>
            <a:pPr marL="304800" marR="279083" indent="-257175">
              <a:lnSpc>
                <a:spcPts val="2595"/>
              </a:lnSpc>
              <a:spcBef>
                <a:spcPts val="604"/>
              </a:spcBef>
              <a:buFont typeface="Arial"/>
              <a:buChar char="•"/>
              <a:tabLst>
                <a:tab pos="304324" algn="l"/>
                <a:tab pos="30480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209550"/>
            <a:ext cx="5781199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4" dirty="0"/>
              <a:t>What</a:t>
            </a:r>
            <a:r>
              <a:rPr spc="-26" dirty="0"/>
              <a:t> </a:t>
            </a:r>
            <a:r>
              <a:rPr spc="-4" dirty="0"/>
              <a:t>is</a:t>
            </a:r>
            <a:r>
              <a:rPr spc="-15" dirty="0"/>
              <a:t> </a:t>
            </a:r>
            <a:r>
              <a:rPr dirty="0"/>
              <a:t>sequence</a:t>
            </a:r>
            <a:r>
              <a:rPr spc="-38" dirty="0"/>
              <a:t> </a:t>
            </a:r>
            <a:r>
              <a:rPr spc="-15" dirty="0"/>
              <a:t>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89270" y="964363"/>
            <a:ext cx="3326130" cy="640556"/>
            <a:chOff x="4709159" y="1365504"/>
            <a:chExt cx="4434840" cy="854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9993" y="1899143"/>
              <a:ext cx="4414006" cy="3201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9159" y="1365504"/>
              <a:ext cx="4434840" cy="64085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572000" y="3229433"/>
            <a:ext cx="4379119" cy="377190"/>
            <a:chOff x="3258311" y="4128515"/>
            <a:chExt cx="5838825" cy="50292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7455" y="4199200"/>
              <a:ext cx="5817082" cy="4230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62883" y="4133087"/>
              <a:ext cx="5829300" cy="494030"/>
            </a:xfrm>
            <a:custGeom>
              <a:avLst/>
              <a:gdLst/>
              <a:ahLst/>
              <a:cxnLst/>
              <a:rect l="l" t="t" r="r" b="b"/>
              <a:pathLst>
                <a:path w="5829300" h="494029">
                  <a:moveTo>
                    <a:pt x="0" y="0"/>
                  </a:moveTo>
                  <a:lnTo>
                    <a:pt x="5829300" y="0"/>
                  </a:lnTo>
                  <a:lnTo>
                    <a:pt x="5829300" y="493775"/>
                  </a:lnTo>
                  <a:lnTo>
                    <a:pt x="0" y="493775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B8CDE4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8600" y="1079073"/>
            <a:ext cx="4343400" cy="317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indent="-257175">
              <a:spcBef>
                <a:spcPts val="75"/>
              </a:spcBef>
              <a:buFont typeface="Arial"/>
              <a:buChar char="•"/>
              <a:tabLst>
                <a:tab pos="266224" algn="l"/>
                <a:tab pos="266700" algn="l"/>
                <a:tab pos="1100138" algn="l"/>
              </a:tabLst>
            </a:pPr>
            <a:r>
              <a:rPr sz="2000" b="1" i="1" dirty="0">
                <a:solidFill>
                  <a:schemeClr val="tx2"/>
                </a:solidFill>
                <a:latin typeface="Calibri"/>
                <a:cs typeface="Calibri"/>
              </a:rPr>
              <a:t>Speech:</a:t>
            </a:r>
            <a:r>
              <a:rPr sz="2000" dirty="0">
                <a:latin typeface="Calibri"/>
                <a:cs typeface="Calibri"/>
              </a:rPr>
              <a:t>	sequence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of</a:t>
            </a:r>
            <a:r>
              <a:rPr sz="2000" spc="-19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phonemes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642" y="1424358"/>
            <a:ext cx="6491958" cy="1345080"/>
          </a:xfrm>
          <a:prstGeom prst="rect">
            <a:avLst/>
          </a:prstGeom>
        </p:spPr>
        <p:txBody>
          <a:bodyPr vert="horz" wrap="square" lIns="0" tIns="36671" rIns="0" bIns="0" rtlCol="0">
            <a:spAutoFit/>
          </a:bodyPr>
          <a:lstStyle/>
          <a:p>
            <a:pPr marL="266700" indent="-257175">
              <a:spcBef>
                <a:spcPts val="289"/>
              </a:spcBef>
              <a:buFont typeface="Arial"/>
              <a:buChar char="•"/>
              <a:tabLst>
                <a:tab pos="266224" algn="l"/>
                <a:tab pos="266700" algn="l"/>
                <a:tab pos="1312069" algn="l"/>
              </a:tabLst>
            </a:pPr>
            <a:r>
              <a:rPr sz="2000" b="1" i="1" spc="-4" dirty="0">
                <a:solidFill>
                  <a:schemeClr val="tx2"/>
                </a:solidFill>
                <a:latin typeface="Calibri"/>
                <a:cs typeface="Calibri"/>
              </a:rPr>
              <a:t>Language:</a:t>
            </a:r>
            <a:r>
              <a:rPr sz="2000" spc="-4" dirty="0">
                <a:latin typeface="Calibri"/>
                <a:cs typeface="Calibri"/>
              </a:rPr>
              <a:t>	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sequence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of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11" dirty="0">
                <a:latin typeface="Calibri"/>
                <a:cs typeface="Calibri"/>
              </a:rPr>
              <a:t>words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and</a:t>
            </a:r>
            <a:r>
              <a:rPr sz="2000" spc="-8" dirty="0">
                <a:latin typeface="Calibri"/>
                <a:cs typeface="Calibri"/>
              </a:rPr>
              <a:t> delimiters</a:t>
            </a:r>
            <a:endParaRPr sz="2000" dirty="0">
              <a:latin typeface="Calibri"/>
              <a:cs typeface="Calibri"/>
            </a:endParaRPr>
          </a:p>
          <a:p>
            <a:pPr marL="266700" indent="-257175">
              <a:spcBef>
                <a:spcPts val="217"/>
              </a:spcBef>
              <a:buFont typeface="Arial"/>
              <a:buChar char="•"/>
              <a:tabLst>
                <a:tab pos="266224" algn="l"/>
                <a:tab pos="266700" algn="l"/>
                <a:tab pos="1573530" algn="l"/>
              </a:tabLst>
            </a:pPr>
            <a:r>
              <a:rPr sz="2000" b="1" i="1" spc="-4" dirty="0">
                <a:solidFill>
                  <a:schemeClr val="tx2"/>
                </a:solidFill>
                <a:latin typeface="Calibri"/>
                <a:cs typeface="Calibri"/>
              </a:rPr>
              <a:t>Handwriting</a:t>
            </a:r>
            <a:r>
              <a:rPr lang="en-US" sz="2000" b="1" i="1" spc="-4" dirty="0">
                <a:solidFill>
                  <a:schemeClr val="tx2"/>
                </a:solidFill>
                <a:latin typeface="Calibri"/>
                <a:cs typeface="Calibri"/>
              </a:rPr>
              <a:t>: </a:t>
            </a:r>
            <a:r>
              <a:rPr sz="2000" spc="-4" dirty="0">
                <a:latin typeface="Calibri"/>
                <a:cs typeface="Calibri"/>
              </a:rPr>
              <a:t>sequence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of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19" dirty="0">
                <a:latin typeface="Calibri"/>
                <a:cs typeface="Calibri"/>
              </a:rPr>
              <a:t>strokes</a:t>
            </a:r>
            <a:endParaRPr sz="2000" dirty="0">
              <a:latin typeface="Calibri"/>
              <a:cs typeface="Calibri"/>
            </a:endParaRPr>
          </a:p>
          <a:p>
            <a:pPr marL="266700" indent="-257175">
              <a:spcBef>
                <a:spcPts val="214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000" b="1" i="1" spc="-8" dirty="0">
                <a:solidFill>
                  <a:schemeClr val="tx2"/>
                </a:solidFill>
                <a:latin typeface="Calibri"/>
                <a:cs typeface="Calibri"/>
              </a:rPr>
              <a:t>Bioinformatics:</a:t>
            </a:r>
            <a:endParaRPr sz="2000" b="1" i="1" dirty="0">
              <a:solidFill>
                <a:schemeClr val="tx2"/>
              </a:solidFill>
              <a:latin typeface="Calibri"/>
              <a:cs typeface="Calibri"/>
            </a:endParaRPr>
          </a:p>
          <a:p>
            <a:pPr marL="352425">
              <a:spcBef>
                <a:spcPts val="221"/>
              </a:spcBef>
              <a:tabLst>
                <a:tab pos="567214" algn="l"/>
              </a:tabLst>
            </a:pPr>
            <a:r>
              <a:rPr sz="2000" dirty="0">
                <a:latin typeface="Arial"/>
                <a:cs typeface="Arial"/>
              </a:rPr>
              <a:t>–	</a:t>
            </a:r>
            <a:r>
              <a:rPr sz="2000" spc="-4" dirty="0">
                <a:latin typeface="Calibri"/>
                <a:cs typeface="Calibri"/>
              </a:rPr>
              <a:t>Genes: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4" dirty="0">
                <a:latin typeface="Calibri"/>
                <a:cs typeface="Calibri"/>
              </a:rPr>
              <a:t> of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 </a:t>
            </a:r>
            <a:r>
              <a:rPr sz="2000" spc="-4" dirty="0">
                <a:latin typeface="Calibri"/>
                <a:cs typeface="Calibri"/>
              </a:rPr>
              <a:t>possible</a:t>
            </a:r>
            <a:r>
              <a:rPr sz="2000" spc="11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nucleotides,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dirty="0">
                <a:latin typeface="Symbol"/>
                <a:cs typeface="Symbol"/>
              </a:rPr>
              <a:t></a:t>
            </a:r>
            <a:r>
              <a:rPr sz="2000" dirty="0">
                <a:latin typeface="Calibri"/>
                <a:cs typeface="Calibri"/>
              </a:rPr>
              <a:t>|=4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8600" y="2809464"/>
            <a:ext cx="6934200" cy="145873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2425">
              <a:spcBef>
                <a:spcPts val="75"/>
              </a:spcBef>
              <a:tabLst>
                <a:tab pos="567214" algn="l"/>
              </a:tabLst>
            </a:pPr>
            <a:r>
              <a:rPr sz="2000" dirty="0">
                <a:latin typeface="Arial"/>
                <a:cs typeface="Arial"/>
              </a:rPr>
              <a:t>–	</a:t>
            </a:r>
            <a:r>
              <a:rPr sz="2000" spc="-8" dirty="0">
                <a:latin typeface="Calibri"/>
                <a:cs typeface="Calibri"/>
              </a:rPr>
              <a:t>Proteins:</a:t>
            </a:r>
            <a:r>
              <a:rPr sz="2000" spc="1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spc="-4" dirty="0">
                <a:latin typeface="Calibri"/>
                <a:cs typeface="Calibri"/>
              </a:rPr>
              <a:t> possible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amino-acids,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dirty="0">
                <a:latin typeface="Symbol"/>
                <a:cs typeface="Symbol"/>
              </a:rPr>
              <a:t></a:t>
            </a:r>
            <a:r>
              <a:rPr sz="2000" dirty="0">
                <a:latin typeface="Calibri"/>
                <a:cs typeface="Calibri"/>
              </a:rPr>
              <a:t>|=20</a:t>
            </a: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 marL="266700" indent="-257175">
              <a:spcBef>
                <a:spcPts val="1454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000" b="1" i="1" spc="-15" dirty="0">
                <a:latin typeface="Calibri"/>
                <a:cs typeface="Calibri"/>
              </a:rPr>
              <a:t>Telecommunications: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11" dirty="0">
                <a:latin typeface="Calibri"/>
                <a:cs typeface="Calibri"/>
              </a:rPr>
              <a:t>data packets</a:t>
            </a:r>
            <a:endParaRPr sz="2000" dirty="0">
              <a:latin typeface="Calibri"/>
              <a:cs typeface="Calibri"/>
            </a:endParaRPr>
          </a:p>
          <a:p>
            <a:pPr marL="266700" indent="-257175">
              <a:spcBef>
                <a:spcPts val="214"/>
              </a:spcBef>
              <a:buFont typeface="Arial"/>
              <a:buChar char="•"/>
              <a:tabLst>
                <a:tab pos="266224" algn="l"/>
                <a:tab pos="266700" algn="l"/>
                <a:tab pos="2097881" algn="l"/>
                <a:tab pos="4099084" algn="l"/>
              </a:tabLst>
            </a:pPr>
            <a:r>
              <a:rPr sz="2000" b="1" i="1" spc="-11" dirty="0">
                <a:latin typeface="Calibri"/>
                <a:cs typeface="Calibri"/>
              </a:rPr>
              <a:t>Retail</a:t>
            </a:r>
            <a:r>
              <a:rPr sz="2000" b="1" i="1" spc="-23" dirty="0">
                <a:latin typeface="Calibri"/>
                <a:cs typeface="Calibri"/>
              </a:rPr>
              <a:t> </a:t>
            </a:r>
            <a:r>
              <a:rPr sz="2000" b="1" i="1" spc="-11" dirty="0">
                <a:latin typeface="Calibri"/>
                <a:cs typeface="Calibri"/>
              </a:rPr>
              <a:t>data</a:t>
            </a:r>
            <a:r>
              <a:rPr sz="2000" b="1" i="1" spc="-4" dirty="0">
                <a:latin typeface="Calibri"/>
                <a:cs typeface="Calibri"/>
              </a:rPr>
              <a:t>mining:</a:t>
            </a:r>
            <a:r>
              <a:rPr lang="en-US" sz="2000" b="1" i="1" spc="-4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customer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3" dirty="0" err="1">
                <a:latin typeface="Calibri"/>
                <a:cs typeface="Calibri"/>
              </a:rPr>
              <a:t>behaviour</a:t>
            </a:r>
            <a:r>
              <a:rPr sz="2000" spc="-11" dirty="0">
                <a:latin typeface="Calibri"/>
                <a:cs typeface="Calibri"/>
              </a:rPr>
              <a:t>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26969" y="2413052"/>
            <a:ext cx="2964631" cy="317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000" spc="-15" dirty="0">
                <a:solidFill>
                  <a:srgbClr val="943735"/>
                </a:solidFill>
                <a:latin typeface="Calibri"/>
                <a:cs typeface="Calibri"/>
              </a:rPr>
              <a:t>AACTGACCTGGGCCCAATCC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8600" y="225934"/>
            <a:ext cx="6635687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/>
              <a:t>Examples</a:t>
            </a:r>
            <a:r>
              <a:rPr spc="-23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sequence</a:t>
            </a:r>
            <a:r>
              <a:rPr spc="-38" dirty="0"/>
              <a:t> </a:t>
            </a:r>
            <a:r>
              <a:rPr spc="-19" dirty="0"/>
              <a:t>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A5F76-7140-3500-5CF0-932EBF568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332ADA-192A-0E0F-EB32-D1E3A736D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5934"/>
            <a:ext cx="5916192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8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C2DF04F-EA41-487B-BBA4-B055861D67A1}"/>
              </a:ext>
            </a:extLst>
          </p:cNvPr>
          <p:cNvSpPr txBox="1"/>
          <p:nvPr/>
        </p:nvSpPr>
        <p:spPr>
          <a:xfrm>
            <a:off x="304800" y="1119759"/>
            <a:ext cx="8381999" cy="172803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584"/>
              </a:lnSpc>
              <a:spcBef>
                <a:spcPts val="75"/>
              </a:spcBef>
              <a:tabLst>
                <a:tab pos="266224" algn="l"/>
                <a:tab pos="266700" algn="l"/>
              </a:tabLst>
            </a:pPr>
            <a:r>
              <a:rPr lang="en-US" sz="2400" spc="-11" dirty="0">
                <a:latin typeface="Calibri"/>
                <a:cs typeface="Calibri"/>
              </a:rPr>
              <a:t>Two ways for sequence labelling and analysis:</a:t>
            </a:r>
          </a:p>
          <a:p>
            <a:pPr marL="9525">
              <a:lnSpc>
                <a:spcPts val="2584"/>
              </a:lnSpc>
              <a:spcBef>
                <a:spcPts val="75"/>
              </a:spcBef>
              <a:tabLst>
                <a:tab pos="266224" algn="l"/>
                <a:tab pos="266700" algn="l"/>
              </a:tabLst>
            </a:pPr>
            <a:endParaRPr lang="en-US" sz="2400" spc="-11" dirty="0">
              <a:latin typeface="Calibri"/>
              <a:cs typeface="Calibri"/>
            </a:endParaRPr>
          </a:p>
          <a:p>
            <a:pPr marL="352425" indent="-342900">
              <a:lnSpc>
                <a:spcPts val="2584"/>
              </a:lnSpc>
              <a:spcBef>
                <a:spcPts val="75"/>
              </a:spcBef>
              <a:buFont typeface="Arial" panose="020B0604020202020204" pitchFamily="34" charset="0"/>
              <a:buChar char="•"/>
              <a:tabLst>
                <a:tab pos="266224" algn="l"/>
                <a:tab pos="266700" algn="l"/>
              </a:tabLst>
            </a:pPr>
            <a:r>
              <a:rPr sz="2400" spc="-11" dirty="0">
                <a:latin typeface="Calibri"/>
                <a:cs typeface="Calibri"/>
              </a:rPr>
              <a:t>Partial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sequence</a:t>
            </a:r>
            <a:r>
              <a:rPr sz="2400" spc="-8" dirty="0">
                <a:latin typeface="Calibri"/>
                <a:cs typeface="Calibri"/>
              </a:rPr>
              <a:t> classification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9" dirty="0">
                <a:latin typeface="Calibri"/>
                <a:cs typeface="Calibri"/>
              </a:rPr>
              <a:t>(</a:t>
            </a:r>
            <a:r>
              <a:rPr sz="2400" b="1" i="1" spc="-19" dirty="0">
                <a:solidFill>
                  <a:srgbClr val="FFC000"/>
                </a:solidFill>
                <a:latin typeface="Calibri"/>
                <a:cs typeface="Calibri"/>
              </a:rPr>
              <a:t>Tagging</a:t>
            </a:r>
            <a:r>
              <a:rPr sz="2400" spc="-19" dirty="0">
                <a:latin typeface="Calibri"/>
                <a:cs typeface="Calibri"/>
              </a:rPr>
              <a:t>)</a:t>
            </a:r>
            <a:endParaRPr lang="en-US" sz="2400" spc="-19" dirty="0">
              <a:latin typeface="Calibri"/>
              <a:cs typeface="Calibri"/>
            </a:endParaRPr>
          </a:p>
          <a:p>
            <a:pPr marL="352425" indent="-342900">
              <a:lnSpc>
                <a:spcPts val="2584"/>
              </a:lnSpc>
              <a:spcBef>
                <a:spcPts val="75"/>
              </a:spcBef>
              <a:buFont typeface="Arial" panose="020B0604020202020204" pitchFamily="34" charset="0"/>
              <a:buChar char="•"/>
              <a:tabLst>
                <a:tab pos="266224" algn="l"/>
                <a:tab pos="266700" algn="l"/>
              </a:tabLst>
            </a:pPr>
            <a:endParaRPr lang="en-US" sz="2400" spc="-19" dirty="0">
              <a:latin typeface="Calibri"/>
              <a:cs typeface="Calibri"/>
            </a:endParaRPr>
          </a:p>
          <a:p>
            <a:pPr marL="352425" indent="-342900">
              <a:lnSpc>
                <a:spcPts val="2584"/>
              </a:lnSpc>
              <a:spcBef>
                <a:spcPts val="75"/>
              </a:spcBef>
              <a:buFont typeface="Arial" panose="020B0604020202020204" pitchFamily="34" charset="0"/>
              <a:buChar char="•"/>
              <a:tabLst>
                <a:tab pos="266224" algn="l"/>
                <a:tab pos="266700" algn="l"/>
              </a:tabLst>
            </a:pPr>
            <a:r>
              <a:rPr lang="en-US" sz="2400" dirty="0">
                <a:latin typeface="Calibri"/>
                <a:cs typeface="Calibri"/>
              </a:rPr>
              <a:t>Full Sequence Classification (classification)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512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5934"/>
            <a:ext cx="5916192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8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119759"/>
            <a:ext cx="8381999" cy="335918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584"/>
              </a:lnSpc>
              <a:spcBef>
                <a:spcPts val="75"/>
              </a:spcBef>
              <a:tabLst>
                <a:tab pos="266224" algn="l"/>
                <a:tab pos="266700" algn="l"/>
              </a:tabLst>
            </a:pPr>
            <a:r>
              <a:rPr sz="2400" spc="-11" dirty="0">
                <a:latin typeface="Calibri"/>
                <a:cs typeface="Calibri"/>
              </a:rPr>
              <a:t>Partial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sequence</a:t>
            </a:r>
            <a:r>
              <a:rPr sz="2400" spc="-8" dirty="0">
                <a:latin typeface="Calibri"/>
                <a:cs typeface="Calibri"/>
              </a:rPr>
              <a:t> classification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9" dirty="0">
                <a:latin typeface="Calibri"/>
                <a:cs typeface="Calibri"/>
              </a:rPr>
              <a:t>(</a:t>
            </a:r>
            <a:r>
              <a:rPr sz="2400" b="1" i="1" spc="-19" dirty="0">
                <a:solidFill>
                  <a:srgbClr val="FFC000"/>
                </a:solidFill>
                <a:latin typeface="Calibri"/>
                <a:cs typeface="Calibri"/>
              </a:rPr>
              <a:t>Tagging</a:t>
            </a:r>
            <a:r>
              <a:rPr sz="2400" spc="-19" dirty="0">
                <a:latin typeface="Calibri"/>
                <a:cs typeface="Calibri"/>
              </a:rPr>
              <a:t>):</a:t>
            </a:r>
            <a:endParaRPr lang="en-US" sz="2400" spc="-19" dirty="0">
              <a:latin typeface="Calibri"/>
              <a:cs typeface="Calibri"/>
            </a:endParaRPr>
          </a:p>
          <a:p>
            <a:pPr marL="266700" indent="-257175">
              <a:lnSpc>
                <a:spcPts val="2584"/>
              </a:lnSpc>
              <a:spcBef>
                <a:spcPts val="7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endParaRPr sz="2400" dirty="0"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–"/>
              <a:tabLst>
                <a:tab pos="567690" algn="l"/>
              </a:tabLst>
            </a:pPr>
            <a:r>
              <a:rPr lang="en-US" sz="2400" spc="-4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Given:</a:t>
            </a:r>
            <a:endParaRPr sz="2400" dirty="0">
              <a:latin typeface="Calibri"/>
              <a:cs typeface="Calibri"/>
            </a:endParaRPr>
          </a:p>
          <a:p>
            <a:pPr marL="866775" lvl="2" indent="-171450">
              <a:buFont typeface="Arial"/>
              <a:buChar char="•"/>
              <a:tabLst>
                <a:tab pos="866299" algn="l"/>
                <a:tab pos="866775" algn="l"/>
              </a:tabLst>
            </a:pPr>
            <a:r>
              <a:rPr sz="2400" spc="-4" dirty="0">
                <a:latin typeface="Calibri"/>
                <a:cs typeface="Calibri"/>
              </a:rPr>
              <a:t>A </a:t>
            </a:r>
            <a:r>
              <a:rPr sz="2400" spc="-8" dirty="0">
                <a:latin typeface="Calibri"/>
                <a:cs typeface="Calibri"/>
              </a:rPr>
              <a:t>set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spc="-11" dirty="0">
                <a:latin typeface="Calibri"/>
                <a:cs typeface="Calibri"/>
              </a:rPr>
              <a:t>tags</a:t>
            </a:r>
            <a:r>
              <a:rPr sz="2400" spc="-4" dirty="0">
                <a:latin typeface="Calibri"/>
                <a:cs typeface="Calibri"/>
              </a:rPr>
              <a:t> </a:t>
            </a:r>
            <a:endParaRPr sz="2400" dirty="0">
              <a:latin typeface="Calibri"/>
              <a:cs typeface="Calibri"/>
            </a:endParaRPr>
          </a:p>
          <a:p>
            <a:pPr marL="866299" marR="68104" lvl="2" indent="-171450">
              <a:spcBef>
                <a:spcPts val="495"/>
              </a:spcBef>
              <a:buFont typeface="Arial"/>
              <a:buChar char="•"/>
              <a:tabLst>
                <a:tab pos="866299" algn="l"/>
                <a:tab pos="866775" algn="l"/>
              </a:tabLst>
            </a:pPr>
            <a:r>
              <a:rPr sz="2400" spc="-23" dirty="0">
                <a:latin typeface="Calibri"/>
                <a:cs typeface="Calibri"/>
              </a:rPr>
              <a:t>Training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spc="-11" dirty="0">
                <a:latin typeface="Calibri"/>
                <a:cs typeface="Calibri"/>
              </a:rPr>
              <a:t>examples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sequences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showing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1" dirty="0">
                <a:latin typeface="Calibri"/>
                <a:cs typeface="Calibri"/>
              </a:rPr>
              <a:t>breakup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the </a:t>
            </a:r>
            <a:r>
              <a:rPr sz="2400" spc="-360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sequence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into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the</a:t>
            </a:r>
            <a:r>
              <a:rPr sz="2400" spc="11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set</a:t>
            </a:r>
            <a:r>
              <a:rPr sz="2400" dirty="0">
                <a:latin typeface="Calibri"/>
                <a:cs typeface="Calibri"/>
              </a:rPr>
              <a:t> of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11" dirty="0">
                <a:latin typeface="Calibri"/>
                <a:cs typeface="Calibri"/>
              </a:rPr>
              <a:t>tags</a:t>
            </a:r>
            <a:endParaRPr lang="en-US" sz="2400" spc="-11" dirty="0">
              <a:latin typeface="Calibri"/>
              <a:cs typeface="Calibri"/>
            </a:endParaRPr>
          </a:p>
          <a:p>
            <a:pPr marL="866299" marR="68104" lvl="2" indent="-171450">
              <a:lnSpc>
                <a:spcPct val="70000"/>
              </a:lnSpc>
              <a:spcBef>
                <a:spcPts val="495"/>
              </a:spcBef>
              <a:buFont typeface="Arial"/>
              <a:buChar char="•"/>
              <a:tabLst>
                <a:tab pos="866299" algn="l"/>
                <a:tab pos="866775" algn="l"/>
              </a:tabLst>
            </a:pPr>
            <a:endParaRPr sz="2400" dirty="0">
              <a:latin typeface="Calibri"/>
              <a:cs typeface="Calibri"/>
            </a:endParaRPr>
          </a:p>
          <a:p>
            <a:pPr marL="567214" lvl="1" indent="-215265">
              <a:lnSpc>
                <a:spcPts val="1984"/>
              </a:lnSpc>
              <a:buFont typeface="Arial"/>
              <a:buChar char="–"/>
              <a:tabLst>
                <a:tab pos="567690" algn="l"/>
              </a:tabLst>
            </a:pP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70C0"/>
                </a:solidFill>
                <a:latin typeface="Calibri"/>
                <a:cs typeface="Calibri"/>
              </a:rPr>
              <a:t>Learn</a:t>
            </a:r>
            <a:r>
              <a:rPr sz="2400" b="1" i="1" spc="-1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i="1" spc="-11" dirty="0">
                <a:solidFill>
                  <a:srgbClr val="0070C0"/>
                </a:solidFill>
                <a:latin typeface="Calibri"/>
                <a:cs typeface="Calibri"/>
              </a:rPr>
              <a:t>to</a:t>
            </a:r>
            <a:r>
              <a:rPr sz="2400" b="1" i="1" spc="-8" dirty="0">
                <a:solidFill>
                  <a:srgbClr val="0070C0"/>
                </a:solidFill>
                <a:latin typeface="Calibri"/>
                <a:cs typeface="Calibri"/>
              </a:rPr>
              <a:t> breakup</a:t>
            </a:r>
            <a:r>
              <a:rPr sz="2400" b="1" i="1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400" b="1" i="1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70C0"/>
                </a:solidFill>
                <a:latin typeface="Calibri"/>
                <a:cs typeface="Calibri"/>
              </a:rPr>
              <a:t>sequence</a:t>
            </a:r>
            <a:r>
              <a:rPr sz="2400" b="1" i="1" spc="-4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i="1" spc="-11" dirty="0">
                <a:solidFill>
                  <a:srgbClr val="0070C0"/>
                </a:solidFill>
                <a:latin typeface="Calibri"/>
                <a:cs typeface="Calibri"/>
              </a:rPr>
              <a:t>into</a:t>
            </a:r>
            <a:r>
              <a:rPr sz="2400" b="1" i="1" spc="-8" dirty="0">
                <a:solidFill>
                  <a:srgbClr val="0070C0"/>
                </a:solidFill>
                <a:latin typeface="Calibri"/>
                <a:cs typeface="Calibri"/>
              </a:rPr>
              <a:t> tags</a:t>
            </a:r>
            <a:endParaRPr lang="en-US" sz="2400" b="1" i="1" spc="-8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567214" lvl="1" indent="-215265">
              <a:lnSpc>
                <a:spcPts val="1984"/>
              </a:lnSpc>
              <a:buFont typeface="Arial"/>
              <a:buChar char="–"/>
              <a:tabLst>
                <a:tab pos="567690" algn="l"/>
              </a:tabLst>
            </a:pPr>
            <a:endParaRPr sz="2400" dirty="0">
              <a:latin typeface="Calibri"/>
              <a:cs typeface="Calibri"/>
            </a:endParaRPr>
          </a:p>
          <a:p>
            <a:pPr marL="567214" lvl="1" indent="-215265">
              <a:lnSpc>
                <a:spcPts val="2224"/>
              </a:lnSpc>
              <a:buFont typeface="Arial"/>
              <a:buChar char="–"/>
              <a:tabLst>
                <a:tab pos="567690" algn="l"/>
              </a:tabLst>
            </a:pPr>
            <a:r>
              <a:rPr lang="en-US" sz="2400" spc="-4" dirty="0">
                <a:latin typeface="Calibri"/>
                <a:cs typeface="Calibri"/>
              </a:rPr>
              <a:t> C</a:t>
            </a:r>
            <a:r>
              <a:rPr sz="2400" spc="-4" dirty="0">
                <a:latin typeface="Calibri"/>
                <a:cs typeface="Calibri"/>
              </a:rPr>
              <a:t>lassification</a:t>
            </a:r>
            <a:r>
              <a:rPr sz="2400" spc="-23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of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11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sequences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5934"/>
            <a:ext cx="5916192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8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119759"/>
            <a:ext cx="8686799" cy="2659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indent="-257175">
              <a:spcBef>
                <a:spcPts val="199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800" b="1" i="1" spc="-8" dirty="0">
                <a:solidFill>
                  <a:srgbClr val="FFC000"/>
                </a:solidFill>
                <a:latin typeface="Calibri"/>
                <a:cs typeface="Calibri"/>
              </a:rPr>
              <a:t>Examples:</a:t>
            </a:r>
            <a:endParaRPr sz="2800" b="1" i="1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–"/>
              <a:tabLst>
                <a:tab pos="567690" algn="l"/>
              </a:tabLst>
            </a:pPr>
            <a:r>
              <a:rPr lang="en-US" sz="2800" spc="-49" dirty="0">
                <a:latin typeface="Calibri"/>
                <a:cs typeface="Calibri"/>
              </a:rPr>
              <a:t> </a:t>
            </a:r>
            <a:r>
              <a:rPr sz="2800" b="1" i="1" spc="-49" dirty="0">
                <a:solidFill>
                  <a:srgbClr val="0070C0"/>
                </a:solidFill>
                <a:latin typeface="Calibri"/>
                <a:cs typeface="Calibri"/>
              </a:rPr>
              <a:t>Text</a:t>
            </a:r>
            <a:r>
              <a:rPr sz="2800" b="1" i="1" spc="-3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i="1" spc="-8" dirty="0">
                <a:solidFill>
                  <a:srgbClr val="0070C0"/>
                </a:solidFill>
                <a:latin typeface="Calibri"/>
                <a:cs typeface="Calibri"/>
              </a:rPr>
              <a:t>segmentation</a:t>
            </a:r>
            <a:endParaRPr sz="2800" b="1" i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866299" marR="3810" lvl="2" indent="-171450">
              <a:spcBef>
                <a:spcPts val="495"/>
              </a:spcBef>
              <a:buFont typeface="Arial"/>
              <a:buChar char="•"/>
              <a:tabLst>
                <a:tab pos="866299" algn="l"/>
                <a:tab pos="866775" algn="l"/>
              </a:tabLst>
            </a:pPr>
            <a:r>
              <a:rPr sz="2800" spc="-8" dirty="0">
                <a:latin typeface="Calibri"/>
                <a:cs typeface="Calibri"/>
              </a:rPr>
              <a:t>Break </a:t>
            </a:r>
            <a:r>
              <a:rPr sz="2800" spc="-4" dirty="0">
                <a:latin typeface="Calibri"/>
                <a:cs typeface="Calibri"/>
              </a:rPr>
              <a:t>sequence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spc="-11" dirty="0">
                <a:latin typeface="Calibri"/>
                <a:cs typeface="Calibri"/>
              </a:rPr>
              <a:t>words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8" dirty="0">
                <a:latin typeface="Calibri"/>
                <a:cs typeface="Calibri"/>
              </a:rPr>
              <a:t>forming</a:t>
            </a:r>
            <a:r>
              <a:rPr sz="2800" spc="8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an</a:t>
            </a:r>
            <a:r>
              <a:rPr sz="2800" spc="-8" dirty="0">
                <a:latin typeface="Calibri"/>
                <a:cs typeface="Calibri"/>
              </a:rPr>
              <a:t> address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8" dirty="0">
                <a:latin typeface="Calibri"/>
                <a:cs typeface="Calibri"/>
              </a:rPr>
              <a:t>string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into</a:t>
            </a:r>
            <a:r>
              <a:rPr sz="2800" spc="8" dirty="0">
                <a:latin typeface="Calibri"/>
                <a:cs typeface="Calibri"/>
              </a:rPr>
              <a:t> </a:t>
            </a:r>
            <a:r>
              <a:rPr sz="2800" spc="-8" dirty="0">
                <a:latin typeface="Calibri"/>
                <a:cs typeface="Calibri"/>
              </a:rPr>
              <a:t>sub-</a:t>
            </a:r>
            <a:r>
              <a:rPr sz="2800" spc="-4" dirty="0">
                <a:latin typeface="Calibri"/>
                <a:cs typeface="Calibri"/>
              </a:rPr>
              <a:t>parts</a:t>
            </a:r>
            <a:r>
              <a:rPr sz="2800" spc="-8" dirty="0">
                <a:latin typeface="Calibri"/>
                <a:cs typeface="Calibri"/>
              </a:rPr>
              <a:t> </a:t>
            </a:r>
            <a:r>
              <a:rPr sz="2800" spc="-19" dirty="0">
                <a:latin typeface="Calibri"/>
                <a:cs typeface="Calibri"/>
              </a:rPr>
              <a:t>like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spc="-11" dirty="0">
                <a:latin typeface="Calibri"/>
                <a:cs typeface="Calibri"/>
              </a:rPr>
              <a:t>Road,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City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name,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spc="-11" dirty="0"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–"/>
              <a:tabLst>
                <a:tab pos="567690" algn="l"/>
              </a:tabLst>
            </a:pPr>
            <a:r>
              <a:rPr sz="2800" b="1" i="1" spc="-4" dirty="0">
                <a:solidFill>
                  <a:srgbClr val="0070C0"/>
                </a:solidFill>
                <a:latin typeface="Calibri"/>
                <a:cs typeface="Calibri"/>
              </a:rPr>
              <a:t>Continuous</a:t>
            </a:r>
            <a:r>
              <a:rPr sz="2800" b="1" i="1" spc="-2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i="1" spc="-4" dirty="0">
                <a:solidFill>
                  <a:srgbClr val="0070C0"/>
                </a:solidFill>
                <a:latin typeface="Calibri"/>
                <a:cs typeface="Calibri"/>
              </a:rPr>
              <a:t>speech</a:t>
            </a:r>
            <a:r>
              <a:rPr sz="2800" b="1" i="1" spc="-3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i="1" spc="-8" dirty="0">
                <a:solidFill>
                  <a:srgbClr val="0070C0"/>
                </a:solidFill>
                <a:latin typeface="Calibri"/>
                <a:cs typeface="Calibri"/>
              </a:rPr>
              <a:t>recognition</a:t>
            </a:r>
            <a:endParaRPr sz="2800" b="1" i="1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866775" lvl="2" indent="-171450">
              <a:buFont typeface="Arial"/>
              <a:buChar char="•"/>
              <a:tabLst>
                <a:tab pos="866299" algn="l"/>
                <a:tab pos="866775" algn="l"/>
              </a:tabLst>
            </a:pPr>
            <a:r>
              <a:rPr sz="2800" spc="-8" dirty="0">
                <a:latin typeface="Calibri"/>
                <a:cs typeface="Calibri"/>
              </a:rPr>
              <a:t>Identify</a:t>
            </a:r>
            <a:r>
              <a:rPr sz="2800" spc="11" dirty="0">
                <a:latin typeface="Calibri"/>
                <a:cs typeface="Calibri"/>
              </a:rPr>
              <a:t> </a:t>
            </a:r>
            <a:r>
              <a:rPr sz="2800" spc="-11" dirty="0">
                <a:latin typeface="Calibri"/>
                <a:cs typeface="Calibri"/>
              </a:rPr>
              <a:t>words</a:t>
            </a:r>
            <a:r>
              <a:rPr sz="2800" spc="-8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in</a:t>
            </a:r>
            <a:r>
              <a:rPr sz="2800" spc="-11" dirty="0">
                <a:latin typeface="Calibri"/>
                <a:cs typeface="Calibri"/>
              </a:rPr>
              <a:t> </a:t>
            </a:r>
            <a:r>
              <a:rPr sz="2800" spc="-8" dirty="0">
                <a:latin typeface="Calibri"/>
                <a:cs typeface="Calibri"/>
              </a:rPr>
              <a:t>continuous</a:t>
            </a:r>
            <a:r>
              <a:rPr sz="2800" spc="-4" dirty="0">
                <a:latin typeface="Calibri"/>
                <a:cs typeface="Calibri"/>
              </a:rPr>
              <a:t> speech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86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1848672"/>
            <a:ext cx="7391400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  <a:tabLst>
                <a:tab pos="2982278" algn="l"/>
              </a:tabLst>
            </a:pPr>
            <a:r>
              <a:rPr spc="-4" dirty="0">
                <a:latin typeface="Verdana"/>
                <a:cs typeface="Verdana"/>
              </a:rPr>
              <a:t>4089</a:t>
            </a:r>
            <a:r>
              <a:rPr spc="-11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Whispering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Pines</a:t>
            </a:r>
            <a:r>
              <a:rPr spc="-11" dirty="0">
                <a:latin typeface="Verdana"/>
                <a:cs typeface="Verdana"/>
              </a:rPr>
              <a:t> </a:t>
            </a:r>
            <a:r>
              <a:rPr spc="-4" dirty="0">
                <a:latin typeface="Verdana"/>
                <a:cs typeface="Verdana"/>
              </a:rPr>
              <a:t>Nobel</a:t>
            </a:r>
            <a:r>
              <a:rPr spc="8" dirty="0">
                <a:latin typeface="Verdana"/>
                <a:cs typeface="Verdana"/>
              </a:rPr>
              <a:t> </a:t>
            </a:r>
            <a:r>
              <a:rPr spc="-4" dirty="0">
                <a:latin typeface="Verdana"/>
                <a:cs typeface="Verdana"/>
              </a:rPr>
              <a:t>Drive</a:t>
            </a:r>
            <a:r>
              <a:rPr lang="en-US" spc="-4" dirty="0">
                <a:latin typeface="Verdana"/>
                <a:cs typeface="Verdana"/>
              </a:rPr>
              <a:t> </a:t>
            </a:r>
            <a:r>
              <a:rPr spc="-4" dirty="0">
                <a:latin typeface="Verdana"/>
                <a:cs typeface="Verdana"/>
              </a:rPr>
              <a:t>San</a:t>
            </a:r>
            <a:r>
              <a:rPr spc="-11" dirty="0">
                <a:latin typeface="Verdana"/>
                <a:cs typeface="Verdana"/>
              </a:rPr>
              <a:t> </a:t>
            </a:r>
            <a:r>
              <a:rPr spc="-4" dirty="0">
                <a:latin typeface="Verdana"/>
                <a:cs typeface="Verdana"/>
              </a:rPr>
              <a:t>Diego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CA</a:t>
            </a:r>
            <a:r>
              <a:rPr spc="-11" dirty="0">
                <a:latin typeface="Verdana"/>
                <a:cs typeface="Verdana"/>
              </a:rPr>
              <a:t> </a:t>
            </a:r>
            <a:r>
              <a:rPr spc="-4" dirty="0">
                <a:latin typeface="Verdana"/>
                <a:cs typeface="Verdana"/>
              </a:rPr>
              <a:t>92122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225934"/>
            <a:ext cx="5839992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0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800" y="2598038"/>
            <a:ext cx="7543800" cy="11176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-70" dirty="0" err="1">
                <a:latin typeface="Verdana"/>
                <a:cs typeface="Verdana"/>
              </a:rPr>
              <a:t>P.P.Wangikar</a:t>
            </a:r>
            <a:r>
              <a:rPr lang="en-US" spc="-70" dirty="0">
                <a:latin typeface="Verdana"/>
                <a:cs typeface="Verdana"/>
              </a:rPr>
              <a:t>,</a:t>
            </a:r>
            <a:r>
              <a:rPr lang="en-US" spc="-35" dirty="0">
                <a:latin typeface="Verdana"/>
                <a:cs typeface="Verdana"/>
              </a:rPr>
              <a:t> </a:t>
            </a:r>
            <a:r>
              <a:rPr lang="en-US" spc="-135" dirty="0">
                <a:latin typeface="Verdana"/>
                <a:cs typeface="Verdana"/>
              </a:rPr>
              <a:t>T.P.</a:t>
            </a:r>
            <a:r>
              <a:rPr lang="en-US" spc="-10" dirty="0">
                <a:latin typeface="Verdana"/>
                <a:cs typeface="Verdana"/>
              </a:rPr>
              <a:t> </a:t>
            </a:r>
            <a:r>
              <a:rPr lang="en-US" spc="-45" dirty="0" err="1">
                <a:latin typeface="Verdana"/>
                <a:cs typeface="Verdana"/>
              </a:rPr>
              <a:t>Graycar</a:t>
            </a:r>
            <a:r>
              <a:rPr lang="en-US" spc="-45" dirty="0">
                <a:latin typeface="Verdana"/>
                <a:cs typeface="Verdana"/>
              </a:rPr>
              <a:t>,</a:t>
            </a:r>
            <a:r>
              <a:rPr lang="en-US" spc="-15" dirty="0">
                <a:latin typeface="Verdana"/>
                <a:cs typeface="Verdana"/>
              </a:rPr>
              <a:t> </a:t>
            </a:r>
            <a:r>
              <a:rPr lang="en-US" spc="-10" dirty="0">
                <a:latin typeface="Verdana"/>
                <a:cs typeface="Verdana"/>
              </a:rPr>
              <a:t>D.A.</a:t>
            </a:r>
            <a:r>
              <a:rPr lang="en-US" spc="-35" dirty="0">
                <a:latin typeface="Verdana"/>
                <a:cs typeface="Verdana"/>
              </a:rPr>
              <a:t> </a:t>
            </a:r>
            <a:r>
              <a:rPr lang="en-US" dirty="0">
                <a:latin typeface="Verdana"/>
                <a:cs typeface="Verdana"/>
              </a:rPr>
              <a:t>Estell, </a:t>
            </a:r>
            <a:r>
              <a:rPr lang="en-US" spc="-15" dirty="0">
                <a:latin typeface="Verdana"/>
                <a:cs typeface="Verdana"/>
              </a:rPr>
              <a:t>D.S.</a:t>
            </a:r>
            <a:r>
              <a:rPr lang="en-US" spc="-30" dirty="0">
                <a:latin typeface="Verdana"/>
                <a:cs typeface="Verdana"/>
              </a:rPr>
              <a:t> </a:t>
            </a:r>
            <a:r>
              <a:rPr lang="en-US" dirty="0">
                <a:latin typeface="Verdana"/>
                <a:cs typeface="Verdana"/>
              </a:rPr>
              <a:t>Clark,</a:t>
            </a:r>
            <a:r>
              <a:rPr lang="en-US" spc="-20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J.S.</a:t>
            </a:r>
            <a:r>
              <a:rPr lang="en-US" spc="-50" dirty="0">
                <a:latin typeface="Verdana"/>
                <a:cs typeface="Verdana"/>
              </a:rPr>
              <a:t> </a:t>
            </a:r>
            <a:r>
              <a:rPr lang="en-US" dirty="0" err="1">
                <a:latin typeface="Verdana"/>
                <a:cs typeface="Verdana"/>
              </a:rPr>
              <a:t>Dordick</a:t>
            </a:r>
            <a:r>
              <a:rPr lang="en-US" dirty="0">
                <a:latin typeface="Verdana"/>
                <a:cs typeface="Verdana"/>
              </a:rPr>
              <a:t> </a:t>
            </a:r>
            <a:r>
              <a:rPr lang="en-US" spc="-620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(1993)</a:t>
            </a:r>
            <a:r>
              <a:rPr lang="en-US" spc="40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Protein</a:t>
            </a:r>
            <a:r>
              <a:rPr lang="en-US" spc="5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and</a:t>
            </a:r>
            <a:r>
              <a:rPr lang="en-US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Solvent</a:t>
            </a:r>
            <a:r>
              <a:rPr lang="en-US" spc="-10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Engineering</a:t>
            </a:r>
            <a:r>
              <a:rPr lang="en-US" spc="10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of</a:t>
            </a:r>
            <a:r>
              <a:rPr lang="en-US" spc="10" dirty="0">
                <a:latin typeface="Verdana"/>
                <a:cs typeface="Verdana"/>
              </a:rPr>
              <a:t> </a:t>
            </a:r>
            <a:r>
              <a:rPr lang="en-US" dirty="0" err="1">
                <a:latin typeface="Verdana"/>
                <a:cs typeface="Verdana"/>
              </a:rPr>
              <a:t>Subtilising</a:t>
            </a:r>
            <a:r>
              <a:rPr lang="en-US" spc="-15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BPN'</a:t>
            </a:r>
            <a:r>
              <a:rPr lang="en-US" spc="25" dirty="0">
                <a:latin typeface="Verdana"/>
                <a:cs typeface="Verdana"/>
              </a:rPr>
              <a:t> </a:t>
            </a:r>
            <a:r>
              <a:rPr lang="en-US" spc="5" dirty="0">
                <a:latin typeface="Verdana"/>
                <a:cs typeface="Verdana"/>
              </a:rPr>
              <a:t>in </a:t>
            </a:r>
            <a:r>
              <a:rPr lang="en-US" spc="10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Nearly</a:t>
            </a:r>
            <a:r>
              <a:rPr lang="en-US" spc="5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Anhydrous</a:t>
            </a:r>
            <a:r>
              <a:rPr lang="en-US" spc="-25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Organic</a:t>
            </a:r>
            <a:r>
              <a:rPr lang="en-US" spc="-15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Media</a:t>
            </a:r>
            <a:r>
              <a:rPr lang="en-US" spc="15" dirty="0">
                <a:latin typeface="Verdana"/>
                <a:cs typeface="Verdana"/>
              </a:rPr>
              <a:t> </a:t>
            </a:r>
            <a:r>
              <a:rPr lang="en-US" spc="-40" dirty="0" err="1">
                <a:latin typeface="Verdana"/>
                <a:cs typeface="Verdana"/>
              </a:rPr>
              <a:t>J.Amer</a:t>
            </a:r>
            <a:r>
              <a:rPr lang="en-US" spc="-40" dirty="0">
                <a:latin typeface="Verdana"/>
                <a:cs typeface="Verdana"/>
              </a:rPr>
              <a:t>. </a:t>
            </a:r>
            <a:r>
              <a:rPr lang="en-US" spc="-5" dirty="0">
                <a:latin typeface="Verdana"/>
                <a:cs typeface="Verdana"/>
              </a:rPr>
              <a:t>Chem.</a:t>
            </a:r>
            <a:r>
              <a:rPr lang="en-US" spc="5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Soc.</a:t>
            </a:r>
            <a:r>
              <a:rPr lang="en-US" spc="-15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115, </a:t>
            </a:r>
            <a:r>
              <a:rPr lang="en-US" dirty="0">
                <a:latin typeface="Verdana"/>
                <a:cs typeface="Verdana"/>
              </a:rPr>
              <a:t> </a:t>
            </a:r>
            <a:r>
              <a:rPr lang="en-US" spc="-5" dirty="0">
                <a:latin typeface="Verdana"/>
                <a:cs typeface="Verdana"/>
              </a:rPr>
              <a:t>12231-12237.</a:t>
            </a:r>
            <a:endParaRPr lang="en-US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428" y="1085626"/>
            <a:ext cx="4956372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i="1" spc="-11" dirty="0">
                <a:solidFill>
                  <a:srgbClr val="FFC000"/>
                </a:solidFill>
                <a:latin typeface="Calibri"/>
                <a:cs typeface="Calibri"/>
              </a:rPr>
              <a:t>Example:</a:t>
            </a:r>
            <a:r>
              <a:rPr sz="2100" b="1" i="1" spc="-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Addresses,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bib</a:t>
            </a:r>
            <a:r>
              <a:rPr lang="en-US" sz="2100" spc="-8" dirty="0">
                <a:latin typeface="Calibri"/>
                <a:cs typeface="Calibri"/>
              </a:rPr>
              <a:t>liography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records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2" y="225934"/>
            <a:ext cx="5763790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8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3" name="object 3"/>
          <p:cNvSpPr/>
          <p:nvPr/>
        </p:nvSpPr>
        <p:spPr>
          <a:xfrm>
            <a:off x="4008500" y="2494789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5031485" y="2522220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5958458" y="2519935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6230492" y="2533650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2571750" y="2478786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2116454" y="2731540"/>
            <a:ext cx="4678680" cy="20630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  <a:tabLst>
                <a:tab pos="2982278" algn="l"/>
              </a:tabLst>
            </a:pPr>
            <a:r>
              <a:rPr sz="1275" spc="-4" dirty="0">
                <a:latin typeface="Verdana"/>
                <a:cs typeface="Verdana"/>
              </a:rPr>
              <a:t>4089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dirty="0">
                <a:latin typeface="Verdana"/>
                <a:cs typeface="Verdana"/>
              </a:rPr>
              <a:t>Whispering</a:t>
            </a:r>
            <a:r>
              <a:rPr sz="1275" spc="-15" dirty="0">
                <a:latin typeface="Verdana"/>
                <a:cs typeface="Verdana"/>
              </a:rPr>
              <a:t> </a:t>
            </a:r>
            <a:r>
              <a:rPr sz="1275" dirty="0">
                <a:latin typeface="Verdana"/>
                <a:cs typeface="Verdana"/>
              </a:rPr>
              <a:t>Pines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Nobel</a:t>
            </a:r>
            <a:r>
              <a:rPr sz="1275" spc="8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Drive	San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Diego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dirty="0">
                <a:latin typeface="Verdana"/>
                <a:cs typeface="Verdana"/>
              </a:rPr>
              <a:t>CA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92122</a:t>
            </a:r>
            <a:endParaRPr sz="1275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7662" y="2196466"/>
            <a:ext cx="685800" cy="557689"/>
          </a:xfrm>
          <a:custGeom>
            <a:avLst/>
            <a:gdLst/>
            <a:ahLst/>
            <a:cxnLst/>
            <a:rect l="l" t="t" r="r" b="b"/>
            <a:pathLst>
              <a:path w="914400" h="743585">
                <a:moveTo>
                  <a:pt x="914400" y="0"/>
                </a:moveTo>
                <a:lnTo>
                  <a:pt x="0" y="0"/>
                </a:lnTo>
                <a:lnTo>
                  <a:pt x="0" y="641604"/>
                </a:lnTo>
                <a:lnTo>
                  <a:pt x="533400" y="641604"/>
                </a:lnTo>
                <a:lnTo>
                  <a:pt x="514134" y="743331"/>
                </a:lnTo>
                <a:lnTo>
                  <a:pt x="762000" y="641604"/>
                </a:lnTo>
                <a:lnTo>
                  <a:pt x="914400" y="641604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1956170" y="2235598"/>
            <a:ext cx="508635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50006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House 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nu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m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b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21508" y="2282190"/>
            <a:ext cx="685800" cy="468630"/>
          </a:xfrm>
          <a:custGeom>
            <a:avLst/>
            <a:gdLst/>
            <a:ahLst/>
            <a:cxnLst/>
            <a:rect l="l" t="t" r="r" b="b"/>
            <a:pathLst>
              <a:path w="914400" h="624839">
                <a:moveTo>
                  <a:pt x="914400" y="0"/>
                </a:moveTo>
                <a:lnTo>
                  <a:pt x="0" y="0"/>
                </a:lnTo>
                <a:lnTo>
                  <a:pt x="0" y="455676"/>
                </a:lnTo>
                <a:lnTo>
                  <a:pt x="533400" y="455676"/>
                </a:lnTo>
                <a:lnTo>
                  <a:pt x="729284" y="624586"/>
                </a:lnTo>
                <a:lnTo>
                  <a:pt x="762000" y="455676"/>
                </a:lnTo>
                <a:lnTo>
                  <a:pt x="914400" y="455676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4193666" y="2282191"/>
            <a:ext cx="685800" cy="466249"/>
          </a:xfrm>
          <a:custGeom>
            <a:avLst/>
            <a:gdLst/>
            <a:ahLst/>
            <a:cxnLst/>
            <a:rect l="l" t="t" r="r" b="b"/>
            <a:pathLst>
              <a:path w="914400" h="621664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533400" y="461772"/>
                </a:lnTo>
                <a:lnTo>
                  <a:pt x="610946" y="621118"/>
                </a:lnTo>
                <a:lnTo>
                  <a:pt x="762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3003589" y="2344857"/>
            <a:ext cx="1727835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  <a:tabLst>
                <a:tab pos="1345406" algn="l"/>
              </a:tabLst>
            </a:pP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B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u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il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d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ng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	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S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spc="-26" dirty="0">
                <a:solidFill>
                  <a:srgbClr val="943735"/>
                </a:solidFill>
                <a:latin typeface="Calibri"/>
                <a:cs typeface="Calibri"/>
              </a:rPr>
              <a:t>r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15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83505" y="2259331"/>
            <a:ext cx="685800" cy="466249"/>
          </a:xfrm>
          <a:custGeom>
            <a:avLst/>
            <a:gdLst/>
            <a:ahLst/>
            <a:cxnLst/>
            <a:rect l="l" t="t" r="r" b="b"/>
            <a:pathLst>
              <a:path w="914400" h="621664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533400" y="461772"/>
                </a:lnTo>
                <a:lnTo>
                  <a:pt x="610946" y="621118"/>
                </a:lnTo>
                <a:lnTo>
                  <a:pt x="762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5398959" y="2321968"/>
            <a:ext cx="256223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C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it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12764" y="2159890"/>
            <a:ext cx="685800" cy="538639"/>
          </a:xfrm>
          <a:custGeom>
            <a:avLst/>
            <a:gdLst/>
            <a:ahLst/>
            <a:cxnLst/>
            <a:rect l="l" t="t" r="r" b="b"/>
            <a:pathLst>
              <a:path w="914400" h="718185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152400" y="461772"/>
                </a:lnTo>
                <a:lnTo>
                  <a:pt x="19278" y="718019"/>
                </a:lnTo>
                <a:lnTo>
                  <a:pt x="381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6288264" y="2223184"/>
            <a:ext cx="336232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S</a:t>
            </a:r>
            <a:r>
              <a:rPr sz="1200" spc="-19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spc="-11" dirty="0">
                <a:solidFill>
                  <a:srgbClr val="943735"/>
                </a:solidFill>
                <a:latin typeface="Calibri"/>
                <a:cs typeface="Calibri"/>
              </a:rPr>
              <a:t>at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22300" y="2474216"/>
            <a:ext cx="792480" cy="345281"/>
          </a:xfrm>
          <a:custGeom>
            <a:avLst/>
            <a:gdLst/>
            <a:ahLst/>
            <a:cxnLst/>
            <a:rect l="l" t="t" r="r" b="b"/>
            <a:pathLst>
              <a:path w="1056640" h="460375">
                <a:moveTo>
                  <a:pt x="1056487" y="0"/>
                </a:moveTo>
                <a:lnTo>
                  <a:pt x="142087" y="0"/>
                </a:lnTo>
                <a:lnTo>
                  <a:pt x="142087" y="268478"/>
                </a:lnTo>
                <a:lnTo>
                  <a:pt x="0" y="404444"/>
                </a:lnTo>
                <a:lnTo>
                  <a:pt x="142087" y="383540"/>
                </a:lnTo>
                <a:lnTo>
                  <a:pt x="142087" y="460248"/>
                </a:lnTo>
                <a:lnTo>
                  <a:pt x="1056487" y="460248"/>
                </a:lnTo>
                <a:lnTo>
                  <a:pt x="1056487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7169535" y="2536702"/>
            <a:ext cx="205264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Z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5">
            <a:extLst>
              <a:ext uri="{FF2B5EF4-FFF2-40B4-BE49-F238E27FC236}">
                <a16:creationId xmlns:a16="http://schemas.microsoft.com/office/drawing/2014/main" id="{AC1717A4-9332-47F0-A38B-5DD5982E9DAF}"/>
              </a:ext>
            </a:extLst>
          </p:cNvPr>
          <p:cNvSpPr txBox="1"/>
          <p:nvPr/>
        </p:nvSpPr>
        <p:spPr>
          <a:xfrm>
            <a:off x="301428" y="1085626"/>
            <a:ext cx="4956372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i="1" spc="-11" dirty="0">
                <a:solidFill>
                  <a:srgbClr val="FFC000"/>
                </a:solidFill>
                <a:latin typeface="Calibri"/>
                <a:cs typeface="Calibri"/>
              </a:rPr>
              <a:t>Example:</a:t>
            </a:r>
            <a:r>
              <a:rPr sz="2100" b="1" i="1" spc="-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Addresses,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bib</a:t>
            </a:r>
            <a:r>
              <a:rPr lang="en-US" sz="2100" spc="-8" dirty="0">
                <a:latin typeface="Calibri"/>
                <a:cs typeface="Calibri"/>
              </a:rPr>
              <a:t>liography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records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2" y="225934"/>
            <a:ext cx="5763790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8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39" name="object 5">
            <a:extLst>
              <a:ext uri="{FF2B5EF4-FFF2-40B4-BE49-F238E27FC236}">
                <a16:creationId xmlns:a16="http://schemas.microsoft.com/office/drawing/2014/main" id="{C56A92C6-7772-4950-AF0E-FBD94707DB18}"/>
              </a:ext>
            </a:extLst>
          </p:cNvPr>
          <p:cNvSpPr txBox="1"/>
          <p:nvPr/>
        </p:nvSpPr>
        <p:spPr>
          <a:xfrm>
            <a:off x="301428" y="1085626"/>
            <a:ext cx="4956372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i="1" spc="-11" dirty="0">
                <a:solidFill>
                  <a:srgbClr val="FFC000"/>
                </a:solidFill>
                <a:latin typeface="Calibri"/>
                <a:cs typeface="Calibri"/>
              </a:rPr>
              <a:t>Example:</a:t>
            </a:r>
            <a:r>
              <a:rPr sz="2100" b="1" i="1" spc="-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Addresses,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bib</a:t>
            </a:r>
            <a:r>
              <a:rPr lang="en-US" sz="2100" spc="-8" dirty="0">
                <a:latin typeface="Calibri"/>
                <a:cs typeface="Calibri"/>
              </a:rPr>
              <a:t>liography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records</a:t>
            </a:r>
            <a:endParaRPr sz="2100" dirty="0">
              <a:latin typeface="Calibri"/>
              <a:cs typeface="Calibri"/>
            </a:endParaRPr>
          </a:p>
        </p:txBody>
      </p:sp>
      <p:grpSp>
        <p:nvGrpSpPr>
          <p:cNvPr id="47" name="object 24">
            <a:extLst>
              <a:ext uri="{FF2B5EF4-FFF2-40B4-BE49-F238E27FC236}">
                <a16:creationId xmlns:a16="http://schemas.microsoft.com/office/drawing/2014/main" id="{BE64C164-AB74-4215-B0D0-EA652E60941B}"/>
              </a:ext>
            </a:extLst>
          </p:cNvPr>
          <p:cNvGrpSpPr/>
          <p:nvPr/>
        </p:nvGrpSpPr>
        <p:grpSpPr>
          <a:xfrm>
            <a:off x="2091690" y="2656332"/>
            <a:ext cx="5276374" cy="1261110"/>
            <a:chOff x="1264919" y="3541776"/>
            <a:chExt cx="7035165" cy="1681480"/>
          </a:xfrm>
        </p:grpSpPr>
        <p:sp>
          <p:nvSpPr>
            <p:cNvPr id="48" name="object 25">
              <a:extLst>
                <a:ext uri="{FF2B5EF4-FFF2-40B4-BE49-F238E27FC236}">
                  <a16:creationId xmlns:a16="http://schemas.microsoft.com/office/drawing/2014/main" id="{93F0358D-BDB0-49CD-B972-188F92D485E5}"/>
                </a:ext>
              </a:extLst>
            </p:cNvPr>
            <p:cNvSpPr/>
            <p:nvPr/>
          </p:nvSpPr>
          <p:spPr>
            <a:xfrm>
              <a:off x="2179319" y="4436364"/>
              <a:ext cx="6120765" cy="219710"/>
            </a:xfrm>
            <a:custGeom>
              <a:avLst/>
              <a:gdLst/>
              <a:ahLst/>
              <a:cxnLst/>
              <a:rect l="l" t="t" r="r" b="b"/>
              <a:pathLst>
                <a:path w="6120765" h="219710">
                  <a:moveTo>
                    <a:pt x="6120383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6120383" y="219456"/>
                  </a:lnTo>
                  <a:lnTo>
                    <a:pt x="6120383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9" name="object 26">
              <a:extLst>
                <a:ext uri="{FF2B5EF4-FFF2-40B4-BE49-F238E27FC236}">
                  <a16:creationId xmlns:a16="http://schemas.microsoft.com/office/drawing/2014/main" id="{B1CFDBA0-FF66-4D52-B589-9FB37654EB5C}"/>
                </a:ext>
              </a:extLst>
            </p:cNvPr>
            <p:cNvSpPr/>
            <p:nvPr/>
          </p:nvSpPr>
          <p:spPr>
            <a:xfrm>
              <a:off x="5113019" y="4695444"/>
              <a:ext cx="2266315" cy="228600"/>
            </a:xfrm>
            <a:custGeom>
              <a:avLst/>
              <a:gdLst/>
              <a:ahLst/>
              <a:cxnLst/>
              <a:rect l="l" t="t" r="r" b="b"/>
              <a:pathLst>
                <a:path w="2266315" h="228600">
                  <a:moveTo>
                    <a:pt x="2266187" y="0"/>
                  </a:moveTo>
                  <a:lnTo>
                    <a:pt x="0" y="0"/>
                  </a:lnTo>
                  <a:lnTo>
                    <a:pt x="0" y="228599"/>
                  </a:lnTo>
                  <a:lnTo>
                    <a:pt x="2266187" y="228599"/>
                  </a:lnTo>
                  <a:lnTo>
                    <a:pt x="2266187" y="0"/>
                  </a:lnTo>
                  <a:close/>
                </a:path>
              </a:pathLst>
            </a:custGeom>
            <a:solidFill>
              <a:srgbClr val="4F81B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0" name="object 27">
              <a:extLst>
                <a:ext uri="{FF2B5EF4-FFF2-40B4-BE49-F238E27FC236}">
                  <a16:creationId xmlns:a16="http://schemas.microsoft.com/office/drawing/2014/main" id="{3FC0A824-1F06-4C49-B218-65C96C922B22}"/>
                </a:ext>
              </a:extLst>
            </p:cNvPr>
            <p:cNvSpPr/>
            <p:nvPr/>
          </p:nvSpPr>
          <p:spPr>
            <a:xfrm>
              <a:off x="7458455" y="4689348"/>
              <a:ext cx="399415" cy="228600"/>
            </a:xfrm>
            <a:custGeom>
              <a:avLst/>
              <a:gdLst/>
              <a:ahLst/>
              <a:cxnLst/>
              <a:rect l="l" t="t" r="r" b="b"/>
              <a:pathLst>
                <a:path w="399415" h="228600">
                  <a:moveTo>
                    <a:pt x="39928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99288" y="228600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1" name="object 28">
              <a:extLst>
                <a:ext uri="{FF2B5EF4-FFF2-40B4-BE49-F238E27FC236}">
                  <a16:creationId xmlns:a16="http://schemas.microsoft.com/office/drawing/2014/main" id="{BDEA08DF-B747-4E51-941F-C5E0092DFBD4}"/>
                </a:ext>
              </a:extLst>
            </p:cNvPr>
            <p:cNvSpPr/>
            <p:nvPr/>
          </p:nvSpPr>
          <p:spPr>
            <a:xfrm>
              <a:off x="1264919" y="4709160"/>
              <a:ext cx="3790315" cy="228600"/>
            </a:xfrm>
            <a:custGeom>
              <a:avLst/>
              <a:gdLst/>
              <a:ahLst/>
              <a:cxnLst/>
              <a:rect l="l" t="t" r="r" b="b"/>
              <a:pathLst>
                <a:path w="3790315" h="228600">
                  <a:moveTo>
                    <a:pt x="379018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790187" y="228600"/>
                  </a:lnTo>
                  <a:lnTo>
                    <a:pt x="3790187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2" name="object 29">
              <a:extLst>
                <a:ext uri="{FF2B5EF4-FFF2-40B4-BE49-F238E27FC236}">
                  <a16:creationId xmlns:a16="http://schemas.microsoft.com/office/drawing/2014/main" id="{2C8D21D4-2E0E-4EDF-9E41-7B6100705D3E}"/>
                </a:ext>
              </a:extLst>
            </p:cNvPr>
            <p:cNvSpPr/>
            <p:nvPr/>
          </p:nvSpPr>
          <p:spPr>
            <a:xfrm>
              <a:off x="1584959" y="3541776"/>
              <a:ext cx="914400" cy="621665"/>
            </a:xfrm>
            <a:custGeom>
              <a:avLst/>
              <a:gdLst/>
              <a:ahLst/>
              <a:cxnLst/>
              <a:rect l="l" t="t" r="r" b="b"/>
              <a:pathLst>
                <a:path w="914400" h="621664">
                  <a:moveTo>
                    <a:pt x="914400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533400" y="461772"/>
                  </a:lnTo>
                  <a:lnTo>
                    <a:pt x="610946" y="621118"/>
                  </a:lnTo>
                  <a:lnTo>
                    <a:pt x="762000" y="461772"/>
                  </a:lnTo>
                  <a:lnTo>
                    <a:pt x="914400" y="461772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3" name="object 30">
              <a:extLst>
                <a:ext uri="{FF2B5EF4-FFF2-40B4-BE49-F238E27FC236}">
                  <a16:creationId xmlns:a16="http://schemas.microsoft.com/office/drawing/2014/main" id="{139D5DD3-7457-4A72-983B-C78CDE91335C}"/>
                </a:ext>
              </a:extLst>
            </p:cNvPr>
            <p:cNvSpPr/>
            <p:nvPr/>
          </p:nvSpPr>
          <p:spPr>
            <a:xfrm>
              <a:off x="1264919" y="4994148"/>
              <a:ext cx="1621790" cy="228600"/>
            </a:xfrm>
            <a:custGeom>
              <a:avLst/>
              <a:gdLst/>
              <a:ahLst/>
              <a:cxnLst/>
              <a:rect l="l" t="t" r="r" b="b"/>
              <a:pathLst>
                <a:path w="1621789" h="228600">
                  <a:moveTo>
                    <a:pt x="162153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621536" y="228600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CC99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4" name="object 31">
            <a:extLst>
              <a:ext uri="{FF2B5EF4-FFF2-40B4-BE49-F238E27FC236}">
                <a16:creationId xmlns:a16="http://schemas.microsoft.com/office/drawing/2014/main" id="{E6E4ADC3-F3C4-4C7A-ABBB-525627367021}"/>
              </a:ext>
            </a:extLst>
          </p:cNvPr>
          <p:cNvSpPr txBox="1"/>
          <p:nvPr/>
        </p:nvSpPr>
        <p:spPr>
          <a:xfrm>
            <a:off x="2448805" y="2719004"/>
            <a:ext cx="451485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Auth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o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:a16="http://schemas.microsoft.com/office/drawing/2014/main" id="{C67C7C07-39CC-4D95-B17E-45CBCEFA6DF9}"/>
              </a:ext>
            </a:extLst>
          </p:cNvPr>
          <p:cNvSpPr/>
          <p:nvPr/>
        </p:nvSpPr>
        <p:spPr>
          <a:xfrm>
            <a:off x="1298448" y="2975229"/>
            <a:ext cx="789146" cy="433864"/>
          </a:xfrm>
          <a:custGeom>
            <a:avLst/>
            <a:gdLst/>
            <a:ahLst/>
            <a:cxnLst/>
            <a:rect l="l" t="t" r="r" b="b"/>
            <a:pathLst>
              <a:path w="1052195" h="578485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533400" y="461772"/>
                </a:lnTo>
                <a:lnTo>
                  <a:pt x="1052004" y="578053"/>
                </a:lnTo>
                <a:lnTo>
                  <a:pt x="762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6" name="object 33">
            <a:extLst>
              <a:ext uri="{FF2B5EF4-FFF2-40B4-BE49-F238E27FC236}">
                <a16:creationId xmlns:a16="http://schemas.microsoft.com/office/drawing/2014/main" id="{D2F56403-44E0-4FF8-B8E6-1D75D9173995}"/>
              </a:ext>
            </a:extLst>
          </p:cNvPr>
          <p:cNvSpPr txBox="1"/>
          <p:nvPr/>
        </p:nvSpPr>
        <p:spPr>
          <a:xfrm>
            <a:off x="1499637" y="3038583"/>
            <a:ext cx="283369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94" dirty="0">
                <a:solidFill>
                  <a:srgbClr val="943735"/>
                </a:solidFill>
                <a:latin typeface="Calibri"/>
                <a:cs typeface="Calibri"/>
              </a:rPr>
              <a:t>Y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ar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34">
            <a:extLst>
              <a:ext uri="{FF2B5EF4-FFF2-40B4-BE49-F238E27FC236}">
                <a16:creationId xmlns:a16="http://schemas.microsoft.com/office/drawing/2014/main" id="{674560BD-34F3-4503-993E-8E76FE3A3F9C}"/>
              </a:ext>
            </a:extLst>
          </p:cNvPr>
          <p:cNvGrpSpPr/>
          <p:nvPr/>
        </p:nvGrpSpPr>
        <p:grpSpPr>
          <a:xfrm>
            <a:off x="2091689" y="3116961"/>
            <a:ext cx="5347335" cy="1127284"/>
            <a:chOff x="1264919" y="4155947"/>
            <a:chExt cx="7129780" cy="1503045"/>
          </a:xfrm>
        </p:grpSpPr>
        <p:sp>
          <p:nvSpPr>
            <p:cNvPr id="58" name="object 35">
              <a:extLst>
                <a:ext uri="{FF2B5EF4-FFF2-40B4-BE49-F238E27FC236}">
                  <a16:creationId xmlns:a16="http://schemas.microsoft.com/office/drawing/2014/main" id="{F9BB643D-3EED-4FED-A6AD-EC6DDEE55B6E}"/>
                </a:ext>
              </a:extLst>
            </p:cNvPr>
            <p:cNvSpPr/>
            <p:nvPr/>
          </p:nvSpPr>
          <p:spPr>
            <a:xfrm>
              <a:off x="5509260" y="4924348"/>
              <a:ext cx="2853055" cy="734695"/>
            </a:xfrm>
            <a:custGeom>
              <a:avLst/>
              <a:gdLst/>
              <a:ahLst/>
              <a:cxnLst/>
              <a:rect l="l" t="t" r="r" b="b"/>
              <a:pathLst>
                <a:path w="2853054" h="734695">
                  <a:moveTo>
                    <a:pt x="914400" y="272491"/>
                  </a:moveTo>
                  <a:lnTo>
                    <a:pt x="381000" y="272491"/>
                  </a:lnTo>
                  <a:lnTo>
                    <a:pt x="428066" y="0"/>
                  </a:lnTo>
                  <a:lnTo>
                    <a:pt x="152400" y="272491"/>
                  </a:lnTo>
                  <a:lnTo>
                    <a:pt x="0" y="272491"/>
                  </a:lnTo>
                  <a:lnTo>
                    <a:pt x="0" y="734263"/>
                  </a:lnTo>
                  <a:lnTo>
                    <a:pt x="914400" y="734263"/>
                  </a:lnTo>
                  <a:lnTo>
                    <a:pt x="914400" y="272491"/>
                  </a:lnTo>
                  <a:close/>
                </a:path>
                <a:path w="2853054" h="734695">
                  <a:moveTo>
                    <a:pt x="2852928" y="272491"/>
                  </a:moveTo>
                  <a:lnTo>
                    <a:pt x="2319528" y="272491"/>
                  </a:lnTo>
                  <a:lnTo>
                    <a:pt x="2162200" y="21526"/>
                  </a:lnTo>
                  <a:lnTo>
                    <a:pt x="2090928" y="272491"/>
                  </a:lnTo>
                  <a:lnTo>
                    <a:pt x="1938528" y="272491"/>
                  </a:lnTo>
                  <a:lnTo>
                    <a:pt x="1938528" y="734263"/>
                  </a:lnTo>
                  <a:lnTo>
                    <a:pt x="2852928" y="734263"/>
                  </a:lnTo>
                  <a:lnTo>
                    <a:pt x="2852928" y="272491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9" name="object 36">
              <a:extLst>
                <a:ext uri="{FF2B5EF4-FFF2-40B4-BE49-F238E27FC236}">
                  <a16:creationId xmlns:a16="http://schemas.microsoft.com/office/drawing/2014/main" id="{1235BB23-8D9D-4542-B7FB-14A1C5D9A466}"/>
                </a:ext>
              </a:extLst>
            </p:cNvPr>
            <p:cNvSpPr/>
            <p:nvPr/>
          </p:nvSpPr>
          <p:spPr>
            <a:xfrm>
              <a:off x="1264919" y="4155947"/>
              <a:ext cx="7129780" cy="215265"/>
            </a:xfrm>
            <a:custGeom>
              <a:avLst/>
              <a:gdLst/>
              <a:ahLst/>
              <a:cxnLst/>
              <a:rect l="l" t="t" r="r" b="b"/>
              <a:pathLst>
                <a:path w="7129780" h="215264">
                  <a:moveTo>
                    <a:pt x="7129272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7129272" y="214884"/>
                  </a:lnTo>
                  <a:lnTo>
                    <a:pt x="7129272" y="0"/>
                  </a:lnTo>
                  <a:close/>
                </a:path>
              </a:pathLst>
            </a:custGeom>
            <a:solidFill>
              <a:srgbClr val="FFFF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0" name="object 37">
              <a:extLst>
                <a:ext uri="{FF2B5EF4-FFF2-40B4-BE49-F238E27FC236}">
                  <a16:creationId xmlns:a16="http://schemas.microsoft.com/office/drawing/2014/main" id="{3B49AD8B-ACFA-43B0-9833-23741D9AC121}"/>
                </a:ext>
              </a:extLst>
            </p:cNvPr>
            <p:cNvSpPr/>
            <p:nvPr/>
          </p:nvSpPr>
          <p:spPr>
            <a:xfrm>
              <a:off x="1341119" y="4459223"/>
              <a:ext cx="661670" cy="195580"/>
            </a:xfrm>
            <a:custGeom>
              <a:avLst/>
              <a:gdLst/>
              <a:ahLst/>
              <a:cxnLst/>
              <a:rect l="l" t="t" r="r" b="b"/>
              <a:pathLst>
                <a:path w="661669" h="195579">
                  <a:moveTo>
                    <a:pt x="661416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661416" y="195072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D6E3B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1" name="object 38">
            <a:extLst>
              <a:ext uri="{FF2B5EF4-FFF2-40B4-BE49-F238E27FC236}">
                <a16:creationId xmlns:a16="http://schemas.microsoft.com/office/drawing/2014/main" id="{848D06EF-EEDC-428F-9DAA-124A1BC403AF}"/>
              </a:ext>
            </a:extLst>
          </p:cNvPr>
          <p:cNvSpPr txBox="1"/>
          <p:nvPr/>
        </p:nvSpPr>
        <p:spPr>
          <a:xfrm>
            <a:off x="2093235" y="3083323"/>
            <a:ext cx="535114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53" dirty="0">
                <a:latin typeface="Verdana"/>
                <a:cs typeface="Verdana"/>
              </a:rPr>
              <a:t>P.P.Wangikar,</a:t>
            </a:r>
            <a:r>
              <a:rPr sz="1350" spc="-26" dirty="0">
                <a:latin typeface="Verdana"/>
                <a:cs typeface="Verdana"/>
              </a:rPr>
              <a:t> </a:t>
            </a:r>
            <a:r>
              <a:rPr sz="1350" spc="-101" dirty="0">
                <a:latin typeface="Verdana"/>
                <a:cs typeface="Verdana"/>
              </a:rPr>
              <a:t>T.P.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34" dirty="0">
                <a:latin typeface="Verdana"/>
                <a:cs typeface="Verdana"/>
              </a:rPr>
              <a:t>Graycar,</a:t>
            </a:r>
            <a:r>
              <a:rPr sz="1350" spc="-11" dirty="0">
                <a:latin typeface="Verdana"/>
                <a:cs typeface="Verdana"/>
              </a:rPr>
              <a:t> </a:t>
            </a:r>
            <a:r>
              <a:rPr sz="1350" spc="-8" dirty="0">
                <a:latin typeface="Verdana"/>
                <a:cs typeface="Verdana"/>
              </a:rPr>
              <a:t>D.A.</a:t>
            </a:r>
            <a:r>
              <a:rPr sz="1350" spc="-26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Estell, </a:t>
            </a:r>
            <a:r>
              <a:rPr sz="1350" spc="-11" dirty="0">
                <a:latin typeface="Verdana"/>
                <a:cs typeface="Verdana"/>
              </a:rPr>
              <a:t>D.S.</a:t>
            </a:r>
            <a:r>
              <a:rPr sz="1350" spc="-23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Clark,</a:t>
            </a:r>
            <a:r>
              <a:rPr sz="1350" spc="-15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J.S.</a:t>
            </a:r>
            <a:r>
              <a:rPr sz="1350" spc="-38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Dordick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2" name="object 39">
            <a:extLst>
              <a:ext uri="{FF2B5EF4-FFF2-40B4-BE49-F238E27FC236}">
                <a16:creationId xmlns:a16="http://schemas.microsoft.com/office/drawing/2014/main" id="{CB97204A-CEC5-4BF2-AEE0-C1F940A23DF5}"/>
              </a:ext>
            </a:extLst>
          </p:cNvPr>
          <p:cNvSpPr/>
          <p:nvPr/>
        </p:nvSpPr>
        <p:spPr>
          <a:xfrm>
            <a:off x="4720257" y="2682621"/>
            <a:ext cx="800576" cy="700088"/>
          </a:xfrm>
          <a:custGeom>
            <a:avLst/>
            <a:gdLst/>
            <a:ahLst/>
            <a:cxnLst/>
            <a:rect l="l" t="t" r="r" b="b"/>
            <a:pathLst>
              <a:path w="1067435" h="933450">
                <a:moveTo>
                  <a:pt x="1067244" y="0"/>
                </a:moveTo>
                <a:lnTo>
                  <a:pt x="152844" y="0"/>
                </a:lnTo>
                <a:lnTo>
                  <a:pt x="152844" y="461772"/>
                </a:lnTo>
                <a:lnTo>
                  <a:pt x="305244" y="461772"/>
                </a:lnTo>
                <a:lnTo>
                  <a:pt x="0" y="933335"/>
                </a:lnTo>
                <a:lnTo>
                  <a:pt x="533844" y="461772"/>
                </a:lnTo>
                <a:lnTo>
                  <a:pt x="1067244" y="461772"/>
                </a:lnTo>
                <a:lnTo>
                  <a:pt x="1067244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3" name="object 40">
            <a:extLst>
              <a:ext uri="{FF2B5EF4-FFF2-40B4-BE49-F238E27FC236}">
                <a16:creationId xmlns:a16="http://schemas.microsoft.com/office/drawing/2014/main" id="{A55C88AB-0255-4CFF-8DE4-711B955C809E}"/>
              </a:ext>
            </a:extLst>
          </p:cNvPr>
          <p:cNvSpPr txBox="1"/>
          <p:nvPr/>
        </p:nvSpPr>
        <p:spPr>
          <a:xfrm>
            <a:off x="5032090" y="2745420"/>
            <a:ext cx="291941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41">
            <a:extLst>
              <a:ext uri="{FF2B5EF4-FFF2-40B4-BE49-F238E27FC236}">
                <a16:creationId xmlns:a16="http://schemas.microsoft.com/office/drawing/2014/main" id="{9AB54A54-5773-4C0D-B961-EE926974928B}"/>
              </a:ext>
            </a:extLst>
          </p:cNvPr>
          <p:cNvSpPr/>
          <p:nvPr/>
        </p:nvSpPr>
        <p:spPr>
          <a:xfrm>
            <a:off x="3259836" y="3837537"/>
            <a:ext cx="897255" cy="397669"/>
          </a:xfrm>
          <a:custGeom>
            <a:avLst/>
            <a:gdLst/>
            <a:ahLst/>
            <a:cxnLst/>
            <a:rect l="l" t="t" r="r" b="b"/>
            <a:pathLst>
              <a:path w="1196339" h="530225">
                <a:moveTo>
                  <a:pt x="0" y="0"/>
                </a:moveTo>
                <a:lnTo>
                  <a:pt x="281939" y="260337"/>
                </a:lnTo>
                <a:lnTo>
                  <a:pt x="281939" y="529704"/>
                </a:lnTo>
                <a:lnTo>
                  <a:pt x="1196339" y="529704"/>
                </a:lnTo>
                <a:lnTo>
                  <a:pt x="1196339" y="67932"/>
                </a:lnTo>
                <a:lnTo>
                  <a:pt x="281939" y="67932"/>
                </a:lnTo>
                <a:lnTo>
                  <a:pt x="281939" y="144894"/>
                </a:lnTo>
                <a:lnTo>
                  <a:pt x="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5" name="object 42">
            <a:extLst>
              <a:ext uri="{FF2B5EF4-FFF2-40B4-BE49-F238E27FC236}">
                <a16:creationId xmlns:a16="http://schemas.microsoft.com/office/drawing/2014/main" id="{44FF3BE4-04AE-46E0-9502-64B9257D0F79}"/>
              </a:ext>
            </a:extLst>
          </p:cNvPr>
          <p:cNvSpPr txBox="1"/>
          <p:nvPr/>
        </p:nvSpPr>
        <p:spPr>
          <a:xfrm>
            <a:off x="2093063" y="3289063"/>
            <a:ext cx="5301138" cy="8688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spc="-4" dirty="0">
                <a:latin typeface="Verdana"/>
                <a:cs typeface="Verdana"/>
              </a:rPr>
              <a:t>(1993)</a:t>
            </a:r>
            <a:r>
              <a:rPr sz="1350" spc="30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Protein</a:t>
            </a:r>
            <a:r>
              <a:rPr sz="1350" spc="4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and</a:t>
            </a:r>
            <a:r>
              <a:rPr sz="1350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Solvent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Engineering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of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Subtilising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BPN'</a:t>
            </a:r>
            <a:r>
              <a:rPr sz="1350" spc="19" dirty="0">
                <a:latin typeface="Verdana"/>
                <a:cs typeface="Verdana"/>
              </a:rPr>
              <a:t> </a:t>
            </a:r>
            <a:r>
              <a:rPr sz="1350" spc="4" dirty="0">
                <a:latin typeface="Verdana"/>
                <a:cs typeface="Verdana"/>
              </a:rPr>
              <a:t>in </a:t>
            </a:r>
            <a:r>
              <a:rPr sz="1350" spc="-461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Nearly</a:t>
            </a:r>
            <a:r>
              <a:rPr sz="1350" spc="4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Anhydrous</a:t>
            </a:r>
            <a:r>
              <a:rPr sz="1350" spc="-19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Organic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Media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J.Amer. </a:t>
            </a:r>
            <a:r>
              <a:rPr sz="1350" spc="-4" dirty="0">
                <a:latin typeface="Verdana"/>
                <a:cs typeface="Verdana"/>
              </a:rPr>
              <a:t>Chem.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Soc.</a:t>
            </a:r>
            <a:r>
              <a:rPr sz="1350" spc="-15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115, </a:t>
            </a:r>
            <a:r>
              <a:rPr sz="1350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12231-12237.</a:t>
            </a:r>
            <a:endParaRPr sz="1350">
              <a:latin typeface="Verdana"/>
              <a:cs typeface="Verdana"/>
            </a:endParaRPr>
          </a:p>
          <a:p>
            <a:pPr marL="1572578">
              <a:spcBef>
                <a:spcPts val="428"/>
              </a:spcBef>
              <a:tabLst>
                <a:tab pos="3299936" algn="l"/>
                <a:tab pos="4742021" algn="l"/>
              </a:tabLst>
            </a:pPr>
            <a:r>
              <a:rPr spc="-17" baseline="3472" dirty="0">
                <a:solidFill>
                  <a:srgbClr val="943735"/>
                </a:solidFill>
                <a:latin typeface="Calibri"/>
                <a:cs typeface="Calibri"/>
              </a:rPr>
              <a:t>Page	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Journal	</a:t>
            </a:r>
            <a:r>
              <a:rPr sz="1200" spc="-15" dirty="0">
                <a:solidFill>
                  <a:srgbClr val="943735"/>
                </a:solidFill>
                <a:latin typeface="Calibri"/>
                <a:cs typeface="Calibri"/>
              </a:rPr>
              <a:t>Volume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8976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" y="4171950"/>
            <a:ext cx="6858000" cy="751046"/>
            <a:chOff x="0" y="5856732"/>
            <a:chExt cx="9144000" cy="1001394"/>
          </a:xfrm>
        </p:grpSpPr>
        <p:sp>
          <p:nvSpPr>
            <p:cNvPr id="3" name="object 3"/>
            <p:cNvSpPr/>
            <p:nvPr/>
          </p:nvSpPr>
          <p:spPr>
            <a:xfrm>
              <a:off x="0" y="5856732"/>
              <a:ext cx="9144000" cy="1001394"/>
            </a:xfrm>
            <a:custGeom>
              <a:avLst/>
              <a:gdLst/>
              <a:ahLst/>
              <a:cxnLst/>
              <a:rect l="l" t="t" r="r" b="b"/>
              <a:pathLst>
                <a:path w="9144000" h="1001395">
                  <a:moveTo>
                    <a:pt x="9144000" y="0"/>
                  </a:moveTo>
                  <a:lnTo>
                    <a:pt x="0" y="0"/>
                  </a:lnTo>
                  <a:lnTo>
                    <a:pt x="0" y="1001268"/>
                  </a:lnTo>
                  <a:lnTo>
                    <a:pt x="9144000" y="100126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BA7A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995" y="5966460"/>
              <a:ext cx="7956803" cy="77876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8604" y="225934"/>
            <a:ext cx="5916188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0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7" name="object 7"/>
          <p:cNvSpPr/>
          <p:nvPr/>
        </p:nvSpPr>
        <p:spPr>
          <a:xfrm>
            <a:off x="4008500" y="1777365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5031485" y="1804796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5958458" y="1802511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6230492" y="1816226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2571750" y="1761362"/>
            <a:ext cx="0" cy="5715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 txBox="1"/>
          <p:nvPr/>
        </p:nvSpPr>
        <p:spPr>
          <a:xfrm>
            <a:off x="2116454" y="2014116"/>
            <a:ext cx="4678680" cy="20630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  <a:tabLst>
                <a:tab pos="2982278" algn="l"/>
              </a:tabLst>
            </a:pPr>
            <a:r>
              <a:rPr sz="1275" spc="-4" dirty="0">
                <a:latin typeface="Verdana"/>
                <a:cs typeface="Verdana"/>
              </a:rPr>
              <a:t>4089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dirty="0">
                <a:latin typeface="Verdana"/>
                <a:cs typeface="Verdana"/>
              </a:rPr>
              <a:t>Whispering</a:t>
            </a:r>
            <a:r>
              <a:rPr sz="1275" spc="-15" dirty="0">
                <a:latin typeface="Verdana"/>
                <a:cs typeface="Verdana"/>
              </a:rPr>
              <a:t> </a:t>
            </a:r>
            <a:r>
              <a:rPr sz="1275" dirty="0">
                <a:latin typeface="Verdana"/>
                <a:cs typeface="Verdana"/>
              </a:rPr>
              <a:t>Pines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Nobel</a:t>
            </a:r>
            <a:r>
              <a:rPr sz="1275" spc="8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Drive	San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Diego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dirty="0">
                <a:latin typeface="Verdana"/>
                <a:cs typeface="Verdana"/>
              </a:rPr>
              <a:t>CA</a:t>
            </a:r>
            <a:r>
              <a:rPr sz="1275" spc="-11" dirty="0">
                <a:latin typeface="Verdana"/>
                <a:cs typeface="Verdana"/>
              </a:rPr>
              <a:t> </a:t>
            </a:r>
            <a:r>
              <a:rPr sz="1275" spc="-4" dirty="0">
                <a:latin typeface="Verdana"/>
                <a:cs typeface="Verdana"/>
              </a:rPr>
              <a:t>92122</a:t>
            </a:r>
            <a:endParaRPr sz="1275" dirty="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7662" y="1479042"/>
            <a:ext cx="685800" cy="557689"/>
          </a:xfrm>
          <a:custGeom>
            <a:avLst/>
            <a:gdLst/>
            <a:ahLst/>
            <a:cxnLst/>
            <a:rect l="l" t="t" r="r" b="b"/>
            <a:pathLst>
              <a:path w="914400" h="743585">
                <a:moveTo>
                  <a:pt x="914400" y="0"/>
                </a:moveTo>
                <a:lnTo>
                  <a:pt x="0" y="0"/>
                </a:lnTo>
                <a:lnTo>
                  <a:pt x="0" y="641604"/>
                </a:lnTo>
                <a:lnTo>
                  <a:pt x="533400" y="641604"/>
                </a:lnTo>
                <a:lnTo>
                  <a:pt x="514134" y="743331"/>
                </a:lnTo>
                <a:lnTo>
                  <a:pt x="762000" y="641604"/>
                </a:lnTo>
                <a:lnTo>
                  <a:pt x="914400" y="641604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1956170" y="1518174"/>
            <a:ext cx="508635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50006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House 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nu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m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b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21508" y="1564766"/>
            <a:ext cx="685800" cy="468630"/>
          </a:xfrm>
          <a:custGeom>
            <a:avLst/>
            <a:gdLst/>
            <a:ahLst/>
            <a:cxnLst/>
            <a:rect l="l" t="t" r="r" b="b"/>
            <a:pathLst>
              <a:path w="914400" h="624839">
                <a:moveTo>
                  <a:pt x="914400" y="0"/>
                </a:moveTo>
                <a:lnTo>
                  <a:pt x="0" y="0"/>
                </a:lnTo>
                <a:lnTo>
                  <a:pt x="0" y="455676"/>
                </a:lnTo>
                <a:lnTo>
                  <a:pt x="533400" y="455676"/>
                </a:lnTo>
                <a:lnTo>
                  <a:pt x="729284" y="624586"/>
                </a:lnTo>
                <a:lnTo>
                  <a:pt x="762000" y="455676"/>
                </a:lnTo>
                <a:lnTo>
                  <a:pt x="914400" y="455676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4193666" y="1564767"/>
            <a:ext cx="685800" cy="466249"/>
          </a:xfrm>
          <a:custGeom>
            <a:avLst/>
            <a:gdLst/>
            <a:ahLst/>
            <a:cxnLst/>
            <a:rect l="l" t="t" r="r" b="b"/>
            <a:pathLst>
              <a:path w="914400" h="621664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533400" y="461772"/>
                </a:lnTo>
                <a:lnTo>
                  <a:pt x="610946" y="621118"/>
                </a:lnTo>
                <a:lnTo>
                  <a:pt x="762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3003589" y="1627433"/>
            <a:ext cx="1727835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  <a:tabLst>
                <a:tab pos="1345406" algn="l"/>
              </a:tabLst>
            </a:pP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B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u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il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d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ng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	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S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spc="-26" dirty="0">
                <a:solidFill>
                  <a:srgbClr val="943735"/>
                </a:solidFill>
                <a:latin typeface="Calibri"/>
                <a:cs typeface="Calibri"/>
              </a:rPr>
              <a:t>r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15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83505" y="1541907"/>
            <a:ext cx="685800" cy="466249"/>
          </a:xfrm>
          <a:custGeom>
            <a:avLst/>
            <a:gdLst/>
            <a:ahLst/>
            <a:cxnLst/>
            <a:rect l="l" t="t" r="r" b="b"/>
            <a:pathLst>
              <a:path w="914400" h="621664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533400" y="461772"/>
                </a:lnTo>
                <a:lnTo>
                  <a:pt x="610946" y="621118"/>
                </a:lnTo>
                <a:lnTo>
                  <a:pt x="762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5398959" y="1604544"/>
            <a:ext cx="256223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C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it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12764" y="1442466"/>
            <a:ext cx="685800" cy="538639"/>
          </a:xfrm>
          <a:custGeom>
            <a:avLst/>
            <a:gdLst/>
            <a:ahLst/>
            <a:cxnLst/>
            <a:rect l="l" t="t" r="r" b="b"/>
            <a:pathLst>
              <a:path w="914400" h="718185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152400" y="461772"/>
                </a:lnTo>
                <a:lnTo>
                  <a:pt x="19278" y="718019"/>
                </a:lnTo>
                <a:lnTo>
                  <a:pt x="381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 txBox="1"/>
          <p:nvPr/>
        </p:nvSpPr>
        <p:spPr>
          <a:xfrm>
            <a:off x="6288264" y="1505760"/>
            <a:ext cx="336232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S</a:t>
            </a:r>
            <a:r>
              <a:rPr sz="1200" spc="-19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spc="-11" dirty="0">
                <a:solidFill>
                  <a:srgbClr val="943735"/>
                </a:solidFill>
                <a:latin typeface="Calibri"/>
                <a:cs typeface="Calibri"/>
              </a:rPr>
              <a:t>at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22300" y="1756792"/>
            <a:ext cx="792480" cy="345281"/>
          </a:xfrm>
          <a:custGeom>
            <a:avLst/>
            <a:gdLst/>
            <a:ahLst/>
            <a:cxnLst/>
            <a:rect l="l" t="t" r="r" b="b"/>
            <a:pathLst>
              <a:path w="1056640" h="460375">
                <a:moveTo>
                  <a:pt x="1056487" y="0"/>
                </a:moveTo>
                <a:lnTo>
                  <a:pt x="142087" y="0"/>
                </a:lnTo>
                <a:lnTo>
                  <a:pt x="142087" y="268478"/>
                </a:lnTo>
                <a:lnTo>
                  <a:pt x="0" y="404444"/>
                </a:lnTo>
                <a:lnTo>
                  <a:pt x="142087" y="383540"/>
                </a:lnTo>
                <a:lnTo>
                  <a:pt x="142087" y="460248"/>
                </a:lnTo>
                <a:lnTo>
                  <a:pt x="1056487" y="460248"/>
                </a:lnTo>
                <a:lnTo>
                  <a:pt x="1056487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/>
          <p:cNvSpPr txBox="1"/>
          <p:nvPr/>
        </p:nvSpPr>
        <p:spPr>
          <a:xfrm>
            <a:off x="7169535" y="1819278"/>
            <a:ext cx="205264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Z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91690" y="2343150"/>
            <a:ext cx="5276374" cy="1261110"/>
            <a:chOff x="1264919" y="3541776"/>
            <a:chExt cx="7035165" cy="1681480"/>
          </a:xfrm>
        </p:grpSpPr>
        <p:sp>
          <p:nvSpPr>
            <p:cNvPr id="25" name="object 25"/>
            <p:cNvSpPr/>
            <p:nvPr/>
          </p:nvSpPr>
          <p:spPr>
            <a:xfrm>
              <a:off x="2179319" y="4436364"/>
              <a:ext cx="6120765" cy="219710"/>
            </a:xfrm>
            <a:custGeom>
              <a:avLst/>
              <a:gdLst/>
              <a:ahLst/>
              <a:cxnLst/>
              <a:rect l="l" t="t" r="r" b="b"/>
              <a:pathLst>
                <a:path w="6120765" h="219710">
                  <a:moveTo>
                    <a:pt x="6120383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6120383" y="219456"/>
                  </a:lnTo>
                  <a:lnTo>
                    <a:pt x="6120383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113019" y="4695444"/>
              <a:ext cx="2266315" cy="228600"/>
            </a:xfrm>
            <a:custGeom>
              <a:avLst/>
              <a:gdLst/>
              <a:ahLst/>
              <a:cxnLst/>
              <a:rect l="l" t="t" r="r" b="b"/>
              <a:pathLst>
                <a:path w="2266315" h="228600">
                  <a:moveTo>
                    <a:pt x="2266187" y="0"/>
                  </a:moveTo>
                  <a:lnTo>
                    <a:pt x="0" y="0"/>
                  </a:lnTo>
                  <a:lnTo>
                    <a:pt x="0" y="228599"/>
                  </a:lnTo>
                  <a:lnTo>
                    <a:pt x="2266187" y="228599"/>
                  </a:lnTo>
                  <a:lnTo>
                    <a:pt x="2266187" y="0"/>
                  </a:lnTo>
                  <a:close/>
                </a:path>
              </a:pathLst>
            </a:custGeom>
            <a:solidFill>
              <a:srgbClr val="4F81B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458455" y="4689348"/>
              <a:ext cx="399415" cy="228600"/>
            </a:xfrm>
            <a:custGeom>
              <a:avLst/>
              <a:gdLst/>
              <a:ahLst/>
              <a:cxnLst/>
              <a:rect l="l" t="t" r="r" b="b"/>
              <a:pathLst>
                <a:path w="399415" h="228600">
                  <a:moveTo>
                    <a:pt x="39928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99288" y="228600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264919" y="4709160"/>
              <a:ext cx="3790315" cy="228600"/>
            </a:xfrm>
            <a:custGeom>
              <a:avLst/>
              <a:gdLst/>
              <a:ahLst/>
              <a:cxnLst/>
              <a:rect l="l" t="t" r="r" b="b"/>
              <a:pathLst>
                <a:path w="3790315" h="228600">
                  <a:moveTo>
                    <a:pt x="379018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790187" y="228600"/>
                  </a:lnTo>
                  <a:lnTo>
                    <a:pt x="3790187" y="0"/>
                  </a:lnTo>
                  <a:close/>
                </a:path>
              </a:pathLst>
            </a:custGeom>
            <a:solidFill>
              <a:srgbClr val="FF99C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584959" y="3541776"/>
              <a:ext cx="914400" cy="621665"/>
            </a:xfrm>
            <a:custGeom>
              <a:avLst/>
              <a:gdLst/>
              <a:ahLst/>
              <a:cxnLst/>
              <a:rect l="l" t="t" r="r" b="b"/>
              <a:pathLst>
                <a:path w="914400" h="621664">
                  <a:moveTo>
                    <a:pt x="914400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533400" y="461772"/>
                  </a:lnTo>
                  <a:lnTo>
                    <a:pt x="610946" y="621118"/>
                  </a:lnTo>
                  <a:lnTo>
                    <a:pt x="762000" y="461772"/>
                  </a:lnTo>
                  <a:lnTo>
                    <a:pt x="914400" y="461772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264919" y="4994148"/>
              <a:ext cx="1621790" cy="228600"/>
            </a:xfrm>
            <a:custGeom>
              <a:avLst/>
              <a:gdLst/>
              <a:ahLst/>
              <a:cxnLst/>
              <a:rect l="l" t="t" r="r" b="b"/>
              <a:pathLst>
                <a:path w="1621789" h="228600">
                  <a:moveTo>
                    <a:pt x="162153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621536" y="228600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CC99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448805" y="2405822"/>
            <a:ext cx="451485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Auth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o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98448" y="2662047"/>
            <a:ext cx="789146" cy="433864"/>
          </a:xfrm>
          <a:custGeom>
            <a:avLst/>
            <a:gdLst/>
            <a:ahLst/>
            <a:cxnLst/>
            <a:rect l="l" t="t" r="r" b="b"/>
            <a:pathLst>
              <a:path w="1052195" h="578485">
                <a:moveTo>
                  <a:pt x="914400" y="0"/>
                </a:moveTo>
                <a:lnTo>
                  <a:pt x="0" y="0"/>
                </a:lnTo>
                <a:lnTo>
                  <a:pt x="0" y="461772"/>
                </a:lnTo>
                <a:lnTo>
                  <a:pt x="533400" y="461772"/>
                </a:lnTo>
                <a:lnTo>
                  <a:pt x="1052004" y="578053"/>
                </a:lnTo>
                <a:lnTo>
                  <a:pt x="762000" y="461772"/>
                </a:lnTo>
                <a:lnTo>
                  <a:pt x="914400" y="461772"/>
                </a:lnTo>
                <a:lnTo>
                  <a:pt x="91440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3" name="object 33"/>
          <p:cNvSpPr txBox="1"/>
          <p:nvPr/>
        </p:nvSpPr>
        <p:spPr>
          <a:xfrm>
            <a:off x="1499637" y="2725401"/>
            <a:ext cx="283369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94" dirty="0">
                <a:solidFill>
                  <a:srgbClr val="943735"/>
                </a:solidFill>
                <a:latin typeface="Calibri"/>
                <a:cs typeface="Calibri"/>
              </a:rPr>
              <a:t>Y</a:t>
            </a:r>
            <a:r>
              <a:rPr sz="1200" spc="-8" dirty="0">
                <a:solidFill>
                  <a:srgbClr val="943735"/>
                </a:solidFill>
                <a:latin typeface="Calibri"/>
                <a:cs typeface="Calibri"/>
              </a:rPr>
              <a:t>e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ar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91689" y="2803779"/>
            <a:ext cx="5347335" cy="1127284"/>
            <a:chOff x="1264919" y="4155947"/>
            <a:chExt cx="7129780" cy="1503045"/>
          </a:xfrm>
        </p:grpSpPr>
        <p:sp>
          <p:nvSpPr>
            <p:cNvPr id="35" name="object 35"/>
            <p:cNvSpPr/>
            <p:nvPr/>
          </p:nvSpPr>
          <p:spPr>
            <a:xfrm>
              <a:off x="5509260" y="4924348"/>
              <a:ext cx="2853055" cy="734695"/>
            </a:xfrm>
            <a:custGeom>
              <a:avLst/>
              <a:gdLst/>
              <a:ahLst/>
              <a:cxnLst/>
              <a:rect l="l" t="t" r="r" b="b"/>
              <a:pathLst>
                <a:path w="2853054" h="734695">
                  <a:moveTo>
                    <a:pt x="914400" y="272491"/>
                  </a:moveTo>
                  <a:lnTo>
                    <a:pt x="381000" y="272491"/>
                  </a:lnTo>
                  <a:lnTo>
                    <a:pt x="428066" y="0"/>
                  </a:lnTo>
                  <a:lnTo>
                    <a:pt x="152400" y="272491"/>
                  </a:lnTo>
                  <a:lnTo>
                    <a:pt x="0" y="272491"/>
                  </a:lnTo>
                  <a:lnTo>
                    <a:pt x="0" y="734263"/>
                  </a:lnTo>
                  <a:lnTo>
                    <a:pt x="914400" y="734263"/>
                  </a:lnTo>
                  <a:lnTo>
                    <a:pt x="914400" y="272491"/>
                  </a:lnTo>
                  <a:close/>
                </a:path>
                <a:path w="2853054" h="734695">
                  <a:moveTo>
                    <a:pt x="2852928" y="272491"/>
                  </a:moveTo>
                  <a:lnTo>
                    <a:pt x="2319528" y="272491"/>
                  </a:lnTo>
                  <a:lnTo>
                    <a:pt x="2162200" y="21526"/>
                  </a:lnTo>
                  <a:lnTo>
                    <a:pt x="2090928" y="272491"/>
                  </a:lnTo>
                  <a:lnTo>
                    <a:pt x="1938528" y="272491"/>
                  </a:lnTo>
                  <a:lnTo>
                    <a:pt x="1938528" y="734263"/>
                  </a:lnTo>
                  <a:lnTo>
                    <a:pt x="2852928" y="734263"/>
                  </a:lnTo>
                  <a:lnTo>
                    <a:pt x="2852928" y="272491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264919" y="4155947"/>
              <a:ext cx="7129780" cy="215265"/>
            </a:xfrm>
            <a:custGeom>
              <a:avLst/>
              <a:gdLst/>
              <a:ahLst/>
              <a:cxnLst/>
              <a:rect l="l" t="t" r="r" b="b"/>
              <a:pathLst>
                <a:path w="7129780" h="215264">
                  <a:moveTo>
                    <a:pt x="7129272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7129272" y="214884"/>
                  </a:lnTo>
                  <a:lnTo>
                    <a:pt x="7129272" y="0"/>
                  </a:lnTo>
                  <a:close/>
                </a:path>
              </a:pathLst>
            </a:custGeom>
            <a:solidFill>
              <a:srgbClr val="FFFF9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341119" y="4459223"/>
              <a:ext cx="661670" cy="195580"/>
            </a:xfrm>
            <a:custGeom>
              <a:avLst/>
              <a:gdLst/>
              <a:ahLst/>
              <a:cxnLst/>
              <a:rect l="l" t="t" r="r" b="b"/>
              <a:pathLst>
                <a:path w="661669" h="195579">
                  <a:moveTo>
                    <a:pt x="661416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661416" y="195072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D6E3BC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093235" y="2770141"/>
            <a:ext cx="535114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53" dirty="0">
                <a:latin typeface="Verdana"/>
                <a:cs typeface="Verdana"/>
              </a:rPr>
              <a:t>P.P.Wangikar,</a:t>
            </a:r>
            <a:r>
              <a:rPr sz="1350" spc="-26" dirty="0">
                <a:latin typeface="Verdana"/>
                <a:cs typeface="Verdana"/>
              </a:rPr>
              <a:t> </a:t>
            </a:r>
            <a:r>
              <a:rPr sz="1350" spc="-101" dirty="0">
                <a:latin typeface="Verdana"/>
                <a:cs typeface="Verdana"/>
              </a:rPr>
              <a:t>T.P.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34" dirty="0">
                <a:latin typeface="Verdana"/>
                <a:cs typeface="Verdana"/>
              </a:rPr>
              <a:t>Graycar,</a:t>
            </a:r>
            <a:r>
              <a:rPr sz="1350" spc="-11" dirty="0">
                <a:latin typeface="Verdana"/>
                <a:cs typeface="Verdana"/>
              </a:rPr>
              <a:t> </a:t>
            </a:r>
            <a:r>
              <a:rPr sz="1350" spc="-8" dirty="0">
                <a:latin typeface="Verdana"/>
                <a:cs typeface="Verdana"/>
              </a:rPr>
              <a:t>D.A.</a:t>
            </a:r>
            <a:r>
              <a:rPr sz="1350" spc="-26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Estell, </a:t>
            </a:r>
            <a:r>
              <a:rPr sz="1350" spc="-11" dirty="0">
                <a:latin typeface="Verdana"/>
                <a:cs typeface="Verdana"/>
              </a:rPr>
              <a:t>D.S.</a:t>
            </a:r>
            <a:r>
              <a:rPr sz="1350" spc="-23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Clark,</a:t>
            </a:r>
            <a:r>
              <a:rPr sz="1350" spc="-15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J.S.</a:t>
            </a:r>
            <a:r>
              <a:rPr sz="1350" spc="-38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Dordick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20257" y="2369439"/>
            <a:ext cx="800576" cy="700088"/>
          </a:xfrm>
          <a:custGeom>
            <a:avLst/>
            <a:gdLst/>
            <a:ahLst/>
            <a:cxnLst/>
            <a:rect l="l" t="t" r="r" b="b"/>
            <a:pathLst>
              <a:path w="1067435" h="933450">
                <a:moveTo>
                  <a:pt x="1067244" y="0"/>
                </a:moveTo>
                <a:lnTo>
                  <a:pt x="152844" y="0"/>
                </a:lnTo>
                <a:lnTo>
                  <a:pt x="152844" y="461772"/>
                </a:lnTo>
                <a:lnTo>
                  <a:pt x="305244" y="461772"/>
                </a:lnTo>
                <a:lnTo>
                  <a:pt x="0" y="933335"/>
                </a:lnTo>
                <a:lnTo>
                  <a:pt x="533844" y="461772"/>
                </a:lnTo>
                <a:lnTo>
                  <a:pt x="1067244" y="461772"/>
                </a:lnTo>
                <a:lnTo>
                  <a:pt x="1067244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0" name="object 40"/>
          <p:cNvSpPr txBox="1"/>
          <p:nvPr/>
        </p:nvSpPr>
        <p:spPr>
          <a:xfrm>
            <a:off x="5032090" y="2432238"/>
            <a:ext cx="291941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i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943735"/>
                </a:solidFill>
                <a:latin typeface="Calibri"/>
                <a:cs typeface="Calibri"/>
              </a:rPr>
              <a:t>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259836" y="3524355"/>
            <a:ext cx="897255" cy="397669"/>
          </a:xfrm>
          <a:custGeom>
            <a:avLst/>
            <a:gdLst/>
            <a:ahLst/>
            <a:cxnLst/>
            <a:rect l="l" t="t" r="r" b="b"/>
            <a:pathLst>
              <a:path w="1196339" h="530225">
                <a:moveTo>
                  <a:pt x="0" y="0"/>
                </a:moveTo>
                <a:lnTo>
                  <a:pt x="281939" y="260337"/>
                </a:lnTo>
                <a:lnTo>
                  <a:pt x="281939" y="529704"/>
                </a:lnTo>
                <a:lnTo>
                  <a:pt x="1196339" y="529704"/>
                </a:lnTo>
                <a:lnTo>
                  <a:pt x="1196339" y="67932"/>
                </a:lnTo>
                <a:lnTo>
                  <a:pt x="281939" y="67932"/>
                </a:lnTo>
                <a:lnTo>
                  <a:pt x="281939" y="144894"/>
                </a:lnTo>
                <a:lnTo>
                  <a:pt x="0" y="0"/>
                </a:lnTo>
                <a:close/>
              </a:path>
            </a:pathLst>
          </a:custGeom>
          <a:solidFill>
            <a:srgbClr val="9BBA58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2" name="object 42"/>
          <p:cNvSpPr txBox="1"/>
          <p:nvPr/>
        </p:nvSpPr>
        <p:spPr>
          <a:xfrm>
            <a:off x="2093063" y="2975881"/>
            <a:ext cx="5301138" cy="8688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spc="-4" dirty="0">
                <a:latin typeface="Verdana"/>
                <a:cs typeface="Verdana"/>
              </a:rPr>
              <a:t>(1993)</a:t>
            </a:r>
            <a:r>
              <a:rPr sz="1350" spc="30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Protein</a:t>
            </a:r>
            <a:r>
              <a:rPr sz="1350" spc="4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and</a:t>
            </a:r>
            <a:r>
              <a:rPr sz="1350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Solvent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Engineering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of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Subtilising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BPN'</a:t>
            </a:r>
            <a:r>
              <a:rPr sz="1350" spc="19" dirty="0">
                <a:latin typeface="Verdana"/>
                <a:cs typeface="Verdana"/>
              </a:rPr>
              <a:t> </a:t>
            </a:r>
            <a:r>
              <a:rPr sz="1350" spc="4" dirty="0">
                <a:latin typeface="Verdana"/>
                <a:cs typeface="Verdana"/>
              </a:rPr>
              <a:t>in </a:t>
            </a:r>
            <a:r>
              <a:rPr sz="1350" spc="-461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Nearly</a:t>
            </a:r>
            <a:r>
              <a:rPr sz="1350" spc="4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Anhydrous</a:t>
            </a:r>
            <a:r>
              <a:rPr sz="1350" spc="-19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Organic</a:t>
            </a:r>
            <a:r>
              <a:rPr sz="1350" spc="-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Media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J.Amer. </a:t>
            </a:r>
            <a:r>
              <a:rPr sz="1350" spc="-4" dirty="0">
                <a:latin typeface="Verdana"/>
                <a:cs typeface="Verdana"/>
              </a:rPr>
              <a:t>Chem.</a:t>
            </a:r>
            <a:r>
              <a:rPr sz="1350" spc="8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Soc.</a:t>
            </a:r>
            <a:r>
              <a:rPr sz="1350" spc="-15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115, </a:t>
            </a:r>
            <a:r>
              <a:rPr sz="1350" dirty="0">
                <a:latin typeface="Verdana"/>
                <a:cs typeface="Verdana"/>
              </a:rPr>
              <a:t> </a:t>
            </a:r>
            <a:r>
              <a:rPr sz="1350" spc="-4" dirty="0">
                <a:latin typeface="Verdana"/>
                <a:cs typeface="Verdana"/>
              </a:rPr>
              <a:t>12231-12237.</a:t>
            </a:r>
            <a:endParaRPr sz="1350">
              <a:latin typeface="Verdana"/>
              <a:cs typeface="Verdana"/>
            </a:endParaRPr>
          </a:p>
          <a:p>
            <a:pPr marL="1572578">
              <a:spcBef>
                <a:spcPts val="428"/>
              </a:spcBef>
              <a:tabLst>
                <a:tab pos="3299936" algn="l"/>
                <a:tab pos="4742021" algn="l"/>
              </a:tabLst>
            </a:pPr>
            <a:r>
              <a:rPr spc="-17" baseline="3472" dirty="0">
                <a:solidFill>
                  <a:srgbClr val="943735"/>
                </a:solidFill>
                <a:latin typeface="Calibri"/>
                <a:cs typeface="Calibri"/>
              </a:rPr>
              <a:t>Page	</a:t>
            </a:r>
            <a:r>
              <a:rPr sz="1200" spc="-4" dirty="0">
                <a:solidFill>
                  <a:srgbClr val="943735"/>
                </a:solidFill>
                <a:latin typeface="Calibri"/>
                <a:cs typeface="Calibri"/>
              </a:rPr>
              <a:t>Journal	</a:t>
            </a:r>
            <a:r>
              <a:rPr sz="1200" spc="-15" dirty="0">
                <a:solidFill>
                  <a:srgbClr val="943735"/>
                </a:solidFill>
                <a:latin typeface="Calibri"/>
                <a:cs typeface="Calibri"/>
              </a:rPr>
              <a:t>Volume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5">
            <a:extLst>
              <a:ext uri="{FF2B5EF4-FFF2-40B4-BE49-F238E27FC236}">
                <a16:creationId xmlns:a16="http://schemas.microsoft.com/office/drawing/2014/main" id="{38EAF62D-A846-46A6-AF83-01D830C6D1B5}"/>
              </a:ext>
            </a:extLst>
          </p:cNvPr>
          <p:cNvSpPr txBox="1"/>
          <p:nvPr/>
        </p:nvSpPr>
        <p:spPr>
          <a:xfrm>
            <a:off x="301428" y="1085626"/>
            <a:ext cx="4956372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i="1" spc="-11" dirty="0">
                <a:solidFill>
                  <a:srgbClr val="FFC000"/>
                </a:solidFill>
                <a:latin typeface="Calibri"/>
                <a:cs typeface="Calibri"/>
              </a:rPr>
              <a:t>Example:</a:t>
            </a:r>
            <a:r>
              <a:rPr sz="2100" b="1" i="1" spc="-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Addresses,</a:t>
            </a:r>
            <a:r>
              <a:rPr sz="2100" spc="26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bib</a:t>
            </a:r>
            <a:r>
              <a:rPr lang="en-US" sz="2100" spc="-8" dirty="0">
                <a:latin typeface="Calibri"/>
                <a:cs typeface="Calibri"/>
              </a:rPr>
              <a:t>liography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records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54BD-21DC-9849-569E-7A12DE6E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E46C37-E7FC-65F6-9267-7485D8D683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5934"/>
            <a:ext cx="5916192" cy="5943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Sequence</a:t>
            </a:r>
            <a:r>
              <a:rPr spc="-68" dirty="0"/>
              <a:t> </a:t>
            </a:r>
            <a:r>
              <a:rPr spc="-4" dirty="0"/>
              <a:t>labelling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C371A98-C41D-B53E-9748-E40B0F8AD090}"/>
              </a:ext>
            </a:extLst>
          </p:cNvPr>
          <p:cNvSpPr txBox="1"/>
          <p:nvPr/>
        </p:nvSpPr>
        <p:spPr>
          <a:xfrm>
            <a:off x="304800" y="1119759"/>
            <a:ext cx="8381999" cy="282699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indent="-257175">
              <a:lnSpc>
                <a:spcPts val="2584"/>
              </a:lnSpc>
              <a:spcBef>
                <a:spcPts val="7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lang="en-US" sz="2400" spc="-11" dirty="0">
                <a:latin typeface="Calibri"/>
                <a:cs typeface="Calibri"/>
              </a:rPr>
              <a:t>Full Sequence Labelling:</a:t>
            </a:r>
            <a:endParaRPr lang="en-US" sz="2400" spc="-19" dirty="0">
              <a:latin typeface="Calibri"/>
              <a:cs typeface="Calibri"/>
            </a:endParaRPr>
          </a:p>
          <a:p>
            <a:pPr marL="266700" indent="-257175">
              <a:lnSpc>
                <a:spcPts val="2584"/>
              </a:lnSpc>
              <a:spcBef>
                <a:spcPts val="7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endParaRPr sz="2400" dirty="0"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–"/>
              <a:tabLst>
                <a:tab pos="567690" algn="l"/>
              </a:tabLst>
            </a:pPr>
            <a:r>
              <a:rPr lang="en-US" sz="2400" spc="-4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Given:</a:t>
            </a:r>
            <a:endParaRPr sz="2400" dirty="0">
              <a:latin typeface="Calibri"/>
              <a:cs typeface="Calibri"/>
            </a:endParaRPr>
          </a:p>
          <a:p>
            <a:pPr marL="866775" lvl="2" indent="-171450">
              <a:buFont typeface="Arial"/>
              <a:buChar char="•"/>
              <a:tabLst>
                <a:tab pos="866299" algn="l"/>
                <a:tab pos="866775" algn="l"/>
              </a:tabLst>
            </a:pPr>
            <a:r>
              <a:rPr sz="2400" spc="-4" dirty="0">
                <a:latin typeface="Calibri"/>
                <a:cs typeface="Calibri"/>
              </a:rPr>
              <a:t>A </a:t>
            </a:r>
            <a:r>
              <a:rPr sz="2400" spc="-8" dirty="0">
                <a:latin typeface="Calibri"/>
                <a:cs typeface="Calibri"/>
              </a:rPr>
              <a:t>set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lang="en-US" sz="2400" spc="-11" dirty="0">
                <a:latin typeface="Calibri"/>
                <a:cs typeface="Calibri"/>
              </a:rPr>
              <a:t>labels</a:t>
            </a:r>
            <a:r>
              <a:rPr sz="2400" spc="-4" dirty="0">
                <a:latin typeface="Calibri"/>
                <a:cs typeface="Calibri"/>
              </a:rPr>
              <a:t> </a:t>
            </a:r>
            <a:endParaRPr sz="2400" dirty="0">
              <a:latin typeface="Calibri"/>
              <a:cs typeface="Calibri"/>
            </a:endParaRPr>
          </a:p>
          <a:p>
            <a:pPr marL="866299" marR="68104" lvl="2" indent="-171450">
              <a:spcBef>
                <a:spcPts val="495"/>
              </a:spcBef>
              <a:buFont typeface="Arial"/>
              <a:buChar char="•"/>
              <a:tabLst>
                <a:tab pos="866299" algn="l"/>
                <a:tab pos="866775" algn="l"/>
              </a:tabLst>
            </a:pPr>
            <a:r>
              <a:rPr sz="2400" spc="-23" dirty="0">
                <a:latin typeface="Calibri"/>
                <a:cs typeface="Calibri"/>
              </a:rPr>
              <a:t>Training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spc="-11" dirty="0">
                <a:latin typeface="Calibri"/>
                <a:cs typeface="Calibri"/>
              </a:rPr>
              <a:t>examples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sequences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showing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lang="en-US" sz="2400" spc="-11" dirty="0">
                <a:latin typeface="Calibri"/>
                <a:cs typeface="Calibri"/>
              </a:rPr>
              <a:t>classification 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the </a:t>
            </a:r>
            <a:r>
              <a:rPr sz="2400" spc="-360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sequence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into</a:t>
            </a:r>
            <a:r>
              <a:rPr sz="2400" spc="8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the</a:t>
            </a:r>
            <a:r>
              <a:rPr sz="2400" spc="11" dirty="0">
                <a:latin typeface="Calibri"/>
                <a:cs typeface="Calibri"/>
              </a:rPr>
              <a:t> </a:t>
            </a:r>
            <a:r>
              <a:rPr lang="en-US" sz="2400" spc="-4" dirty="0">
                <a:latin typeface="Calibri"/>
                <a:cs typeface="Calibri"/>
              </a:rPr>
              <a:t>one label (class)</a:t>
            </a:r>
            <a:endParaRPr lang="en-US" sz="2400" spc="-11" dirty="0">
              <a:latin typeface="Calibri"/>
              <a:cs typeface="Calibri"/>
            </a:endParaRPr>
          </a:p>
          <a:p>
            <a:pPr marL="866299" marR="68104" lvl="2" indent="-171450">
              <a:lnSpc>
                <a:spcPct val="70000"/>
              </a:lnSpc>
              <a:spcBef>
                <a:spcPts val="495"/>
              </a:spcBef>
              <a:buFont typeface="Arial"/>
              <a:buChar char="•"/>
              <a:tabLst>
                <a:tab pos="866299" algn="l"/>
                <a:tab pos="866775" algn="l"/>
              </a:tabLst>
            </a:pPr>
            <a:endParaRPr sz="2400" dirty="0">
              <a:latin typeface="Calibri"/>
              <a:cs typeface="Calibri"/>
            </a:endParaRPr>
          </a:p>
          <a:p>
            <a:pPr marL="567214" lvl="1" indent="-215265">
              <a:lnSpc>
                <a:spcPts val="1984"/>
              </a:lnSpc>
              <a:buFont typeface="Arial"/>
              <a:buChar char="–"/>
              <a:tabLst>
                <a:tab pos="567690" algn="l"/>
              </a:tabLst>
            </a:pPr>
            <a:r>
              <a:rPr lang="en-US" sz="2400" spc="-4">
                <a:latin typeface="Calibri"/>
                <a:cs typeface="Calibri"/>
              </a:rPr>
              <a:t>Example: Sentiment </a:t>
            </a:r>
            <a:r>
              <a:rPr lang="en-US" sz="2400" spc="-4" dirty="0">
                <a:latin typeface="Calibri"/>
                <a:cs typeface="Calibri"/>
              </a:rPr>
              <a:t>Analysis 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1048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047C39-292C-48FF-8285-C556DC5E2FCB}"/>
</file>

<file path=customXml/itemProps2.xml><?xml version="1.0" encoding="utf-8"?>
<ds:datastoreItem xmlns:ds="http://schemas.openxmlformats.org/officeDocument/2006/customXml" ds:itemID="{BF0FC570-4A0A-441C-9569-D14057490032}"/>
</file>

<file path=customXml/itemProps3.xml><?xml version="1.0" encoding="utf-8"?>
<ds:datastoreItem xmlns:ds="http://schemas.openxmlformats.org/officeDocument/2006/customXml" ds:itemID="{2C8F0865-4B05-47AC-ACD0-36830B72DFD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1569</TotalTime>
  <Words>536</Words>
  <Application>Microsoft Office PowerPoint</Application>
  <PresentationFormat>On-screen Show (16:9)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Corbel</vt:lpstr>
      <vt:lpstr>Symbol</vt:lpstr>
      <vt:lpstr>Times New Roman</vt:lpstr>
      <vt:lpstr>Verdana</vt:lpstr>
      <vt:lpstr>Office Theme</vt:lpstr>
      <vt:lpstr>PowerPoint Presentation</vt:lpstr>
      <vt:lpstr>What is sequence data?</vt:lpstr>
      <vt:lpstr>Examples of sequence data</vt:lpstr>
      <vt:lpstr>Sequence labelling</vt:lpstr>
      <vt:lpstr>Sequence labelling</vt:lpstr>
      <vt:lpstr>Sequence labelling</vt:lpstr>
      <vt:lpstr>Sequence labelling</vt:lpstr>
      <vt:lpstr>Sequence labelling</vt:lpstr>
      <vt:lpstr>Sequence labelling</vt:lpstr>
      <vt:lpstr>Sequence labelling</vt:lpstr>
      <vt:lpstr>Sequence labelling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this lesson … Part 1</dc:title>
  <cp:lastModifiedBy>Maha Saadeh</cp:lastModifiedBy>
  <cp:revision>270</cp:revision>
  <dcterms:created xsi:type="dcterms:W3CDTF">2020-12-02T08:32:33Z</dcterms:created>
  <dcterms:modified xsi:type="dcterms:W3CDTF">2026-02-23T06:05:27Z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2020-12-02T00:00:00Z</vt:filetime>
  </property>
  <property fmtid="{D5CDD505-2E9C-101B-9397-08002B2CF9AE}" pid="4" name="ContentTypeId">
    <vt:lpwstr>0x0101003A9EB2E9FB630D499918B8F6CAC84B60</vt:lpwstr>
  </property>
</Properties>
</file>